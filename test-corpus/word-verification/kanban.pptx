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/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defRPr sz="4400"/>
      </a:lvl1pPr>
    </p:titleStyle>
    <p:bodyStyle>
      <a:lvl1pPr algn="l">
        <a:defRPr sz="1800"/>
      </a:lvl1pPr>
    </p:bodyStyle>
    <p:otherStyle>
      <a:defPPr>
        <a:defRPr lang="en-US"/>
      </a:def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28600"/>
            <a:ext cx="11277600" cy="6858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n-US" sz="2800" b="1" dirty="0">
                <a:solidFill>
                  <a:srgbClr val="1F2937"/>
                </a:solidFill>
              </a:rPr>
              <a:t>kanban</a:t>
            </a:r>
          </a:p>
        </p:txBody>
      </p:sp>
      <p:sp>
        <p:nvSpPr>
          <p:cNvPr id="11" name="Box 1"/>
          <p:cNvSpPr/>
          <p:nvPr/>
        </p:nvSpPr>
        <p:spPr>
          <a:xfrm>
            <a:off x="585299" y="3007535"/>
            <a:ext cx="1067494" cy="1414429"/>
          </a:xfrm>
          <a:prstGeom prst="rect">
            <a:avLst/>
          </a:prstGeom>
          <a:solidFill>
            <a:srgbClr val="E9EEF8"/>
          </a:solidFill>
          <a:ln>
            <a:noFill/>
          </a:ln>
        </p:spPr>
      </p:sp>
      <p:sp>
        <p:nvSpPr>
          <p:cNvPr id="12" name="Box 2"/>
          <p:cNvSpPr/>
          <p:nvPr/>
        </p:nvSpPr>
        <p:spPr>
          <a:xfrm>
            <a:off x="585299" y="3007535"/>
            <a:ext cx="1067494" cy="197486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600" dirty="0">
                <a:solidFill>
                  <a:srgbClr val="FFFFFF"/>
                </a:solidFill>
              </a:rPr>
              <a:t>Todo</a:t>
            </a:r>
          </a:p>
        </p:txBody>
      </p:sp>
      <p:sp>
        <p:nvSpPr>
          <p:cNvPr id="13" name="Box 3"/>
          <p:cNvSpPr/>
          <p:nvPr/>
        </p:nvSpPr>
        <p:spPr>
          <a:xfrm>
            <a:off x="606649" y="3247721"/>
            <a:ext cx="1024794" cy="288223"/>
          </a:xfrm>
          <a:prstGeom prst="rect">
            <a:avLst/>
          </a:prstGeom>
          <a:solidFill>
            <a:srgbClr val="FFFFFF"/>
          </a:solidFill>
          <a:ln w="5337">
            <a:solidFill>
              <a:srgbClr val="BFBFBF"/>
            </a:solidFill>
          </a:ln>
        </p:spPr>
        <p:txBody>
          <a:bodyPr wrap="square" lIns="42700" tIns="0" rIns="4270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600" dirty="0">
                <a:solidFill>
                  <a:srgbClr val="000000"/>
                </a:solidFill>
              </a:rPr>
              <a:t>Create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600" dirty="0">
                <a:solidFill>
                  <a:srgbClr val="000000"/>
                </a:solidFill>
              </a:rPr>
              <a:t>Documentation</a:t>
            </a:r>
          </a:p>
        </p:txBody>
      </p:sp>
      <p:sp>
        <p:nvSpPr>
          <p:cNvPr id="14" name="Box 4"/>
          <p:cNvSpPr/>
          <p:nvPr/>
        </p:nvSpPr>
        <p:spPr>
          <a:xfrm>
            <a:off x="606649" y="3578644"/>
            <a:ext cx="1024794" cy="288223"/>
          </a:xfrm>
          <a:prstGeom prst="rect">
            <a:avLst/>
          </a:prstGeom>
          <a:solidFill>
            <a:srgbClr val="FFFFFF"/>
          </a:solidFill>
          <a:ln w="5337">
            <a:solidFill>
              <a:srgbClr val="BFBFBF"/>
            </a:solidFill>
          </a:ln>
        </p:spPr>
        <p:txBody>
          <a:bodyPr wrap="square" lIns="42700" tIns="0" rIns="4270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600" dirty="0">
                <a:solidFill>
                  <a:srgbClr val="000000"/>
                </a:solidFill>
              </a:rPr>
              <a:t>Create Blog about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600" dirty="0">
                <a:solidFill>
                  <a:srgbClr val="000000"/>
                </a:solidFill>
              </a:rPr>
              <a:t>the new diagram</a:t>
            </a:r>
          </a:p>
        </p:txBody>
      </p:sp>
      <p:sp>
        <p:nvSpPr>
          <p:cNvPr id="15" name="Box 5"/>
          <p:cNvSpPr/>
          <p:nvPr/>
        </p:nvSpPr>
        <p:spPr>
          <a:xfrm>
            <a:off x="1727518" y="3007535"/>
            <a:ext cx="1067494" cy="1414429"/>
          </a:xfrm>
          <a:prstGeom prst="rect">
            <a:avLst/>
          </a:prstGeom>
          <a:solidFill>
            <a:srgbClr val="FDEFE6"/>
          </a:solidFill>
          <a:ln>
            <a:noFill/>
          </a:ln>
        </p:spPr>
      </p:sp>
      <p:sp>
        <p:nvSpPr>
          <p:cNvPr id="16" name="Box 6"/>
          <p:cNvSpPr/>
          <p:nvPr/>
        </p:nvSpPr>
        <p:spPr>
          <a:xfrm>
            <a:off x="1727518" y="3007535"/>
            <a:ext cx="1067494" cy="197486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600" dirty="0">
                <a:solidFill>
                  <a:srgbClr val="FFFFFF"/>
                </a:solidFill>
              </a:rPr>
              <a:t>In progress</a:t>
            </a:r>
          </a:p>
        </p:txBody>
      </p:sp>
      <p:sp>
        <p:nvSpPr>
          <p:cNvPr id="17" name="Box 7"/>
          <p:cNvSpPr/>
          <p:nvPr/>
        </p:nvSpPr>
        <p:spPr>
          <a:xfrm>
            <a:off x="1748867" y="3247721"/>
            <a:ext cx="1024794" cy="832645"/>
          </a:xfrm>
          <a:prstGeom prst="rect">
            <a:avLst/>
          </a:prstGeom>
          <a:solidFill>
            <a:srgbClr val="FFFFFF"/>
          </a:solidFill>
          <a:ln w="5337">
            <a:solidFill>
              <a:srgbClr val="BFBFBF"/>
            </a:solidFill>
          </a:ln>
        </p:spPr>
        <p:txBody>
          <a:bodyPr wrap="square" lIns="42700" tIns="0" rIns="4270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600" dirty="0">
                <a:solidFill>
                  <a:srgbClr val="000000"/>
                </a:solidFill>
              </a:rPr>
              <a:t>Create renderer so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600" dirty="0">
                <a:solidFill>
                  <a:srgbClr val="000000"/>
                </a:solidFill>
              </a:rPr>
              <a:t>that it works in all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600" dirty="0">
                <a:solidFill>
                  <a:srgbClr val="000000"/>
                </a:solidFill>
              </a:rPr>
              <a:t>cases. We also add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600" dirty="0">
                <a:solidFill>
                  <a:srgbClr val="000000"/>
                </a:solidFill>
              </a:rPr>
              <a:t>some extra text here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600" dirty="0">
                <a:solidFill>
                  <a:srgbClr val="000000"/>
                </a:solidFill>
              </a:rPr>
              <a:t>for testing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600" dirty="0">
                <a:solidFill>
                  <a:srgbClr val="000000"/>
                </a:solidFill>
              </a:rPr>
              <a:t>purposes. And some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600" dirty="0">
                <a:solidFill>
                  <a:srgbClr val="000000"/>
                </a:solidFill>
              </a:rPr>
              <a:t>more just for the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600" dirty="0">
                <a:solidFill>
                  <a:srgbClr val="000000"/>
                </a:solidFill>
              </a:rPr>
              <a:t>extra flare.</a:t>
            </a:r>
          </a:p>
        </p:txBody>
      </p:sp>
      <p:sp>
        <p:nvSpPr>
          <p:cNvPr id="18" name="Box 8"/>
          <p:cNvSpPr/>
          <p:nvPr/>
        </p:nvSpPr>
        <p:spPr>
          <a:xfrm>
            <a:off x="2869736" y="3007535"/>
            <a:ext cx="1067494" cy="1414429"/>
          </a:xfrm>
          <a:prstGeom prst="rect">
            <a:avLst/>
          </a:prstGeom>
          <a:solidFill>
            <a:srgbClr val="EEF5E9"/>
          </a:solidFill>
          <a:ln>
            <a:noFill/>
          </a:ln>
        </p:spPr>
      </p:sp>
      <p:sp>
        <p:nvSpPr>
          <p:cNvPr id="19" name="Box 9"/>
          <p:cNvSpPr/>
          <p:nvPr/>
        </p:nvSpPr>
        <p:spPr>
          <a:xfrm>
            <a:off x="2869736" y="3007535"/>
            <a:ext cx="1067494" cy="197486"/>
          </a:xfrm>
          <a:prstGeom prst="rect">
            <a:avLst/>
          </a:prstGeom>
          <a:solidFill>
            <a:srgbClr val="70AD47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600" dirty="0">
                <a:solidFill>
                  <a:srgbClr val="FFFFFF"/>
                </a:solidFill>
              </a:rPr>
              <a:t>Ready for deploy</a:t>
            </a:r>
          </a:p>
        </p:txBody>
      </p:sp>
      <p:sp>
        <p:nvSpPr>
          <p:cNvPr id="20" name="Box 10"/>
          <p:cNvSpPr/>
          <p:nvPr/>
        </p:nvSpPr>
        <p:spPr>
          <a:xfrm>
            <a:off x="2891086" y="3247721"/>
            <a:ext cx="1024794" cy="288223"/>
          </a:xfrm>
          <a:prstGeom prst="rect">
            <a:avLst/>
          </a:prstGeom>
          <a:solidFill>
            <a:srgbClr val="FFFFFF"/>
          </a:solidFill>
          <a:ln w="5337">
            <a:solidFill>
              <a:srgbClr val="BFBFBF"/>
            </a:solidFill>
          </a:ln>
        </p:spPr>
        <p:txBody>
          <a:bodyPr wrap="square" lIns="42700" tIns="0" rIns="4270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600" dirty="0">
                <a:solidFill>
                  <a:srgbClr val="000000"/>
                </a:solidFill>
              </a:rPr>
              <a:t>Design grammar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600" dirty="0">
                <a:solidFill>
                  <a:srgbClr val="000000"/>
                </a:solidFill>
              </a:rPr>
              <a:t>knsv</a:t>
            </a:r>
          </a:p>
        </p:txBody>
      </p:sp>
      <p:sp>
        <p:nvSpPr>
          <p:cNvPr id="21" name="Box 11"/>
          <p:cNvSpPr/>
          <p:nvPr/>
        </p:nvSpPr>
        <p:spPr>
          <a:xfrm>
            <a:off x="4011954" y="3007535"/>
            <a:ext cx="1067494" cy="1414429"/>
          </a:xfrm>
          <a:prstGeom prst="rect">
            <a:avLst/>
          </a:prstGeom>
          <a:solidFill>
            <a:srgbClr val="FFF7E0"/>
          </a:solidFill>
          <a:ln>
            <a:noFill/>
          </a:ln>
        </p:spPr>
      </p:sp>
      <p:sp>
        <p:nvSpPr>
          <p:cNvPr id="22" name="Box 12"/>
          <p:cNvSpPr/>
          <p:nvPr/>
        </p:nvSpPr>
        <p:spPr>
          <a:xfrm>
            <a:off x="4011954" y="3007535"/>
            <a:ext cx="1067494" cy="197486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600" dirty="0">
                <a:solidFill>
                  <a:srgbClr val="FFFFFF"/>
                </a:solidFill>
              </a:rPr>
              <a:t>Ready for test</a:t>
            </a:r>
          </a:p>
        </p:txBody>
      </p:sp>
      <p:sp>
        <p:nvSpPr>
          <p:cNvPr id="23" name="Box 13"/>
          <p:cNvSpPr/>
          <p:nvPr/>
        </p:nvSpPr>
        <p:spPr>
          <a:xfrm>
            <a:off x="4033304" y="3247721"/>
            <a:ext cx="1024794" cy="288223"/>
          </a:xfrm>
          <a:prstGeom prst="rect">
            <a:avLst/>
          </a:prstGeom>
          <a:solidFill>
            <a:srgbClr val="FFFFFF"/>
          </a:solidFill>
          <a:ln w="5337">
            <a:solidFill>
              <a:srgbClr val="BFBFBF"/>
            </a:solidFill>
          </a:ln>
        </p:spPr>
        <p:txBody>
          <a:bodyPr wrap="square" lIns="42700" tIns="0" rIns="4270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600" dirty="0">
                <a:solidFill>
                  <a:srgbClr val="000000"/>
                </a:solidFill>
              </a:rPr>
              <a:t>Create parsing tests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600" dirty="0">
                <a:solidFill>
                  <a:srgbClr val="000000"/>
                </a:solidFill>
              </a:rPr>
              <a:t>MC-2038 · K.Sveidqvist</a:t>
            </a:r>
          </a:p>
        </p:txBody>
      </p:sp>
      <p:sp>
        <p:nvSpPr>
          <p:cNvPr id="24" name="Box 14"/>
          <p:cNvSpPr/>
          <p:nvPr/>
        </p:nvSpPr>
        <p:spPr>
          <a:xfrm>
            <a:off x="4033304" y="3247721"/>
            <a:ext cx="26687" cy="288223"/>
          </a:xfrm>
          <a:prstGeom prst="rect">
            <a:avLst/>
          </a:prstGeom>
          <a:solidFill>
            <a:srgbClr val="ED7D31"/>
          </a:solidFill>
          <a:ln>
            <a:noFill/>
          </a:ln>
        </p:spPr>
      </p:sp>
      <p:sp>
        <p:nvSpPr>
          <p:cNvPr id="25" name="Box 15"/>
          <p:cNvSpPr/>
          <p:nvPr/>
        </p:nvSpPr>
        <p:spPr>
          <a:xfrm>
            <a:off x="4033304" y="3578644"/>
            <a:ext cx="1024794" cy="288223"/>
          </a:xfrm>
          <a:prstGeom prst="rect">
            <a:avLst/>
          </a:prstGeom>
          <a:solidFill>
            <a:srgbClr val="FFFFFF"/>
          </a:solidFill>
          <a:ln w="5337">
            <a:solidFill>
              <a:srgbClr val="BFBFBF"/>
            </a:solidFill>
          </a:ln>
        </p:spPr>
        <p:txBody>
          <a:bodyPr wrap="square" lIns="42700" tIns="0" rIns="4270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600" dirty="0">
                <a:solidFill>
                  <a:srgbClr val="000000"/>
                </a:solidFill>
              </a:rPr>
              <a:t>last item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600" dirty="0">
                <a:solidFill>
                  <a:srgbClr val="000000"/>
                </a:solidFill>
              </a:rPr>
              <a:t>knsv</a:t>
            </a:r>
          </a:p>
        </p:txBody>
      </p:sp>
      <p:sp>
        <p:nvSpPr>
          <p:cNvPr id="26" name="Box 16"/>
          <p:cNvSpPr/>
          <p:nvPr/>
        </p:nvSpPr>
        <p:spPr>
          <a:xfrm>
            <a:off x="4033304" y="3578644"/>
            <a:ext cx="26687" cy="288223"/>
          </a:xfrm>
          <a:prstGeom prst="rect">
            <a:avLst/>
          </a:prstGeom>
          <a:solidFill>
            <a:srgbClr val="BDD7EE"/>
          </a:solidFill>
          <a:ln>
            <a:noFill/>
          </a:ln>
        </p:spPr>
      </p:sp>
      <p:sp>
        <p:nvSpPr>
          <p:cNvPr id="27" name="Box 17"/>
          <p:cNvSpPr/>
          <p:nvPr/>
        </p:nvSpPr>
        <p:spPr>
          <a:xfrm>
            <a:off x="5154173" y="3007535"/>
            <a:ext cx="1067494" cy="1414429"/>
          </a:xfrm>
          <a:prstGeom prst="rect">
            <a:avLst/>
          </a:prstGeom>
          <a:solidFill>
            <a:srgbClr val="EEE6F4"/>
          </a:solidFill>
          <a:ln>
            <a:noFill/>
          </a:ln>
        </p:spPr>
      </p:sp>
      <p:sp>
        <p:nvSpPr>
          <p:cNvPr id="28" name="Box 18"/>
          <p:cNvSpPr/>
          <p:nvPr/>
        </p:nvSpPr>
        <p:spPr>
          <a:xfrm>
            <a:off x="5154173" y="3007535"/>
            <a:ext cx="1067494" cy="197486"/>
          </a:xfrm>
          <a:prstGeom prst="rect">
            <a:avLst/>
          </a:prstGeom>
          <a:solidFill>
            <a:srgbClr val="7030A0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600" dirty="0">
                <a:solidFill>
                  <a:srgbClr val="FFFFFF"/>
                </a:solidFill>
              </a:rPr>
              <a:t>Done</a:t>
            </a:r>
          </a:p>
        </p:txBody>
      </p:sp>
      <p:sp>
        <p:nvSpPr>
          <p:cNvPr id="29" name="Box 19"/>
          <p:cNvSpPr/>
          <p:nvPr/>
        </p:nvSpPr>
        <p:spPr>
          <a:xfrm>
            <a:off x="5175523" y="3247721"/>
            <a:ext cx="1024794" cy="197486"/>
          </a:xfrm>
          <a:prstGeom prst="rect">
            <a:avLst/>
          </a:prstGeom>
          <a:solidFill>
            <a:srgbClr val="FFFFFF"/>
          </a:solidFill>
          <a:ln w="5337">
            <a:solidFill>
              <a:srgbClr val="BFBFBF"/>
            </a:solidFill>
          </a:ln>
        </p:spPr>
        <p:txBody>
          <a:bodyPr wrap="square" lIns="42700" tIns="0" rIns="4270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600" dirty="0">
                <a:solidFill>
                  <a:srgbClr val="000000"/>
                </a:solidFill>
              </a:rPr>
              <a:t>define getData</a:t>
            </a:r>
          </a:p>
        </p:txBody>
      </p:sp>
      <p:sp>
        <p:nvSpPr>
          <p:cNvPr id="30" name="Box 20"/>
          <p:cNvSpPr/>
          <p:nvPr/>
        </p:nvSpPr>
        <p:spPr>
          <a:xfrm>
            <a:off x="5175523" y="3487907"/>
            <a:ext cx="1024794" cy="560434"/>
          </a:xfrm>
          <a:prstGeom prst="rect">
            <a:avLst/>
          </a:prstGeom>
          <a:solidFill>
            <a:srgbClr val="FFFFFF"/>
          </a:solidFill>
          <a:ln w="5337">
            <a:solidFill>
              <a:srgbClr val="BFBFBF"/>
            </a:solidFill>
          </a:ln>
        </p:spPr>
        <p:txBody>
          <a:bodyPr wrap="square" lIns="42700" tIns="0" rIns="4270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600" dirty="0">
                <a:solidFill>
                  <a:srgbClr val="000000"/>
                </a:solidFill>
              </a:rPr>
              <a:t>Title of diagram is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600" dirty="0">
                <a:solidFill>
                  <a:srgbClr val="000000"/>
                </a:solidFill>
              </a:rPr>
              <a:t>more than 100 chars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600" dirty="0">
                <a:solidFill>
                  <a:srgbClr val="000000"/>
                </a:solidFill>
              </a:rPr>
              <a:t>when user duplicates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600" dirty="0">
                <a:solidFill>
                  <a:srgbClr val="000000"/>
                </a:solidFill>
              </a:rPr>
              <a:t>diagram with 100 char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600" dirty="0">
                <a:solidFill>
                  <a:srgbClr val="000000"/>
                </a:solidFill>
              </a:rPr>
              <a:t>MC-2036</a:t>
            </a:r>
          </a:p>
        </p:txBody>
      </p:sp>
      <p:sp>
        <p:nvSpPr>
          <p:cNvPr id="31" name="Box 21"/>
          <p:cNvSpPr/>
          <p:nvPr/>
        </p:nvSpPr>
        <p:spPr>
          <a:xfrm>
            <a:off x="5175523" y="3487907"/>
            <a:ext cx="26687" cy="560434"/>
          </a:xfrm>
          <a:prstGeom prst="rect">
            <a:avLst/>
          </a:prstGeom>
          <a:solidFill>
            <a:srgbClr val="C00000"/>
          </a:solidFill>
          <a:ln>
            <a:noFill/>
          </a:ln>
        </p:spPr>
      </p:sp>
      <p:sp>
        <p:nvSpPr>
          <p:cNvPr id="32" name="Box 22"/>
          <p:cNvSpPr/>
          <p:nvPr/>
        </p:nvSpPr>
        <p:spPr>
          <a:xfrm>
            <a:off x="5175523" y="4091041"/>
            <a:ext cx="1024794" cy="288223"/>
          </a:xfrm>
          <a:prstGeom prst="rect">
            <a:avLst/>
          </a:prstGeom>
          <a:solidFill>
            <a:srgbClr val="FFFFFF"/>
          </a:solidFill>
          <a:ln w="5337">
            <a:solidFill>
              <a:srgbClr val="BFBFBF"/>
            </a:solidFill>
          </a:ln>
        </p:spPr>
        <p:txBody>
          <a:bodyPr wrap="square" lIns="42700" tIns="0" rIns="4270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600" dirty="0">
                <a:solidFill>
                  <a:srgbClr val="000000"/>
                </a:solidFill>
              </a:rPr>
              <a:t>Update DB function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600" dirty="0">
                <a:solidFill>
                  <a:srgbClr val="000000"/>
                </a:solidFill>
              </a:rPr>
              <a:t>MC-2037 · knsv</a:t>
            </a:r>
          </a:p>
        </p:txBody>
      </p:sp>
      <p:sp>
        <p:nvSpPr>
          <p:cNvPr id="33" name="Box 23"/>
          <p:cNvSpPr/>
          <p:nvPr/>
        </p:nvSpPr>
        <p:spPr>
          <a:xfrm>
            <a:off x="5175523" y="4091041"/>
            <a:ext cx="26687" cy="288223"/>
          </a:xfrm>
          <a:prstGeom prst="rect">
            <a:avLst/>
          </a:prstGeom>
          <a:solidFill>
            <a:srgbClr val="ED7D31"/>
          </a:solidFill>
          <a:ln>
            <a:noFill/>
          </a:ln>
        </p:spPr>
      </p:sp>
      <p:sp>
        <p:nvSpPr>
          <p:cNvPr id="34" name="Box 24"/>
          <p:cNvSpPr/>
          <p:nvPr/>
        </p:nvSpPr>
        <p:spPr>
          <a:xfrm>
            <a:off x="6296391" y="3007535"/>
            <a:ext cx="1067494" cy="1414429"/>
          </a:xfrm>
          <a:prstGeom prst="rect">
            <a:avLst/>
          </a:prstGeom>
          <a:solidFill>
            <a:srgbClr val="EBF3FA"/>
          </a:solidFill>
          <a:ln>
            <a:noFill/>
          </a:ln>
        </p:spPr>
      </p:sp>
      <p:sp>
        <p:nvSpPr>
          <p:cNvPr id="35" name="Box 25"/>
          <p:cNvSpPr/>
          <p:nvPr/>
        </p:nvSpPr>
        <p:spPr>
          <a:xfrm>
            <a:off x="6296391" y="3007535"/>
            <a:ext cx="1067494" cy="197486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600" dirty="0">
                <a:solidFill>
                  <a:srgbClr val="FFFFFF"/>
                </a:solidFill>
              </a:rPr>
              <a:t>Can't reproduce</a:t>
            </a:r>
          </a:p>
        </p:txBody>
      </p:sp>
      <p:sp>
        <p:nvSpPr>
          <p:cNvPr id="36" name="Box 26"/>
          <p:cNvSpPr/>
          <p:nvPr/>
        </p:nvSpPr>
        <p:spPr>
          <a:xfrm>
            <a:off x="6317741" y="3247721"/>
            <a:ext cx="1024794" cy="288223"/>
          </a:xfrm>
          <a:prstGeom prst="rect">
            <a:avLst/>
          </a:prstGeom>
          <a:solidFill>
            <a:srgbClr val="FFFFFF"/>
          </a:solidFill>
          <a:ln w="5337">
            <a:solidFill>
              <a:srgbClr val="BFBFBF"/>
            </a:solidFill>
          </a:ln>
        </p:spPr>
        <p:txBody>
          <a:bodyPr wrap="square" lIns="42700" tIns="0" rIns="4270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600" dirty="0">
                <a:solidFill>
                  <a:srgbClr val="000000"/>
                </a:solidFill>
              </a:rPr>
              <a:t>Weird flickering in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600" dirty="0">
                <a:solidFill>
                  <a:srgbClr val="000000"/>
                </a:solidFill>
              </a:rPr>
              <a:t>Firefox</a:t>
            </a:r>
          </a:p>
        </p:txBody>
      </p:sp>
      <p:sp>
        <p:nvSpPr>
          <p:cNvPr id="4" name="Mermaid source"/>
          <p:cNvSpPr/>
          <p:nvPr/>
        </p:nvSpPr>
        <p:spPr>
          <a:xfrm>
            <a:off x="7674864" y="1028700"/>
            <a:ext cx="4059936" cy="5372100"/>
          </a:xfrm>
          <a:prstGeom prst="rect">
            <a:avLst/>
          </a:prstGeom>
          <a:solidFill>
            <a:srgbClr val="F3F4F6"/>
          </a:solidFill>
          <a:ln w="9525">
            <a:solidFill>
              <a:srgbClr val="D1D5DB"/>
            </a:solidFill>
          </a:ln>
        </p:spPr>
        <p:txBody>
          <a:bodyPr wrap="square" lIns="91440" tIns="45720" rIns="91440" bIns="45720" anchor="t">
            <a:noAutofit/>
          </a:bodyPr>
          <a:lstStyle/>
          <a:p>
            <a:pPr algn="l"/>
            <a:r>
              <a:rPr lang="en-US" sz="1150" dirty="0">
                <a:solidFill>
                  <a:srgbClr val="1F2937"/>
                </a:solidFill>
                <a:latin typeface="Consolas"/>
                <a:cs typeface="Consolas"/>
              </a:rPr>
              <a:t>kanban</a:t>
            </a:r>
          </a:p>
          <a:p>
            <a:pPr algn="l"/>
            <a:r>
              <a:rPr lang="en-US" sz="1150" dirty="0">
                <a:solidFill>
                  <a:srgbClr val="1F2937"/>
                </a:solidFill>
                <a:latin typeface="Consolas"/>
                <a:cs typeface="Consolas"/>
              </a:rPr>
              <a:t>  Todo</a:t>
            </a:r>
          </a:p>
          <a:p>
            <a:pPr algn="l"/>
            <a:r>
              <a:rPr lang="en-US" sz="1150" dirty="0">
                <a:solidFill>
                  <a:srgbClr val="1F2937"/>
                </a:solidFill>
                <a:latin typeface="Consolas"/>
                <a:cs typeface="Consolas"/>
              </a:rPr>
              <a:t>    [Create Documentation]</a:t>
            </a:r>
          </a:p>
          <a:p>
            <a:pPr algn="l"/>
            <a:r>
              <a:rPr lang="en-US" sz="1150" dirty="0">
                <a:solidFill>
                  <a:srgbClr val="1F2937"/>
                </a:solidFill>
                <a:latin typeface="Consolas"/>
                <a:cs typeface="Consolas"/>
              </a:rPr>
              <a:t>    docs[Create Blog about the new diagram]</a:t>
            </a:r>
          </a:p>
          <a:p>
            <a:pPr algn="l"/>
            <a:r>
              <a:rPr lang="en-US" sz="1150" dirty="0">
                <a:solidFill>
                  <a:srgbClr val="1F2937"/>
                </a:solidFill>
                <a:latin typeface="Consolas"/>
                <a:cs typeface="Consolas"/>
              </a:rPr>
              <a:t>  [In progress]</a:t>
            </a:r>
          </a:p>
          <a:p>
            <a:pPr algn="l"/>
            <a:r>
              <a:rPr lang="en-US" sz="1150" dirty="0">
                <a:solidFill>
                  <a:srgbClr val="1F2937"/>
                </a:solidFill>
                <a:latin typeface="Consolas"/>
                <a:cs typeface="Consolas"/>
              </a:rPr>
              <a:t>    id6[Create renderer so that it works in all cases. We also add some extra text here for testing purposes. And some more just for the extra flare.]</a:t>
            </a:r>
          </a:p>
          <a:p>
            <a:pPr algn="l"/>
            <a:r>
              <a:rPr lang="en-US" sz="1150" dirty="0">
                <a:solidFill>
                  <a:srgbClr val="1F2937"/>
                </a:solidFill>
                <a:latin typeface="Consolas"/>
                <a:cs typeface="Consolas"/>
              </a:rPr>
              <a:t>  id9[Ready for deploy]</a:t>
            </a:r>
          </a:p>
          <a:p>
            <a:pPr algn="l"/>
            <a:r>
              <a:rPr lang="en-US" sz="1150" dirty="0">
                <a:solidFill>
                  <a:srgbClr val="1F2937"/>
                </a:solidFill>
                <a:latin typeface="Consolas"/>
                <a:cs typeface="Consolas"/>
              </a:rPr>
              <a:t>    id8[Design grammar]@{ assigned: 'knsv' }</a:t>
            </a:r>
          </a:p>
          <a:p>
            <a:pPr algn="l"/>
            <a:r>
              <a:rPr lang="en-US" sz="1150" dirty="0">
                <a:solidFill>
                  <a:srgbClr val="1F2937"/>
                </a:solidFill>
                <a:latin typeface="Consolas"/>
                <a:cs typeface="Consolas"/>
              </a:rPr>
              <a:t>  id10[Ready for test]</a:t>
            </a:r>
          </a:p>
          <a:p>
            <a:pPr algn="l"/>
            <a:r>
              <a:rPr lang="en-US" sz="1150" dirty="0">
                <a:solidFill>
                  <a:srgbClr val="1F2937"/>
                </a:solidFill>
                <a:latin typeface="Consolas"/>
                <a:cs typeface="Consolas"/>
              </a:rPr>
              <a:t>    id4[Create parsing tests]@{ ticket: MC-2038, assigned: 'K.Sveidqvist', priority: 'High' }</a:t>
            </a:r>
          </a:p>
          <a:p>
            <a:pPr algn="l"/>
            <a:r>
              <a:rPr lang="en-US" sz="1150" dirty="0">
                <a:solidFill>
                  <a:srgbClr val="1F2937"/>
                </a:solidFill>
                <a:latin typeface="Consolas"/>
                <a:cs typeface="Consolas"/>
              </a:rPr>
              <a:t>    id66[last item]@{ priority: 'Very Low', assigned: 'knsv' }</a:t>
            </a:r>
          </a:p>
          <a:p>
            <a:pPr algn="l"/>
            <a:r>
              <a:rPr lang="en-US" sz="1150" dirty="0">
                <a:solidFill>
                  <a:srgbClr val="1F2937"/>
                </a:solidFill>
                <a:latin typeface="Consolas"/>
                <a:cs typeface="Consolas"/>
              </a:rPr>
              <a:t>  id11[Done]</a:t>
            </a:r>
          </a:p>
          <a:p>
            <a:pPr algn="l"/>
            <a:r>
              <a:rPr lang="en-US" sz="1150" dirty="0">
                <a:solidFill>
                  <a:srgbClr val="1F2937"/>
                </a:solidFill>
                <a:latin typeface="Consolas"/>
                <a:cs typeface="Consolas"/>
              </a:rPr>
              <a:t>    id5[define getData]</a:t>
            </a:r>
          </a:p>
          <a:p>
            <a:pPr algn="l"/>
            <a:r>
              <a:rPr lang="en-US" sz="1150" dirty="0">
                <a:solidFill>
                  <a:srgbClr val="1F2937"/>
                </a:solidFill>
                <a:latin typeface="Consolas"/>
                <a:cs typeface="Consolas"/>
              </a:rPr>
              <a:t>    id2[Title of diagram is more than 100 chars when user duplicates diagram with 100 char]@{ ticket: MC-2036, priority: 'Very High'}</a:t>
            </a:r>
          </a:p>
          <a:p>
            <a:pPr algn="l"/>
            <a:r>
              <a:rPr lang="en-US" sz="1150" dirty="0">
                <a:solidFill>
                  <a:srgbClr val="1F2937"/>
                </a:solidFill>
                <a:latin typeface="Consolas"/>
                <a:cs typeface="Consolas"/>
              </a:rPr>
              <a:t>    id3[Update DB function]@{ ticket: MC-2037, assigned: knsv, priority: 'High' }</a:t>
            </a:r>
          </a:p>
          <a:p>
            <a:endParaRPr lang="en-US" sz="1150" dirty="0"/>
          </a:p>
          <a:p>
            <a:pPr algn="l"/>
            <a:r>
              <a:rPr lang="en-US" sz="1150" dirty="0">
                <a:solidFill>
                  <a:srgbClr val="1F2937"/>
                </a:solidFill>
                <a:latin typeface="Consolas"/>
                <a:cs typeface="Consolas"/>
              </a:rPr>
              <a:t>  id12[Can't reproduce]</a:t>
            </a:r>
          </a:p>
          <a:p>
            <a:pPr algn="l"/>
            <a:r>
              <a:rPr lang="en-US" sz="1150" dirty="0">
                <a:solidFill>
                  <a:srgbClr val="1F2937"/>
                </a:solidFill>
                <a:latin typeface="Consolas"/>
                <a:cs typeface="Consolas"/>
              </a:rPr>
              <a:t>    id3[Weird flickering in Firefox]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d2nativedocx">
  <a:themeElements>
    <a:clrScheme name="md2nativedocx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md2nativedocx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md2nativedocx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md2nativedocx</Application>
  <PresentationFormat>Widescreen</PresentationFormat>
  <Slides>1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kanban.md</dc:title>
  <dc:creator>md2nativedocx</dc:creator>
  <cp:lastModifiedBy>md2nativedocx</cp:lastModifiedBy>
  <dcterms:created xsi:type="dcterms:W3CDTF">2026-10-05T12:12:51Z</dcterms:created>
  <dcterms:modified xsi:type="dcterms:W3CDTF">2026-10-05T12:12:51Z</dcterms:modified>
</cp:coreProperties>
</file>