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wardley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505828"/>
            <a:ext cx="7034784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Tea Shop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794870" y="5628211"/>
            <a:ext cx="6359444" cy="1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794870" y="1885706"/>
            <a:ext cx="1" cy="3742505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sp>
        <p:nvSpPr>
          <p:cNvPr id="14" name="Box 4"/>
          <p:cNvSpPr/>
          <p:nvPr/>
        </p:nvSpPr>
        <p:spPr>
          <a:xfrm>
            <a:off x="794870" y="1716871"/>
            <a:ext cx="844174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750" dirty="0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Box 5"/>
          <p:cNvSpPr/>
          <p:nvPr/>
        </p:nvSpPr>
        <p:spPr>
          <a:xfrm>
            <a:off x="794870" y="5797046"/>
            <a:ext cx="6359445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750" dirty="0">
                <a:solidFill>
                  <a:srgbClr val="000000"/>
                </a:solidFill>
              </a:rPr>
              <a:t>Evolution</a:t>
            </a:r>
          </a:p>
        </p:txBody>
      </p:sp>
      <p:sp>
        <p:nvSpPr>
          <p:cNvPr id="16" name="Box 6"/>
          <p:cNvSpPr/>
          <p:nvPr/>
        </p:nvSpPr>
        <p:spPr>
          <a:xfrm>
            <a:off x="794870" y="5656350"/>
            <a:ext cx="1589861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Genesis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2384731" y="1885706"/>
            <a:ext cx="1" cy="3742505"/>
          </a:xfrm>
          <a:prstGeom prst="line">
            <a:avLst/>
          </a:prstGeom>
          <a:ln w="7035">
            <a:solidFill>
              <a:srgbClr val="808080"/>
            </a:solidFill>
            <a:prstDash val="dash"/>
          </a:ln>
        </p:spPr>
      </p:cxnSp>
      <p:sp>
        <p:nvSpPr>
          <p:cNvPr id="18" name="Box 8"/>
          <p:cNvSpPr/>
          <p:nvPr/>
        </p:nvSpPr>
        <p:spPr>
          <a:xfrm>
            <a:off x="2384731" y="5656350"/>
            <a:ext cx="1589861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Custom Built</a:t>
            </a:r>
          </a:p>
        </p:txBody>
      </p:sp>
      <p:cxnSp>
        <p:nvCxnSpPr>
          <p:cNvPr id="19" name="Connector 9"/>
          <p:cNvCxnSpPr/>
          <p:nvPr/>
        </p:nvCxnSpPr>
        <p:spPr>
          <a:xfrm>
            <a:off x="3974592" y="1885706"/>
            <a:ext cx="1" cy="3742505"/>
          </a:xfrm>
          <a:prstGeom prst="line">
            <a:avLst/>
          </a:prstGeom>
          <a:ln w="7035">
            <a:solidFill>
              <a:srgbClr val="808080"/>
            </a:solidFill>
            <a:prstDash val="dash"/>
          </a:ln>
        </p:spPr>
      </p:cxnSp>
      <p:sp>
        <p:nvSpPr>
          <p:cNvPr id="20" name="Box 10"/>
          <p:cNvSpPr/>
          <p:nvPr/>
        </p:nvSpPr>
        <p:spPr>
          <a:xfrm>
            <a:off x="3974592" y="5656350"/>
            <a:ext cx="1589861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Product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564453" y="1885706"/>
            <a:ext cx="1" cy="3742505"/>
          </a:xfrm>
          <a:prstGeom prst="line">
            <a:avLst/>
          </a:prstGeom>
          <a:ln w="7035">
            <a:solidFill>
              <a:srgbClr val="808080"/>
            </a:solidFill>
            <a:prstDash val="dash"/>
          </a:ln>
        </p:spPr>
      </p:cxnSp>
      <p:sp>
        <p:nvSpPr>
          <p:cNvPr id="22" name="Box 12"/>
          <p:cNvSpPr/>
          <p:nvPr/>
        </p:nvSpPr>
        <p:spPr>
          <a:xfrm>
            <a:off x="5564453" y="5656350"/>
            <a:ext cx="1589861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Commodity</a:t>
            </a:r>
          </a:p>
        </p:txBody>
      </p:sp>
      <p:sp>
        <p:nvSpPr>
          <p:cNvPr id="23" name="Pipeline"/>
          <p:cNvSpPr/>
          <p:nvPr/>
        </p:nvSpPr>
        <p:spPr>
          <a:xfrm>
            <a:off x="3614692" y="3934517"/>
            <a:ext cx="1355744" cy="168835"/>
          </a:xfrm>
          <a:prstGeom prst="roundRect">
            <a:avLst/>
          </a:prstGeom>
          <a:noFill/>
          <a:ln w="9525">
            <a:solidFill>
              <a:srgbClr val="000000"/>
            </a:solidFill>
          </a:ln>
        </p:spPr>
      </p:sp>
      <p:cxnSp>
        <p:nvCxnSpPr>
          <p:cNvPr id="24" name="Connector 14"/>
          <p:cNvCxnSpPr/>
          <p:nvPr/>
        </p:nvCxnSpPr>
        <p:spPr>
          <a:xfrm>
            <a:off x="3720214" y="4018934"/>
            <a:ext cx="1144700" cy="1"/>
          </a:xfrm>
          <a:prstGeom prst="line">
            <a:avLst/>
          </a:prstGeom>
          <a:ln w="7035">
            <a:solidFill>
              <a:srgbClr val="000000"/>
            </a:solidFill>
            <a:prstDash val="dash"/>
          </a:ln>
        </p:spPr>
      </p:cxnSp>
      <p:cxnSp>
        <p:nvCxnSpPr>
          <p:cNvPr id="25" name="Connector 15"/>
          <p:cNvCxnSpPr/>
          <p:nvPr/>
        </p:nvCxnSpPr>
        <p:spPr>
          <a:xfrm flipH="1">
            <a:off x="4682901" y="2114119"/>
            <a:ext cx="109649" cy="516226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26" name="Connector 16"/>
          <p:cNvCxnSpPr/>
          <p:nvPr/>
        </p:nvCxnSpPr>
        <p:spPr>
          <a:xfrm flipH="1">
            <a:off x="4711054" y="2093282"/>
            <a:ext cx="1007259" cy="557899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27" name="Connector 17"/>
          <p:cNvCxnSpPr/>
          <p:nvPr/>
        </p:nvCxnSpPr>
        <p:spPr>
          <a:xfrm>
            <a:off x="4715458" y="2680216"/>
            <a:ext cx="998452" cy="207383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28" name="Connector 18"/>
          <p:cNvCxnSpPr/>
          <p:nvPr/>
        </p:nvCxnSpPr>
        <p:spPr>
          <a:xfrm>
            <a:off x="4712319" y="2689611"/>
            <a:ext cx="1195513" cy="562843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4706510" y="2698710"/>
            <a:ext cx="1143537" cy="956321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>
            <a:off x="5892382" y="3723126"/>
            <a:ext cx="107275" cy="441916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31" name="Connector 21"/>
          <p:cNvCxnSpPr/>
          <p:nvPr/>
        </p:nvCxnSpPr>
        <p:spPr>
          <a:xfrm flipH="1">
            <a:off x="4339721" y="3688438"/>
            <a:ext cx="1500973" cy="227670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sp>
        <p:nvSpPr>
          <p:cNvPr id="32" name="Box 22"/>
          <p:cNvSpPr/>
          <p:nvPr/>
        </p:nvSpPr>
        <p:spPr>
          <a:xfrm>
            <a:off x="4964384" y="3822993"/>
            <a:ext cx="267322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boils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320353" y="3962025"/>
            <a:ext cx="901536" cy="1257631"/>
          </a:xfrm>
          <a:prstGeom prst="line">
            <a:avLst/>
          </a:prstGeom>
          <a:ln w="7035">
            <a:solidFill>
              <a:srgbClr val="000000"/>
            </a:solidFill>
            <a:prstDash val="dash"/>
          </a:ln>
        </p:spPr>
      </p:cxnSp>
      <p:cxnSp>
        <p:nvCxnSpPr>
          <p:cNvPr id="34" name="Connector 24"/>
          <p:cNvCxnSpPr/>
          <p:nvPr/>
        </p:nvCxnSpPr>
        <p:spPr>
          <a:xfrm>
            <a:off x="2107844" y="4515131"/>
            <a:ext cx="3097551" cy="729158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cxnSp>
        <p:nvCxnSpPr>
          <p:cNvPr id="35" name="Connector 25"/>
          <p:cNvCxnSpPr/>
          <p:nvPr/>
        </p:nvCxnSpPr>
        <p:spPr>
          <a:xfrm>
            <a:off x="5948882" y="3312544"/>
            <a:ext cx="57870" cy="851404"/>
          </a:xfrm>
          <a:prstGeom prst="line">
            <a:avLst/>
          </a:prstGeom>
          <a:ln w="7035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4334773" y="3923261"/>
            <a:ext cx="402952" cy="1"/>
          </a:xfrm>
          <a:prstGeom prst="line">
            <a:avLst/>
          </a:prstGeom>
          <a:ln w="7035">
            <a:solidFill>
              <a:srgbClr val="DC3545"/>
            </a:solidFill>
            <a:prstDash val="dash"/>
            <a:tailEnd type="triangle" w="sm" len="sm"/>
          </a:ln>
        </p:spPr>
      </p:cxnSp>
      <p:sp>
        <p:nvSpPr>
          <p:cNvPr id="37" name="Shape 27"/>
          <p:cNvSpPr/>
          <p:nvPr/>
        </p:nvSpPr>
        <p:spPr>
          <a:xfrm>
            <a:off x="4759111" y="2030623"/>
            <a:ext cx="84417" cy="8441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38" name="Box 28"/>
          <p:cNvSpPr/>
          <p:nvPr/>
        </p:nvSpPr>
        <p:spPr>
          <a:xfrm>
            <a:off x="4885737" y="1932136"/>
            <a:ext cx="513539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Business</a:t>
            </a:r>
          </a:p>
        </p:txBody>
      </p:sp>
      <p:sp>
        <p:nvSpPr>
          <p:cNvPr id="39" name="Shape 29"/>
          <p:cNvSpPr/>
          <p:nvPr/>
        </p:nvSpPr>
        <p:spPr>
          <a:xfrm>
            <a:off x="5713028" y="2030623"/>
            <a:ext cx="84417" cy="8441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40" name="Box 30"/>
          <p:cNvSpPr/>
          <p:nvPr/>
        </p:nvSpPr>
        <p:spPr>
          <a:xfrm>
            <a:off x="5839654" y="1932136"/>
            <a:ext cx="400983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Public</a:t>
            </a:r>
          </a:p>
        </p:txBody>
      </p:sp>
      <p:sp>
        <p:nvSpPr>
          <p:cNvPr id="41" name="Shape 31"/>
          <p:cNvSpPr/>
          <p:nvPr/>
        </p:nvSpPr>
        <p:spPr>
          <a:xfrm>
            <a:off x="4631922" y="2629423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2" name="Box 32"/>
          <p:cNvSpPr/>
          <p:nvPr/>
        </p:nvSpPr>
        <p:spPr>
          <a:xfrm>
            <a:off x="4160592" y="2685702"/>
            <a:ext cx="492435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Cup of Tea</a:t>
            </a:r>
          </a:p>
        </p:txBody>
      </p:sp>
      <p:sp>
        <p:nvSpPr>
          <p:cNvPr id="43" name="Shape 33"/>
          <p:cNvSpPr/>
          <p:nvPr/>
        </p:nvSpPr>
        <p:spPr>
          <a:xfrm>
            <a:off x="5713028" y="2853974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5839654" y="2839904"/>
            <a:ext cx="204009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Cup</a:t>
            </a:r>
          </a:p>
        </p:txBody>
      </p:sp>
      <p:sp>
        <p:nvSpPr>
          <p:cNvPr id="45" name="Shape 35"/>
          <p:cNvSpPr/>
          <p:nvPr/>
        </p:nvSpPr>
        <p:spPr>
          <a:xfrm>
            <a:off x="5903811" y="3228224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6" name="Box 36"/>
          <p:cNvSpPr/>
          <p:nvPr/>
        </p:nvSpPr>
        <p:spPr>
          <a:xfrm>
            <a:off x="6030437" y="3214155"/>
            <a:ext cx="204009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Tea</a:t>
            </a:r>
          </a:p>
        </p:txBody>
      </p:sp>
      <p:sp>
        <p:nvSpPr>
          <p:cNvPr id="47" name="Shape 37"/>
          <p:cNvSpPr/>
          <p:nvPr/>
        </p:nvSpPr>
        <p:spPr>
          <a:xfrm>
            <a:off x="5840217" y="3639900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8" name="Box 38"/>
          <p:cNvSpPr/>
          <p:nvPr/>
        </p:nvSpPr>
        <p:spPr>
          <a:xfrm>
            <a:off x="5966843" y="3625830"/>
            <a:ext cx="471331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Hot Water</a:t>
            </a:r>
          </a:p>
        </p:txBody>
      </p:sp>
      <p:sp>
        <p:nvSpPr>
          <p:cNvPr id="49" name="Shape 39"/>
          <p:cNvSpPr/>
          <p:nvPr/>
        </p:nvSpPr>
        <p:spPr>
          <a:xfrm>
            <a:off x="5954743" y="4151188"/>
            <a:ext cx="109743" cy="109743"/>
          </a:xfrm>
          <a:prstGeom prst="diamon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0" name="Box 40"/>
          <p:cNvSpPr/>
          <p:nvPr/>
        </p:nvSpPr>
        <p:spPr>
          <a:xfrm>
            <a:off x="6094032" y="4149781"/>
            <a:ext cx="302496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Water</a:t>
            </a:r>
          </a:p>
        </p:txBody>
      </p:sp>
      <p:sp>
        <p:nvSpPr>
          <p:cNvPr id="51" name="Pipeline parent"/>
          <p:cNvSpPr/>
          <p:nvPr/>
        </p:nvSpPr>
        <p:spPr>
          <a:xfrm>
            <a:off x="4258797" y="3889494"/>
            <a:ext cx="67534" cy="6753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52" name="Connector 42"/>
          <p:cNvCxnSpPr/>
          <p:nvPr/>
        </p:nvCxnSpPr>
        <p:spPr>
          <a:xfrm>
            <a:off x="4362912" y="3881052"/>
            <a:ext cx="1" cy="84418"/>
          </a:xfrm>
          <a:prstGeom prst="line">
            <a:avLst/>
          </a:prstGeom>
          <a:ln w="7035">
            <a:solidFill>
              <a:srgbClr val="000000"/>
            </a:solidFill>
            <a:prstDash val="solid"/>
          </a:ln>
        </p:spPr>
      </p:cxnSp>
      <p:sp>
        <p:nvSpPr>
          <p:cNvPr id="53" name="Box 43"/>
          <p:cNvSpPr/>
          <p:nvPr/>
        </p:nvSpPr>
        <p:spPr>
          <a:xfrm>
            <a:off x="4376982" y="3866983"/>
            <a:ext cx="344704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Kettle</a:t>
            </a:r>
          </a:p>
        </p:txBody>
      </p:sp>
      <p:sp>
        <p:nvSpPr>
          <p:cNvPr id="54" name="Shape 44"/>
          <p:cNvSpPr/>
          <p:nvPr/>
        </p:nvSpPr>
        <p:spPr>
          <a:xfrm>
            <a:off x="2011887" y="4450588"/>
            <a:ext cx="109743" cy="97080"/>
          </a:xfrm>
          <a:custGeom>
            <a:avLst/>
            <a:gdLst/>
            <a:ahLst/>
            <a:cxnLst/>
            <a:rect l="0" t="0" r="0" b="0"/>
            <a:pathLst>
              <a:path w="109743" h="97080">
                <a:moveTo>
                  <a:pt x="54872" y="0"/>
                </a:moveTo>
                <a:lnTo>
                  <a:pt x="109743" y="97080"/>
                </a:lnTo>
                <a:lnTo>
                  <a:pt x="0" y="9708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7035">
            <a:solidFill>
              <a:srgbClr val="000000"/>
            </a:solidFill>
          </a:ln>
        </p:spPr>
      </p:sp>
      <p:sp>
        <p:nvSpPr>
          <p:cNvPr id="55" name="Box 45"/>
          <p:cNvSpPr/>
          <p:nvPr/>
        </p:nvSpPr>
        <p:spPr>
          <a:xfrm>
            <a:off x="2151176" y="4449181"/>
            <a:ext cx="344704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Boiler</a:t>
            </a:r>
          </a:p>
        </p:txBody>
      </p:sp>
      <p:sp>
        <p:nvSpPr>
          <p:cNvPr id="56" name="Outsource"/>
          <p:cNvSpPr/>
          <p:nvPr/>
        </p:nvSpPr>
        <p:spPr>
          <a:xfrm>
            <a:off x="5204272" y="5211752"/>
            <a:ext cx="84417" cy="84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7" name="Box 47"/>
          <p:cNvSpPr/>
          <p:nvPr/>
        </p:nvSpPr>
        <p:spPr>
          <a:xfrm>
            <a:off x="5330898" y="5197682"/>
            <a:ext cx="302496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Power</a:t>
            </a:r>
          </a:p>
        </p:txBody>
      </p:sp>
      <p:sp>
        <p:nvSpPr>
          <p:cNvPr id="58" name="Shape 48"/>
          <p:cNvSpPr/>
          <p:nvPr/>
        </p:nvSpPr>
        <p:spPr>
          <a:xfrm>
            <a:off x="4822706" y="3976725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9" name="Box 49"/>
          <p:cNvSpPr/>
          <p:nvPr/>
        </p:nvSpPr>
        <p:spPr>
          <a:xfrm>
            <a:off x="4949332" y="3962656"/>
            <a:ext cx="745687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Electric Kettle</a:t>
            </a:r>
          </a:p>
        </p:txBody>
      </p:sp>
      <p:sp>
        <p:nvSpPr>
          <p:cNvPr id="60" name="Shape 50"/>
          <p:cNvSpPr/>
          <p:nvPr/>
        </p:nvSpPr>
        <p:spPr>
          <a:xfrm>
            <a:off x="3678006" y="3976725"/>
            <a:ext cx="84417" cy="8441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1" name="Box 51"/>
          <p:cNvSpPr/>
          <p:nvPr/>
        </p:nvSpPr>
        <p:spPr>
          <a:xfrm>
            <a:off x="3804632" y="3962656"/>
            <a:ext cx="513539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Gas Kettle</a:t>
            </a:r>
          </a:p>
        </p:txBody>
      </p:sp>
      <p:sp>
        <p:nvSpPr>
          <p:cNvPr id="62" name="Box 52"/>
          <p:cNvSpPr/>
          <p:nvPr/>
        </p:nvSpPr>
        <p:spPr>
          <a:xfrm>
            <a:off x="3656620" y="5309957"/>
            <a:ext cx="2307409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650" dirty="0">
                <a:solidFill>
                  <a:srgbClr val="595959"/>
                </a:solidFill>
              </a:rPr>
              <a:t>Standardising power allows Kettles to evolve faster</a:t>
            </a:r>
          </a:p>
        </p:txBody>
      </p:sp>
      <p:cxnSp>
        <p:nvCxnSpPr>
          <p:cNvPr id="63" name="Connector 53"/>
          <p:cNvCxnSpPr/>
          <p:nvPr/>
        </p:nvCxnSpPr>
        <p:spPr>
          <a:xfrm>
            <a:off x="2547938" y="3307858"/>
            <a:ext cx="309530" cy="1"/>
          </a:xfrm>
          <a:prstGeom prst="line">
            <a:avLst/>
          </a:prstGeom>
          <a:ln w="7035">
            <a:solidFill>
              <a:srgbClr val="DC3545"/>
            </a:solidFill>
            <a:prstDash val="solid"/>
            <a:tailEnd type="triangle" w="sm" len="sm"/>
          </a:ln>
        </p:spPr>
      </p:cxnSp>
      <p:sp>
        <p:nvSpPr>
          <p:cNvPr id="64" name="Box 54"/>
          <p:cNvSpPr/>
          <p:nvPr/>
        </p:nvSpPr>
        <p:spPr>
          <a:xfrm>
            <a:off x="2421312" y="3350067"/>
            <a:ext cx="562783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Open Source</a:t>
            </a:r>
          </a:p>
        </p:txBody>
      </p:sp>
      <p:sp>
        <p:nvSpPr>
          <p:cNvPr id="65" name="Shape 55"/>
          <p:cNvSpPr/>
          <p:nvPr/>
        </p:nvSpPr>
        <p:spPr>
          <a:xfrm>
            <a:off x="2646425" y="4823432"/>
            <a:ext cx="112557" cy="11255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6" name="Box 56"/>
          <p:cNvSpPr/>
          <p:nvPr/>
        </p:nvSpPr>
        <p:spPr>
          <a:xfrm>
            <a:off x="2646425" y="4823432"/>
            <a:ext cx="112557" cy="10552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7" name="Annotations"/>
          <p:cNvSpPr/>
          <p:nvPr/>
        </p:nvSpPr>
        <p:spPr>
          <a:xfrm>
            <a:off x="922059" y="5179111"/>
            <a:ext cx="1097426" cy="161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8" name="Box 58"/>
          <p:cNvSpPr/>
          <p:nvPr/>
        </p:nvSpPr>
        <p:spPr>
          <a:xfrm>
            <a:off x="950198" y="5207250"/>
            <a:ext cx="1041148" cy="105522"/>
          </a:xfrm>
          <a:prstGeom prst="rect">
            <a:avLst/>
          </a:prstGeom>
          <a:noFill/>
          <a:ln>
            <a:noFill/>
          </a:ln>
        </p:spPr>
        <p:txBody>
          <a:bodyPr wrap="none" lIns="14070" tIns="0" rIns="1407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1. Standardising power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wardley-beta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title Tea Shop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size [1000, 640]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anchor Business [0.95, 0.63]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anchor Public [0.95, 0.78]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Cup of Tea [0.79, 0.61] label [-85, 10]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Cup [0.73, 0.78]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Tea [0.63, 0.81]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Hot Water [0.52, 0.80]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Water [0.38, 0.82] (buy)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Kettle [0.43, 0.35] (inertia)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Boiler [0.30, 0.20] (build)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component Power [0.1, 0.7] (outsource)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pipeline Kettle {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  component "Electric Kettle" [0.64]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  component "Gas Kettle" [0.46]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}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Business-&gt;Cup of Tea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Public-&gt;Cup of Tea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Cup of Tea-&gt;Cup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Cup of Tea-&gt;Tea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Cup of Tea-&gt;Hot Water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Hot Water-&gt;Water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Hot Water-&gt;Kettle; boils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Kettle -.-&gt; Power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Boiler -&gt; Power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Tea +&lt;&gt; Water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evolve Kettle 0.62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note "Standardising power allows Kettles to evolve faster" [0.07, 0.45]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annotations [0.12, 0.02]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annotation 1,[0.20,0.30] "Standardising power"</a:t>
            </a:r>
          </a:p>
          <a:p>
            <a:pPr algn="l"/>
            <a:r>
              <a:rPr lang="en-US" sz="1000" dirty="0">
                <a:solidFill>
                  <a:srgbClr val="1F2937"/>
                </a:solidFill>
                <a:latin typeface="Consolas"/>
                <a:cs typeface="Consolas"/>
              </a:rPr>
              <a:t>accelerator "Open Source" [0.62, 0.30]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wardley.md</dc:title>
  <dc:creator>md2nativedocx</dc:creator>
  <cp:lastModifiedBy>md2nativedocx</cp:lastModifiedBy>
  <dcterms:created xsi:type="dcterms:W3CDTF">2026-10-05T12:12:59Z</dcterms:created>
  <dcterms:modified xsi:type="dcterms:W3CDTF">2026-10-05T12:12:59Z</dcterms:modified>
</cp:coreProperties>
</file>