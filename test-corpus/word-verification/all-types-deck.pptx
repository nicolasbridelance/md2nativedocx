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presProps" Target="presProps.xml"/><Relationship Id="rId65" Type="http://schemas.openxmlformats.org/officeDocument/2006/relationships/viewProps" Target="viewProps.xml"/><Relationship Id="rId66" Type="http://schemas.openxmlformats.org/officeDocument/2006/relationships/theme" Target="theme/theme1.xml"/><Relationship Id="rId67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architecture-diagram</a:t>
            </a:r>
          </a:p>
        </p:txBody>
      </p:sp>
      <p:cxnSp>
        <p:nvCxnSpPr>
          <p:cNvPr id="11" name="Connector 1"/>
          <p:cNvCxnSpPr/>
          <p:nvPr/>
        </p:nvCxnSpPr>
        <p:spPr>
          <a:xfrm>
            <a:off x="6663691" y="1870412"/>
            <a:ext cx="1" cy="866468"/>
          </a:xfrm>
          <a:prstGeom prst="line">
            <a:avLst/>
          </a:prstGeom>
          <a:ln w="12378">
            <a:solidFill>
              <a:srgbClr val="2F5496"/>
            </a:solidFill>
            <a:prstDash val="solid"/>
            <a:tailEnd type="triangle" w="sm" len="sm"/>
          </a:ln>
        </p:spPr>
      </p:cxnSp>
      <p:cxnSp>
        <p:nvCxnSpPr>
          <p:cNvPr id="12" name="Connector 2"/>
          <p:cNvCxnSpPr/>
          <p:nvPr/>
        </p:nvCxnSpPr>
        <p:spPr>
          <a:xfrm flipH="1">
            <a:off x="6130510" y="3281516"/>
            <a:ext cx="405681" cy="866468"/>
          </a:xfrm>
          <a:prstGeom prst="line">
            <a:avLst/>
          </a:prstGeom>
          <a:ln w="12378">
            <a:solidFill>
              <a:srgbClr val="2F5496"/>
            </a:solidFill>
            <a:prstDash val="solid"/>
            <a:tailEnd type="triangle" w="sm" len="sm"/>
          </a:ln>
        </p:spPr>
      </p:cxnSp>
      <p:cxnSp>
        <p:nvCxnSpPr>
          <p:cNvPr id="13" name="Connector 3"/>
          <p:cNvCxnSpPr/>
          <p:nvPr/>
        </p:nvCxnSpPr>
        <p:spPr>
          <a:xfrm>
            <a:off x="6791190" y="3281516"/>
            <a:ext cx="492614" cy="1052139"/>
          </a:xfrm>
          <a:prstGeom prst="line">
            <a:avLst/>
          </a:prstGeom>
          <a:ln w="12378">
            <a:solidFill>
              <a:srgbClr val="2F5496"/>
            </a:solidFill>
            <a:prstDash val="solid"/>
          </a:ln>
        </p:spPr>
      </p:cxnSp>
      <p:cxnSp>
        <p:nvCxnSpPr>
          <p:cNvPr id="14" name="Connector 4"/>
          <p:cNvCxnSpPr/>
          <p:nvPr/>
        </p:nvCxnSpPr>
        <p:spPr>
          <a:xfrm>
            <a:off x="7324373" y="4506949"/>
            <a:ext cx="1" cy="1052139"/>
          </a:xfrm>
          <a:prstGeom prst="line">
            <a:avLst/>
          </a:prstGeom>
          <a:ln w="12378">
            <a:solidFill>
              <a:srgbClr val="2F5496"/>
            </a:solidFill>
            <a:prstDash val="solid"/>
          </a:ln>
        </p:spPr>
      </p:cxnSp>
      <p:sp>
        <p:nvSpPr>
          <p:cNvPr id="15" name="Public API"/>
          <p:cNvSpPr/>
          <p:nvPr/>
        </p:nvSpPr>
        <p:spPr>
          <a:xfrm>
            <a:off x="4401591" y="1325775"/>
            <a:ext cx="1177159" cy="544637"/>
          </a:xfrm>
          <a:prstGeom prst="cloud">
            <a:avLst/>
          </a:prstGeom>
          <a:solidFill>
            <a:srgbClr val="FCE4D6"/>
          </a:solidFill>
          <a:ln w="12378">
            <a:solidFill>
              <a:srgbClr val="2F5496"/>
            </a:solidFill>
          </a:ln>
        </p:spPr>
        <p:txBody>
          <a:bodyPr lIns="59415" tIns="29707" rIns="59415" bIns="29707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70" dirty="0">
                <a:solidFill>
                  <a:srgbClr val="000000"/>
                </a:solidFill>
              </a:rPr>
              <a:t>Public API</a:t>
            </a:r>
          </a:p>
        </p:txBody>
      </p:sp>
      <p:sp>
        <p:nvSpPr>
          <p:cNvPr id="16" name="My Database"/>
          <p:cNvSpPr/>
          <p:nvPr/>
        </p:nvSpPr>
        <p:spPr>
          <a:xfrm>
            <a:off x="5387198" y="4147984"/>
            <a:ext cx="1231621" cy="544637"/>
          </a:xfrm>
          <a:prstGeom prst="can">
            <a:avLst/>
          </a:prstGeom>
          <a:solidFill>
            <a:srgbClr val="D9E2F3"/>
          </a:solidFill>
          <a:ln w="12378">
            <a:solidFill>
              <a:srgbClr val="2F5496"/>
            </a:solidFill>
          </a:ln>
        </p:spPr>
        <p:txBody>
          <a:bodyPr lIns="59415" tIns="29707" rIns="59415" bIns="29707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70" dirty="0">
                <a:solidFill>
                  <a:srgbClr val="000000"/>
                </a:solidFill>
              </a:rPr>
              <a:t>My Database</a:t>
            </a:r>
          </a:p>
        </p:txBody>
      </p:sp>
      <p:sp>
        <p:nvSpPr>
          <p:cNvPr id="17" name="Server"/>
          <p:cNvSpPr/>
          <p:nvPr/>
        </p:nvSpPr>
        <p:spPr>
          <a:xfrm>
            <a:off x="6230457" y="2736879"/>
            <a:ext cx="866468" cy="544637"/>
          </a:xfrm>
          <a:prstGeom prst="roundRect">
            <a:avLst/>
          </a:prstGeom>
          <a:solidFill>
            <a:srgbClr val="D9E2F3"/>
          </a:solidFill>
          <a:ln w="12378">
            <a:solidFill>
              <a:srgbClr val="2F5496"/>
            </a:solidFill>
          </a:ln>
        </p:spPr>
        <p:txBody>
          <a:bodyPr lIns="59415" tIns="29707" rIns="59415" bIns="29707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70" dirty="0">
                <a:solidFill>
                  <a:srgbClr val="000000"/>
                </a:solidFill>
              </a:rPr>
              <a:t>Server</a:t>
            </a:r>
          </a:p>
        </p:txBody>
      </p:sp>
      <p:sp>
        <p:nvSpPr>
          <p:cNvPr id="18" name="Storage"/>
          <p:cNvSpPr/>
          <p:nvPr/>
        </p:nvSpPr>
        <p:spPr>
          <a:xfrm>
            <a:off x="6858336" y="5559088"/>
            <a:ext cx="932072" cy="544637"/>
          </a:xfrm>
          <a:prstGeom prst="can">
            <a:avLst/>
          </a:prstGeom>
          <a:solidFill>
            <a:srgbClr val="D9E2F3"/>
          </a:solidFill>
          <a:ln w="12378">
            <a:solidFill>
              <a:srgbClr val="2F5496"/>
            </a:solidFill>
          </a:ln>
        </p:spPr>
        <p:txBody>
          <a:bodyPr lIns="59415" tIns="29707" rIns="59415" bIns="29707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70" dirty="0">
                <a:solidFill>
                  <a:srgbClr val="000000"/>
                </a:solidFill>
              </a:rPr>
              <a:t>Storage</a:t>
            </a:r>
          </a:p>
        </p:txBody>
      </p:sp>
      <p:sp>
        <p:nvSpPr>
          <p:cNvPr id="19" name="Gateway"/>
          <p:cNvSpPr/>
          <p:nvPr/>
        </p:nvSpPr>
        <p:spPr>
          <a:xfrm>
            <a:off x="6197656" y="1325775"/>
            <a:ext cx="932072" cy="544637"/>
          </a:xfrm>
          <a:prstGeom prst="roundRect">
            <a:avLst/>
          </a:prstGeom>
          <a:solidFill>
            <a:srgbClr val="D9E2F3"/>
          </a:solidFill>
          <a:ln w="12378">
            <a:solidFill>
              <a:srgbClr val="2F5496"/>
            </a:solidFill>
          </a:ln>
        </p:spPr>
        <p:txBody>
          <a:bodyPr lIns="59415" tIns="29707" rIns="59415" bIns="29707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70" dirty="0">
                <a:solidFill>
                  <a:srgbClr val="000000"/>
                </a:solidFill>
              </a:rPr>
              <a:t>Gateway</a:t>
            </a:r>
          </a:p>
        </p:txBody>
      </p:sp>
      <p:sp>
        <p:nvSpPr>
          <p:cNvPr id="20" name="j1"/>
          <p:cNvSpPr/>
          <p:nvPr/>
        </p:nvSpPr>
        <p:spPr>
          <a:xfrm>
            <a:off x="7237726" y="4333656"/>
            <a:ext cx="173294" cy="173294"/>
          </a:xfrm>
          <a:prstGeom prst="ellipse">
            <a:avLst/>
          </a:prstGeom>
          <a:solidFill>
            <a:srgbClr val="2F5496"/>
          </a:solidFill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bidirectional</a:t>
            </a:r>
          </a:p>
        </p:txBody>
      </p:sp>
      <p:sp>
        <p:nvSpPr>
          <p:cNvPr id="12" name="Client" descr="A"/>
          <p:cNvSpPr/>
          <p:nvPr/>
        </p:nvSpPr>
        <p:spPr>
          <a:xfrm>
            <a:off x="457200" y="3065319"/>
            <a:ext cx="2092036" cy="1298864"/>
          </a:xfrm>
          <a:prstGeom prst="rect">
            <a:avLst/>
          </a:prstGeom>
          <a:solidFill>
            <a:srgbClr val="BBDEFB"/>
          </a:solidFill>
          <a:ln w="23091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66255" tIns="83127" rIns="166255" bIns="8312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182" dirty="0">
                <a:solidFill>
                  <a:srgbClr val="000000"/>
                </a:solidFill>
              </a:rPr>
              <a:t>Client</a:t>
            </a:r>
          </a:p>
        </p:txBody>
      </p:sp>
      <p:sp>
        <p:nvSpPr>
          <p:cNvPr id="13" name="Cache" descr="B"/>
          <p:cNvSpPr/>
          <p:nvPr/>
        </p:nvSpPr>
        <p:spPr>
          <a:xfrm>
            <a:off x="4059382" y="1896341"/>
            <a:ext cx="1842655" cy="1298864"/>
          </a:xfrm>
          <a:prstGeom prst="rect">
            <a:avLst/>
          </a:prstGeom>
          <a:solidFill>
            <a:srgbClr val="C8E6C9"/>
          </a:solidFill>
          <a:ln w="23091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66255" tIns="83127" rIns="166255" bIns="8312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182" dirty="0">
                <a:solidFill>
                  <a:srgbClr val="000000"/>
                </a:solidFill>
              </a:rPr>
              <a:t>Cache</a:t>
            </a:r>
          </a:p>
        </p:txBody>
      </p:sp>
      <p:sp>
        <p:nvSpPr>
          <p:cNvPr id="14" name="Base" descr="C"/>
          <p:cNvSpPr/>
          <p:nvPr/>
        </p:nvSpPr>
        <p:spPr>
          <a:xfrm>
            <a:off x="7412182" y="1896341"/>
            <a:ext cx="1593273" cy="1298864"/>
          </a:xfrm>
          <a:prstGeom prst="rect">
            <a:avLst/>
          </a:prstGeom>
          <a:solidFill>
            <a:srgbClr val="FFE0B2"/>
          </a:solidFill>
          <a:ln w="23091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66255" tIns="83127" rIns="166255" bIns="8312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182" dirty="0">
                <a:solidFill>
                  <a:srgbClr val="000000"/>
                </a:solidFill>
              </a:rPr>
              <a:t>Base</a:t>
            </a:r>
          </a:p>
        </p:txBody>
      </p:sp>
      <p:sp>
        <p:nvSpPr>
          <p:cNvPr id="15" name="Log" descr="D"/>
          <p:cNvSpPr/>
          <p:nvPr/>
        </p:nvSpPr>
        <p:spPr>
          <a:xfrm>
            <a:off x="10390909" y="1896341"/>
            <a:ext cx="1343891" cy="1298864"/>
          </a:xfrm>
          <a:prstGeom prst="rect">
            <a:avLst/>
          </a:prstGeom>
          <a:solidFill>
            <a:srgbClr val="E1BEE7"/>
          </a:solidFill>
          <a:ln w="23091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66255" tIns="83127" rIns="166255" bIns="8312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182" dirty="0">
                <a:solidFill>
                  <a:srgbClr val="000000"/>
                </a:solidFill>
              </a:rPr>
              <a:t>Log</a:t>
            </a:r>
          </a:p>
        </p:txBody>
      </p:sp>
      <p:sp>
        <p:nvSpPr>
          <p:cNvPr id="16" name="Direct" descr="E"/>
          <p:cNvSpPr/>
          <p:nvPr/>
        </p:nvSpPr>
        <p:spPr>
          <a:xfrm>
            <a:off x="3934691" y="4234295"/>
            <a:ext cx="2092036" cy="1298864"/>
          </a:xfrm>
          <a:prstGeom prst="rect">
            <a:avLst/>
          </a:prstGeom>
          <a:solidFill>
            <a:srgbClr val="FFCDD2"/>
          </a:solidFill>
          <a:ln w="23091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66255" tIns="83127" rIns="166255" bIns="8312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182" dirty="0">
                <a:solidFill>
                  <a:srgbClr val="000000"/>
                </a:solidFill>
              </a:rPr>
              <a:t>Direct</a:t>
            </a:r>
          </a:p>
        </p:txBody>
      </p:sp>
      <p:cxnSp>
        <p:nvCxnSpPr>
          <p:cNvPr id="17" name="A--B"/>
          <p:cNvCxnSpPr>
            <a:stCxn id="12" idx="3"/>
            <a:endCxn id="13" idx="1"/>
          </p:cNvCxnSpPr>
          <p:nvPr/>
        </p:nvCxnSpPr>
        <p:spPr>
          <a:xfrm flipV="1">
            <a:off x="2549236" y="2545774"/>
            <a:ext cx="1510145" cy="1168976"/>
          </a:xfrm>
          <a:prstGeom prst="line">
            <a:avLst/>
          </a:prstGeom>
          <a:ln w="23091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B--A"/>
          <p:cNvCxnSpPr>
            <a:stCxn id="13" idx="1"/>
            <a:endCxn id="12" idx="3"/>
          </p:cNvCxnSpPr>
          <p:nvPr/>
        </p:nvCxnSpPr>
        <p:spPr>
          <a:xfrm flipH="1">
            <a:off x="2549236" y="2545774"/>
            <a:ext cx="1510145" cy="1168976"/>
          </a:xfrm>
          <a:prstGeom prst="line">
            <a:avLst/>
          </a:prstGeom>
          <a:ln w="23091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B--C"/>
          <p:cNvCxnSpPr>
            <a:stCxn id="13" idx="3"/>
            <a:endCxn id="14" idx="1"/>
          </p:cNvCxnSpPr>
          <p:nvPr/>
        </p:nvCxnSpPr>
        <p:spPr>
          <a:xfrm>
            <a:off x="5902036" y="2545774"/>
            <a:ext cx="1510145" cy="0"/>
          </a:xfrm>
          <a:prstGeom prst="line">
            <a:avLst/>
          </a:prstGeom>
          <a:ln w="23091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--B"/>
          <p:cNvCxnSpPr>
            <a:stCxn id="14" idx="1"/>
            <a:endCxn id="13" idx="3"/>
          </p:cNvCxnSpPr>
          <p:nvPr/>
        </p:nvCxnSpPr>
        <p:spPr>
          <a:xfrm flipH="1">
            <a:off x="5902036" y="2545774"/>
            <a:ext cx="1510145" cy="0"/>
          </a:xfrm>
          <a:prstGeom prst="line">
            <a:avLst/>
          </a:prstGeom>
          <a:ln w="23091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--D"/>
          <p:cNvCxnSpPr>
            <a:stCxn id="14" idx="3"/>
            <a:endCxn id="15" idx="1"/>
          </p:cNvCxnSpPr>
          <p:nvPr/>
        </p:nvCxnSpPr>
        <p:spPr>
          <a:xfrm>
            <a:off x="9005455" y="2545774"/>
            <a:ext cx="1385455" cy="0"/>
          </a:xfrm>
          <a:prstGeom prst="line">
            <a:avLst/>
          </a:prstGeom>
          <a:ln w="23091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D--B"/>
          <p:cNvCxnSpPr>
            <a:stCxn id="15" idx="1"/>
            <a:endCxn id="13" idx="3"/>
          </p:cNvCxnSpPr>
          <p:nvPr/>
        </p:nvCxnSpPr>
        <p:spPr>
          <a:xfrm>
            <a:off x="5902036" y="2545774"/>
            <a:ext cx="4488873" cy="1342158"/>
          </a:xfrm>
          <a:custGeom>
            <a:avLst/>
            <a:gdLst/>
            <a:ahLst/>
            <a:cxnLst/>
            <a:rect l="0" t="0" r="0" b="0"/>
            <a:pathLst>
              <a:path w="2468880" h="738187">
                <a:moveTo>
                  <a:pt x="2468880" y="0"/>
                </a:moveTo>
                <a:lnTo>
                  <a:pt x="2087880" y="738187"/>
                </a:lnTo>
                <a:lnTo>
                  <a:pt x="1268730" y="738187"/>
                </a:lnTo>
                <a:lnTo>
                  <a:pt x="449580" y="738187"/>
                </a:lnTo>
                <a:lnTo>
                  <a:pt x="0" y="0"/>
                </a:lnTo>
              </a:path>
            </a:pathLst>
          </a:custGeom>
          <a:ln w="23091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A--E"/>
          <p:cNvCxnSpPr>
            <a:stCxn id="12" idx="3"/>
            <a:endCxn id="16" idx="1"/>
          </p:cNvCxnSpPr>
          <p:nvPr/>
        </p:nvCxnSpPr>
        <p:spPr>
          <a:xfrm>
            <a:off x="2549236" y="3714750"/>
            <a:ext cx="1385455" cy="1168978"/>
          </a:xfrm>
          <a:prstGeom prst="line">
            <a:avLst/>
          </a:prstGeom>
          <a:ln w="23091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block</a:t>
            </a:r>
          </a:p>
        </p:txBody>
      </p:sp>
      <p:sp>
        <p:nvSpPr>
          <p:cNvPr id="11" name="Block doc"/>
          <p:cNvSpPr/>
          <p:nvPr/>
        </p:nvSpPr>
        <p:spPr>
          <a:xfrm>
            <a:off x="2322739" y="1455057"/>
            <a:ext cx="2344964" cy="1193800"/>
          </a:xfrm>
          <a:prstGeom prst="rect">
            <a:avLst/>
          </a:prstGeom>
          <a:solidFill>
            <a:srgbClr val="DAE8FC"/>
          </a:solidFill>
          <a:ln w="21318">
            <a:solidFill>
              <a:srgbClr val="6C8EBF"/>
            </a:solidFill>
          </a:ln>
        </p:spPr>
      </p:sp>
      <p:sp>
        <p:nvSpPr>
          <p:cNvPr id="12" name="Box 2"/>
          <p:cNvSpPr/>
          <p:nvPr/>
        </p:nvSpPr>
        <p:spPr>
          <a:xfrm>
            <a:off x="2322739" y="1455057"/>
            <a:ext cx="2344964" cy="1193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462" dirty="0">
                <a:solidFill>
                  <a:srgbClr val="000000"/>
                </a:solidFill>
              </a:rPr>
              <a:t>Document</a:t>
            </a:r>
          </a:p>
        </p:txBody>
      </p:sp>
      <p:sp>
        <p:nvSpPr>
          <p:cNvPr id="13" name="Block db"/>
          <p:cNvSpPr/>
          <p:nvPr/>
        </p:nvSpPr>
        <p:spPr>
          <a:xfrm>
            <a:off x="7524296" y="1455057"/>
            <a:ext cx="2344964" cy="1193800"/>
          </a:xfrm>
          <a:prstGeom prst="rect">
            <a:avLst/>
          </a:prstGeom>
          <a:solidFill>
            <a:srgbClr val="DAE8FC"/>
          </a:solidFill>
          <a:ln w="21318">
            <a:solidFill>
              <a:srgbClr val="6C8EBF"/>
            </a:solidFill>
          </a:ln>
        </p:spPr>
      </p:sp>
      <p:sp>
        <p:nvSpPr>
          <p:cNvPr id="14" name="Box 4"/>
          <p:cNvSpPr/>
          <p:nvPr/>
        </p:nvSpPr>
        <p:spPr>
          <a:xfrm>
            <a:off x="7524296" y="1455057"/>
            <a:ext cx="2344964" cy="1193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462" dirty="0">
                <a:solidFill>
                  <a:srgbClr val="000000"/>
                </a:solidFill>
              </a:rPr>
              <a:t>Database</a:t>
            </a:r>
          </a:p>
        </p:txBody>
      </p:sp>
      <p:sp>
        <p:nvSpPr>
          <p:cNvPr id="15" name="Group pipeline"/>
          <p:cNvSpPr/>
          <p:nvPr/>
        </p:nvSpPr>
        <p:spPr>
          <a:xfrm>
            <a:off x="2322739" y="2904671"/>
            <a:ext cx="7546521" cy="1620157"/>
          </a:xfrm>
          <a:prstGeom prst="roundRect">
            <a:avLst/>
          </a:prstGeom>
          <a:solidFill>
            <a:srgbClr val="F5F5F5"/>
          </a:solidFill>
          <a:ln w="21318">
            <a:solidFill>
              <a:srgbClr val="BFBFBF"/>
            </a:solidFill>
          </a:ln>
        </p:spPr>
      </p:sp>
      <p:sp>
        <p:nvSpPr>
          <p:cNvPr id="16" name="Block parse"/>
          <p:cNvSpPr/>
          <p:nvPr/>
        </p:nvSpPr>
        <p:spPr>
          <a:xfrm>
            <a:off x="2535918" y="3117850"/>
            <a:ext cx="2202845" cy="1193800"/>
          </a:xfrm>
          <a:prstGeom prst="rect">
            <a:avLst/>
          </a:prstGeom>
          <a:solidFill>
            <a:srgbClr val="DAE8FC"/>
          </a:solidFill>
          <a:ln w="21318">
            <a:solidFill>
              <a:srgbClr val="6C8EBF"/>
            </a:solidFill>
          </a:ln>
        </p:spPr>
      </p:sp>
      <p:sp>
        <p:nvSpPr>
          <p:cNvPr id="17" name="Box 7"/>
          <p:cNvSpPr/>
          <p:nvPr/>
        </p:nvSpPr>
        <p:spPr>
          <a:xfrm>
            <a:off x="2535918" y="3117850"/>
            <a:ext cx="2202845" cy="1193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462" dirty="0">
                <a:solidFill>
                  <a:srgbClr val="000000"/>
                </a:solidFill>
              </a:rPr>
              <a:t>Parse</a:t>
            </a:r>
          </a:p>
        </p:txBody>
      </p:sp>
      <p:sp>
        <p:nvSpPr>
          <p:cNvPr id="18" name="Block layout"/>
          <p:cNvSpPr/>
          <p:nvPr/>
        </p:nvSpPr>
        <p:spPr>
          <a:xfrm>
            <a:off x="4994577" y="3117850"/>
            <a:ext cx="2202845" cy="1193800"/>
          </a:xfrm>
          <a:prstGeom prst="roundRect">
            <a:avLst/>
          </a:prstGeom>
          <a:solidFill>
            <a:srgbClr val="DAE8FC"/>
          </a:solidFill>
          <a:ln w="21318">
            <a:solidFill>
              <a:srgbClr val="6C8EBF"/>
            </a:solidFill>
          </a:ln>
        </p:spPr>
      </p:sp>
      <p:sp>
        <p:nvSpPr>
          <p:cNvPr id="19" name="Box 9"/>
          <p:cNvSpPr/>
          <p:nvPr/>
        </p:nvSpPr>
        <p:spPr>
          <a:xfrm>
            <a:off x="4994577" y="3117850"/>
            <a:ext cx="2202845" cy="1193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462" dirty="0">
                <a:solidFill>
                  <a:srgbClr val="000000"/>
                </a:solidFill>
              </a:rPr>
              <a:t>Layout</a:t>
            </a:r>
          </a:p>
        </p:txBody>
      </p:sp>
      <p:sp>
        <p:nvSpPr>
          <p:cNvPr id="20" name="Block emit"/>
          <p:cNvSpPr/>
          <p:nvPr/>
        </p:nvSpPr>
        <p:spPr>
          <a:xfrm>
            <a:off x="7453237" y="3117850"/>
            <a:ext cx="2202845" cy="1193800"/>
          </a:xfrm>
          <a:prstGeom prst="roundRect">
            <a:avLst/>
          </a:prstGeom>
          <a:solidFill>
            <a:srgbClr val="DAE8FC"/>
          </a:solidFill>
          <a:ln w="21318">
            <a:solidFill>
              <a:srgbClr val="6C8EBF"/>
            </a:solidFill>
          </a:ln>
        </p:spPr>
      </p:sp>
      <p:sp>
        <p:nvSpPr>
          <p:cNvPr id="21" name="Box 11"/>
          <p:cNvSpPr/>
          <p:nvPr/>
        </p:nvSpPr>
        <p:spPr>
          <a:xfrm>
            <a:off x="7453237" y="3117850"/>
            <a:ext cx="2202845" cy="1193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462" dirty="0">
                <a:solidFill>
                  <a:srgbClr val="000000"/>
                </a:solidFill>
              </a:rPr>
              <a:t>Emit</a:t>
            </a:r>
          </a:p>
        </p:txBody>
      </p:sp>
      <p:sp>
        <p:nvSpPr>
          <p:cNvPr id="22" name="Block a"/>
          <p:cNvSpPr/>
          <p:nvPr/>
        </p:nvSpPr>
        <p:spPr>
          <a:xfrm>
            <a:off x="2322739" y="4780643"/>
            <a:ext cx="2344964" cy="1193800"/>
          </a:xfrm>
          <a:prstGeom prst="rect">
            <a:avLst/>
          </a:prstGeom>
          <a:solidFill>
            <a:srgbClr val="FDE68A"/>
          </a:solidFill>
          <a:ln w="21318">
            <a:solidFill>
              <a:srgbClr val="B45309"/>
            </a:solidFill>
          </a:ln>
        </p:spPr>
      </p:sp>
      <p:sp>
        <p:nvSpPr>
          <p:cNvPr id="23" name="Box 13"/>
          <p:cNvSpPr/>
          <p:nvPr/>
        </p:nvSpPr>
        <p:spPr>
          <a:xfrm>
            <a:off x="2322739" y="4780643"/>
            <a:ext cx="2344964" cy="1193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462" dirty="0">
                <a:solidFill>
                  <a:srgbClr val="000000"/>
                </a:solidFill>
              </a:rPr>
              <a:t>Input</a:t>
            </a:r>
          </a:p>
        </p:txBody>
      </p:sp>
      <p:sp>
        <p:nvSpPr>
          <p:cNvPr id="24" name="Shape 14"/>
          <p:cNvSpPr/>
          <p:nvPr/>
        </p:nvSpPr>
        <p:spPr>
          <a:xfrm>
            <a:off x="7524296" y="4780643"/>
            <a:ext cx="2344964" cy="1193800"/>
          </a:xfrm>
          <a:prstGeom prst="ellipse">
            <a:avLst/>
          </a:prstGeom>
          <a:solidFill>
            <a:srgbClr val="DAE8FC"/>
          </a:solidFill>
          <a:ln w="21318">
            <a:solidFill>
              <a:srgbClr val="6C8EBF"/>
            </a:solidFill>
          </a:ln>
        </p:spPr>
      </p:sp>
      <p:sp>
        <p:nvSpPr>
          <p:cNvPr id="25" name="Box 15"/>
          <p:cNvSpPr/>
          <p:nvPr/>
        </p:nvSpPr>
        <p:spPr>
          <a:xfrm>
            <a:off x="7524296" y="4780643"/>
            <a:ext cx="2344964" cy="1193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462" dirty="0">
                <a:solidFill>
                  <a:srgbClr val="000000"/>
                </a:solidFill>
              </a:rPr>
              <a:t>Out</a:t>
            </a:r>
          </a:p>
        </p:txBody>
      </p:sp>
      <p:cxnSp>
        <p:nvCxnSpPr>
          <p:cNvPr id="26" name="Connector 16"/>
          <p:cNvCxnSpPr/>
          <p:nvPr/>
        </p:nvCxnSpPr>
        <p:spPr>
          <a:xfrm>
            <a:off x="3546239" y="2648857"/>
            <a:ext cx="40084" cy="468993"/>
          </a:xfrm>
          <a:prstGeom prst="line">
            <a:avLst/>
          </a:prstGeom>
          <a:ln w="28424">
            <a:solidFill>
              <a:srgbClr val="404040"/>
            </a:solidFill>
            <a:prstDash val="solid"/>
            <a:tailEnd type="triangle" w="sm" len="sm"/>
          </a:ln>
        </p:spPr>
      </p:cxnSp>
      <p:cxnSp>
        <p:nvCxnSpPr>
          <p:cNvPr id="27" name="Connector 17"/>
          <p:cNvCxnSpPr/>
          <p:nvPr/>
        </p:nvCxnSpPr>
        <p:spPr>
          <a:xfrm flipV="1">
            <a:off x="8605677" y="2648857"/>
            <a:ext cx="40084" cy="468993"/>
          </a:xfrm>
          <a:prstGeom prst="line">
            <a:avLst/>
          </a:prstGeom>
          <a:ln w="28424">
            <a:solidFill>
              <a:srgbClr val="404040"/>
            </a:solidFill>
            <a:prstDash val="solid"/>
            <a:tailEnd type="triangle" w="sm" len="sm"/>
          </a:ln>
        </p:spPr>
      </p:cxnSp>
      <p:cxnSp>
        <p:nvCxnSpPr>
          <p:cNvPr id="28" name="Connector 18"/>
          <p:cNvCxnSpPr/>
          <p:nvPr/>
        </p:nvCxnSpPr>
        <p:spPr>
          <a:xfrm>
            <a:off x="4667704" y="5377543"/>
            <a:ext cx="2856593" cy="2"/>
          </a:xfrm>
          <a:prstGeom prst="line">
            <a:avLst/>
          </a:prstGeom>
          <a:ln w="28424">
            <a:solidFill>
              <a:srgbClr val="404040"/>
            </a:solidFill>
            <a:prstDash val="solid"/>
            <a:tailEnd type="triangle" w="sm" len="sm"/>
          </a:ln>
        </p:spPr>
      </p:cxnSp>
      <p:sp>
        <p:nvSpPr>
          <p:cNvPr id="29" name="Box 19"/>
          <p:cNvSpPr/>
          <p:nvPr/>
        </p:nvSpPr>
        <p:spPr>
          <a:xfrm>
            <a:off x="5680303" y="5185682"/>
            <a:ext cx="831396" cy="38372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014" dirty="0">
                <a:solidFill>
                  <a:srgbClr val="000000"/>
                </a:solidFill>
              </a:rPr>
              <a:t>text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bt-direction</a:t>
            </a:r>
          </a:p>
        </p:txBody>
      </p:sp>
      <p:sp>
        <p:nvSpPr>
          <p:cNvPr id="12" name="Entree" descr="A"/>
          <p:cNvSpPr/>
          <p:nvPr/>
        </p:nvSpPr>
        <p:spPr>
          <a:xfrm>
            <a:off x="5568399" y="5745666"/>
            <a:ext cx="1055203" cy="655134"/>
          </a:xfrm>
          <a:prstGeom prst="rect">
            <a:avLst/>
          </a:prstGeom>
          <a:solidFill>
            <a:srgbClr val="C8E6C9"/>
          </a:solidFill>
          <a:ln w="11647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3857" tIns="41929" rIns="83857" bIns="4192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Entree</a:t>
            </a:r>
          </a:p>
        </p:txBody>
      </p:sp>
      <p:sp>
        <p:nvSpPr>
          <p:cNvPr id="13" name="Traitement" descr="B"/>
          <p:cNvSpPr/>
          <p:nvPr/>
        </p:nvSpPr>
        <p:spPr>
          <a:xfrm>
            <a:off x="5316828" y="4391722"/>
            <a:ext cx="1558346" cy="655134"/>
          </a:xfrm>
          <a:prstGeom prst="rect">
            <a:avLst/>
          </a:prstGeom>
          <a:solidFill>
            <a:srgbClr val="FFE0B2"/>
          </a:solidFill>
          <a:ln w="11647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3857" tIns="41929" rIns="83857" bIns="4192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Traitement</a:t>
            </a:r>
          </a:p>
        </p:txBody>
      </p:sp>
      <p:sp>
        <p:nvSpPr>
          <p:cNvPr id="14" name="Valide?" descr="C"/>
          <p:cNvSpPr/>
          <p:nvPr/>
        </p:nvSpPr>
        <p:spPr>
          <a:xfrm>
            <a:off x="4915012" y="2382644"/>
            <a:ext cx="2361977" cy="1310268"/>
          </a:xfrm>
          <a:prstGeom prst="diamond">
            <a:avLst/>
          </a:prstGeom>
          <a:solidFill>
            <a:srgbClr val="E1BEE7"/>
          </a:solidFill>
          <a:ln w="11647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3857" tIns="41929" rIns="83857" bIns="4192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Valide?</a:t>
            </a:r>
          </a:p>
        </p:txBody>
      </p:sp>
      <p:sp>
        <p:nvSpPr>
          <p:cNvPr id="15" name="Sortie" descr="D"/>
          <p:cNvSpPr/>
          <p:nvPr/>
        </p:nvSpPr>
        <p:spPr>
          <a:xfrm>
            <a:off x="4778744" y="1028700"/>
            <a:ext cx="1055203" cy="655134"/>
          </a:xfrm>
          <a:prstGeom prst="rect">
            <a:avLst/>
          </a:prstGeom>
          <a:solidFill>
            <a:srgbClr val="FFCDD2"/>
          </a:solidFill>
          <a:ln w="11647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3857" tIns="41929" rIns="83857" bIns="4192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Sortie</a:t>
            </a:r>
          </a:p>
        </p:txBody>
      </p:sp>
      <p:sp>
        <p:nvSpPr>
          <p:cNvPr id="16" name="Erreur" descr="E"/>
          <p:cNvSpPr/>
          <p:nvPr/>
        </p:nvSpPr>
        <p:spPr>
          <a:xfrm>
            <a:off x="6358054" y="1028700"/>
            <a:ext cx="1055203" cy="655134"/>
          </a:xfrm>
          <a:prstGeom prst="rect">
            <a:avLst/>
          </a:prstGeom>
          <a:solidFill>
            <a:srgbClr val="FFF9C4"/>
          </a:solidFill>
          <a:ln w="11647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3857" tIns="41929" rIns="83857" bIns="4192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Erreur</a:t>
            </a:r>
          </a:p>
        </p:txBody>
      </p:sp>
      <p:cxnSp>
        <p:nvCxnSpPr>
          <p:cNvPr id="17" name="A--B"/>
          <p:cNvCxnSpPr>
            <a:stCxn id="12" idx="0"/>
            <a:endCxn id="13" idx="2"/>
          </p:cNvCxnSpPr>
          <p:nvPr/>
        </p:nvCxnSpPr>
        <p:spPr>
          <a:xfrm flipV="1">
            <a:off x="6096000" y="5046856"/>
            <a:ext cx="0" cy="698810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B--C"/>
          <p:cNvCxnSpPr>
            <a:stCxn id="13" idx="0"/>
            <a:endCxn id="14" idx="2"/>
          </p:cNvCxnSpPr>
          <p:nvPr/>
        </p:nvCxnSpPr>
        <p:spPr>
          <a:xfrm flipV="1">
            <a:off x="6096000" y="3692912"/>
            <a:ext cx="0" cy="698810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--D"/>
          <p:cNvCxnSpPr>
            <a:stCxn id="14" idx="0"/>
            <a:endCxn id="15" idx="2"/>
          </p:cNvCxnSpPr>
          <p:nvPr/>
        </p:nvCxnSpPr>
        <p:spPr>
          <a:xfrm flipH="1" flipV="1">
            <a:off x="5306345" y="1683834"/>
            <a:ext cx="789655" cy="698810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EdgeLabel"/>
          <p:cNvSpPr txBox="1"/>
          <p:nvPr/>
        </p:nvSpPr>
        <p:spPr>
          <a:xfrm>
            <a:off x="5480349" y="1928418"/>
            <a:ext cx="441648" cy="20964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34940" tIns="0" rIns="34940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50" dirty="0">
                <a:solidFill>
                  <a:srgbClr val="000000"/>
                </a:solidFill>
              </a:rPr>
              <a:t>oui</a:t>
            </a:r>
          </a:p>
        </p:txBody>
      </p:sp>
      <p:cxnSp>
        <p:nvCxnSpPr>
          <p:cNvPr id="21" name="C--E"/>
          <p:cNvCxnSpPr>
            <a:stCxn id="14" idx="0"/>
            <a:endCxn id="16" idx="2"/>
          </p:cNvCxnSpPr>
          <p:nvPr/>
        </p:nvCxnSpPr>
        <p:spPr>
          <a:xfrm flipV="1">
            <a:off x="6096000" y="1683834"/>
            <a:ext cx="789655" cy="698810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EdgeLabel"/>
          <p:cNvSpPr txBox="1"/>
          <p:nvPr/>
        </p:nvSpPr>
        <p:spPr>
          <a:xfrm>
            <a:off x="6270004" y="1928418"/>
            <a:ext cx="441648" cy="20964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34940" tIns="0" rIns="34940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50" dirty="0">
                <a:solidFill>
                  <a:srgbClr val="000000"/>
                </a:solidFill>
              </a:rPr>
              <a:t>non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c4</a:t>
            </a:r>
          </a:p>
        </p:txBody>
      </p:sp>
      <p:sp>
        <p:nvSpPr>
          <p:cNvPr id="11" name="Text 1"/>
          <p:cNvSpPr txBox="1"/>
          <p:nvPr/>
        </p:nvSpPr>
        <p:spPr>
          <a:xfrm>
            <a:off x="2347449" y="1028700"/>
            <a:ext cx="7497103" cy="197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850" dirty="0">
                <a:solidFill>
                  <a:srgbClr val="000000"/>
                </a:solidFill>
              </a:rPr>
              <a:t>Container diagram for Internet Banking System</a:t>
            </a:r>
          </a:p>
        </p:txBody>
      </p:sp>
      <p:cxnSp>
        <p:nvCxnSpPr>
          <p:cNvPr id="12" name="Connector 2"/>
          <p:cNvCxnSpPr/>
          <p:nvPr/>
        </p:nvCxnSpPr>
        <p:spPr>
          <a:xfrm>
            <a:off x="4981173" y="2726377"/>
            <a:ext cx="1" cy="406977"/>
          </a:xfrm>
          <a:prstGeom prst="line">
            <a:avLst/>
          </a:prstGeom>
          <a:ln w="5814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13" name="Text 3"/>
          <p:cNvSpPr txBox="1"/>
          <p:nvPr/>
        </p:nvSpPr>
        <p:spPr>
          <a:xfrm>
            <a:off x="4771871" y="2871726"/>
            <a:ext cx="418605" cy="1162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Uses [HTTPS]</a:t>
            </a:r>
          </a:p>
        </p:txBody>
      </p:sp>
      <p:cxnSp>
        <p:nvCxnSpPr>
          <p:cNvPr id="14" name="Connector 4"/>
          <p:cNvCxnSpPr/>
          <p:nvPr/>
        </p:nvCxnSpPr>
        <p:spPr>
          <a:xfrm flipH="1">
            <a:off x="4033048" y="2726377"/>
            <a:ext cx="800319" cy="1290699"/>
          </a:xfrm>
          <a:prstGeom prst="line">
            <a:avLst/>
          </a:prstGeom>
          <a:ln w="5814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15" name="Text 5"/>
          <p:cNvSpPr txBox="1"/>
          <p:nvPr/>
        </p:nvSpPr>
        <p:spPr>
          <a:xfrm>
            <a:off x="4223905" y="3313587"/>
            <a:ext cx="418605" cy="1162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Uses [HTTPS]</a:t>
            </a:r>
          </a:p>
        </p:txBody>
      </p:sp>
      <p:cxnSp>
        <p:nvCxnSpPr>
          <p:cNvPr id="16" name="Connector 6"/>
          <p:cNvCxnSpPr/>
          <p:nvPr/>
        </p:nvCxnSpPr>
        <p:spPr>
          <a:xfrm>
            <a:off x="5288548" y="2726377"/>
            <a:ext cx="1664323" cy="1290699"/>
          </a:xfrm>
          <a:prstGeom prst="line">
            <a:avLst/>
          </a:prstGeom>
          <a:ln w="5814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17" name="Text 7"/>
          <p:cNvSpPr txBox="1"/>
          <p:nvPr/>
        </p:nvSpPr>
        <p:spPr>
          <a:xfrm>
            <a:off x="6027686" y="3313587"/>
            <a:ext cx="186047" cy="1162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Uses</a:t>
            </a:r>
          </a:p>
        </p:txBody>
      </p:sp>
      <p:cxnSp>
        <p:nvCxnSpPr>
          <p:cNvPr id="18" name="Connector 8"/>
          <p:cNvCxnSpPr/>
          <p:nvPr/>
        </p:nvCxnSpPr>
        <p:spPr>
          <a:xfrm flipH="1">
            <a:off x="4180855" y="3610099"/>
            <a:ext cx="504705" cy="406977"/>
          </a:xfrm>
          <a:prstGeom prst="line">
            <a:avLst/>
          </a:prstGeom>
          <a:ln w="5814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19" name="Text 9"/>
          <p:cNvSpPr txBox="1"/>
          <p:nvPr/>
        </p:nvSpPr>
        <p:spPr>
          <a:xfrm>
            <a:off x="4284370" y="3755448"/>
            <a:ext cx="297675" cy="1162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Delivers</a:t>
            </a:r>
          </a:p>
        </p:txBody>
      </p:sp>
      <p:cxnSp>
        <p:nvCxnSpPr>
          <p:cNvPr id="20" name="Connector 10"/>
          <p:cNvCxnSpPr/>
          <p:nvPr/>
        </p:nvCxnSpPr>
        <p:spPr>
          <a:xfrm>
            <a:off x="4795605" y="4493821"/>
            <a:ext cx="1554278" cy="406977"/>
          </a:xfrm>
          <a:prstGeom prst="line">
            <a:avLst/>
          </a:prstGeom>
          <a:ln w="5814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21" name="Text 11"/>
          <p:cNvSpPr txBox="1"/>
          <p:nvPr/>
        </p:nvSpPr>
        <p:spPr>
          <a:xfrm>
            <a:off x="5193674" y="4639170"/>
            <a:ext cx="758141" cy="1162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Uses [async, JSON/HTTPS]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7260246" y="4493821"/>
            <a:ext cx="1" cy="406977"/>
          </a:xfrm>
          <a:prstGeom prst="line">
            <a:avLst/>
          </a:prstGeom>
          <a:ln w="5814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23" name="Text 13"/>
          <p:cNvSpPr txBox="1"/>
          <p:nvPr/>
        </p:nvSpPr>
        <p:spPr>
          <a:xfrm>
            <a:off x="6881176" y="4639170"/>
            <a:ext cx="758141" cy="1162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Uses [async, JSON/HTTPS]</a:t>
            </a:r>
          </a:p>
        </p:txBody>
      </p:sp>
      <p:cxnSp>
        <p:nvCxnSpPr>
          <p:cNvPr id="24" name="Connector 14"/>
          <p:cNvCxnSpPr/>
          <p:nvPr/>
        </p:nvCxnSpPr>
        <p:spPr>
          <a:xfrm flipH="1">
            <a:off x="5636258" y="5377543"/>
            <a:ext cx="1024136" cy="406977"/>
          </a:xfrm>
          <a:prstGeom prst="line">
            <a:avLst/>
          </a:prstGeom>
          <a:ln w="5814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25" name="Text 15"/>
          <p:cNvSpPr txBox="1"/>
          <p:nvPr/>
        </p:nvSpPr>
        <p:spPr>
          <a:xfrm>
            <a:off x="5627395" y="5522892"/>
            <a:ext cx="1041862" cy="1162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Reads from and writes to [sync, JDBC]</a:t>
            </a:r>
          </a:p>
        </p:txBody>
      </p:sp>
      <p:cxnSp>
        <p:nvCxnSpPr>
          <p:cNvPr id="26" name="Connector 16"/>
          <p:cNvCxnSpPr/>
          <p:nvPr/>
        </p:nvCxnSpPr>
        <p:spPr>
          <a:xfrm flipH="1">
            <a:off x="5691194" y="1837534"/>
            <a:ext cx="1227482" cy="412098"/>
          </a:xfrm>
          <a:prstGeom prst="line">
            <a:avLst/>
          </a:prstGeom>
          <a:ln w="5814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27" name="Text 17"/>
          <p:cNvSpPr txBox="1"/>
          <p:nvPr/>
        </p:nvSpPr>
        <p:spPr>
          <a:xfrm>
            <a:off x="6058423" y="1985443"/>
            <a:ext cx="493024" cy="1162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Sends e-mails to</a:t>
            </a:r>
          </a:p>
        </p:txBody>
      </p:sp>
      <p:cxnSp>
        <p:nvCxnSpPr>
          <p:cNvPr id="28" name="Connector 18"/>
          <p:cNvCxnSpPr/>
          <p:nvPr/>
        </p:nvCxnSpPr>
        <p:spPr>
          <a:xfrm flipV="1">
            <a:off x="7284064" y="1842655"/>
            <a:ext cx="305563" cy="3058143"/>
          </a:xfrm>
          <a:prstGeom prst="line">
            <a:avLst/>
          </a:prstGeom>
          <a:ln w="5814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29" name="Text 19"/>
          <p:cNvSpPr txBox="1"/>
          <p:nvPr/>
        </p:nvSpPr>
        <p:spPr>
          <a:xfrm>
            <a:off x="6971728" y="3313587"/>
            <a:ext cx="930234" cy="1162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Sends e-mails using [sync, SMTP]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7515085" y="5377543"/>
            <a:ext cx="435091" cy="406977"/>
          </a:xfrm>
          <a:prstGeom prst="line">
            <a:avLst/>
          </a:prstGeom>
          <a:ln w="5814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31" name="Text 21"/>
          <p:cNvSpPr txBox="1"/>
          <p:nvPr/>
        </p:nvSpPr>
        <p:spPr>
          <a:xfrm>
            <a:off x="7300072" y="5522892"/>
            <a:ext cx="865117" cy="1162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Uses [sync/async, XML/HTTPS]</a:t>
            </a:r>
          </a:p>
        </p:txBody>
      </p:sp>
      <p:sp>
        <p:nvSpPr>
          <p:cNvPr id="32" name="E-Mail System"/>
          <p:cNvSpPr/>
          <p:nvPr/>
        </p:nvSpPr>
        <p:spPr>
          <a:xfrm>
            <a:off x="6918676" y="1365910"/>
            <a:ext cx="1389537" cy="476745"/>
          </a:xfrm>
          <a:prstGeom prst="rect">
            <a:avLst/>
          </a:prstGeom>
          <a:solidFill>
            <a:srgbClr val="FFFFFF"/>
          </a:solidFill>
          <a:ln w="9525">
            <a:solidFill>
              <a:srgbClr val="2F5496"/>
            </a:solidFill>
          </a:ln>
        </p:spPr>
      </p:sp>
      <p:sp>
        <p:nvSpPr>
          <p:cNvPr id="33" name="E-Mail System title"/>
          <p:cNvSpPr/>
          <p:nvPr/>
        </p:nvSpPr>
        <p:spPr>
          <a:xfrm>
            <a:off x="6918676" y="1365910"/>
            <a:ext cx="1389537" cy="186047"/>
          </a:xfrm>
          <a:prstGeom prst="rect">
            <a:avLst/>
          </a:prstGeom>
          <a:solidFill>
            <a:srgbClr val="D9E2F3"/>
          </a:solidFill>
          <a:ln>
            <a:noFill/>
          </a:ln>
        </p:spPr>
      </p:sp>
      <p:sp>
        <p:nvSpPr>
          <p:cNvPr id="34" name="Divider"/>
          <p:cNvSpPr/>
          <p:nvPr/>
        </p:nvSpPr>
        <p:spPr>
          <a:xfrm>
            <a:off x="6918676" y="1549050"/>
            <a:ext cx="1389537" cy="581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35" name="Text 25"/>
          <p:cNvSpPr txBox="1"/>
          <p:nvPr/>
        </p:nvSpPr>
        <p:spPr>
          <a:xfrm>
            <a:off x="6918676" y="1365910"/>
            <a:ext cx="1389537" cy="18604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50" dirty="0">
                <a:solidFill>
                  <a:srgbClr val="000000"/>
                </a:solidFill>
              </a:rPr>
              <a:t>E-Mail System</a:t>
            </a:r>
          </a:p>
        </p:txBody>
      </p:sp>
      <p:sp>
        <p:nvSpPr>
          <p:cNvPr id="36" name="Text 26"/>
          <p:cNvSpPr txBox="1"/>
          <p:nvPr/>
        </p:nvSpPr>
        <p:spPr>
          <a:xfrm>
            <a:off x="6976816" y="1551957"/>
            <a:ext cx="1273257" cy="29069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[System, External]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The internal Microsoft Exchange system</a:t>
            </a:r>
          </a:p>
        </p:txBody>
      </p:sp>
      <p:sp>
        <p:nvSpPr>
          <p:cNvPr id="37" name="Customer"/>
          <p:cNvSpPr/>
          <p:nvPr/>
        </p:nvSpPr>
        <p:spPr>
          <a:xfrm>
            <a:off x="4100358" y="2249632"/>
            <a:ext cx="1761630" cy="476745"/>
          </a:xfrm>
          <a:prstGeom prst="rect">
            <a:avLst/>
          </a:prstGeom>
          <a:solidFill>
            <a:srgbClr val="FFFFFF"/>
          </a:solidFill>
          <a:ln w="9525">
            <a:solidFill>
              <a:srgbClr val="2F5496"/>
            </a:solidFill>
          </a:ln>
        </p:spPr>
      </p:sp>
      <p:sp>
        <p:nvSpPr>
          <p:cNvPr id="38" name="Customer title"/>
          <p:cNvSpPr/>
          <p:nvPr/>
        </p:nvSpPr>
        <p:spPr>
          <a:xfrm>
            <a:off x="4100358" y="2249632"/>
            <a:ext cx="1761630" cy="186047"/>
          </a:xfrm>
          <a:prstGeom prst="rect">
            <a:avLst/>
          </a:prstGeom>
          <a:solidFill>
            <a:srgbClr val="FFE699"/>
          </a:solidFill>
          <a:ln>
            <a:noFill/>
          </a:ln>
        </p:spPr>
      </p:sp>
      <p:sp>
        <p:nvSpPr>
          <p:cNvPr id="39" name="Divider"/>
          <p:cNvSpPr/>
          <p:nvPr/>
        </p:nvSpPr>
        <p:spPr>
          <a:xfrm>
            <a:off x="4100358" y="2432772"/>
            <a:ext cx="1761630" cy="581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40" name="Text 30"/>
          <p:cNvSpPr txBox="1"/>
          <p:nvPr/>
        </p:nvSpPr>
        <p:spPr>
          <a:xfrm>
            <a:off x="4100358" y="2249632"/>
            <a:ext cx="1761630" cy="18604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50" dirty="0">
                <a:solidFill>
                  <a:srgbClr val="000000"/>
                </a:solidFill>
              </a:rPr>
              <a:t>Customer</a:t>
            </a:r>
          </a:p>
        </p:txBody>
      </p:sp>
      <p:sp>
        <p:nvSpPr>
          <p:cNvPr id="41" name="Text 31"/>
          <p:cNvSpPr txBox="1"/>
          <p:nvPr/>
        </p:nvSpPr>
        <p:spPr>
          <a:xfrm>
            <a:off x="4158498" y="2435679"/>
            <a:ext cx="1645350" cy="29069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[Person]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A customer of the bank, with personal bank accounts</a:t>
            </a:r>
          </a:p>
        </p:txBody>
      </p:sp>
      <p:sp>
        <p:nvSpPr>
          <p:cNvPr id="42" name="Single-Page App"/>
          <p:cNvSpPr/>
          <p:nvPr/>
        </p:nvSpPr>
        <p:spPr>
          <a:xfrm>
            <a:off x="2486984" y="4017076"/>
            <a:ext cx="2796515" cy="476745"/>
          </a:xfrm>
          <a:prstGeom prst="rect">
            <a:avLst/>
          </a:prstGeom>
          <a:solidFill>
            <a:srgbClr val="FFFFFF"/>
          </a:solidFill>
          <a:ln w="9525">
            <a:solidFill>
              <a:srgbClr val="2F5496"/>
            </a:solidFill>
          </a:ln>
        </p:spPr>
      </p:sp>
      <p:sp>
        <p:nvSpPr>
          <p:cNvPr id="43" name="Single-Page App title"/>
          <p:cNvSpPr/>
          <p:nvPr/>
        </p:nvSpPr>
        <p:spPr>
          <a:xfrm>
            <a:off x="2486984" y="4017076"/>
            <a:ext cx="2796515" cy="186047"/>
          </a:xfrm>
          <a:prstGeom prst="rect">
            <a:avLst/>
          </a:prstGeom>
          <a:solidFill>
            <a:srgbClr val="C6E0B4"/>
          </a:solidFill>
          <a:ln>
            <a:noFill/>
          </a:ln>
        </p:spPr>
      </p:sp>
      <p:sp>
        <p:nvSpPr>
          <p:cNvPr id="44" name="Divider"/>
          <p:cNvSpPr/>
          <p:nvPr/>
        </p:nvSpPr>
        <p:spPr>
          <a:xfrm>
            <a:off x="2486984" y="4200216"/>
            <a:ext cx="2796515" cy="581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45" name="Text 35"/>
          <p:cNvSpPr txBox="1"/>
          <p:nvPr/>
        </p:nvSpPr>
        <p:spPr>
          <a:xfrm>
            <a:off x="2486984" y="4017076"/>
            <a:ext cx="2796515" cy="18604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50" dirty="0">
                <a:solidFill>
                  <a:srgbClr val="000000"/>
                </a:solidFill>
              </a:rPr>
              <a:t>Single-Page App</a:t>
            </a:r>
          </a:p>
        </p:txBody>
      </p:sp>
      <p:sp>
        <p:nvSpPr>
          <p:cNvPr id="46" name="Text 36"/>
          <p:cNvSpPr txBox="1"/>
          <p:nvPr/>
        </p:nvSpPr>
        <p:spPr>
          <a:xfrm>
            <a:off x="2545124" y="4203123"/>
            <a:ext cx="2680235" cy="29069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[Container: JavaScript, Angular]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Provides all the Internet banking functionality to customers via their web browser</a:t>
            </a:r>
          </a:p>
        </p:txBody>
      </p:sp>
      <p:sp>
        <p:nvSpPr>
          <p:cNvPr id="47" name="Mobile App"/>
          <p:cNvSpPr/>
          <p:nvPr/>
        </p:nvSpPr>
        <p:spPr>
          <a:xfrm>
            <a:off x="5574197" y="4017076"/>
            <a:ext cx="3372097" cy="476745"/>
          </a:xfrm>
          <a:prstGeom prst="rect">
            <a:avLst/>
          </a:prstGeom>
          <a:solidFill>
            <a:srgbClr val="FFFFFF"/>
          </a:solidFill>
          <a:ln w="9525">
            <a:solidFill>
              <a:srgbClr val="2F5496"/>
            </a:solidFill>
          </a:ln>
        </p:spPr>
      </p:sp>
      <p:sp>
        <p:nvSpPr>
          <p:cNvPr id="48" name="Mobile App title"/>
          <p:cNvSpPr/>
          <p:nvPr/>
        </p:nvSpPr>
        <p:spPr>
          <a:xfrm>
            <a:off x="5574197" y="4017076"/>
            <a:ext cx="3372097" cy="186047"/>
          </a:xfrm>
          <a:prstGeom prst="rect">
            <a:avLst/>
          </a:prstGeom>
          <a:solidFill>
            <a:srgbClr val="C6E0B4"/>
          </a:solidFill>
          <a:ln>
            <a:noFill/>
          </a:ln>
        </p:spPr>
      </p:sp>
      <p:sp>
        <p:nvSpPr>
          <p:cNvPr id="49" name="Divider"/>
          <p:cNvSpPr/>
          <p:nvPr/>
        </p:nvSpPr>
        <p:spPr>
          <a:xfrm>
            <a:off x="5574197" y="4200216"/>
            <a:ext cx="3372097" cy="581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50" name="Text 40"/>
          <p:cNvSpPr txBox="1"/>
          <p:nvPr/>
        </p:nvSpPr>
        <p:spPr>
          <a:xfrm>
            <a:off x="5574197" y="4017076"/>
            <a:ext cx="3372097" cy="18604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50" dirty="0">
                <a:solidFill>
                  <a:srgbClr val="000000"/>
                </a:solidFill>
              </a:rPr>
              <a:t>Mobile App</a:t>
            </a:r>
          </a:p>
        </p:txBody>
      </p:sp>
      <p:sp>
        <p:nvSpPr>
          <p:cNvPr id="51" name="Text 41"/>
          <p:cNvSpPr txBox="1"/>
          <p:nvPr/>
        </p:nvSpPr>
        <p:spPr>
          <a:xfrm>
            <a:off x="5632337" y="4203123"/>
            <a:ext cx="3255817" cy="29069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[Container, External: C#, Xamarin]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Provides a limited subset of the Internet banking functionality to customers via their mobile device</a:t>
            </a:r>
          </a:p>
        </p:txBody>
      </p:sp>
      <p:sp>
        <p:nvSpPr>
          <p:cNvPr id="52" name="Web Application"/>
          <p:cNvSpPr/>
          <p:nvPr/>
        </p:nvSpPr>
        <p:spPr>
          <a:xfrm>
            <a:off x="4001521" y="3133354"/>
            <a:ext cx="1959305" cy="476745"/>
          </a:xfrm>
          <a:prstGeom prst="rect">
            <a:avLst/>
          </a:prstGeom>
          <a:solidFill>
            <a:srgbClr val="FFFFFF"/>
          </a:solidFill>
          <a:ln w="9525">
            <a:solidFill>
              <a:srgbClr val="2F5496"/>
            </a:solidFill>
          </a:ln>
        </p:spPr>
      </p:sp>
      <p:sp>
        <p:nvSpPr>
          <p:cNvPr id="53" name="Web Application title"/>
          <p:cNvSpPr/>
          <p:nvPr/>
        </p:nvSpPr>
        <p:spPr>
          <a:xfrm>
            <a:off x="4001521" y="3133354"/>
            <a:ext cx="1959305" cy="186047"/>
          </a:xfrm>
          <a:prstGeom prst="rect">
            <a:avLst/>
          </a:prstGeom>
          <a:solidFill>
            <a:srgbClr val="C6E0B4"/>
          </a:solidFill>
          <a:ln>
            <a:noFill/>
          </a:ln>
        </p:spPr>
      </p:sp>
      <p:sp>
        <p:nvSpPr>
          <p:cNvPr id="54" name="Divider"/>
          <p:cNvSpPr/>
          <p:nvPr/>
        </p:nvSpPr>
        <p:spPr>
          <a:xfrm>
            <a:off x="4001521" y="3316494"/>
            <a:ext cx="1959305" cy="581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55" name="Text 45"/>
          <p:cNvSpPr txBox="1"/>
          <p:nvPr/>
        </p:nvSpPr>
        <p:spPr>
          <a:xfrm>
            <a:off x="4001521" y="3133354"/>
            <a:ext cx="1959305" cy="18604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50" dirty="0">
                <a:solidFill>
                  <a:srgbClr val="000000"/>
                </a:solidFill>
              </a:rPr>
              <a:t>Web Application</a:t>
            </a:r>
          </a:p>
        </p:txBody>
      </p:sp>
      <p:sp>
        <p:nvSpPr>
          <p:cNvPr id="56" name="Text 46"/>
          <p:cNvSpPr txBox="1"/>
          <p:nvPr/>
        </p:nvSpPr>
        <p:spPr>
          <a:xfrm>
            <a:off x="4059661" y="3319401"/>
            <a:ext cx="1843025" cy="29069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[Container: Java, Spring MVC]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Delivers the static content and the Internet banking SPA</a:t>
            </a:r>
          </a:p>
        </p:txBody>
      </p:sp>
      <p:sp>
        <p:nvSpPr>
          <p:cNvPr id="57" name="Database"/>
          <p:cNvSpPr/>
          <p:nvPr/>
        </p:nvSpPr>
        <p:spPr>
          <a:xfrm>
            <a:off x="3658497" y="5784520"/>
            <a:ext cx="2755818" cy="476745"/>
          </a:xfrm>
          <a:prstGeom prst="rect">
            <a:avLst/>
          </a:prstGeom>
          <a:solidFill>
            <a:srgbClr val="FFFFFF"/>
          </a:solidFill>
          <a:ln w="9525">
            <a:solidFill>
              <a:srgbClr val="2F5496"/>
            </a:solidFill>
          </a:ln>
        </p:spPr>
      </p:sp>
      <p:sp>
        <p:nvSpPr>
          <p:cNvPr id="58" name="Database title"/>
          <p:cNvSpPr/>
          <p:nvPr/>
        </p:nvSpPr>
        <p:spPr>
          <a:xfrm>
            <a:off x="3658497" y="5784520"/>
            <a:ext cx="2755818" cy="186047"/>
          </a:xfrm>
          <a:prstGeom prst="rect">
            <a:avLst/>
          </a:prstGeom>
          <a:solidFill>
            <a:srgbClr val="C6E0B4"/>
          </a:solidFill>
          <a:ln>
            <a:noFill/>
          </a:ln>
        </p:spPr>
      </p:sp>
      <p:sp>
        <p:nvSpPr>
          <p:cNvPr id="59" name="Divider"/>
          <p:cNvSpPr/>
          <p:nvPr/>
        </p:nvSpPr>
        <p:spPr>
          <a:xfrm>
            <a:off x="3658497" y="5967660"/>
            <a:ext cx="2755818" cy="581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60" name="Text 50"/>
          <p:cNvSpPr txBox="1"/>
          <p:nvPr/>
        </p:nvSpPr>
        <p:spPr>
          <a:xfrm>
            <a:off x="3658497" y="5784520"/>
            <a:ext cx="2755818" cy="18604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50" dirty="0">
                <a:solidFill>
                  <a:srgbClr val="000000"/>
                </a:solidFill>
              </a:rPr>
              <a:t>Database</a:t>
            </a:r>
          </a:p>
        </p:txBody>
      </p:sp>
      <p:sp>
        <p:nvSpPr>
          <p:cNvPr id="61" name="Text 51"/>
          <p:cNvSpPr txBox="1"/>
          <p:nvPr/>
        </p:nvSpPr>
        <p:spPr>
          <a:xfrm>
            <a:off x="3716637" y="5970567"/>
            <a:ext cx="2639538" cy="29069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[Container, Database: SQL Database]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Stores user registration information, hashed auth credentials, access logs, etc.</a:t>
            </a:r>
          </a:p>
        </p:txBody>
      </p:sp>
      <p:sp>
        <p:nvSpPr>
          <p:cNvPr id="62" name="API Application"/>
          <p:cNvSpPr/>
          <p:nvPr/>
        </p:nvSpPr>
        <p:spPr>
          <a:xfrm>
            <a:off x="6268966" y="4900798"/>
            <a:ext cx="1982561" cy="476745"/>
          </a:xfrm>
          <a:prstGeom prst="rect">
            <a:avLst/>
          </a:prstGeom>
          <a:solidFill>
            <a:srgbClr val="FFFFFF"/>
          </a:solidFill>
          <a:ln w="9525">
            <a:solidFill>
              <a:srgbClr val="2F5496"/>
            </a:solidFill>
          </a:ln>
        </p:spPr>
      </p:sp>
      <p:sp>
        <p:nvSpPr>
          <p:cNvPr id="63" name="API Application title"/>
          <p:cNvSpPr/>
          <p:nvPr/>
        </p:nvSpPr>
        <p:spPr>
          <a:xfrm>
            <a:off x="6268966" y="4900798"/>
            <a:ext cx="1982561" cy="186047"/>
          </a:xfrm>
          <a:prstGeom prst="rect">
            <a:avLst/>
          </a:prstGeom>
          <a:solidFill>
            <a:srgbClr val="C6E0B4"/>
          </a:solidFill>
          <a:ln>
            <a:noFill/>
          </a:ln>
        </p:spPr>
      </p:sp>
      <p:sp>
        <p:nvSpPr>
          <p:cNvPr id="64" name="Divider"/>
          <p:cNvSpPr/>
          <p:nvPr/>
        </p:nvSpPr>
        <p:spPr>
          <a:xfrm>
            <a:off x="6268966" y="5083938"/>
            <a:ext cx="1982561" cy="581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65" name="Text 55"/>
          <p:cNvSpPr txBox="1"/>
          <p:nvPr/>
        </p:nvSpPr>
        <p:spPr>
          <a:xfrm>
            <a:off x="6268966" y="4900798"/>
            <a:ext cx="1982561" cy="18604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50" dirty="0">
                <a:solidFill>
                  <a:srgbClr val="000000"/>
                </a:solidFill>
              </a:rPr>
              <a:t>API Application</a:t>
            </a:r>
          </a:p>
        </p:txBody>
      </p:sp>
      <p:sp>
        <p:nvSpPr>
          <p:cNvPr id="66" name="Text 56"/>
          <p:cNvSpPr txBox="1"/>
          <p:nvPr/>
        </p:nvSpPr>
        <p:spPr>
          <a:xfrm>
            <a:off x="6327106" y="5086845"/>
            <a:ext cx="1866281" cy="29069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[Container, External, Database: Java, Docker Container]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Provides Internet banking functionality via API</a:t>
            </a:r>
          </a:p>
        </p:txBody>
      </p:sp>
      <p:sp>
        <p:nvSpPr>
          <p:cNvPr id="67" name="Mainframe Banking System"/>
          <p:cNvSpPr/>
          <p:nvPr/>
        </p:nvSpPr>
        <p:spPr>
          <a:xfrm>
            <a:off x="6705013" y="5784520"/>
            <a:ext cx="3000004" cy="476745"/>
          </a:xfrm>
          <a:prstGeom prst="rect">
            <a:avLst/>
          </a:prstGeom>
          <a:solidFill>
            <a:srgbClr val="FFFFFF"/>
          </a:solidFill>
          <a:ln w="9525">
            <a:solidFill>
              <a:srgbClr val="2F5496"/>
            </a:solidFill>
          </a:ln>
        </p:spPr>
      </p:sp>
      <p:sp>
        <p:nvSpPr>
          <p:cNvPr id="68" name="Mainframe Banking System title"/>
          <p:cNvSpPr/>
          <p:nvPr/>
        </p:nvSpPr>
        <p:spPr>
          <a:xfrm>
            <a:off x="6705013" y="5784520"/>
            <a:ext cx="3000004" cy="186047"/>
          </a:xfrm>
          <a:prstGeom prst="rect">
            <a:avLst/>
          </a:prstGeom>
          <a:solidFill>
            <a:srgbClr val="D9E2F3"/>
          </a:solidFill>
          <a:ln>
            <a:noFill/>
          </a:ln>
        </p:spPr>
      </p:sp>
      <p:sp>
        <p:nvSpPr>
          <p:cNvPr id="69" name="Divider"/>
          <p:cNvSpPr/>
          <p:nvPr/>
        </p:nvSpPr>
        <p:spPr>
          <a:xfrm>
            <a:off x="6705013" y="5967660"/>
            <a:ext cx="3000004" cy="581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70" name="Text 60"/>
          <p:cNvSpPr txBox="1"/>
          <p:nvPr/>
        </p:nvSpPr>
        <p:spPr>
          <a:xfrm>
            <a:off x="6705013" y="5784520"/>
            <a:ext cx="3000004" cy="18604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50" dirty="0">
                <a:solidFill>
                  <a:srgbClr val="000000"/>
                </a:solidFill>
              </a:rPr>
              <a:t>Mainframe Banking System</a:t>
            </a:r>
          </a:p>
        </p:txBody>
      </p:sp>
      <p:sp>
        <p:nvSpPr>
          <p:cNvPr id="71" name="Text 61"/>
          <p:cNvSpPr txBox="1"/>
          <p:nvPr/>
        </p:nvSpPr>
        <p:spPr>
          <a:xfrm>
            <a:off x="6763153" y="5970567"/>
            <a:ext cx="2883724" cy="29069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[System, External]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Stores all of the core banking information about customers, accounts, transactions, etc.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class-diagram</a:t>
            </a:r>
          </a:p>
        </p:txBody>
      </p:sp>
      <p:cxnSp>
        <p:nvCxnSpPr>
          <p:cNvPr id="11" name="Connector 1"/>
          <p:cNvCxnSpPr/>
          <p:nvPr/>
        </p:nvCxnSpPr>
        <p:spPr>
          <a:xfrm flipV="1">
            <a:off x="7348440" y="2363361"/>
            <a:ext cx="1102777" cy="384114"/>
          </a:xfrm>
          <a:prstGeom prst="line">
            <a:avLst/>
          </a:prstGeom>
          <a:ln w="15754">
            <a:solidFill>
              <a:srgbClr val="2F5496"/>
            </a:solidFill>
            <a:prstDash val="solid"/>
            <a:headEnd type="triangle" w="lg" len="lg"/>
          </a:ln>
        </p:spPr>
      </p:cxnSp>
      <p:cxnSp>
        <p:nvCxnSpPr>
          <p:cNvPr id="12" name="Connector 2"/>
          <p:cNvCxnSpPr/>
          <p:nvPr/>
        </p:nvCxnSpPr>
        <p:spPr>
          <a:xfrm>
            <a:off x="7348440" y="3405955"/>
            <a:ext cx="1150039" cy="400576"/>
          </a:xfrm>
          <a:prstGeom prst="line">
            <a:avLst/>
          </a:prstGeom>
          <a:ln w="15754">
            <a:solidFill>
              <a:srgbClr val="2F5496"/>
            </a:solidFill>
            <a:prstDash val="solid"/>
            <a:headEnd type="triangle" w="lg" len="lg"/>
          </a:ln>
        </p:spPr>
      </p:cxnSp>
      <p:cxnSp>
        <p:nvCxnSpPr>
          <p:cNvPr id="13" name="Connector 3"/>
          <p:cNvCxnSpPr/>
          <p:nvPr/>
        </p:nvCxnSpPr>
        <p:spPr>
          <a:xfrm flipV="1">
            <a:off x="4355188" y="3426094"/>
            <a:ext cx="1102777" cy="407608"/>
          </a:xfrm>
          <a:prstGeom prst="line">
            <a:avLst/>
          </a:prstGeom>
          <a:ln w="15754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14" name="Text 4"/>
          <p:cNvSpPr txBox="1"/>
          <p:nvPr/>
        </p:nvSpPr>
        <p:spPr>
          <a:xfrm>
            <a:off x="4660814" y="3472358"/>
            <a:ext cx="491524" cy="3150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23" dirty="0">
                <a:solidFill>
                  <a:srgbClr val="000000"/>
                </a:solidFill>
              </a:rPr>
              <a:t>owns</a:t>
            </a:r>
          </a:p>
        </p:txBody>
      </p:sp>
      <p:cxnSp>
        <p:nvCxnSpPr>
          <p:cNvPr id="15" name="Connector 5"/>
          <p:cNvCxnSpPr/>
          <p:nvPr/>
        </p:nvCxnSpPr>
        <p:spPr>
          <a:xfrm>
            <a:off x="4355188" y="4619805"/>
            <a:ext cx="1244563" cy="460016"/>
          </a:xfrm>
          <a:prstGeom prst="line">
            <a:avLst/>
          </a:prstGeom>
          <a:ln w="15754">
            <a:solidFill>
              <a:srgbClr val="2F5496"/>
            </a:solidFill>
            <a:prstDash val="solid"/>
            <a:headEnd type="diamond" w="lg" len="lg"/>
          </a:ln>
        </p:spPr>
      </p:cxnSp>
      <p:sp>
        <p:nvSpPr>
          <p:cNvPr id="16" name="Text 6"/>
          <p:cNvSpPr txBox="1"/>
          <p:nvPr/>
        </p:nvSpPr>
        <p:spPr>
          <a:xfrm>
            <a:off x="4769516" y="4692274"/>
            <a:ext cx="415905" cy="3150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23" dirty="0">
                <a:solidFill>
                  <a:srgbClr val="000000"/>
                </a:solidFill>
              </a:rPr>
              <a:t>has</a:t>
            </a:r>
          </a:p>
        </p:txBody>
      </p:sp>
      <p:sp>
        <p:nvSpPr>
          <p:cNvPr id="17" name="Animal"/>
          <p:cNvSpPr/>
          <p:nvPr/>
        </p:nvSpPr>
        <p:spPr>
          <a:xfrm>
            <a:off x="5457965" y="2210247"/>
            <a:ext cx="1890475" cy="1732935"/>
          </a:xfrm>
          <a:prstGeom prst="rect">
            <a:avLst/>
          </a:prstGeom>
          <a:solidFill>
            <a:srgbClr val="FFFFFF"/>
          </a:solidFill>
          <a:ln w="15754">
            <a:solidFill>
              <a:srgbClr val="2F5496"/>
            </a:solidFill>
          </a:ln>
        </p:spPr>
      </p:sp>
      <p:sp>
        <p:nvSpPr>
          <p:cNvPr id="18" name="Animal title"/>
          <p:cNvSpPr/>
          <p:nvPr/>
        </p:nvSpPr>
        <p:spPr>
          <a:xfrm>
            <a:off x="5457965" y="2210247"/>
            <a:ext cx="1890475" cy="504127"/>
          </a:xfrm>
          <a:prstGeom prst="rect">
            <a:avLst/>
          </a:prstGeom>
          <a:solidFill>
            <a:srgbClr val="D9E2F3"/>
          </a:solidFill>
          <a:ln>
            <a:noFill/>
          </a:ln>
        </p:spPr>
      </p:sp>
      <p:sp>
        <p:nvSpPr>
          <p:cNvPr id="19" name="Divider"/>
          <p:cNvSpPr/>
          <p:nvPr/>
        </p:nvSpPr>
        <p:spPr>
          <a:xfrm>
            <a:off x="5457965" y="2706496"/>
            <a:ext cx="1890475" cy="1575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20" name="Divider"/>
          <p:cNvSpPr/>
          <p:nvPr/>
        </p:nvSpPr>
        <p:spPr>
          <a:xfrm>
            <a:off x="5457965" y="3494194"/>
            <a:ext cx="1890475" cy="1575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21" name="Text 11"/>
          <p:cNvSpPr txBox="1"/>
          <p:nvPr/>
        </p:nvSpPr>
        <p:spPr>
          <a:xfrm>
            <a:off x="5457965" y="2210247"/>
            <a:ext cx="1890475" cy="5041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819" dirty="0">
                <a:solidFill>
                  <a:srgbClr val="000000"/>
                </a:solidFill>
              </a:rPr>
              <a:t>Animal</a:t>
            </a:r>
          </a:p>
        </p:txBody>
      </p:sp>
      <p:sp>
        <p:nvSpPr>
          <p:cNvPr id="22" name="Text 12"/>
          <p:cNvSpPr txBox="1"/>
          <p:nvPr/>
        </p:nvSpPr>
        <p:spPr>
          <a:xfrm>
            <a:off x="5615504" y="2714374"/>
            <a:ext cx="1575396" cy="78769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89" dirty="0">
                <a:solidFill>
                  <a:srgbClr val="000000"/>
                </a:solidFill>
              </a:rPr>
              <a:t>+String name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89" dirty="0">
                <a:solidFill>
                  <a:srgbClr val="000000"/>
                </a:solidFill>
              </a:rPr>
              <a:t>+int age</a:t>
            </a:r>
          </a:p>
        </p:txBody>
      </p:sp>
      <p:sp>
        <p:nvSpPr>
          <p:cNvPr id="23" name="Text 13"/>
          <p:cNvSpPr txBox="1"/>
          <p:nvPr/>
        </p:nvSpPr>
        <p:spPr>
          <a:xfrm>
            <a:off x="5615504" y="3502072"/>
            <a:ext cx="1575396" cy="4411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89" dirty="0">
                <a:solidFill>
                  <a:srgbClr val="000000"/>
                </a:solidFill>
              </a:rPr>
              <a:t>+makeSound() void</a:t>
            </a:r>
          </a:p>
        </p:txBody>
      </p:sp>
      <p:sp>
        <p:nvSpPr>
          <p:cNvPr id="24" name="Dog"/>
          <p:cNvSpPr/>
          <p:nvPr/>
        </p:nvSpPr>
        <p:spPr>
          <a:xfrm>
            <a:off x="8451217" y="1406795"/>
            <a:ext cx="1512380" cy="1386348"/>
          </a:xfrm>
          <a:prstGeom prst="rect">
            <a:avLst/>
          </a:prstGeom>
          <a:solidFill>
            <a:srgbClr val="FFFFFF"/>
          </a:solidFill>
          <a:ln w="15754">
            <a:solidFill>
              <a:srgbClr val="2F5496"/>
            </a:solidFill>
          </a:ln>
        </p:spPr>
      </p:sp>
      <p:sp>
        <p:nvSpPr>
          <p:cNvPr id="25" name="Dog title"/>
          <p:cNvSpPr/>
          <p:nvPr/>
        </p:nvSpPr>
        <p:spPr>
          <a:xfrm>
            <a:off x="8451217" y="1406795"/>
            <a:ext cx="1512380" cy="504127"/>
          </a:xfrm>
          <a:prstGeom prst="rect">
            <a:avLst/>
          </a:prstGeom>
          <a:solidFill>
            <a:srgbClr val="D9E2F3"/>
          </a:solidFill>
          <a:ln>
            <a:noFill/>
          </a:ln>
        </p:spPr>
      </p:sp>
      <p:sp>
        <p:nvSpPr>
          <p:cNvPr id="26" name="Divider"/>
          <p:cNvSpPr/>
          <p:nvPr/>
        </p:nvSpPr>
        <p:spPr>
          <a:xfrm>
            <a:off x="8451217" y="1903044"/>
            <a:ext cx="1512380" cy="1575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27" name="Divider"/>
          <p:cNvSpPr/>
          <p:nvPr/>
        </p:nvSpPr>
        <p:spPr>
          <a:xfrm>
            <a:off x="8451217" y="2344155"/>
            <a:ext cx="1512380" cy="1575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28" name="Text 18"/>
          <p:cNvSpPr txBox="1"/>
          <p:nvPr/>
        </p:nvSpPr>
        <p:spPr>
          <a:xfrm>
            <a:off x="8451217" y="1406795"/>
            <a:ext cx="1512380" cy="5041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819" dirty="0">
                <a:solidFill>
                  <a:srgbClr val="000000"/>
                </a:solidFill>
              </a:rPr>
              <a:t>Dog</a:t>
            </a:r>
          </a:p>
        </p:txBody>
      </p:sp>
      <p:sp>
        <p:nvSpPr>
          <p:cNvPr id="29" name="Text 19"/>
          <p:cNvSpPr txBox="1"/>
          <p:nvPr/>
        </p:nvSpPr>
        <p:spPr>
          <a:xfrm>
            <a:off x="8608756" y="1910922"/>
            <a:ext cx="1197301" cy="4411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89" dirty="0">
                <a:solidFill>
                  <a:srgbClr val="000000"/>
                </a:solidFill>
              </a:rPr>
              <a:t>+String breed</a:t>
            </a:r>
          </a:p>
        </p:txBody>
      </p:sp>
      <p:sp>
        <p:nvSpPr>
          <p:cNvPr id="30" name="Text 20"/>
          <p:cNvSpPr txBox="1"/>
          <p:nvPr/>
        </p:nvSpPr>
        <p:spPr>
          <a:xfrm>
            <a:off x="8608756" y="2352033"/>
            <a:ext cx="1197301" cy="4411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89" dirty="0">
                <a:solidFill>
                  <a:srgbClr val="000000"/>
                </a:solidFill>
              </a:rPr>
              <a:t>+bark() void</a:t>
            </a:r>
          </a:p>
        </p:txBody>
      </p:sp>
      <p:sp>
        <p:nvSpPr>
          <p:cNvPr id="31" name="Cat"/>
          <p:cNvSpPr/>
          <p:nvPr/>
        </p:nvSpPr>
        <p:spPr>
          <a:xfrm>
            <a:off x="8498479" y="3580841"/>
            <a:ext cx="1417856" cy="945238"/>
          </a:xfrm>
          <a:prstGeom prst="rect">
            <a:avLst/>
          </a:prstGeom>
          <a:solidFill>
            <a:srgbClr val="FFFFFF"/>
          </a:solidFill>
          <a:ln w="15754">
            <a:solidFill>
              <a:srgbClr val="2F5496"/>
            </a:solidFill>
          </a:ln>
        </p:spPr>
      </p:sp>
      <p:sp>
        <p:nvSpPr>
          <p:cNvPr id="32" name="Cat title"/>
          <p:cNvSpPr/>
          <p:nvPr/>
        </p:nvSpPr>
        <p:spPr>
          <a:xfrm>
            <a:off x="8498479" y="3580841"/>
            <a:ext cx="1417856" cy="504127"/>
          </a:xfrm>
          <a:prstGeom prst="rect">
            <a:avLst/>
          </a:prstGeom>
          <a:solidFill>
            <a:srgbClr val="D9E2F3"/>
          </a:solidFill>
          <a:ln>
            <a:noFill/>
          </a:ln>
        </p:spPr>
      </p:sp>
      <p:sp>
        <p:nvSpPr>
          <p:cNvPr id="33" name="Divider"/>
          <p:cNvSpPr/>
          <p:nvPr/>
        </p:nvSpPr>
        <p:spPr>
          <a:xfrm>
            <a:off x="8498479" y="4077090"/>
            <a:ext cx="1417856" cy="1575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34" name="Text 24"/>
          <p:cNvSpPr txBox="1"/>
          <p:nvPr/>
        </p:nvSpPr>
        <p:spPr>
          <a:xfrm>
            <a:off x="8498479" y="3580841"/>
            <a:ext cx="1417856" cy="5041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819" dirty="0">
                <a:solidFill>
                  <a:srgbClr val="000000"/>
                </a:solidFill>
              </a:rPr>
              <a:t>Cat</a:t>
            </a:r>
          </a:p>
        </p:txBody>
      </p:sp>
      <p:sp>
        <p:nvSpPr>
          <p:cNvPr id="35" name="Text 25"/>
          <p:cNvSpPr txBox="1"/>
          <p:nvPr/>
        </p:nvSpPr>
        <p:spPr>
          <a:xfrm>
            <a:off x="8656018" y="4084968"/>
            <a:ext cx="1102777" cy="4411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89" dirty="0">
                <a:solidFill>
                  <a:srgbClr val="000000"/>
                </a:solidFill>
              </a:rPr>
              <a:t>+bark() void</a:t>
            </a:r>
          </a:p>
        </p:txBody>
      </p:sp>
      <p:sp>
        <p:nvSpPr>
          <p:cNvPr id="36" name="Owner"/>
          <p:cNvSpPr/>
          <p:nvPr/>
        </p:nvSpPr>
        <p:spPr>
          <a:xfrm>
            <a:off x="2228403" y="3533579"/>
            <a:ext cx="2126784" cy="1386348"/>
          </a:xfrm>
          <a:prstGeom prst="rect">
            <a:avLst/>
          </a:prstGeom>
          <a:solidFill>
            <a:srgbClr val="FFFFFF"/>
          </a:solidFill>
          <a:ln w="15754">
            <a:solidFill>
              <a:srgbClr val="2F5496"/>
            </a:solidFill>
          </a:ln>
        </p:spPr>
      </p:sp>
      <p:sp>
        <p:nvSpPr>
          <p:cNvPr id="37" name="Owner title"/>
          <p:cNvSpPr/>
          <p:nvPr/>
        </p:nvSpPr>
        <p:spPr>
          <a:xfrm>
            <a:off x="2228403" y="3533579"/>
            <a:ext cx="2126784" cy="504127"/>
          </a:xfrm>
          <a:prstGeom prst="rect">
            <a:avLst/>
          </a:prstGeom>
          <a:solidFill>
            <a:srgbClr val="D9E2F3"/>
          </a:solidFill>
          <a:ln>
            <a:noFill/>
          </a:ln>
        </p:spPr>
      </p:sp>
      <p:sp>
        <p:nvSpPr>
          <p:cNvPr id="38" name="Divider"/>
          <p:cNvSpPr/>
          <p:nvPr/>
        </p:nvSpPr>
        <p:spPr>
          <a:xfrm>
            <a:off x="2228403" y="4029828"/>
            <a:ext cx="2126784" cy="1575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39" name="Divider"/>
          <p:cNvSpPr/>
          <p:nvPr/>
        </p:nvSpPr>
        <p:spPr>
          <a:xfrm>
            <a:off x="2228403" y="4470939"/>
            <a:ext cx="2126784" cy="1575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40" name="Text 30"/>
          <p:cNvSpPr txBox="1"/>
          <p:nvPr/>
        </p:nvSpPr>
        <p:spPr>
          <a:xfrm>
            <a:off x="2228403" y="3533579"/>
            <a:ext cx="2126784" cy="5041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819" dirty="0">
                <a:solidFill>
                  <a:srgbClr val="000000"/>
                </a:solidFill>
              </a:rPr>
              <a:t>Owner</a:t>
            </a:r>
          </a:p>
        </p:txBody>
      </p:sp>
      <p:sp>
        <p:nvSpPr>
          <p:cNvPr id="41" name="Text 31"/>
          <p:cNvSpPr txBox="1"/>
          <p:nvPr/>
        </p:nvSpPr>
        <p:spPr>
          <a:xfrm>
            <a:off x="2385943" y="4037706"/>
            <a:ext cx="1811705" cy="4411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89" dirty="0">
                <a:solidFill>
                  <a:srgbClr val="000000"/>
                </a:solidFill>
              </a:rPr>
              <a:t>+String name</a:t>
            </a:r>
          </a:p>
        </p:txBody>
      </p:sp>
      <p:sp>
        <p:nvSpPr>
          <p:cNvPr id="42" name="Text 32"/>
          <p:cNvSpPr txBox="1"/>
          <p:nvPr/>
        </p:nvSpPr>
        <p:spPr>
          <a:xfrm>
            <a:off x="2385943" y="4478817"/>
            <a:ext cx="1811705" cy="4411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89" dirty="0">
                <a:solidFill>
                  <a:srgbClr val="000000"/>
                </a:solidFill>
              </a:rPr>
              <a:t>+feed(Animal a) void</a:t>
            </a:r>
          </a:p>
        </p:txBody>
      </p:sp>
      <p:sp>
        <p:nvSpPr>
          <p:cNvPr id="43" name="Address"/>
          <p:cNvSpPr/>
          <p:nvPr/>
        </p:nvSpPr>
        <p:spPr>
          <a:xfrm>
            <a:off x="5599750" y="4730880"/>
            <a:ext cx="1606904" cy="1291825"/>
          </a:xfrm>
          <a:prstGeom prst="rect">
            <a:avLst/>
          </a:prstGeom>
          <a:solidFill>
            <a:srgbClr val="FFFFFF"/>
          </a:solidFill>
          <a:ln w="15754">
            <a:solidFill>
              <a:srgbClr val="2F5496"/>
            </a:solidFill>
          </a:ln>
        </p:spPr>
      </p:sp>
      <p:sp>
        <p:nvSpPr>
          <p:cNvPr id="44" name="Address title"/>
          <p:cNvSpPr/>
          <p:nvPr/>
        </p:nvSpPr>
        <p:spPr>
          <a:xfrm>
            <a:off x="5599750" y="4730880"/>
            <a:ext cx="1606904" cy="504127"/>
          </a:xfrm>
          <a:prstGeom prst="rect">
            <a:avLst/>
          </a:prstGeom>
          <a:solidFill>
            <a:srgbClr val="D9E2F3"/>
          </a:solidFill>
          <a:ln>
            <a:noFill/>
          </a:ln>
        </p:spPr>
      </p:sp>
      <p:sp>
        <p:nvSpPr>
          <p:cNvPr id="45" name="Divider"/>
          <p:cNvSpPr/>
          <p:nvPr/>
        </p:nvSpPr>
        <p:spPr>
          <a:xfrm>
            <a:off x="5599750" y="5227129"/>
            <a:ext cx="1606904" cy="1575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46" name="Text 36"/>
          <p:cNvSpPr txBox="1"/>
          <p:nvPr/>
        </p:nvSpPr>
        <p:spPr>
          <a:xfrm>
            <a:off x="5599750" y="4730880"/>
            <a:ext cx="1606904" cy="5041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819" dirty="0">
                <a:solidFill>
                  <a:srgbClr val="000000"/>
                </a:solidFill>
              </a:rPr>
              <a:t>Address</a:t>
            </a:r>
          </a:p>
        </p:txBody>
      </p:sp>
      <p:sp>
        <p:nvSpPr>
          <p:cNvPr id="47" name="Text 37"/>
          <p:cNvSpPr txBox="1"/>
          <p:nvPr/>
        </p:nvSpPr>
        <p:spPr>
          <a:xfrm>
            <a:off x="5757290" y="5235007"/>
            <a:ext cx="1291825" cy="78769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89" dirty="0">
                <a:solidFill>
                  <a:srgbClr val="000000"/>
                </a:solidFill>
              </a:rPr>
              <a:t>+String street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89" dirty="0">
                <a:solidFill>
                  <a:srgbClr val="000000"/>
                </a:solidFill>
              </a:rPr>
              <a:t>+String city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colors</a:t>
            </a:r>
          </a:p>
        </p:txBody>
      </p:sp>
      <p:sp>
        <p:nvSpPr>
          <p:cNvPr id="12" name="Fond clair" descr="A"/>
          <p:cNvSpPr/>
          <p:nvPr/>
        </p:nvSpPr>
        <p:spPr>
          <a:xfrm>
            <a:off x="3482587" y="1028700"/>
            <a:ext cx="863571" cy="378317"/>
          </a:xfrm>
          <a:prstGeom prst="rect">
            <a:avLst/>
          </a:prstGeom>
          <a:solidFill>
            <a:srgbClr val="D9E2F3"/>
          </a:solidFill>
          <a:ln w="6726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8425" tIns="24212" rIns="48425" bIns="242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000000"/>
                </a:solidFill>
              </a:rPr>
              <a:t>Fond clair</a:t>
            </a:r>
          </a:p>
        </p:txBody>
      </p:sp>
      <p:sp>
        <p:nvSpPr>
          <p:cNvPr id="13" name="Fond sombre" descr="B"/>
          <p:cNvSpPr/>
          <p:nvPr/>
        </p:nvSpPr>
        <p:spPr>
          <a:xfrm>
            <a:off x="3446268" y="1810555"/>
            <a:ext cx="936208" cy="378317"/>
          </a:xfrm>
          <a:prstGeom prst="rect">
            <a:avLst/>
          </a:prstGeom>
          <a:solidFill>
            <a:srgbClr val="1F3864"/>
          </a:solidFill>
          <a:ln w="6726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8425" tIns="24212" rIns="48425" bIns="242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FFFFFF"/>
                </a:solidFill>
              </a:rPr>
              <a:t>Fond sombre</a:t>
            </a:r>
          </a:p>
        </p:txBody>
      </p:sp>
      <p:sp>
        <p:nvSpPr>
          <p:cNvPr id="14" name="Alerte" descr="C"/>
          <p:cNvSpPr/>
          <p:nvPr/>
        </p:nvSpPr>
        <p:spPr>
          <a:xfrm>
            <a:off x="3609701" y="2592410"/>
            <a:ext cx="609342" cy="378317"/>
          </a:xfrm>
          <a:prstGeom prst="rect">
            <a:avLst/>
          </a:prstGeom>
          <a:solidFill>
            <a:srgbClr val="FFD9D9"/>
          </a:solidFill>
          <a:ln w="6726" cap="flat" cmpd="sng" algn="ctr">
            <a:solidFill>
              <a:srgbClr val="CC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8425" tIns="24212" rIns="48425" bIns="242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000000"/>
                </a:solidFill>
              </a:rPr>
              <a:t>Alerte</a:t>
            </a:r>
          </a:p>
        </p:txBody>
      </p:sp>
      <p:sp>
        <p:nvSpPr>
          <p:cNvPr id="15" name="Style direct" descr="D"/>
          <p:cNvSpPr/>
          <p:nvPr/>
        </p:nvSpPr>
        <p:spPr>
          <a:xfrm>
            <a:off x="3409950" y="3374265"/>
            <a:ext cx="1008845" cy="378317"/>
          </a:xfrm>
          <a:prstGeom prst="rect">
            <a:avLst/>
          </a:prstGeom>
          <a:solidFill>
            <a:srgbClr val="FFDD00"/>
          </a:solidFill>
          <a:ln w="6726" cap="flat" cmpd="sng" algn="ctr">
            <a:solidFill>
              <a:srgbClr val="333333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8425" tIns="24212" rIns="48425" bIns="242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000000"/>
                </a:solidFill>
              </a:rPr>
              <a:t>Style direct</a:t>
            </a:r>
          </a:p>
        </p:txBody>
      </p:sp>
      <p:sp>
        <p:nvSpPr>
          <p:cNvPr id="16" name="Lien vert" descr="E"/>
          <p:cNvSpPr/>
          <p:nvPr/>
        </p:nvSpPr>
        <p:spPr>
          <a:xfrm>
            <a:off x="3518905" y="4156120"/>
            <a:ext cx="790935" cy="378317"/>
          </a:xfrm>
          <a:prstGeom prst="rect">
            <a:avLst/>
          </a:prstGeom>
          <a:solidFill>
            <a:srgbClr val="D9E2F3"/>
          </a:solidFill>
          <a:ln w="6726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8425" tIns="24212" rIns="48425" bIns="242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000000"/>
                </a:solidFill>
              </a:rPr>
              <a:t>Lien vert</a:t>
            </a:r>
          </a:p>
        </p:txBody>
      </p:sp>
      <p:sp>
        <p:nvSpPr>
          <p:cNvPr id="17" name="Classe partagee" descr="F"/>
          <p:cNvSpPr/>
          <p:nvPr/>
        </p:nvSpPr>
        <p:spPr>
          <a:xfrm>
            <a:off x="3543118" y="4937975"/>
            <a:ext cx="742510" cy="529644"/>
          </a:xfrm>
          <a:prstGeom prst="rect">
            <a:avLst/>
          </a:prstGeom>
          <a:solidFill>
            <a:srgbClr val="CCE5FF"/>
          </a:solidFill>
          <a:ln w="6726" cap="flat" cmpd="sng" algn="ctr">
            <a:solidFill>
              <a:srgbClr val="0000CC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8425" tIns="24212" rIns="48425" bIns="242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000000"/>
                </a:solidFill>
              </a:rPr>
              <a:t>Classe partagee</a:t>
            </a:r>
          </a:p>
        </p:txBody>
      </p:sp>
      <p:sp>
        <p:nvSpPr>
          <p:cNvPr id="18" name="Autre classe partagee" descr="G"/>
          <p:cNvSpPr/>
          <p:nvPr/>
        </p:nvSpPr>
        <p:spPr>
          <a:xfrm>
            <a:off x="3409950" y="5871156"/>
            <a:ext cx="1008845" cy="529644"/>
          </a:xfrm>
          <a:prstGeom prst="rect">
            <a:avLst/>
          </a:prstGeom>
          <a:solidFill>
            <a:srgbClr val="CCE5FF"/>
          </a:solidFill>
          <a:ln w="6726" cap="flat" cmpd="sng" algn="ctr">
            <a:solidFill>
              <a:srgbClr val="0000CC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8425" tIns="24212" rIns="48425" bIns="242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000000"/>
                </a:solidFill>
              </a:rPr>
              <a:t>Autre classe partagee</a:t>
            </a:r>
          </a:p>
        </p:txBody>
      </p:sp>
      <p:cxnSp>
        <p:nvCxnSpPr>
          <p:cNvPr id="19" name="A--B"/>
          <p:cNvCxnSpPr>
            <a:stCxn id="12" idx="2"/>
            <a:endCxn id="13" idx="0"/>
          </p:cNvCxnSpPr>
          <p:nvPr/>
        </p:nvCxnSpPr>
        <p:spPr>
          <a:xfrm>
            <a:off x="3914373" y="1407017"/>
            <a:ext cx="0" cy="403538"/>
          </a:xfrm>
          <a:prstGeom prst="line">
            <a:avLst/>
          </a:prstGeom>
          <a:ln w="672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B--C"/>
          <p:cNvCxnSpPr>
            <a:stCxn id="13" idx="2"/>
            <a:endCxn id="14" idx="0"/>
          </p:cNvCxnSpPr>
          <p:nvPr/>
        </p:nvCxnSpPr>
        <p:spPr>
          <a:xfrm>
            <a:off x="3914373" y="2188872"/>
            <a:ext cx="0" cy="403538"/>
          </a:xfrm>
          <a:prstGeom prst="line">
            <a:avLst/>
          </a:prstGeom>
          <a:ln w="672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--D"/>
          <p:cNvCxnSpPr>
            <a:stCxn id="14" idx="2"/>
            <a:endCxn id="15" idx="0"/>
          </p:cNvCxnSpPr>
          <p:nvPr/>
        </p:nvCxnSpPr>
        <p:spPr>
          <a:xfrm>
            <a:off x="3914373" y="2970727"/>
            <a:ext cx="0" cy="403538"/>
          </a:xfrm>
          <a:prstGeom prst="line">
            <a:avLst/>
          </a:prstGeom>
          <a:ln w="672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D--E"/>
          <p:cNvCxnSpPr>
            <a:stCxn id="15" idx="2"/>
            <a:endCxn id="16" idx="0"/>
          </p:cNvCxnSpPr>
          <p:nvPr/>
        </p:nvCxnSpPr>
        <p:spPr>
          <a:xfrm>
            <a:off x="3914373" y="3752582"/>
            <a:ext cx="0" cy="403538"/>
          </a:xfrm>
          <a:prstGeom prst="line">
            <a:avLst/>
          </a:prstGeom>
          <a:ln w="15133" cap="flat" cmpd="sng" algn="ctr">
            <a:solidFill>
              <a:srgbClr val="00AA00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E--F"/>
          <p:cNvCxnSpPr>
            <a:stCxn id="16" idx="2"/>
            <a:endCxn id="17" idx="0"/>
          </p:cNvCxnSpPr>
          <p:nvPr/>
        </p:nvCxnSpPr>
        <p:spPr>
          <a:xfrm>
            <a:off x="3914373" y="4534437"/>
            <a:ext cx="0" cy="403538"/>
          </a:xfrm>
          <a:prstGeom prst="line">
            <a:avLst/>
          </a:prstGeom>
          <a:ln w="672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F--G"/>
          <p:cNvCxnSpPr>
            <a:stCxn id="17" idx="2"/>
            <a:endCxn id="18" idx="0"/>
          </p:cNvCxnSpPr>
          <p:nvPr/>
        </p:nvCxnSpPr>
        <p:spPr>
          <a:xfrm>
            <a:off x="3914373" y="5467618"/>
            <a:ext cx="0" cy="403538"/>
          </a:xfrm>
          <a:prstGeom prst="line">
            <a:avLst/>
          </a:prstGeom>
          <a:ln w="672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crossing-stress-15node</a:t>
            </a:r>
          </a:p>
        </p:txBody>
      </p:sp>
      <p:sp>
        <p:nvSpPr>
          <p:cNvPr id="12" name="Start" descr="Start"/>
          <p:cNvSpPr/>
          <p:nvPr/>
        </p:nvSpPr>
        <p:spPr>
          <a:xfrm>
            <a:off x="4022862" y="1028700"/>
            <a:ext cx="436329" cy="307563"/>
          </a:xfrm>
          <a:prstGeom prst="roundRect">
            <a:avLst/>
          </a:prstGeom>
          <a:solidFill>
            <a:srgbClr val="FFE0B2"/>
          </a:solidFill>
          <a:ln w="5468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9368" tIns="19684" rIns="39368" bIns="19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Start</a:t>
            </a:r>
          </a:p>
        </p:txBody>
      </p:sp>
      <p:sp>
        <p:nvSpPr>
          <p:cNvPr id="13" name="Gate 1" descr="Gate1"/>
          <p:cNvSpPr/>
          <p:nvPr/>
        </p:nvSpPr>
        <p:spPr>
          <a:xfrm>
            <a:off x="3777139" y="1664330"/>
            <a:ext cx="927774" cy="615126"/>
          </a:xfrm>
          <a:prstGeom prst="diamond">
            <a:avLst/>
          </a:prstGeom>
          <a:solidFill>
            <a:srgbClr val="E1BEE7"/>
          </a:solidFill>
          <a:ln w="5468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9368" tIns="19684" rIns="39368" bIns="19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Gate 1</a:t>
            </a:r>
          </a:p>
        </p:txBody>
      </p:sp>
      <p:sp>
        <p:nvSpPr>
          <p:cNvPr id="14" name="N1" descr="N1"/>
          <p:cNvSpPr/>
          <p:nvPr/>
        </p:nvSpPr>
        <p:spPr>
          <a:xfrm>
            <a:off x="3486882" y="2607523"/>
            <a:ext cx="287059" cy="307563"/>
          </a:xfrm>
          <a:prstGeom prst="rect">
            <a:avLst/>
          </a:prstGeom>
          <a:solidFill>
            <a:srgbClr val="FFCDD2"/>
          </a:solidFill>
          <a:ln w="5468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9368" tIns="19684" rIns="39368" bIns="19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N1</a:t>
            </a:r>
          </a:p>
        </p:txBody>
      </p:sp>
      <p:sp>
        <p:nvSpPr>
          <p:cNvPr id="15" name="N2" descr="N2"/>
          <p:cNvSpPr/>
          <p:nvPr/>
        </p:nvSpPr>
        <p:spPr>
          <a:xfrm>
            <a:off x="4097497" y="2607523"/>
            <a:ext cx="287059" cy="307563"/>
          </a:xfrm>
          <a:prstGeom prst="rect">
            <a:avLst/>
          </a:prstGeom>
          <a:solidFill>
            <a:srgbClr val="FFF9C4"/>
          </a:solidFill>
          <a:ln w="5468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9368" tIns="19684" rIns="39368" bIns="19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N2</a:t>
            </a:r>
          </a:p>
        </p:txBody>
      </p:sp>
      <p:sp>
        <p:nvSpPr>
          <p:cNvPr id="16" name="N3" descr="N3"/>
          <p:cNvSpPr/>
          <p:nvPr/>
        </p:nvSpPr>
        <p:spPr>
          <a:xfrm>
            <a:off x="4849099" y="2607523"/>
            <a:ext cx="287059" cy="307563"/>
          </a:xfrm>
          <a:prstGeom prst="rect">
            <a:avLst/>
          </a:prstGeom>
          <a:solidFill>
            <a:srgbClr val="BBDEFB"/>
          </a:solidFill>
          <a:ln w="5468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9368" tIns="19684" rIns="39368" bIns="19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N3</a:t>
            </a:r>
          </a:p>
        </p:txBody>
      </p:sp>
      <p:sp>
        <p:nvSpPr>
          <p:cNvPr id="17" name="Merge 1" descr="Merge1"/>
          <p:cNvSpPr/>
          <p:nvPr/>
        </p:nvSpPr>
        <p:spPr>
          <a:xfrm>
            <a:off x="3409950" y="3243153"/>
            <a:ext cx="522939" cy="307563"/>
          </a:xfrm>
          <a:prstGeom prst="rect">
            <a:avLst/>
          </a:prstGeom>
          <a:solidFill>
            <a:srgbClr val="C8E6C9"/>
          </a:solidFill>
          <a:ln w="5468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9368" tIns="19684" rIns="39368" bIns="19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Merge 1</a:t>
            </a:r>
          </a:p>
        </p:txBody>
      </p:sp>
      <p:sp>
        <p:nvSpPr>
          <p:cNvPr id="18" name="N4" descr="N4"/>
          <p:cNvSpPr/>
          <p:nvPr/>
        </p:nvSpPr>
        <p:spPr>
          <a:xfrm>
            <a:off x="4351257" y="3243153"/>
            <a:ext cx="287059" cy="307563"/>
          </a:xfrm>
          <a:prstGeom prst="rect">
            <a:avLst/>
          </a:prstGeom>
          <a:solidFill>
            <a:srgbClr val="FFE0B2"/>
          </a:solidFill>
          <a:ln w="5468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9368" tIns="19684" rIns="39368" bIns="19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N4</a:t>
            </a:r>
          </a:p>
        </p:txBody>
      </p:sp>
      <p:sp>
        <p:nvSpPr>
          <p:cNvPr id="19" name="Skip target" descr="Skip"/>
          <p:cNvSpPr/>
          <p:nvPr/>
        </p:nvSpPr>
        <p:spPr>
          <a:xfrm>
            <a:off x="4653079" y="4821977"/>
            <a:ext cx="761116" cy="307563"/>
          </a:xfrm>
          <a:prstGeom prst="rect">
            <a:avLst/>
          </a:prstGeom>
          <a:solidFill>
            <a:srgbClr val="E1BEE7"/>
          </a:solidFill>
          <a:ln w="5468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9368" tIns="19684" rIns="39368" bIns="19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Skip target</a:t>
            </a:r>
          </a:p>
        </p:txBody>
      </p:sp>
      <p:sp>
        <p:nvSpPr>
          <p:cNvPr id="20" name="Gate 2" descr="Gate2"/>
          <p:cNvSpPr/>
          <p:nvPr/>
        </p:nvSpPr>
        <p:spPr>
          <a:xfrm>
            <a:off x="3533057" y="3878784"/>
            <a:ext cx="927774" cy="615126"/>
          </a:xfrm>
          <a:prstGeom prst="diamond">
            <a:avLst/>
          </a:prstGeom>
          <a:solidFill>
            <a:srgbClr val="FFCDD2"/>
          </a:solidFill>
          <a:ln w="5468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9368" tIns="19684" rIns="39368" bIns="19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Gate 2</a:t>
            </a:r>
          </a:p>
        </p:txBody>
      </p:sp>
      <p:sp>
        <p:nvSpPr>
          <p:cNvPr id="21" name="N5" descr="N5"/>
          <p:cNvSpPr/>
          <p:nvPr/>
        </p:nvSpPr>
        <p:spPr>
          <a:xfrm>
            <a:off x="3586860" y="4821977"/>
            <a:ext cx="287059" cy="307563"/>
          </a:xfrm>
          <a:prstGeom prst="rect">
            <a:avLst/>
          </a:prstGeom>
          <a:solidFill>
            <a:srgbClr val="FFF9C4"/>
          </a:solidFill>
          <a:ln w="5468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9368" tIns="19684" rIns="39368" bIns="19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N5</a:t>
            </a:r>
          </a:p>
        </p:txBody>
      </p:sp>
      <p:sp>
        <p:nvSpPr>
          <p:cNvPr id="22" name="N6" descr="N6"/>
          <p:cNvSpPr/>
          <p:nvPr/>
        </p:nvSpPr>
        <p:spPr>
          <a:xfrm>
            <a:off x="4119969" y="4821977"/>
            <a:ext cx="287059" cy="307563"/>
          </a:xfrm>
          <a:prstGeom prst="rect">
            <a:avLst/>
          </a:prstGeom>
          <a:solidFill>
            <a:srgbClr val="BBDEFB"/>
          </a:solidFill>
          <a:ln w="5468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9368" tIns="19684" rIns="39368" bIns="19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N6</a:t>
            </a:r>
          </a:p>
        </p:txBody>
      </p:sp>
      <p:sp>
        <p:nvSpPr>
          <p:cNvPr id="23" name="Merge 2" descr="Merge2"/>
          <p:cNvSpPr/>
          <p:nvPr/>
        </p:nvSpPr>
        <p:spPr>
          <a:xfrm>
            <a:off x="4002029" y="5457607"/>
            <a:ext cx="522939" cy="307563"/>
          </a:xfrm>
          <a:prstGeom prst="rect">
            <a:avLst/>
          </a:prstGeom>
          <a:solidFill>
            <a:srgbClr val="C8E6C9"/>
          </a:solidFill>
          <a:ln w="5468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9368" tIns="19684" rIns="39368" bIns="19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Merge 2</a:t>
            </a:r>
          </a:p>
        </p:txBody>
      </p:sp>
      <p:sp>
        <p:nvSpPr>
          <p:cNvPr id="24" name="End" descr="End"/>
          <p:cNvSpPr/>
          <p:nvPr/>
        </p:nvSpPr>
        <p:spPr>
          <a:xfrm>
            <a:off x="4104386" y="6093237"/>
            <a:ext cx="318225" cy="307563"/>
          </a:xfrm>
          <a:prstGeom prst="roundRect">
            <a:avLst/>
          </a:prstGeom>
          <a:solidFill>
            <a:srgbClr val="FFE0B2"/>
          </a:solidFill>
          <a:ln w="5468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9368" tIns="19684" rIns="39368" bIns="19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End</a:t>
            </a:r>
          </a:p>
        </p:txBody>
      </p:sp>
      <p:cxnSp>
        <p:nvCxnSpPr>
          <p:cNvPr id="25" name="Start--Gate1"/>
          <p:cNvCxnSpPr>
            <a:stCxn id="12" idx="2"/>
            <a:endCxn id="13" idx="0"/>
          </p:cNvCxnSpPr>
          <p:nvPr/>
        </p:nvCxnSpPr>
        <p:spPr>
          <a:xfrm>
            <a:off x="4241026" y="1336263"/>
            <a:ext cx="0" cy="328067"/>
          </a:xfrm>
          <a:prstGeom prst="line">
            <a:avLst/>
          </a:prstGeom>
          <a:ln w="546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ate1--N1"/>
          <p:cNvCxnSpPr>
            <a:stCxn id="13" idx="2"/>
            <a:endCxn id="14" idx="0"/>
          </p:cNvCxnSpPr>
          <p:nvPr/>
        </p:nvCxnSpPr>
        <p:spPr>
          <a:xfrm flipH="1">
            <a:off x="3630411" y="2279456"/>
            <a:ext cx="610615" cy="328067"/>
          </a:xfrm>
          <a:prstGeom prst="line">
            <a:avLst/>
          </a:prstGeom>
          <a:ln w="546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EdgeLabel"/>
          <p:cNvSpPr txBox="1"/>
          <p:nvPr/>
        </p:nvSpPr>
        <p:spPr>
          <a:xfrm>
            <a:off x="3845500" y="2394280"/>
            <a:ext cx="180437" cy="984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16403" tIns="0" rIns="16403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50" dirty="0">
                <a:solidFill>
                  <a:srgbClr val="000000"/>
                </a:solidFill>
              </a:rPr>
              <a:t>a</a:t>
            </a:r>
          </a:p>
        </p:txBody>
      </p:sp>
      <p:cxnSp>
        <p:nvCxnSpPr>
          <p:cNvPr id="28" name="Gate1--N2"/>
          <p:cNvCxnSpPr>
            <a:stCxn id="13" idx="2"/>
            <a:endCxn id="15" idx="0"/>
          </p:cNvCxnSpPr>
          <p:nvPr/>
        </p:nvCxnSpPr>
        <p:spPr>
          <a:xfrm>
            <a:off x="4241026" y="2279456"/>
            <a:ext cx="0" cy="328067"/>
          </a:xfrm>
          <a:prstGeom prst="line">
            <a:avLst/>
          </a:prstGeom>
          <a:ln w="546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EdgeLabel"/>
          <p:cNvSpPr txBox="1"/>
          <p:nvPr/>
        </p:nvSpPr>
        <p:spPr>
          <a:xfrm>
            <a:off x="4150808" y="2394280"/>
            <a:ext cx="180437" cy="984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16403" tIns="0" rIns="16403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50" dirty="0">
                <a:solidFill>
                  <a:srgbClr val="000000"/>
                </a:solidFill>
              </a:rPr>
              <a:t>b</a:t>
            </a:r>
          </a:p>
        </p:txBody>
      </p:sp>
      <p:cxnSp>
        <p:nvCxnSpPr>
          <p:cNvPr id="30" name="Gate1--N3"/>
          <p:cNvCxnSpPr>
            <a:stCxn id="13" idx="2"/>
            <a:endCxn id="16" idx="0"/>
          </p:cNvCxnSpPr>
          <p:nvPr/>
        </p:nvCxnSpPr>
        <p:spPr>
          <a:xfrm>
            <a:off x="4241026" y="2279456"/>
            <a:ext cx="751602" cy="328067"/>
          </a:xfrm>
          <a:prstGeom prst="line">
            <a:avLst/>
          </a:prstGeom>
          <a:ln w="546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EdgeLabel"/>
          <p:cNvSpPr txBox="1"/>
          <p:nvPr/>
        </p:nvSpPr>
        <p:spPr>
          <a:xfrm>
            <a:off x="4526609" y="2394280"/>
            <a:ext cx="180437" cy="984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16403" tIns="0" rIns="16403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50" dirty="0">
                <a:solidFill>
                  <a:srgbClr val="000000"/>
                </a:solidFill>
              </a:rPr>
              <a:t>c</a:t>
            </a:r>
          </a:p>
        </p:txBody>
      </p:sp>
      <p:cxnSp>
        <p:nvCxnSpPr>
          <p:cNvPr id="32" name="N1--Merge1"/>
          <p:cNvCxnSpPr>
            <a:stCxn id="14" idx="2"/>
            <a:endCxn id="17" idx="0"/>
          </p:cNvCxnSpPr>
          <p:nvPr/>
        </p:nvCxnSpPr>
        <p:spPr>
          <a:xfrm>
            <a:off x="3630411" y="2915086"/>
            <a:ext cx="41009" cy="328067"/>
          </a:xfrm>
          <a:prstGeom prst="line">
            <a:avLst/>
          </a:prstGeom>
          <a:ln w="546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N2--Merge1"/>
          <p:cNvCxnSpPr>
            <a:stCxn id="15" idx="2"/>
            <a:endCxn id="17" idx="0"/>
          </p:cNvCxnSpPr>
          <p:nvPr/>
        </p:nvCxnSpPr>
        <p:spPr>
          <a:xfrm flipH="1">
            <a:off x="3671420" y="2915086"/>
            <a:ext cx="569606" cy="328067"/>
          </a:xfrm>
          <a:prstGeom prst="line">
            <a:avLst/>
          </a:prstGeom>
          <a:ln w="546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N2--N4"/>
          <p:cNvCxnSpPr>
            <a:stCxn id="15" idx="2"/>
            <a:endCxn id="18" idx="0"/>
          </p:cNvCxnSpPr>
          <p:nvPr/>
        </p:nvCxnSpPr>
        <p:spPr>
          <a:xfrm>
            <a:off x="4241026" y="2915086"/>
            <a:ext cx="253760" cy="328067"/>
          </a:xfrm>
          <a:prstGeom prst="line">
            <a:avLst/>
          </a:prstGeom>
          <a:ln w="546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N3--N4"/>
          <p:cNvCxnSpPr>
            <a:stCxn id="16" idx="2"/>
            <a:endCxn id="18" idx="0"/>
          </p:cNvCxnSpPr>
          <p:nvPr/>
        </p:nvCxnSpPr>
        <p:spPr>
          <a:xfrm flipH="1">
            <a:off x="4494786" y="2915086"/>
            <a:ext cx="497842" cy="328067"/>
          </a:xfrm>
          <a:prstGeom prst="line">
            <a:avLst/>
          </a:prstGeom>
          <a:ln w="546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N3--Skip"/>
          <p:cNvCxnSpPr>
            <a:stCxn id="16" idx="2"/>
            <a:endCxn id="19" idx="0"/>
          </p:cNvCxnSpPr>
          <p:nvPr/>
        </p:nvCxnSpPr>
        <p:spPr>
          <a:xfrm>
            <a:off x="4992628" y="2915086"/>
            <a:ext cx="41008" cy="1906891"/>
          </a:xfrm>
          <a:prstGeom prst="line">
            <a:avLst/>
          </a:prstGeom>
          <a:ln w="546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Merge1--Gate2"/>
          <p:cNvCxnSpPr>
            <a:stCxn id="17" idx="2"/>
            <a:endCxn id="20" idx="0"/>
          </p:cNvCxnSpPr>
          <p:nvPr/>
        </p:nvCxnSpPr>
        <p:spPr>
          <a:xfrm>
            <a:off x="3671420" y="3550716"/>
            <a:ext cx="325524" cy="328068"/>
          </a:xfrm>
          <a:prstGeom prst="line">
            <a:avLst/>
          </a:prstGeom>
          <a:ln w="546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N4--Gate2"/>
          <p:cNvCxnSpPr>
            <a:stCxn id="18" idx="2"/>
            <a:endCxn id="20" idx="0"/>
          </p:cNvCxnSpPr>
          <p:nvPr/>
        </p:nvCxnSpPr>
        <p:spPr>
          <a:xfrm flipH="1">
            <a:off x="3996944" y="3550716"/>
            <a:ext cx="497842" cy="328068"/>
          </a:xfrm>
          <a:prstGeom prst="line">
            <a:avLst/>
          </a:prstGeom>
          <a:ln w="546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ate2--N5"/>
          <p:cNvCxnSpPr>
            <a:stCxn id="20" idx="2"/>
            <a:endCxn id="21" idx="0"/>
          </p:cNvCxnSpPr>
          <p:nvPr/>
        </p:nvCxnSpPr>
        <p:spPr>
          <a:xfrm flipH="1">
            <a:off x="3730390" y="4493910"/>
            <a:ext cx="266554" cy="328067"/>
          </a:xfrm>
          <a:prstGeom prst="line">
            <a:avLst/>
          </a:prstGeom>
          <a:ln w="546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EdgeLabel"/>
          <p:cNvSpPr txBox="1"/>
          <p:nvPr/>
        </p:nvSpPr>
        <p:spPr>
          <a:xfrm>
            <a:off x="3773448" y="4608733"/>
            <a:ext cx="180437" cy="984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16403" tIns="0" rIns="16403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50" dirty="0">
                <a:solidFill>
                  <a:srgbClr val="000000"/>
                </a:solidFill>
              </a:rPr>
              <a:t>x</a:t>
            </a:r>
          </a:p>
        </p:txBody>
      </p:sp>
      <p:cxnSp>
        <p:nvCxnSpPr>
          <p:cNvPr id="41" name="Gate2--N6"/>
          <p:cNvCxnSpPr>
            <a:stCxn id="20" idx="2"/>
            <a:endCxn id="22" idx="0"/>
          </p:cNvCxnSpPr>
          <p:nvPr/>
        </p:nvCxnSpPr>
        <p:spPr>
          <a:xfrm>
            <a:off x="3996944" y="4493910"/>
            <a:ext cx="266555" cy="328067"/>
          </a:xfrm>
          <a:prstGeom prst="line">
            <a:avLst/>
          </a:prstGeom>
          <a:ln w="546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EdgeLabel"/>
          <p:cNvSpPr txBox="1"/>
          <p:nvPr/>
        </p:nvSpPr>
        <p:spPr>
          <a:xfrm>
            <a:off x="4040003" y="4608733"/>
            <a:ext cx="180437" cy="984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16403" tIns="0" rIns="16403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50" dirty="0">
                <a:solidFill>
                  <a:srgbClr val="000000"/>
                </a:solidFill>
              </a:rPr>
              <a:t>y</a:t>
            </a:r>
          </a:p>
        </p:txBody>
      </p:sp>
      <p:cxnSp>
        <p:nvCxnSpPr>
          <p:cNvPr id="43" name="N5--Merge2"/>
          <p:cNvCxnSpPr>
            <a:stCxn id="21" idx="2"/>
            <a:endCxn id="23" idx="0"/>
          </p:cNvCxnSpPr>
          <p:nvPr/>
        </p:nvCxnSpPr>
        <p:spPr>
          <a:xfrm>
            <a:off x="3730390" y="5129540"/>
            <a:ext cx="533109" cy="328067"/>
          </a:xfrm>
          <a:prstGeom prst="line">
            <a:avLst/>
          </a:prstGeom>
          <a:ln w="546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N6--Merge2"/>
          <p:cNvCxnSpPr>
            <a:stCxn id="22" idx="2"/>
            <a:endCxn id="23" idx="0"/>
          </p:cNvCxnSpPr>
          <p:nvPr/>
        </p:nvCxnSpPr>
        <p:spPr>
          <a:xfrm>
            <a:off x="4263499" y="5129540"/>
            <a:ext cx="0" cy="328067"/>
          </a:xfrm>
          <a:prstGeom prst="line">
            <a:avLst/>
          </a:prstGeom>
          <a:ln w="546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kip--Merge2"/>
          <p:cNvCxnSpPr>
            <a:stCxn id="19" idx="1"/>
            <a:endCxn id="23" idx="3"/>
          </p:cNvCxnSpPr>
          <p:nvPr/>
        </p:nvCxnSpPr>
        <p:spPr>
          <a:xfrm flipH="1">
            <a:off x="4524968" y="4975758"/>
            <a:ext cx="128111" cy="635630"/>
          </a:xfrm>
          <a:prstGeom prst="line">
            <a:avLst/>
          </a:prstGeom>
          <a:ln w="546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Merge2--End"/>
          <p:cNvCxnSpPr>
            <a:stCxn id="23" idx="2"/>
            <a:endCxn id="24" idx="0"/>
          </p:cNvCxnSpPr>
          <p:nvPr/>
        </p:nvCxnSpPr>
        <p:spPr>
          <a:xfrm>
            <a:off x="4263499" y="5765170"/>
            <a:ext cx="0" cy="328067"/>
          </a:xfrm>
          <a:prstGeom prst="line">
            <a:avLst/>
          </a:prstGeom>
          <a:ln w="546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crossing-stress-bipartite</a:t>
            </a:r>
          </a:p>
        </p:txBody>
      </p:sp>
      <p:sp>
        <p:nvSpPr>
          <p:cNvPr id="12" name="A1" descr="A1"/>
          <p:cNvSpPr/>
          <p:nvPr/>
        </p:nvSpPr>
        <p:spPr>
          <a:xfrm>
            <a:off x="5135137" y="1028700"/>
            <a:ext cx="611459" cy="655134"/>
          </a:xfrm>
          <a:prstGeom prst="rect">
            <a:avLst/>
          </a:prstGeom>
          <a:solidFill>
            <a:srgbClr val="E1BEE7"/>
          </a:solidFill>
          <a:ln w="11647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3857" tIns="41929" rIns="83857" bIns="4192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A1</a:t>
            </a:r>
          </a:p>
        </p:txBody>
      </p:sp>
      <p:sp>
        <p:nvSpPr>
          <p:cNvPr id="13" name="B1" descr="B1"/>
          <p:cNvSpPr/>
          <p:nvPr/>
        </p:nvSpPr>
        <p:spPr>
          <a:xfrm>
            <a:off x="6445405" y="1618321"/>
            <a:ext cx="611459" cy="655134"/>
          </a:xfrm>
          <a:prstGeom prst="rect">
            <a:avLst/>
          </a:prstGeom>
          <a:solidFill>
            <a:srgbClr val="FFCDD2"/>
          </a:solidFill>
          <a:ln w="11647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3857" tIns="41929" rIns="83857" bIns="4192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B1</a:t>
            </a:r>
          </a:p>
        </p:txBody>
      </p:sp>
      <p:sp>
        <p:nvSpPr>
          <p:cNvPr id="14" name="B2" descr="B2"/>
          <p:cNvSpPr/>
          <p:nvPr/>
        </p:nvSpPr>
        <p:spPr>
          <a:xfrm>
            <a:off x="6445405" y="2797562"/>
            <a:ext cx="611459" cy="655134"/>
          </a:xfrm>
          <a:prstGeom prst="rect">
            <a:avLst/>
          </a:prstGeom>
          <a:solidFill>
            <a:srgbClr val="FFF9C4"/>
          </a:solidFill>
          <a:ln w="11647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3857" tIns="41929" rIns="83857" bIns="4192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B2</a:t>
            </a:r>
          </a:p>
        </p:txBody>
      </p:sp>
      <p:sp>
        <p:nvSpPr>
          <p:cNvPr id="15" name="B3" descr="B3"/>
          <p:cNvSpPr/>
          <p:nvPr/>
        </p:nvSpPr>
        <p:spPr>
          <a:xfrm>
            <a:off x="6445405" y="3976804"/>
            <a:ext cx="611459" cy="655134"/>
          </a:xfrm>
          <a:prstGeom prst="rect">
            <a:avLst/>
          </a:prstGeom>
          <a:solidFill>
            <a:srgbClr val="BBDEFB"/>
          </a:solidFill>
          <a:ln w="11647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3857" tIns="41929" rIns="83857" bIns="4192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B3</a:t>
            </a:r>
          </a:p>
        </p:txBody>
      </p:sp>
      <p:sp>
        <p:nvSpPr>
          <p:cNvPr id="16" name="A2" descr="A2"/>
          <p:cNvSpPr/>
          <p:nvPr/>
        </p:nvSpPr>
        <p:spPr>
          <a:xfrm>
            <a:off x="5135137" y="2382644"/>
            <a:ext cx="611459" cy="655134"/>
          </a:xfrm>
          <a:prstGeom prst="rect">
            <a:avLst/>
          </a:prstGeom>
          <a:solidFill>
            <a:srgbClr val="C8E6C9"/>
          </a:solidFill>
          <a:ln w="11647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3857" tIns="41929" rIns="83857" bIns="4192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A2</a:t>
            </a:r>
          </a:p>
        </p:txBody>
      </p:sp>
      <p:sp>
        <p:nvSpPr>
          <p:cNvPr id="17" name="B4" descr="B4"/>
          <p:cNvSpPr/>
          <p:nvPr/>
        </p:nvSpPr>
        <p:spPr>
          <a:xfrm>
            <a:off x="6445405" y="5156045"/>
            <a:ext cx="611459" cy="655134"/>
          </a:xfrm>
          <a:prstGeom prst="rect">
            <a:avLst/>
          </a:prstGeom>
          <a:solidFill>
            <a:srgbClr val="FFE0B2"/>
          </a:solidFill>
          <a:ln w="11647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3857" tIns="41929" rIns="83857" bIns="4192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B4</a:t>
            </a:r>
          </a:p>
        </p:txBody>
      </p:sp>
      <p:sp>
        <p:nvSpPr>
          <p:cNvPr id="18" name="A3" descr="A3"/>
          <p:cNvSpPr/>
          <p:nvPr/>
        </p:nvSpPr>
        <p:spPr>
          <a:xfrm>
            <a:off x="5135137" y="5745666"/>
            <a:ext cx="611459" cy="655134"/>
          </a:xfrm>
          <a:prstGeom prst="rect">
            <a:avLst/>
          </a:prstGeom>
          <a:solidFill>
            <a:srgbClr val="E1BEE7"/>
          </a:solidFill>
          <a:ln w="11647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3857" tIns="41929" rIns="83857" bIns="4192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A3</a:t>
            </a:r>
          </a:p>
        </p:txBody>
      </p:sp>
      <p:sp>
        <p:nvSpPr>
          <p:cNvPr id="19" name="A4" descr="A4"/>
          <p:cNvSpPr/>
          <p:nvPr/>
        </p:nvSpPr>
        <p:spPr>
          <a:xfrm>
            <a:off x="5135137" y="4391722"/>
            <a:ext cx="611459" cy="655134"/>
          </a:xfrm>
          <a:prstGeom prst="rect">
            <a:avLst/>
          </a:prstGeom>
          <a:solidFill>
            <a:srgbClr val="FFCDD2"/>
          </a:solidFill>
          <a:ln w="11647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3857" tIns="41929" rIns="83857" bIns="4192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A4</a:t>
            </a:r>
          </a:p>
        </p:txBody>
      </p:sp>
      <p:cxnSp>
        <p:nvCxnSpPr>
          <p:cNvPr id="20" name="A1--B1"/>
          <p:cNvCxnSpPr>
            <a:stCxn id="12" idx="3"/>
            <a:endCxn id="13" idx="1"/>
          </p:cNvCxnSpPr>
          <p:nvPr/>
        </p:nvCxnSpPr>
        <p:spPr>
          <a:xfrm>
            <a:off x="5746596" y="1356267"/>
            <a:ext cx="698809" cy="589621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A1--B2"/>
          <p:cNvCxnSpPr>
            <a:stCxn id="12" idx="2"/>
            <a:endCxn id="14" idx="0"/>
          </p:cNvCxnSpPr>
          <p:nvPr/>
        </p:nvCxnSpPr>
        <p:spPr>
          <a:xfrm>
            <a:off x="5440866" y="1683834"/>
            <a:ext cx="1310269" cy="1113728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A1--B3"/>
          <p:cNvCxnSpPr>
            <a:stCxn id="12" idx="2"/>
            <a:endCxn id="15" idx="0"/>
          </p:cNvCxnSpPr>
          <p:nvPr/>
        </p:nvCxnSpPr>
        <p:spPr>
          <a:xfrm>
            <a:off x="5440866" y="1683834"/>
            <a:ext cx="1310269" cy="2292970"/>
          </a:xfrm>
          <a:custGeom>
            <a:avLst/>
            <a:gdLst/>
            <a:ahLst/>
            <a:cxnLst/>
            <a:rect l="0" t="0" r="0" b="0"/>
            <a:pathLst>
              <a:path w="1310269" h="2292970">
                <a:moveTo>
                  <a:pt x="0" y="0"/>
                </a:moveTo>
                <a:lnTo>
                  <a:pt x="655134" y="87351"/>
                </a:lnTo>
                <a:lnTo>
                  <a:pt x="1310269" y="2292970"/>
                </a:lnTo>
              </a:path>
            </a:pathLst>
          </a:cu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A2--B1"/>
          <p:cNvCxnSpPr>
            <a:stCxn id="16" idx="3"/>
            <a:endCxn id="13" idx="1"/>
          </p:cNvCxnSpPr>
          <p:nvPr/>
        </p:nvCxnSpPr>
        <p:spPr>
          <a:xfrm flipV="1">
            <a:off x="5746596" y="1945888"/>
            <a:ext cx="698809" cy="764323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A2--B2"/>
          <p:cNvCxnSpPr>
            <a:stCxn id="16" idx="3"/>
            <a:endCxn id="14" idx="1"/>
          </p:cNvCxnSpPr>
          <p:nvPr/>
        </p:nvCxnSpPr>
        <p:spPr>
          <a:xfrm>
            <a:off x="5746596" y="2710211"/>
            <a:ext cx="698809" cy="414918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A2--B4"/>
          <p:cNvCxnSpPr>
            <a:stCxn id="16" idx="2"/>
            <a:endCxn id="17" idx="0"/>
          </p:cNvCxnSpPr>
          <p:nvPr/>
        </p:nvCxnSpPr>
        <p:spPr>
          <a:xfrm>
            <a:off x="5440866" y="3037778"/>
            <a:ext cx="1310269" cy="2118267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A3--B2"/>
          <p:cNvCxnSpPr>
            <a:stCxn id="18" idx="0"/>
            <a:endCxn id="14" idx="2"/>
          </p:cNvCxnSpPr>
          <p:nvPr/>
        </p:nvCxnSpPr>
        <p:spPr>
          <a:xfrm>
            <a:off x="5440866" y="3452696"/>
            <a:ext cx="1310269" cy="2292970"/>
          </a:xfrm>
          <a:custGeom>
            <a:avLst/>
            <a:gdLst/>
            <a:ahLst/>
            <a:cxnLst/>
            <a:rect l="0" t="0" r="0" b="0"/>
            <a:pathLst>
              <a:path w="1310269" h="2292970">
                <a:moveTo>
                  <a:pt x="0" y="2292970"/>
                </a:moveTo>
                <a:lnTo>
                  <a:pt x="655134" y="2205619"/>
                </a:lnTo>
                <a:lnTo>
                  <a:pt x="1310269" y="0"/>
                </a:lnTo>
              </a:path>
            </a:pathLst>
          </a:cu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A3--B3"/>
          <p:cNvCxnSpPr>
            <a:stCxn id="18" idx="0"/>
            <a:endCxn id="15" idx="2"/>
          </p:cNvCxnSpPr>
          <p:nvPr/>
        </p:nvCxnSpPr>
        <p:spPr>
          <a:xfrm flipV="1">
            <a:off x="5440866" y="4631938"/>
            <a:ext cx="1310269" cy="1113728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A3--B4"/>
          <p:cNvCxnSpPr>
            <a:stCxn id="18" idx="3"/>
            <a:endCxn id="17" idx="1"/>
          </p:cNvCxnSpPr>
          <p:nvPr/>
        </p:nvCxnSpPr>
        <p:spPr>
          <a:xfrm flipV="1">
            <a:off x="5746596" y="5483612"/>
            <a:ext cx="698809" cy="589621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A4--B1"/>
          <p:cNvCxnSpPr>
            <a:stCxn id="19" idx="0"/>
            <a:endCxn id="13" idx="2"/>
          </p:cNvCxnSpPr>
          <p:nvPr/>
        </p:nvCxnSpPr>
        <p:spPr>
          <a:xfrm flipV="1">
            <a:off x="5440866" y="2273455"/>
            <a:ext cx="1310269" cy="2118267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A4--B3"/>
          <p:cNvCxnSpPr>
            <a:stCxn id="19" idx="3"/>
            <a:endCxn id="15" idx="1"/>
          </p:cNvCxnSpPr>
          <p:nvPr/>
        </p:nvCxnSpPr>
        <p:spPr>
          <a:xfrm flipV="1">
            <a:off x="5746596" y="4304371"/>
            <a:ext cx="698809" cy="414918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A4--B4"/>
          <p:cNvCxnSpPr>
            <a:stCxn id="19" idx="3"/>
            <a:endCxn id="17" idx="1"/>
          </p:cNvCxnSpPr>
          <p:nvPr/>
        </p:nvCxnSpPr>
        <p:spPr>
          <a:xfrm>
            <a:off x="5746596" y="4719289"/>
            <a:ext cx="698809" cy="764323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cycle</a:t>
            </a:r>
          </a:p>
        </p:txBody>
      </p:sp>
      <p:sp>
        <p:nvSpPr>
          <p:cNvPr id="12" name="Etat A" descr="A"/>
          <p:cNvSpPr/>
          <p:nvPr/>
        </p:nvSpPr>
        <p:spPr>
          <a:xfrm>
            <a:off x="5750793" y="1028700"/>
            <a:ext cx="1154007" cy="746125"/>
          </a:xfrm>
          <a:prstGeom prst="rect">
            <a:avLst/>
          </a:prstGeom>
          <a:solidFill>
            <a:srgbClr val="FFCDD2"/>
          </a:solidFill>
          <a:ln w="13264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5504" tIns="47752" rIns="95504" bIns="4775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53" dirty="0">
                <a:solidFill>
                  <a:srgbClr val="000000"/>
                </a:solidFill>
              </a:rPr>
              <a:t>Etat A</a:t>
            </a:r>
          </a:p>
        </p:txBody>
      </p:sp>
      <p:sp>
        <p:nvSpPr>
          <p:cNvPr id="13" name="Etat B" descr="B"/>
          <p:cNvSpPr/>
          <p:nvPr/>
        </p:nvSpPr>
        <p:spPr>
          <a:xfrm>
            <a:off x="5263325" y="2570692"/>
            <a:ext cx="1154007" cy="746125"/>
          </a:xfrm>
          <a:prstGeom prst="rect">
            <a:avLst/>
          </a:prstGeom>
          <a:solidFill>
            <a:srgbClr val="FFF9C4"/>
          </a:solidFill>
          <a:ln w="13264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5504" tIns="47752" rIns="95504" bIns="4775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53" dirty="0">
                <a:solidFill>
                  <a:srgbClr val="000000"/>
                </a:solidFill>
              </a:rPr>
              <a:t>Etat B</a:t>
            </a:r>
          </a:p>
        </p:txBody>
      </p:sp>
      <p:sp>
        <p:nvSpPr>
          <p:cNvPr id="14" name="Etat C" descr="C"/>
          <p:cNvSpPr/>
          <p:nvPr/>
        </p:nvSpPr>
        <p:spPr>
          <a:xfrm>
            <a:off x="5750793" y="4112683"/>
            <a:ext cx="1154007" cy="746125"/>
          </a:xfrm>
          <a:prstGeom prst="rect">
            <a:avLst/>
          </a:prstGeom>
          <a:solidFill>
            <a:srgbClr val="BBDEFB"/>
          </a:solidFill>
          <a:ln w="13264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5504" tIns="47752" rIns="95504" bIns="4775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53" dirty="0">
                <a:solidFill>
                  <a:srgbClr val="000000"/>
                </a:solidFill>
              </a:rPr>
              <a:t>Etat C</a:t>
            </a:r>
          </a:p>
        </p:txBody>
      </p:sp>
      <p:sp>
        <p:nvSpPr>
          <p:cNvPr id="15" name="Sortie" descr="D"/>
          <p:cNvSpPr/>
          <p:nvPr/>
        </p:nvSpPr>
        <p:spPr>
          <a:xfrm>
            <a:off x="5726917" y="5654675"/>
            <a:ext cx="1201759" cy="746125"/>
          </a:xfrm>
          <a:prstGeom prst="rect">
            <a:avLst/>
          </a:prstGeom>
          <a:solidFill>
            <a:srgbClr val="C8E6C9"/>
          </a:solidFill>
          <a:ln w="13264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5504" tIns="47752" rIns="95504" bIns="4775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53" dirty="0">
                <a:solidFill>
                  <a:srgbClr val="000000"/>
                </a:solidFill>
              </a:rPr>
              <a:t>Sortie</a:t>
            </a:r>
          </a:p>
        </p:txBody>
      </p:sp>
      <p:cxnSp>
        <p:nvCxnSpPr>
          <p:cNvPr id="16" name="A--B"/>
          <p:cNvCxnSpPr>
            <a:stCxn id="12" idx="2"/>
            <a:endCxn id="13" idx="0"/>
          </p:cNvCxnSpPr>
          <p:nvPr/>
        </p:nvCxnSpPr>
        <p:spPr>
          <a:xfrm flipH="1">
            <a:off x="5840328" y="1774825"/>
            <a:ext cx="487468" cy="795867"/>
          </a:xfrm>
          <a:prstGeom prst="line">
            <a:avLst/>
          </a:prstGeom>
          <a:ln w="13264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B--C"/>
          <p:cNvCxnSpPr>
            <a:stCxn id="13" idx="2"/>
            <a:endCxn id="14" idx="0"/>
          </p:cNvCxnSpPr>
          <p:nvPr/>
        </p:nvCxnSpPr>
        <p:spPr>
          <a:xfrm>
            <a:off x="5840328" y="3316817"/>
            <a:ext cx="487468" cy="795867"/>
          </a:xfrm>
          <a:prstGeom prst="line">
            <a:avLst/>
          </a:prstGeom>
          <a:ln w="13264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--A"/>
          <p:cNvCxnSpPr>
            <a:stCxn id="14" idx="0"/>
            <a:endCxn id="12" idx="2"/>
          </p:cNvCxnSpPr>
          <p:nvPr/>
        </p:nvCxnSpPr>
        <p:spPr>
          <a:xfrm>
            <a:off x="6327796" y="1774825"/>
            <a:ext cx="487468" cy="2337858"/>
          </a:xfrm>
          <a:custGeom>
            <a:avLst/>
            <a:gdLst/>
            <a:ahLst/>
            <a:cxnLst/>
            <a:rect l="0" t="0" r="0" b="0"/>
            <a:pathLst>
              <a:path w="466725" h="2238375">
                <a:moveTo>
                  <a:pt x="0" y="2238375"/>
                </a:moveTo>
                <a:lnTo>
                  <a:pt x="466725" y="1857375"/>
                </a:lnTo>
                <a:lnTo>
                  <a:pt x="466725" y="1119188"/>
                </a:lnTo>
                <a:lnTo>
                  <a:pt x="466725" y="381000"/>
                </a:lnTo>
                <a:lnTo>
                  <a:pt x="0" y="0"/>
                </a:lnTo>
              </a:path>
            </a:pathLst>
          </a:custGeom>
          <a:ln w="13264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--D"/>
          <p:cNvCxnSpPr>
            <a:stCxn id="14" idx="2"/>
            <a:endCxn id="15" idx="0"/>
          </p:cNvCxnSpPr>
          <p:nvPr/>
        </p:nvCxnSpPr>
        <p:spPr>
          <a:xfrm>
            <a:off x="6327796" y="4858808"/>
            <a:ext cx="0" cy="795867"/>
          </a:xfrm>
          <a:prstGeom prst="line">
            <a:avLst/>
          </a:prstGeom>
          <a:ln w="13264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cynefin</a:t>
            </a:r>
          </a:p>
        </p:txBody>
      </p:sp>
      <p:sp>
        <p:nvSpPr>
          <p:cNvPr id="11" name="Text 1"/>
          <p:cNvSpPr txBox="1"/>
          <p:nvPr/>
        </p:nvSpPr>
        <p:spPr>
          <a:xfrm>
            <a:off x="3379770" y="1028700"/>
            <a:ext cx="5432461" cy="34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479" dirty="0">
                <a:solidFill>
                  <a:srgbClr val="000000"/>
                </a:solidFill>
              </a:rPr>
              <a:t>Strategy Categorization</a:t>
            </a:r>
          </a:p>
        </p:txBody>
      </p:sp>
      <p:cxnSp>
        <p:nvCxnSpPr>
          <p:cNvPr id="12" name="Connector 2"/>
          <p:cNvCxnSpPr/>
          <p:nvPr/>
        </p:nvCxnSpPr>
        <p:spPr>
          <a:xfrm>
            <a:off x="6096000" y="2577957"/>
            <a:ext cx="1" cy="1"/>
          </a:xfrm>
          <a:prstGeom prst="line">
            <a:avLst/>
          </a:prstGeom>
          <a:ln w="13413">
            <a:solidFill>
              <a:srgbClr val="595959"/>
            </a:solidFill>
            <a:prstDash val="solid"/>
            <a:tailEnd type="triangle" w="sm" len="sm"/>
          </a:ln>
        </p:spPr>
      </p:cxnSp>
      <p:sp>
        <p:nvSpPr>
          <p:cNvPr id="13" name="Text 3"/>
          <p:cNvSpPr txBox="1"/>
          <p:nvPr/>
        </p:nvSpPr>
        <p:spPr>
          <a:xfrm>
            <a:off x="5609091" y="2487416"/>
            <a:ext cx="973819" cy="18108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39" dirty="0">
                <a:solidFill>
                  <a:srgbClr val="595959"/>
                </a:solidFill>
              </a:rPr>
              <a:t>Pattern identified</a:t>
            </a:r>
          </a:p>
        </p:txBody>
      </p:sp>
      <p:cxnSp>
        <p:nvCxnSpPr>
          <p:cNvPr id="14" name="Connector 4"/>
          <p:cNvCxnSpPr/>
          <p:nvPr/>
        </p:nvCxnSpPr>
        <p:spPr>
          <a:xfrm>
            <a:off x="7303213" y="3785171"/>
            <a:ext cx="1" cy="1"/>
          </a:xfrm>
          <a:prstGeom prst="line">
            <a:avLst/>
          </a:prstGeom>
          <a:ln w="13413">
            <a:solidFill>
              <a:srgbClr val="595959"/>
            </a:solidFill>
            <a:prstDash val="solid"/>
            <a:tailEnd type="triangle" w="sm" len="sm"/>
          </a:ln>
        </p:spPr>
      </p:cxnSp>
      <p:sp>
        <p:nvSpPr>
          <p:cNvPr id="15" name="Text 5"/>
          <p:cNvSpPr txBox="1"/>
          <p:nvPr/>
        </p:nvSpPr>
        <p:spPr>
          <a:xfrm>
            <a:off x="6731799" y="3694630"/>
            <a:ext cx="1142829" cy="18108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39" dirty="0">
                <a:solidFill>
                  <a:srgbClr val="595959"/>
                </a:solidFill>
              </a:rPr>
              <a:t>Best practice codified</a:t>
            </a:r>
          </a:p>
        </p:txBody>
      </p:sp>
      <p:cxnSp>
        <p:nvCxnSpPr>
          <p:cNvPr id="16" name="Connector 6"/>
          <p:cNvCxnSpPr/>
          <p:nvPr/>
        </p:nvCxnSpPr>
        <p:spPr>
          <a:xfrm>
            <a:off x="6096000" y="4992384"/>
            <a:ext cx="1" cy="1"/>
          </a:xfrm>
          <a:prstGeom prst="line">
            <a:avLst/>
          </a:prstGeom>
          <a:ln w="13413">
            <a:solidFill>
              <a:srgbClr val="595959"/>
            </a:solidFill>
            <a:prstDash val="solid"/>
            <a:tailEnd type="triangle" w="sm" len="sm"/>
          </a:ln>
        </p:spPr>
      </p:cxnSp>
      <p:sp>
        <p:nvSpPr>
          <p:cNvPr id="17" name="Text 7"/>
          <p:cNvSpPr txBox="1"/>
          <p:nvPr/>
        </p:nvSpPr>
        <p:spPr>
          <a:xfrm>
            <a:off x="5766028" y="4901843"/>
            <a:ext cx="659943" cy="18108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39" dirty="0">
                <a:solidFill>
                  <a:srgbClr val="595959"/>
                </a:solidFill>
              </a:rPr>
              <a:t>Complacency</a:t>
            </a:r>
          </a:p>
        </p:txBody>
      </p:sp>
      <p:cxnSp>
        <p:nvCxnSpPr>
          <p:cNvPr id="18" name="Connector 8"/>
          <p:cNvCxnSpPr/>
          <p:nvPr/>
        </p:nvCxnSpPr>
        <p:spPr>
          <a:xfrm>
            <a:off x="4888787" y="3785171"/>
            <a:ext cx="1" cy="1"/>
          </a:xfrm>
          <a:prstGeom prst="line">
            <a:avLst/>
          </a:prstGeom>
          <a:ln w="13413">
            <a:solidFill>
              <a:srgbClr val="595959"/>
            </a:solidFill>
            <a:prstDash val="solid"/>
            <a:tailEnd type="triangle" w="sm" len="sm"/>
          </a:ln>
        </p:spPr>
      </p:cxnSp>
      <p:sp>
        <p:nvSpPr>
          <p:cNvPr id="19" name="Text 9"/>
          <p:cNvSpPr txBox="1"/>
          <p:nvPr/>
        </p:nvSpPr>
        <p:spPr>
          <a:xfrm>
            <a:off x="4582959" y="3694630"/>
            <a:ext cx="611655" cy="18108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39" dirty="0">
                <a:solidFill>
                  <a:srgbClr val="595959"/>
                </a:solidFill>
              </a:rPr>
              <a:t>Stabilized</a:t>
            </a:r>
          </a:p>
        </p:txBody>
      </p:sp>
      <p:sp>
        <p:nvSpPr>
          <p:cNvPr id="20" name="Complex"/>
          <p:cNvSpPr/>
          <p:nvPr/>
        </p:nvSpPr>
        <p:spPr>
          <a:xfrm>
            <a:off x="3681573" y="1370744"/>
            <a:ext cx="2414427" cy="2414427"/>
          </a:xfrm>
          <a:prstGeom prst="rect">
            <a:avLst/>
          </a:prstGeom>
          <a:solidFill>
            <a:srgbClr val="FFF2CC"/>
          </a:solidFill>
          <a:ln w="10060">
            <a:solidFill>
              <a:srgbClr val="BFBFBF"/>
            </a:solidFill>
          </a:ln>
        </p:spPr>
      </p:sp>
      <p:sp>
        <p:nvSpPr>
          <p:cNvPr id="21" name="Text 11"/>
          <p:cNvSpPr txBox="1"/>
          <p:nvPr/>
        </p:nvSpPr>
        <p:spPr>
          <a:xfrm>
            <a:off x="3741934" y="1410984"/>
            <a:ext cx="2293706" cy="2012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1056" dirty="0">
                <a:solidFill>
                  <a:srgbClr val="404040"/>
                </a:solidFill>
              </a:rPr>
              <a:t>Complex</a:t>
            </a:r>
          </a:p>
        </p:txBody>
      </p:sp>
      <p:sp>
        <p:nvSpPr>
          <p:cNvPr id="22" name="Text 12"/>
          <p:cNvSpPr txBox="1"/>
          <p:nvPr/>
        </p:nvSpPr>
        <p:spPr>
          <a:xfrm>
            <a:off x="3741934" y="1612187"/>
            <a:ext cx="2293706" cy="1609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34" dirty="0">
                <a:solidFill>
                  <a:srgbClr val="808080"/>
                </a:solidFill>
              </a:rPr>
              <a:t>Probe → Sense → Respond — emergent practices</a:t>
            </a:r>
          </a:p>
        </p:txBody>
      </p:sp>
      <p:sp>
        <p:nvSpPr>
          <p:cNvPr id="23" name="Item Market research"/>
          <p:cNvSpPr/>
          <p:nvPr/>
        </p:nvSpPr>
        <p:spPr>
          <a:xfrm>
            <a:off x="3741934" y="1833509"/>
            <a:ext cx="828953" cy="160962"/>
          </a:xfrm>
          <a:prstGeom prst="roundRect">
            <a:avLst/>
          </a:prstGeom>
          <a:solidFill>
            <a:srgbClr val="FFFFFF"/>
          </a:solidFill>
          <a:ln w="10060">
            <a:solidFill>
              <a:srgbClr val="BFBFBF"/>
            </a:solidFill>
          </a:ln>
        </p:spPr>
      </p:sp>
      <p:sp>
        <p:nvSpPr>
          <p:cNvPr id="24" name="Text 14"/>
          <p:cNvSpPr txBox="1"/>
          <p:nvPr/>
        </p:nvSpPr>
        <p:spPr>
          <a:xfrm>
            <a:off x="3741934" y="1833509"/>
            <a:ext cx="828953" cy="1609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87" dirty="0">
                <a:solidFill>
                  <a:srgbClr val="404040"/>
                </a:solidFill>
              </a:rPr>
              <a:t>Market research</a:t>
            </a:r>
          </a:p>
        </p:txBody>
      </p:sp>
      <p:sp>
        <p:nvSpPr>
          <p:cNvPr id="25" name="Complicated"/>
          <p:cNvSpPr/>
          <p:nvPr/>
        </p:nvSpPr>
        <p:spPr>
          <a:xfrm>
            <a:off x="6096000" y="1370744"/>
            <a:ext cx="2414427" cy="2414427"/>
          </a:xfrm>
          <a:prstGeom prst="rect">
            <a:avLst/>
          </a:prstGeom>
          <a:solidFill>
            <a:srgbClr val="D9E2F3"/>
          </a:solidFill>
          <a:ln w="10060">
            <a:solidFill>
              <a:srgbClr val="BFBFBF"/>
            </a:solidFill>
          </a:ln>
        </p:spPr>
      </p:sp>
      <p:sp>
        <p:nvSpPr>
          <p:cNvPr id="26" name="Text 16"/>
          <p:cNvSpPr txBox="1"/>
          <p:nvPr/>
        </p:nvSpPr>
        <p:spPr>
          <a:xfrm>
            <a:off x="6156361" y="1410984"/>
            <a:ext cx="2293706" cy="2012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1056" dirty="0">
                <a:solidFill>
                  <a:srgbClr val="404040"/>
                </a:solidFill>
              </a:rPr>
              <a:t>Complicated</a:t>
            </a:r>
          </a:p>
        </p:txBody>
      </p:sp>
      <p:sp>
        <p:nvSpPr>
          <p:cNvPr id="27" name="Text 17"/>
          <p:cNvSpPr txBox="1"/>
          <p:nvPr/>
        </p:nvSpPr>
        <p:spPr>
          <a:xfrm>
            <a:off x="6156361" y="1612187"/>
            <a:ext cx="2293706" cy="1609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34" dirty="0">
                <a:solidFill>
                  <a:srgbClr val="808080"/>
                </a:solidFill>
              </a:rPr>
              <a:t>Sense → Analyse → Respond — good practices</a:t>
            </a:r>
          </a:p>
        </p:txBody>
      </p:sp>
      <p:sp>
        <p:nvSpPr>
          <p:cNvPr id="28" name="Item Competitive analysis"/>
          <p:cNvSpPr/>
          <p:nvPr/>
        </p:nvSpPr>
        <p:spPr>
          <a:xfrm>
            <a:off x="6156361" y="1833509"/>
            <a:ext cx="1070396" cy="160962"/>
          </a:xfrm>
          <a:prstGeom prst="roundRect">
            <a:avLst/>
          </a:prstGeom>
          <a:solidFill>
            <a:srgbClr val="FFFFFF"/>
          </a:solidFill>
          <a:ln w="10060">
            <a:solidFill>
              <a:srgbClr val="BFBFBF"/>
            </a:solidFill>
          </a:ln>
        </p:spPr>
      </p:sp>
      <p:sp>
        <p:nvSpPr>
          <p:cNvPr id="29" name="Text 19"/>
          <p:cNvSpPr txBox="1"/>
          <p:nvPr/>
        </p:nvSpPr>
        <p:spPr>
          <a:xfrm>
            <a:off x="6156361" y="1833509"/>
            <a:ext cx="1070396" cy="1609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87" dirty="0">
                <a:solidFill>
                  <a:srgbClr val="404040"/>
                </a:solidFill>
              </a:rPr>
              <a:t>Competitive analysis</a:t>
            </a:r>
          </a:p>
        </p:txBody>
      </p:sp>
      <p:sp>
        <p:nvSpPr>
          <p:cNvPr id="30" name="Chaotic"/>
          <p:cNvSpPr/>
          <p:nvPr/>
        </p:nvSpPr>
        <p:spPr>
          <a:xfrm>
            <a:off x="3681573" y="3785171"/>
            <a:ext cx="2414427" cy="2414427"/>
          </a:xfrm>
          <a:prstGeom prst="rect">
            <a:avLst/>
          </a:prstGeom>
          <a:solidFill>
            <a:srgbClr val="F8CBAD"/>
          </a:solidFill>
          <a:ln w="10060">
            <a:solidFill>
              <a:srgbClr val="BFBFBF"/>
            </a:solidFill>
          </a:ln>
        </p:spPr>
      </p:sp>
      <p:sp>
        <p:nvSpPr>
          <p:cNvPr id="31" name="Text 21"/>
          <p:cNvSpPr txBox="1"/>
          <p:nvPr/>
        </p:nvSpPr>
        <p:spPr>
          <a:xfrm>
            <a:off x="3741934" y="3825411"/>
            <a:ext cx="2293706" cy="2012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1056" dirty="0">
                <a:solidFill>
                  <a:srgbClr val="404040"/>
                </a:solidFill>
              </a:rPr>
              <a:t>Chaotic</a:t>
            </a:r>
          </a:p>
        </p:txBody>
      </p:sp>
      <p:sp>
        <p:nvSpPr>
          <p:cNvPr id="32" name="Text 22"/>
          <p:cNvSpPr txBox="1"/>
          <p:nvPr/>
        </p:nvSpPr>
        <p:spPr>
          <a:xfrm>
            <a:off x="3741934" y="4026613"/>
            <a:ext cx="2293706" cy="1609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34" dirty="0">
                <a:solidFill>
                  <a:srgbClr val="808080"/>
                </a:solidFill>
              </a:rPr>
              <a:t>Act → Sense → Respond — novel practices</a:t>
            </a:r>
          </a:p>
        </p:txBody>
      </p:sp>
      <p:sp>
        <p:nvSpPr>
          <p:cNvPr id="33" name="Item Crisis management"/>
          <p:cNvSpPr/>
          <p:nvPr/>
        </p:nvSpPr>
        <p:spPr>
          <a:xfrm>
            <a:off x="3741934" y="4247936"/>
            <a:ext cx="925530" cy="160962"/>
          </a:xfrm>
          <a:prstGeom prst="roundRect">
            <a:avLst/>
          </a:prstGeom>
          <a:solidFill>
            <a:srgbClr val="FFFFFF"/>
          </a:solidFill>
          <a:ln w="10060">
            <a:solidFill>
              <a:srgbClr val="BFBFBF"/>
            </a:solidFill>
          </a:ln>
        </p:spPr>
      </p:sp>
      <p:sp>
        <p:nvSpPr>
          <p:cNvPr id="34" name="Text 24"/>
          <p:cNvSpPr txBox="1"/>
          <p:nvPr/>
        </p:nvSpPr>
        <p:spPr>
          <a:xfrm>
            <a:off x="3741934" y="4247936"/>
            <a:ext cx="925530" cy="1609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87" dirty="0">
                <a:solidFill>
                  <a:srgbClr val="404040"/>
                </a:solidFill>
              </a:rPr>
              <a:t>Crisis management</a:t>
            </a:r>
          </a:p>
        </p:txBody>
      </p:sp>
      <p:sp>
        <p:nvSpPr>
          <p:cNvPr id="35" name="Clear"/>
          <p:cNvSpPr/>
          <p:nvPr/>
        </p:nvSpPr>
        <p:spPr>
          <a:xfrm>
            <a:off x="6096000" y="3785171"/>
            <a:ext cx="2414427" cy="2414427"/>
          </a:xfrm>
          <a:prstGeom prst="rect">
            <a:avLst/>
          </a:prstGeom>
          <a:solidFill>
            <a:srgbClr val="E2EFDA"/>
          </a:solidFill>
          <a:ln w="10060">
            <a:solidFill>
              <a:srgbClr val="BFBFBF"/>
            </a:solidFill>
          </a:ln>
        </p:spPr>
      </p:sp>
      <p:sp>
        <p:nvSpPr>
          <p:cNvPr id="36" name="Text 26"/>
          <p:cNvSpPr txBox="1"/>
          <p:nvPr/>
        </p:nvSpPr>
        <p:spPr>
          <a:xfrm>
            <a:off x="6156361" y="3825411"/>
            <a:ext cx="2293706" cy="2012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1056" dirty="0">
                <a:solidFill>
                  <a:srgbClr val="404040"/>
                </a:solidFill>
              </a:rPr>
              <a:t>Clear</a:t>
            </a:r>
          </a:p>
        </p:txBody>
      </p:sp>
      <p:sp>
        <p:nvSpPr>
          <p:cNvPr id="37" name="Text 27"/>
          <p:cNvSpPr txBox="1"/>
          <p:nvPr/>
        </p:nvSpPr>
        <p:spPr>
          <a:xfrm>
            <a:off x="6156361" y="4026613"/>
            <a:ext cx="2293706" cy="1609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34" dirty="0">
                <a:solidFill>
                  <a:srgbClr val="808080"/>
                </a:solidFill>
              </a:rPr>
              <a:t>Sense → Categorise → Respond — best practices</a:t>
            </a:r>
          </a:p>
        </p:txBody>
      </p:sp>
      <p:sp>
        <p:nvSpPr>
          <p:cNvPr id="38" name="Item Standard pricing"/>
          <p:cNvSpPr/>
          <p:nvPr/>
        </p:nvSpPr>
        <p:spPr>
          <a:xfrm>
            <a:off x="6156361" y="4247936"/>
            <a:ext cx="877242" cy="160962"/>
          </a:xfrm>
          <a:prstGeom prst="roundRect">
            <a:avLst/>
          </a:prstGeom>
          <a:solidFill>
            <a:srgbClr val="FFFFFF"/>
          </a:solidFill>
          <a:ln w="10060">
            <a:solidFill>
              <a:srgbClr val="BFBFBF"/>
            </a:solidFill>
          </a:ln>
        </p:spPr>
      </p:sp>
      <p:sp>
        <p:nvSpPr>
          <p:cNvPr id="39" name="Text 29"/>
          <p:cNvSpPr txBox="1"/>
          <p:nvPr/>
        </p:nvSpPr>
        <p:spPr>
          <a:xfrm>
            <a:off x="6156361" y="4247936"/>
            <a:ext cx="877242" cy="1609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87" dirty="0">
                <a:solidFill>
                  <a:srgbClr val="404040"/>
                </a:solidFill>
              </a:rPr>
              <a:t>Standard pricing</a:t>
            </a:r>
          </a:p>
        </p:txBody>
      </p:sp>
      <p:sp>
        <p:nvSpPr>
          <p:cNvPr id="40" name="Shape 30"/>
          <p:cNvSpPr/>
          <p:nvPr/>
        </p:nvSpPr>
        <p:spPr>
          <a:xfrm>
            <a:off x="5411912" y="3101083"/>
            <a:ext cx="1368175" cy="1368175"/>
          </a:xfrm>
          <a:prstGeom prst="ellipse">
            <a:avLst/>
          </a:prstGeom>
          <a:solidFill>
            <a:srgbClr val="D9D9D9"/>
          </a:solidFill>
          <a:ln w="10060">
            <a:solidFill>
              <a:srgbClr val="BFBFBF"/>
            </a:solidFill>
          </a:ln>
        </p:spPr>
      </p:sp>
      <p:sp>
        <p:nvSpPr>
          <p:cNvPr id="41" name="Text 31"/>
          <p:cNvSpPr txBox="1"/>
          <p:nvPr/>
        </p:nvSpPr>
        <p:spPr>
          <a:xfrm>
            <a:off x="5452153" y="3141324"/>
            <a:ext cx="1287694" cy="1609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845" dirty="0">
                <a:solidFill>
                  <a:srgbClr val="404040"/>
                </a:solidFill>
              </a:rPr>
              <a:t>Confusion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decision</a:t>
            </a:r>
          </a:p>
        </p:txBody>
      </p:sp>
      <p:sp>
        <p:nvSpPr>
          <p:cNvPr id="12" name="Debut" descr="A"/>
          <p:cNvSpPr/>
          <p:nvPr/>
        </p:nvSpPr>
        <p:spPr>
          <a:xfrm>
            <a:off x="5612948" y="1028700"/>
            <a:ext cx="929417" cy="655134"/>
          </a:xfrm>
          <a:prstGeom prst="rect">
            <a:avLst/>
          </a:prstGeom>
          <a:solidFill>
            <a:srgbClr val="FFF9C4"/>
          </a:solidFill>
          <a:ln w="11647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3857" tIns="41929" rIns="83857" bIns="4192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Debut</a:t>
            </a:r>
          </a:p>
        </p:txBody>
      </p:sp>
      <p:sp>
        <p:nvSpPr>
          <p:cNvPr id="13" name="Choix" descr="B"/>
          <p:cNvSpPr/>
          <p:nvPr/>
        </p:nvSpPr>
        <p:spPr>
          <a:xfrm>
            <a:off x="5148240" y="2382644"/>
            <a:ext cx="1858834" cy="1310268"/>
          </a:xfrm>
          <a:prstGeom prst="diamond">
            <a:avLst/>
          </a:prstGeom>
          <a:solidFill>
            <a:srgbClr val="BBDEFB"/>
          </a:solidFill>
          <a:ln w="11647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3857" tIns="41929" rIns="83857" bIns="4192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Choix</a:t>
            </a:r>
          </a:p>
        </p:txBody>
      </p:sp>
      <p:sp>
        <p:nvSpPr>
          <p:cNvPr id="14" name="Action" descr="C"/>
          <p:cNvSpPr/>
          <p:nvPr/>
        </p:nvSpPr>
        <p:spPr>
          <a:xfrm>
            <a:off x="5988559" y="4391722"/>
            <a:ext cx="1055203" cy="655134"/>
          </a:xfrm>
          <a:prstGeom prst="rect">
            <a:avLst/>
          </a:prstGeom>
          <a:solidFill>
            <a:srgbClr val="C8E6C9"/>
          </a:solidFill>
          <a:ln w="11647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3857" tIns="41929" rIns="83857" bIns="4192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Action</a:t>
            </a:r>
          </a:p>
        </p:txBody>
      </p:sp>
      <p:sp>
        <p:nvSpPr>
          <p:cNvPr id="15" name="Fin" descr="D"/>
          <p:cNvSpPr/>
          <p:nvPr/>
        </p:nvSpPr>
        <p:spPr>
          <a:xfrm>
            <a:off x="5738734" y="5745666"/>
            <a:ext cx="677845" cy="655134"/>
          </a:xfrm>
          <a:prstGeom prst="rect">
            <a:avLst/>
          </a:prstGeom>
          <a:solidFill>
            <a:srgbClr val="FFE0B2"/>
          </a:solidFill>
          <a:ln w="11647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3857" tIns="41929" rIns="83857" bIns="4192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Fin</a:t>
            </a:r>
          </a:p>
        </p:txBody>
      </p:sp>
      <p:cxnSp>
        <p:nvCxnSpPr>
          <p:cNvPr id="16" name="A--B"/>
          <p:cNvCxnSpPr>
            <a:stCxn id="12" idx="2"/>
            <a:endCxn id="13" idx="0"/>
          </p:cNvCxnSpPr>
          <p:nvPr/>
        </p:nvCxnSpPr>
        <p:spPr>
          <a:xfrm>
            <a:off x="6077657" y="1683834"/>
            <a:ext cx="0" cy="698810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B--C"/>
          <p:cNvCxnSpPr>
            <a:stCxn id="13" idx="2"/>
            <a:endCxn id="14" idx="0"/>
          </p:cNvCxnSpPr>
          <p:nvPr/>
        </p:nvCxnSpPr>
        <p:spPr>
          <a:xfrm>
            <a:off x="6077657" y="3692912"/>
            <a:ext cx="438503" cy="698810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EdgeLabel"/>
          <p:cNvSpPr txBox="1"/>
          <p:nvPr/>
        </p:nvSpPr>
        <p:spPr>
          <a:xfrm>
            <a:off x="6076085" y="3937496"/>
            <a:ext cx="441648" cy="20964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34940" tIns="0" rIns="34940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50" dirty="0">
                <a:solidFill>
                  <a:srgbClr val="000000"/>
                </a:solidFill>
              </a:rPr>
              <a:t>oui</a:t>
            </a:r>
          </a:p>
        </p:txBody>
      </p:sp>
      <p:cxnSp>
        <p:nvCxnSpPr>
          <p:cNvPr id="19" name="B--D"/>
          <p:cNvCxnSpPr>
            <a:stCxn id="13" idx="2"/>
            <a:endCxn id="15" idx="0"/>
          </p:cNvCxnSpPr>
          <p:nvPr/>
        </p:nvCxnSpPr>
        <p:spPr>
          <a:xfrm>
            <a:off x="5639154" y="3692912"/>
            <a:ext cx="438503" cy="2052754"/>
          </a:xfrm>
          <a:custGeom>
            <a:avLst/>
            <a:gdLst/>
            <a:ahLst/>
            <a:cxnLst/>
            <a:rect l="0" t="0" r="0" b="0"/>
            <a:pathLst>
              <a:path w="438503" h="2052754">
                <a:moveTo>
                  <a:pt x="438503" y="0"/>
                </a:moveTo>
                <a:lnTo>
                  <a:pt x="0" y="349405"/>
                </a:lnTo>
                <a:lnTo>
                  <a:pt x="0" y="1026377"/>
                </a:lnTo>
                <a:lnTo>
                  <a:pt x="0" y="1703349"/>
                </a:lnTo>
                <a:lnTo>
                  <a:pt x="438503" y="2052754"/>
                </a:lnTo>
              </a:path>
            </a:pathLst>
          </a:cu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EdgeLabel"/>
          <p:cNvSpPr txBox="1"/>
          <p:nvPr/>
        </p:nvSpPr>
        <p:spPr>
          <a:xfrm>
            <a:off x="5418330" y="4614468"/>
            <a:ext cx="441648" cy="20964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34940" tIns="0" rIns="34940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50" dirty="0">
                <a:solidFill>
                  <a:srgbClr val="000000"/>
                </a:solidFill>
              </a:rPr>
              <a:t>non</a:t>
            </a:r>
          </a:p>
        </p:txBody>
      </p:sp>
      <p:cxnSp>
        <p:nvCxnSpPr>
          <p:cNvPr id="21" name="C--D"/>
          <p:cNvCxnSpPr>
            <a:stCxn id="14" idx="2"/>
            <a:endCxn id="15" idx="0"/>
          </p:cNvCxnSpPr>
          <p:nvPr/>
        </p:nvCxnSpPr>
        <p:spPr>
          <a:xfrm flipH="1">
            <a:off x="6077657" y="5046856"/>
            <a:ext cx="438503" cy="698810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dense</a:t>
            </a:r>
          </a:p>
        </p:txBody>
      </p:sp>
      <p:sp>
        <p:nvSpPr>
          <p:cNvPr id="12" name="Init" descr="A"/>
          <p:cNvSpPr/>
          <p:nvPr/>
        </p:nvSpPr>
        <p:spPr>
          <a:xfrm>
            <a:off x="457200" y="2724206"/>
            <a:ext cx="959263" cy="782008"/>
          </a:xfrm>
          <a:prstGeom prst="rect">
            <a:avLst/>
          </a:prstGeom>
          <a:solidFill>
            <a:srgbClr val="BBDEFB"/>
          </a:solidFill>
          <a:ln w="13902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0097" tIns="50049" rIns="100097" bIns="5004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14" dirty="0">
                <a:solidFill>
                  <a:srgbClr val="000000"/>
                </a:solidFill>
              </a:rPr>
              <a:t>Init</a:t>
            </a:r>
          </a:p>
        </p:txBody>
      </p:sp>
      <p:sp>
        <p:nvSpPr>
          <p:cNvPr id="13" name="Parse" descr="B"/>
          <p:cNvSpPr/>
          <p:nvPr/>
        </p:nvSpPr>
        <p:spPr>
          <a:xfrm>
            <a:off x="2250605" y="2724206"/>
            <a:ext cx="1109409" cy="782008"/>
          </a:xfrm>
          <a:prstGeom prst="rect">
            <a:avLst/>
          </a:prstGeom>
          <a:solidFill>
            <a:srgbClr val="C8E6C9"/>
          </a:solidFill>
          <a:ln w="13902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0097" tIns="50049" rIns="100097" bIns="5004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14" dirty="0">
                <a:solidFill>
                  <a:srgbClr val="000000"/>
                </a:solidFill>
              </a:rPr>
              <a:t>Parse</a:t>
            </a:r>
          </a:p>
        </p:txBody>
      </p:sp>
      <p:sp>
        <p:nvSpPr>
          <p:cNvPr id="14" name="Analyse" descr="C"/>
          <p:cNvSpPr/>
          <p:nvPr/>
        </p:nvSpPr>
        <p:spPr>
          <a:xfrm>
            <a:off x="4194156" y="2724206"/>
            <a:ext cx="1409700" cy="782008"/>
          </a:xfrm>
          <a:prstGeom prst="rect">
            <a:avLst/>
          </a:prstGeom>
          <a:solidFill>
            <a:srgbClr val="FFE0B2"/>
          </a:solidFill>
          <a:ln w="13902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0097" tIns="50049" rIns="100097" bIns="5004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14" dirty="0">
                <a:solidFill>
                  <a:srgbClr val="000000"/>
                </a:solidFill>
              </a:rPr>
              <a:t>Analyse</a:t>
            </a:r>
          </a:p>
        </p:txBody>
      </p:sp>
      <p:sp>
        <p:nvSpPr>
          <p:cNvPr id="15" name="Optim" descr="D"/>
          <p:cNvSpPr/>
          <p:nvPr/>
        </p:nvSpPr>
        <p:spPr>
          <a:xfrm>
            <a:off x="4344302" y="5330900"/>
            <a:ext cx="1109409" cy="782008"/>
          </a:xfrm>
          <a:prstGeom prst="rect">
            <a:avLst/>
          </a:prstGeom>
          <a:solidFill>
            <a:srgbClr val="E1BEE7"/>
          </a:solidFill>
          <a:ln w="13902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0097" tIns="50049" rIns="100097" bIns="5004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14" dirty="0">
                <a:solidFill>
                  <a:srgbClr val="000000"/>
                </a:solidFill>
              </a:rPr>
              <a:t>Optim</a:t>
            </a:r>
          </a:p>
        </p:txBody>
      </p:sp>
      <p:sp>
        <p:nvSpPr>
          <p:cNvPr id="16" name="Emet" descr="E"/>
          <p:cNvSpPr/>
          <p:nvPr/>
        </p:nvSpPr>
        <p:spPr>
          <a:xfrm>
            <a:off x="6437998" y="1212324"/>
            <a:ext cx="959263" cy="782008"/>
          </a:xfrm>
          <a:prstGeom prst="rect">
            <a:avLst/>
          </a:prstGeom>
          <a:solidFill>
            <a:srgbClr val="FFCDD2"/>
          </a:solidFill>
          <a:ln w="13902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0097" tIns="50049" rIns="100097" bIns="5004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14" dirty="0">
                <a:solidFill>
                  <a:srgbClr val="000000"/>
                </a:solidFill>
              </a:rPr>
              <a:t>Emet</a:t>
            </a:r>
          </a:p>
        </p:txBody>
      </p:sp>
      <p:sp>
        <p:nvSpPr>
          <p:cNvPr id="17" name="AST" descr="F"/>
          <p:cNvSpPr/>
          <p:nvPr/>
        </p:nvSpPr>
        <p:spPr>
          <a:xfrm>
            <a:off x="6488047" y="2619939"/>
            <a:ext cx="859166" cy="782008"/>
          </a:xfrm>
          <a:prstGeom prst="rect">
            <a:avLst/>
          </a:prstGeom>
          <a:solidFill>
            <a:srgbClr val="FFF9C4"/>
          </a:solidFill>
          <a:ln w="13902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0097" tIns="50049" rIns="100097" bIns="5004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14" dirty="0">
                <a:solidFill>
                  <a:srgbClr val="000000"/>
                </a:solidFill>
              </a:rPr>
              <a:t>AST</a:t>
            </a:r>
          </a:p>
        </p:txBody>
      </p:sp>
      <p:sp>
        <p:nvSpPr>
          <p:cNvPr id="18" name="IL" descr="G"/>
          <p:cNvSpPr/>
          <p:nvPr/>
        </p:nvSpPr>
        <p:spPr>
          <a:xfrm>
            <a:off x="6552693" y="4027553"/>
            <a:ext cx="729874" cy="782008"/>
          </a:xfrm>
          <a:prstGeom prst="rect">
            <a:avLst/>
          </a:prstGeom>
          <a:solidFill>
            <a:srgbClr val="BBDEFB"/>
          </a:solidFill>
          <a:ln w="13902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0097" tIns="50049" rIns="100097" bIns="5004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14" dirty="0">
                <a:solidFill>
                  <a:srgbClr val="000000"/>
                </a:solidFill>
              </a:rPr>
              <a:t>IL</a:t>
            </a:r>
          </a:p>
        </p:txBody>
      </p:sp>
      <p:sp>
        <p:nvSpPr>
          <p:cNvPr id="19" name="Reg" descr="H"/>
          <p:cNvSpPr/>
          <p:nvPr/>
        </p:nvSpPr>
        <p:spPr>
          <a:xfrm>
            <a:off x="6513071" y="5435168"/>
            <a:ext cx="809118" cy="782008"/>
          </a:xfrm>
          <a:prstGeom prst="rect">
            <a:avLst/>
          </a:prstGeom>
          <a:solidFill>
            <a:srgbClr val="C8E6C9"/>
          </a:solidFill>
          <a:ln w="13902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0097" tIns="50049" rIns="100097" bIns="5004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14" dirty="0">
                <a:solidFill>
                  <a:srgbClr val="000000"/>
                </a:solidFill>
              </a:rPr>
              <a:t>Reg</a:t>
            </a:r>
          </a:p>
        </p:txBody>
      </p:sp>
      <p:sp>
        <p:nvSpPr>
          <p:cNvPr id="20" name="Codegen" descr="I"/>
          <p:cNvSpPr/>
          <p:nvPr/>
        </p:nvSpPr>
        <p:spPr>
          <a:xfrm>
            <a:off x="8231404" y="3323746"/>
            <a:ext cx="1409700" cy="782008"/>
          </a:xfrm>
          <a:prstGeom prst="rect">
            <a:avLst/>
          </a:prstGeom>
          <a:solidFill>
            <a:srgbClr val="FFE0B2"/>
          </a:solidFill>
          <a:ln w="13902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0097" tIns="50049" rIns="100097" bIns="5004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14" dirty="0">
                <a:solidFill>
                  <a:srgbClr val="000000"/>
                </a:solidFill>
              </a:rPr>
              <a:t>Codegen</a:t>
            </a:r>
          </a:p>
        </p:txBody>
      </p:sp>
      <p:sp>
        <p:nvSpPr>
          <p:cNvPr id="21" name="Sortie" descr="J"/>
          <p:cNvSpPr/>
          <p:nvPr/>
        </p:nvSpPr>
        <p:spPr>
          <a:xfrm>
            <a:off x="10475246" y="3323746"/>
            <a:ext cx="1259554" cy="782008"/>
          </a:xfrm>
          <a:prstGeom prst="rect">
            <a:avLst/>
          </a:prstGeom>
          <a:solidFill>
            <a:srgbClr val="E1BEE7"/>
          </a:solidFill>
          <a:ln w="13902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0097" tIns="50049" rIns="100097" bIns="5004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14" dirty="0">
                <a:solidFill>
                  <a:srgbClr val="000000"/>
                </a:solidFill>
              </a:rPr>
              <a:t>Sortie</a:t>
            </a:r>
          </a:p>
        </p:txBody>
      </p:sp>
      <p:cxnSp>
        <p:nvCxnSpPr>
          <p:cNvPr id="22" name="A--B"/>
          <p:cNvCxnSpPr>
            <a:stCxn id="12" idx="3"/>
            <a:endCxn id="13" idx="1"/>
          </p:cNvCxnSpPr>
          <p:nvPr/>
        </p:nvCxnSpPr>
        <p:spPr>
          <a:xfrm>
            <a:off x="1416463" y="3115211"/>
            <a:ext cx="834142" cy="0"/>
          </a:xfrm>
          <a:prstGeom prst="line">
            <a:avLst/>
          </a:prstGeom>
          <a:ln w="13902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B--C"/>
          <p:cNvCxnSpPr>
            <a:stCxn id="13" idx="3"/>
            <a:endCxn id="14" idx="1"/>
          </p:cNvCxnSpPr>
          <p:nvPr/>
        </p:nvCxnSpPr>
        <p:spPr>
          <a:xfrm>
            <a:off x="3360014" y="3115211"/>
            <a:ext cx="834142" cy="0"/>
          </a:xfrm>
          <a:prstGeom prst="line">
            <a:avLst/>
          </a:prstGeom>
          <a:ln w="13902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B--D"/>
          <p:cNvCxnSpPr>
            <a:stCxn id="13" idx="2"/>
            <a:endCxn id="15" idx="0"/>
          </p:cNvCxnSpPr>
          <p:nvPr/>
        </p:nvCxnSpPr>
        <p:spPr>
          <a:xfrm>
            <a:off x="2805310" y="3506214"/>
            <a:ext cx="2093696" cy="1824686"/>
          </a:xfrm>
          <a:prstGeom prst="line">
            <a:avLst/>
          </a:prstGeom>
          <a:ln w="13902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B--E"/>
          <p:cNvCxnSpPr>
            <a:stCxn id="13" idx="3"/>
            <a:endCxn id="16" idx="1"/>
          </p:cNvCxnSpPr>
          <p:nvPr/>
        </p:nvCxnSpPr>
        <p:spPr>
          <a:xfrm flipV="1">
            <a:off x="3360014" y="1603329"/>
            <a:ext cx="3077984" cy="1511882"/>
          </a:xfrm>
          <a:prstGeom prst="line">
            <a:avLst/>
          </a:prstGeom>
          <a:ln w="13902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--F"/>
          <p:cNvCxnSpPr>
            <a:stCxn id="14" idx="3"/>
            <a:endCxn id="17" idx="1"/>
          </p:cNvCxnSpPr>
          <p:nvPr/>
        </p:nvCxnSpPr>
        <p:spPr>
          <a:xfrm flipV="1">
            <a:off x="5603856" y="3010943"/>
            <a:ext cx="884191" cy="104268"/>
          </a:xfrm>
          <a:prstGeom prst="line">
            <a:avLst/>
          </a:prstGeom>
          <a:ln w="13902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--G"/>
          <p:cNvCxnSpPr>
            <a:stCxn id="14" idx="3"/>
            <a:endCxn id="18" idx="1"/>
          </p:cNvCxnSpPr>
          <p:nvPr/>
        </p:nvCxnSpPr>
        <p:spPr>
          <a:xfrm>
            <a:off x="5603856" y="3115211"/>
            <a:ext cx="948837" cy="1303347"/>
          </a:xfrm>
          <a:prstGeom prst="line">
            <a:avLst/>
          </a:prstGeom>
          <a:ln w="13902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D--G"/>
          <p:cNvCxnSpPr>
            <a:stCxn id="15" idx="3"/>
            <a:endCxn id="18" idx="1"/>
          </p:cNvCxnSpPr>
          <p:nvPr/>
        </p:nvCxnSpPr>
        <p:spPr>
          <a:xfrm flipV="1">
            <a:off x="5453711" y="4418558"/>
            <a:ext cx="1098982" cy="1303347"/>
          </a:xfrm>
          <a:prstGeom prst="line">
            <a:avLst/>
          </a:prstGeom>
          <a:ln w="13902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D--H"/>
          <p:cNvCxnSpPr>
            <a:stCxn id="15" idx="3"/>
            <a:endCxn id="19" idx="1"/>
          </p:cNvCxnSpPr>
          <p:nvPr/>
        </p:nvCxnSpPr>
        <p:spPr>
          <a:xfrm>
            <a:off x="5453711" y="5721905"/>
            <a:ext cx="1059360" cy="104268"/>
          </a:xfrm>
          <a:prstGeom prst="line">
            <a:avLst/>
          </a:prstGeom>
          <a:ln w="13902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E--I"/>
          <p:cNvCxnSpPr>
            <a:stCxn id="16" idx="2"/>
            <a:endCxn id="20" idx="0"/>
          </p:cNvCxnSpPr>
          <p:nvPr/>
        </p:nvCxnSpPr>
        <p:spPr>
          <a:xfrm>
            <a:off x="6917630" y="1994332"/>
            <a:ext cx="2018624" cy="1329414"/>
          </a:xfrm>
          <a:prstGeom prst="line">
            <a:avLst/>
          </a:prstGeom>
          <a:ln w="13902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F--I"/>
          <p:cNvCxnSpPr>
            <a:stCxn id="17" idx="3"/>
            <a:endCxn id="20" idx="1"/>
          </p:cNvCxnSpPr>
          <p:nvPr/>
        </p:nvCxnSpPr>
        <p:spPr>
          <a:xfrm>
            <a:off x="7347213" y="3010943"/>
            <a:ext cx="884191" cy="703807"/>
          </a:xfrm>
          <a:prstGeom prst="line">
            <a:avLst/>
          </a:prstGeom>
          <a:ln w="13902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--I"/>
          <p:cNvCxnSpPr>
            <a:stCxn id="18" idx="3"/>
            <a:endCxn id="20" idx="1"/>
          </p:cNvCxnSpPr>
          <p:nvPr/>
        </p:nvCxnSpPr>
        <p:spPr>
          <a:xfrm flipV="1">
            <a:off x="7282567" y="3714750"/>
            <a:ext cx="948837" cy="703808"/>
          </a:xfrm>
          <a:prstGeom prst="line">
            <a:avLst/>
          </a:prstGeom>
          <a:ln w="13902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H--I"/>
          <p:cNvCxnSpPr>
            <a:stCxn id="19" idx="0"/>
            <a:endCxn id="20" idx="2"/>
          </p:cNvCxnSpPr>
          <p:nvPr/>
        </p:nvCxnSpPr>
        <p:spPr>
          <a:xfrm flipV="1">
            <a:off x="6917630" y="4105755"/>
            <a:ext cx="2018624" cy="1329413"/>
          </a:xfrm>
          <a:prstGeom prst="line">
            <a:avLst/>
          </a:prstGeom>
          <a:ln w="13902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I--J"/>
          <p:cNvCxnSpPr>
            <a:stCxn id="20" idx="3"/>
            <a:endCxn id="21" idx="1"/>
          </p:cNvCxnSpPr>
          <p:nvPr/>
        </p:nvCxnSpPr>
        <p:spPr>
          <a:xfrm>
            <a:off x="9641104" y="3714750"/>
            <a:ext cx="834142" cy="0"/>
          </a:xfrm>
          <a:prstGeom prst="line">
            <a:avLst/>
          </a:prstGeom>
          <a:ln w="13902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direction-and-asymmetric-shape</a:t>
            </a:r>
          </a:p>
        </p:txBody>
      </p:sp>
      <p:sp>
        <p:nvSpPr>
          <p:cNvPr id="12" name="Debut" descr="Start"/>
          <p:cNvSpPr/>
          <p:nvPr/>
        </p:nvSpPr>
        <p:spPr>
          <a:xfrm>
            <a:off x="10421384" y="3251846"/>
            <a:ext cx="1313416" cy="925810"/>
          </a:xfrm>
          <a:prstGeom prst="rect">
            <a:avLst/>
          </a:prstGeom>
          <a:solidFill>
            <a:srgbClr val="C8E6C9"/>
          </a:solidFill>
          <a:ln w="16459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8504" tIns="59252" rIns="118504" bIns="5925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55" dirty="0">
                <a:solidFill>
                  <a:srgbClr val="000000"/>
                </a:solidFill>
              </a:rPr>
              <a:t>Debut</a:t>
            </a:r>
          </a:p>
        </p:txBody>
      </p:sp>
      <p:sp>
        <p:nvSpPr>
          <p:cNvPr id="13" name="Etape asymetrique" descr="Flag"/>
          <p:cNvSpPr/>
          <p:nvPr/>
        </p:nvSpPr>
        <p:spPr>
          <a:xfrm>
            <a:off x="7083531" y="3066684"/>
            <a:ext cx="2350323" cy="1296134"/>
          </a:xfrm>
          <a:prstGeom prst="homePlate">
            <a:avLst/>
          </a:prstGeom>
          <a:solidFill>
            <a:srgbClr val="FFE0B2"/>
          </a:solidFill>
          <a:ln w="16459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8504" tIns="59252" rIns="118504" bIns="5925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55" dirty="0">
                <a:solidFill>
                  <a:srgbClr val="000000"/>
                </a:solidFill>
              </a:rPr>
              <a:t>Etape asymetrique</a:t>
            </a:r>
          </a:p>
        </p:txBody>
      </p:sp>
      <p:sp>
        <p:nvSpPr>
          <p:cNvPr id="14" name="Decision" descr="Check"/>
          <p:cNvSpPr/>
          <p:nvPr/>
        </p:nvSpPr>
        <p:spPr>
          <a:xfrm>
            <a:off x="2402635" y="2788940"/>
            <a:ext cx="3693365" cy="1851620"/>
          </a:xfrm>
          <a:prstGeom prst="diamond">
            <a:avLst/>
          </a:prstGeom>
          <a:solidFill>
            <a:srgbClr val="E1BEE7"/>
          </a:solidFill>
          <a:ln w="16459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8504" tIns="59252" rIns="118504" bIns="5925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55" dirty="0">
                <a:solidFill>
                  <a:srgbClr val="000000"/>
                </a:solidFill>
              </a:rPr>
              <a:t>Decision</a:t>
            </a:r>
          </a:p>
        </p:txBody>
      </p:sp>
      <p:sp>
        <p:nvSpPr>
          <p:cNvPr id="15" name="Fin" descr="End"/>
          <p:cNvSpPr/>
          <p:nvPr/>
        </p:nvSpPr>
        <p:spPr>
          <a:xfrm>
            <a:off x="457200" y="3251846"/>
            <a:ext cx="957905" cy="925810"/>
          </a:xfrm>
          <a:prstGeom prst="rect">
            <a:avLst/>
          </a:prstGeom>
          <a:solidFill>
            <a:srgbClr val="FFCDD2"/>
          </a:solidFill>
          <a:ln w="16459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8504" tIns="59252" rIns="118504" bIns="5925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55" dirty="0">
                <a:solidFill>
                  <a:srgbClr val="000000"/>
                </a:solidFill>
              </a:rPr>
              <a:t>Fin</a:t>
            </a:r>
          </a:p>
        </p:txBody>
      </p:sp>
      <p:cxnSp>
        <p:nvCxnSpPr>
          <p:cNvPr id="16" name="Start--Flag"/>
          <p:cNvCxnSpPr>
            <a:stCxn id="12" idx="1"/>
            <a:endCxn id="13" idx="3"/>
          </p:cNvCxnSpPr>
          <p:nvPr/>
        </p:nvCxnSpPr>
        <p:spPr>
          <a:xfrm flipH="1">
            <a:off x="9433854" y="3714750"/>
            <a:ext cx="987531" cy="0"/>
          </a:xfrm>
          <a:prstGeom prst="line">
            <a:avLst/>
          </a:prstGeom>
          <a:ln w="1645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Flag--Check"/>
          <p:cNvCxnSpPr>
            <a:stCxn id="13" idx="1"/>
            <a:endCxn id="14" idx="3"/>
          </p:cNvCxnSpPr>
          <p:nvPr/>
        </p:nvCxnSpPr>
        <p:spPr>
          <a:xfrm flipH="1">
            <a:off x="6096000" y="3714750"/>
            <a:ext cx="987531" cy="0"/>
          </a:xfrm>
          <a:prstGeom prst="line">
            <a:avLst/>
          </a:prstGeom>
          <a:ln w="1645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heck--End"/>
          <p:cNvCxnSpPr>
            <a:stCxn id="14" idx="1"/>
            <a:endCxn id="15" idx="3"/>
          </p:cNvCxnSpPr>
          <p:nvPr/>
        </p:nvCxnSpPr>
        <p:spPr>
          <a:xfrm flipH="1">
            <a:off x="1415105" y="3714750"/>
            <a:ext cx="987531" cy="0"/>
          </a:xfrm>
          <a:prstGeom prst="line">
            <a:avLst/>
          </a:prstGeom>
          <a:ln w="1645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EdgeLabel"/>
          <p:cNvSpPr txBox="1"/>
          <p:nvPr/>
        </p:nvSpPr>
        <p:spPr>
          <a:xfrm>
            <a:off x="1596810" y="3566620"/>
            <a:ext cx="624119" cy="29625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49377" tIns="0" rIns="49377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37" dirty="0">
                <a:solidFill>
                  <a:srgbClr val="000000"/>
                </a:solidFill>
              </a:rPr>
              <a:t>oui</a:t>
            </a:r>
          </a:p>
        </p:txBody>
      </p:sp>
      <p:cxnSp>
        <p:nvCxnSpPr>
          <p:cNvPr id="20" name="Check--Flag"/>
          <p:cNvCxnSpPr>
            <a:stCxn id="14" idx="3"/>
            <a:endCxn id="13" idx="1"/>
          </p:cNvCxnSpPr>
          <p:nvPr/>
        </p:nvCxnSpPr>
        <p:spPr>
          <a:xfrm>
            <a:off x="6096000" y="3714750"/>
            <a:ext cx="987531" cy="0"/>
          </a:xfrm>
          <a:prstGeom prst="line">
            <a:avLst/>
          </a:prstGeom>
          <a:ln w="1645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EdgeLabel"/>
          <p:cNvSpPr txBox="1"/>
          <p:nvPr/>
        </p:nvSpPr>
        <p:spPr>
          <a:xfrm>
            <a:off x="6277706" y="3566620"/>
            <a:ext cx="624119" cy="29625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49377" tIns="0" rIns="49377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37" dirty="0">
                <a:solidFill>
                  <a:srgbClr val="000000"/>
                </a:solidFill>
              </a:rPr>
              <a:t>non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edge-chaining</a:t>
            </a:r>
          </a:p>
        </p:txBody>
      </p:sp>
      <p:sp>
        <p:nvSpPr>
          <p:cNvPr id="12" name="Depart" descr="A"/>
          <p:cNvSpPr/>
          <p:nvPr/>
        </p:nvSpPr>
        <p:spPr>
          <a:xfrm>
            <a:off x="1530113" y="1028700"/>
            <a:ext cx="1201759" cy="746125"/>
          </a:xfrm>
          <a:prstGeom prst="rect">
            <a:avLst/>
          </a:prstGeom>
          <a:solidFill>
            <a:srgbClr val="FFE0B2"/>
          </a:solidFill>
          <a:ln w="13264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5504" tIns="47752" rIns="95504" bIns="4775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53" dirty="0">
                <a:solidFill>
                  <a:srgbClr val="000000"/>
                </a:solidFill>
              </a:rPr>
              <a:t>Depart</a:t>
            </a:r>
          </a:p>
        </p:txBody>
      </p:sp>
      <p:sp>
        <p:nvSpPr>
          <p:cNvPr id="13" name="Etape 2" descr="B"/>
          <p:cNvSpPr/>
          <p:nvPr/>
        </p:nvSpPr>
        <p:spPr>
          <a:xfrm>
            <a:off x="1496687" y="2570692"/>
            <a:ext cx="1268611" cy="746125"/>
          </a:xfrm>
          <a:prstGeom prst="rect">
            <a:avLst/>
          </a:prstGeom>
          <a:solidFill>
            <a:srgbClr val="E1BEE7"/>
          </a:solidFill>
          <a:ln w="13264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5504" tIns="47752" rIns="95504" bIns="4775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53" dirty="0">
                <a:solidFill>
                  <a:srgbClr val="000000"/>
                </a:solidFill>
              </a:rPr>
              <a:t>Etape 2</a:t>
            </a:r>
          </a:p>
        </p:txBody>
      </p:sp>
      <p:sp>
        <p:nvSpPr>
          <p:cNvPr id="14" name="Etape 3" descr="C"/>
          <p:cNvSpPr/>
          <p:nvPr/>
        </p:nvSpPr>
        <p:spPr>
          <a:xfrm>
            <a:off x="1496687" y="4112683"/>
            <a:ext cx="1268611" cy="746125"/>
          </a:xfrm>
          <a:prstGeom prst="rect">
            <a:avLst/>
          </a:prstGeom>
          <a:solidFill>
            <a:srgbClr val="FFCDD2"/>
          </a:solidFill>
          <a:ln w="13264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5504" tIns="47752" rIns="95504" bIns="4775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53" dirty="0">
                <a:solidFill>
                  <a:srgbClr val="000000"/>
                </a:solidFill>
              </a:rPr>
              <a:t>Etape 3</a:t>
            </a:r>
          </a:p>
        </p:txBody>
      </p:sp>
      <p:sp>
        <p:nvSpPr>
          <p:cNvPr id="15" name="Fin" descr="D"/>
          <p:cNvSpPr/>
          <p:nvPr/>
        </p:nvSpPr>
        <p:spPr>
          <a:xfrm>
            <a:off x="1744997" y="5654675"/>
            <a:ext cx="771991" cy="746125"/>
          </a:xfrm>
          <a:prstGeom prst="rect">
            <a:avLst/>
          </a:prstGeom>
          <a:solidFill>
            <a:srgbClr val="FFF9C4"/>
          </a:solidFill>
          <a:ln w="13264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5504" tIns="47752" rIns="95504" bIns="4775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53" dirty="0">
                <a:solidFill>
                  <a:srgbClr val="000000"/>
                </a:solidFill>
              </a:rPr>
              <a:t>Fin</a:t>
            </a:r>
          </a:p>
        </p:txBody>
      </p:sp>
      <p:sp>
        <p:nvSpPr>
          <p:cNvPr id="16" name="Source" descr="E"/>
          <p:cNvSpPr/>
          <p:nvPr/>
        </p:nvSpPr>
        <p:spPr>
          <a:xfrm>
            <a:off x="4328380" y="1028700"/>
            <a:ext cx="1201759" cy="746125"/>
          </a:xfrm>
          <a:prstGeom prst="rect">
            <a:avLst/>
          </a:prstGeom>
          <a:solidFill>
            <a:srgbClr val="BBDEFB"/>
          </a:solidFill>
          <a:ln w="13264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5504" tIns="47752" rIns="95504" bIns="4775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53" dirty="0">
                <a:solidFill>
                  <a:srgbClr val="000000"/>
                </a:solidFill>
              </a:rPr>
              <a:t>Source</a:t>
            </a:r>
          </a:p>
        </p:txBody>
      </p:sp>
      <p:sp>
        <p:nvSpPr>
          <p:cNvPr id="17" name="Cible 1" descr="F"/>
          <p:cNvSpPr/>
          <p:nvPr/>
        </p:nvSpPr>
        <p:spPr>
          <a:xfrm>
            <a:off x="3362198" y="2570692"/>
            <a:ext cx="1268611" cy="746125"/>
          </a:xfrm>
          <a:prstGeom prst="rect">
            <a:avLst/>
          </a:prstGeom>
          <a:solidFill>
            <a:srgbClr val="C8E6C9"/>
          </a:solidFill>
          <a:ln w="13264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5504" tIns="47752" rIns="95504" bIns="4775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53" dirty="0">
                <a:solidFill>
                  <a:srgbClr val="000000"/>
                </a:solidFill>
              </a:rPr>
              <a:t>Cible 1</a:t>
            </a:r>
          </a:p>
        </p:txBody>
      </p:sp>
      <p:sp>
        <p:nvSpPr>
          <p:cNvPr id="18" name="Cible 2" descr="G"/>
          <p:cNvSpPr/>
          <p:nvPr/>
        </p:nvSpPr>
        <p:spPr>
          <a:xfrm>
            <a:off x="5227709" y="2570692"/>
            <a:ext cx="1268611" cy="746125"/>
          </a:xfrm>
          <a:prstGeom prst="rect">
            <a:avLst/>
          </a:prstGeom>
          <a:solidFill>
            <a:srgbClr val="FFE0B2"/>
          </a:solidFill>
          <a:ln w="13264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5504" tIns="47752" rIns="95504" bIns="4775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53" dirty="0">
                <a:solidFill>
                  <a:srgbClr val="000000"/>
                </a:solidFill>
              </a:rPr>
              <a:t>Cible 2</a:t>
            </a:r>
          </a:p>
        </p:txBody>
      </p:sp>
      <p:sp>
        <p:nvSpPr>
          <p:cNvPr id="19" name="Origine 1" descr="H"/>
          <p:cNvSpPr/>
          <p:nvPr/>
        </p:nvSpPr>
        <p:spPr>
          <a:xfrm>
            <a:off x="6988167" y="1028700"/>
            <a:ext cx="1555123" cy="746125"/>
          </a:xfrm>
          <a:prstGeom prst="rect">
            <a:avLst/>
          </a:prstGeom>
          <a:solidFill>
            <a:srgbClr val="E1BEE7"/>
          </a:solidFill>
          <a:ln w="13264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5504" tIns="47752" rIns="95504" bIns="4775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53" dirty="0">
                <a:solidFill>
                  <a:srgbClr val="000000"/>
                </a:solidFill>
              </a:rPr>
              <a:t>Origine 1</a:t>
            </a:r>
          </a:p>
        </p:txBody>
      </p:sp>
      <p:sp>
        <p:nvSpPr>
          <p:cNvPr id="20" name="Fusion" descr="J"/>
          <p:cNvSpPr/>
          <p:nvPr/>
        </p:nvSpPr>
        <p:spPr>
          <a:xfrm>
            <a:off x="8240861" y="2570692"/>
            <a:ext cx="1201759" cy="746125"/>
          </a:xfrm>
          <a:prstGeom prst="rect">
            <a:avLst/>
          </a:prstGeom>
          <a:solidFill>
            <a:srgbClr val="FFCDD2"/>
          </a:solidFill>
          <a:ln w="13264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5504" tIns="47752" rIns="95504" bIns="4775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53" dirty="0">
                <a:solidFill>
                  <a:srgbClr val="000000"/>
                </a:solidFill>
              </a:rPr>
              <a:t>Fusion</a:t>
            </a:r>
          </a:p>
        </p:txBody>
      </p:sp>
      <p:sp>
        <p:nvSpPr>
          <p:cNvPr id="21" name="Origine 2" descr="I"/>
          <p:cNvSpPr/>
          <p:nvPr/>
        </p:nvSpPr>
        <p:spPr>
          <a:xfrm>
            <a:off x="9140190" y="1028700"/>
            <a:ext cx="1555123" cy="746125"/>
          </a:xfrm>
          <a:prstGeom prst="rect">
            <a:avLst/>
          </a:prstGeom>
          <a:solidFill>
            <a:srgbClr val="FFF9C4"/>
          </a:solidFill>
          <a:ln w="13264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5504" tIns="47752" rIns="95504" bIns="4775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53" dirty="0">
                <a:solidFill>
                  <a:srgbClr val="000000"/>
                </a:solidFill>
              </a:rPr>
              <a:t>Origine 2</a:t>
            </a:r>
          </a:p>
        </p:txBody>
      </p:sp>
      <p:cxnSp>
        <p:nvCxnSpPr>
          <p:cNvPr id="22" name="A--B"/>
          <p:cNvCxnSpPr>
            <a:stCxn id="12" idx="2"/>
            <a:endCxn id="13" idx="0"/>
          </p:cNvCxnSpPr>
          <p:nvPr/>
        </p:nvCxnSpPr>
        <p:spPr>
          <a:xfrm>
            <a:off x="2130992" y="1774825"/>
            <a:ext cx="0" cy="795867"/>
          </a:xfrm>
          <a:prstGeom prst="line">
            <a:avLst/>
          </a:prstGeom>
          <a:ln w="13264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B--C"/>
          <p:cNvCxnSpPr>
            <a:stCxn id="13" idx="2"/>
            <a:endCxn id="14" idx="0"/>
          </p:cNvCxnSpPr>
          <p:nvPr/>
        </p:nvCxnSpPr>
        <p:spPr>
          <a:xfrm>
            <a:off x="2130992" y="3316817"/>
            <a:ext cx="0" cy="795867"/>
          </a:xfrm>
          <a:prstGeom prst="line">
            <a:avLst/>
          </a:prstGeom>
          <a:ln w="13264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--D"/>
          <p:cNvCxnSpPr>
            <a:stCxn id="14" idx="2"/>
            <a:endCxn id="15" idx="0"/>
          </p:cNvCxnSpPr>
          <p:nvPr/>
        </p:nvCxnSpPr>
        <p:spPr>
          <a:xfrm>
            <a:off x="2130992" y="4858808"/>
            <a:ext cx="0" cy="795867"/>
          </a:xfrm>
          <a:prstGeom prst="line">
            <a:avLst/>
          </a:prstGeom>
          <a:ln w="13264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E--F"/>
          <p:cNvCxnSpPr>
            <a:stCxn id="16" idx="2"/>
            <a:endCxn id="17" idx="0"/>
          </p:cNvCxnSpPr>
          <p:nvPr/>
        </p:nvCxnSpPr>
        <p:spPr>
          <a:xfrm flipH="1">
            <a:off x="3996504" y="1774825"/>
            <a:ext cx="932756" cy="795867"/>
          </a:xfrm>
          <a:prstGeom prst="line">
            <a:avLst/>
          </a:prstGeom>
          <a:ln w="13264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E--G"/>
          <p:cNvCxnSpPr>
            <a:stCxn id="16" idx="2"/>
            <a:endCxn id="18" idx="0"/>
          </p:cNvCxnSpPr>
          <p:nvPr/>
        </p:nvCxnSpPr>
        <p:spPr>
          <a:xfrm>
            <a:off x="4929259" y="1774825"/>
            <a:ext cx="932756" cy="795867"/>
          </a:xfrm>
          <a:prstGeom prst="line">
            <a:avLst/>
          </a:prstGeom>
          <a:ln w="13264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H--J"/>
          <p:cNvCxnSpPr>
            <a:stCxn id="19" idx="2"/>
            <a:endCxn id="20" idx="0"/>
          </p:cNvCxnSpPr>
          <p:nvPr/>
        </p:nvCxnSpPr>
        <p:spPr>
          <a:xfrm>
            <a:off x="7765728" y="1774825"/>
            <a:ext cx="1076012" cy="795867"/>
          </a:xfrm>
          <a:prstGeom prst="line">
            <a:avLst/>
          </a:prstGeom>
          <a:ln w="13264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I--J"/>
          <p:cNvCxnSpPr>
            <a:stCxn id="21" idx="2"/>
            <a:endCxn id="20" idx="0"/>
          </p:cNvCxnSpPr>
          <p:nvPr/>
        </p:nvCxnSpPr>
        <p:spPr>
          <a:xfrm flipH="1">
            <a:off x="8841740" y="1774825"/>
            <a:ext cx="1076012" cy="795867"/>
          </a:xfrm>
          <a:prstGeom prst="line">
            <a:avLst/>
          </a:prstGeom>
          <a:ln w="13264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edge-labels</a:t>
            </a:r>
          </a:p>
        </p:txBody>
      </p:sp>
      <p:sp>
        <p:nvSpPr>
          <p:cNvPr id="12" name="Debut" descr="A"/>
          <p:cNvSpPr/>
          <p:nvPr/>
        </p:nvSpPr>
        <p:spPr>
          <a:xfrm>
            <a:off x="4318270" y="1028700"/>
            <a:ext cx="617937" cy="435576"/>
          </a:xfrm>
          <a:prstGeom prst="rect">
            <a:avLst/>
          </a:prstGeom>
          <a:solidFill>
            <a:srgbClr val="E1BEE7"/>
          </a:solidFill>
          <a:ln w="7744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5754" tIns="27877" rIns="55754" bIns="2787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50" dirty="0">
                <a:solidFill>
                  <a:srgbClr val="000000"/>
                </a:solidFill>
              </a:rPr>
              <a:t>Debut</a:t>
            </a:r>
          </a:p>
        </p:txBody>
      </p:sp>
      <p:sp>
        <p:nvSpPr>
          <p:cNvPr id="13" name="Action" descr="B"/>
          <p:cNvSpPr/>
          <p:nvPr/>
        </p:nvSpPr>
        <p:spPr>
          <a:xfrm>
            <a:off x="3893149" y="1928890"/>
            <a:ext cx="701567" cy="435576"/>
          </a:xfrm>
          <a:prstGeom prst="rect">
            <a:avLst/>
          </a:prstGeom>
          <a:solidFill>
            <a:srgbClr val="FFCDD2"/>
          </a:solidFill>
          <a:ln w="7744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5754" tIns="27877" rIns="55754" bIns="2787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50" dirty="0">
                <a:solidFill>
                  <a:srgbClr val="000000"/>
                </a:solidFill>
              </a:rPr>
              <a:t>Action</a:t>
            </a:r>
          </a:p>
        </p:txBody>
      </p:sp>
      <p:sp>
        <p:nvSpPr>
          <p:cNvPr id="14" name="Suite" descr="C"/>
          <p:cNvSpPr/>
          <p:nvPr/>
        </p:nvSpPr>
        <p:spPr>
          <a:xfrm>
            <a:off x="3934964" y="2829079"/>
            <a:ext cx="617937" cy="435576"/>
          </a:xfrm>
          <a:prstGeom prst="rect">
            <a:avLst/>
          </a:prstGeom>
          <a:solidFill>
            <a:srgbClr val="FFF9C4"/>
          </a:solidFill>
          <a:ln w="7744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5754" tIns="27877" rIns="55754" bIns="2787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50" dirty="0">
                <a:solidFill>
                  <a:srgbClr val="000000"/>
                </a:solidFill>
              </a:rPr>
              <a:t>Suite</a:t>
            </a:r>
          </a:p>
        </p:txBody>
      </p:sp>
      <p:sp>
        <p:nvSpPr>
          <p:cNvPr id="15" name="Test" descr="D"/>
          <p:cNvSpPr/>
          <p:nvPr/>
        </p:nvSpPr>
        <p:spPr>
          <a:xfrm>
            <a:off x="3709626" y="3729269"/>
            <a:ext cx="1068612" cy="871151"/>
          </a:xfrm>
          <a:prstGeom prst="diamond">
            <a:avLst/>
          </a:prstGeom>
          <a:solidFill>
            <a:srgbClr val="BBDEFB"/>
          </a:solidFill>
          <a:ln w="7744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5754" tIns="27877" rIns="55754" bIns="2787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50" dirty="0">
                <a:solidFill>
                  <a:srgbClr val="000000"/>
                </a:solidFill>
              </a:rPr>
              <a:t>Test</a:t>
            </a:r>
          </a:p>
        </p:txBody>
      </p:sp>
      <p:sp>
        <p:nvSpPr>
          <p:cNvPr id="16" name="Rapide" descr="E"/>
          <p:cNvSpPr/>
          <p:nvPr/>
        </p:nvSpPr>
        <p:spPr>
          <a:xfrm>
            <a:off x="3409950" y="5065035"/>
            <a:ext cx="701567" cy="435576"/>
          </a:xfrm>
          <a:prstGeom prst="rect">
            <a:avLst/>
          </a:prstGeom>
          <a:solidFill>
            <a:srgbClr val="C8E6C9"/>
          </a:solidFill>
          <a:ln w="7744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5754" tIns="27877" rIns="55754" bIns="2787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50" dirty="0">
                <a:solidFill>
                  <a:srgbClr val="000000"/>
                </a:solidFill>
              </a:rPr>
              <a:t>Rapide</a:t>
            </a:r>
          </a:p>
        </p:txBody>
      </p:sp>
      <p:sp>
        <p:nvSpPr>
          <p:cNvPr id="17" name="Lent" descr="F"/>
          <p:cNvSpPr/>
          <p:nvPr/>
        </p:nvSpPr>
        <p:spPr>
          <a:xfrm>
            <a:off x="4459978" y="5065035"/>
            <a:ext cx="534306" cy="435576"/>
          </a:xfrm>
          <a:prstGeom prst="rect">
            <a:avLst/>
          </a:prstGeom>
          <a:solidFill>
            <a:srgbClr val="FFE0B2"/>
          </a:solidFill>
          <a:ln w="7744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5754" tIns="27877" rIns="55754" bIns="2787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50" dirty="0">
                <a:solidFill>
                  <a:srgbClr val="000000"/>
                </a:solidFill>
              </a:rPr>
              <a:t>Lent</a:t>
            </a:r>
          </a:p>
        </p:txBody>
      </p:sp>
      <p:sp>
        <p:nvSpPr>
          <p:cNvPr id="18" name="Repeter" descr="G"/>
          <p:cNvSpPr/>
          <p:nvPr/>
        </p:nvSpPr>
        <p:spPr>
          <a:xfrm>
            <a:off x="4717839" y="5965224"/>
            <a:ext cx="785198" cy="435576"/>
          </a:xfrm>
          <a:prstGeom prst="rect">
            <a:avLst/>
          </a:prstGeom>
          <a:solidFill>
            <a:srgbClr val="E1BEE7"/>
          </a:solidFill>
          <a:ln w="7744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5754" tIns="27877" rIns="55754" bIns="2787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50" dirty="0">
                <a:solidFill>
                  <a:srgbClr val="000000"/>
                </a:solidFill>
              </a:rPr>
              <a:t>Repeter</a:t>
            </a:r>
          </a:p>
        </p:txBody>
      </p:sp>
      <p:sp>
        <p:nvSpPr>
          <p:cNvPr id="19" name="Autre depart" descr="H"/>
          <p:cNvSpPr/>
          <p:nvPr/>
        </p:nvSpPr>
        <p:spPr>
          <a:xfrm>
            <a:off x="5825943" y="1028700"/>
            <a:ext cx="1161535" cy="435576"/>
          </a:xfrm>
          <a:prstGeom prst="rect">
            <a:avLst/>
          </a:prstGeom>
          <a:solidFill>
            <a:srgbClr val="FFCDD2"/>
          </a:solidFill>
          <a:ln w="7744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5754" tIns="27877" rIns="55754" bIns="2787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50" dirty="0">
                <a:solidFill>
                  <a:srgbClr val="000000"/>
                </a:solidFill>
              </a:rPr>
              <a:t>Autre depart</a:t>
            </a:r>
          </a:p>
        </p:txBody>
      </p:sp>
      <p:sp>
        <p:nvSpPr>
          <p:cNvPr id="20" name="Suite mediane" descr="I"/>
          <p:cNvSpPr/>
          <p:nvPr/>
        </p:nvSpPr>
        <p:spPr>
          <a:xfrm>
            <a:off x="5784128" y="1928890"/>
            <a:ext cx="1245166" cy="435576"/>
          </a:xfrm>
          <a:prstGeom prst="rect">
            <a:avLst/>
          </a:prstGeom>
          <a:solidFill>
            <a:srgbClr val="FFF9C4"/>
          </a:solidFill>
          <a:ln w="7744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5754" tIns="27877" rIns="55754" bIns="2787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50" dirty="0">
                <a:solidFill>
                  <a:srgbClr val="000000"/>
                </a:solidFill>
              </a:rPr>
              <a:t>Suite mediane</a:t>
            </a:r>
          </a:p>
        </p:txBody>
      </p:sp>
      <p:sp>
        <p:nvSpPr>
          <p:cNvPr id="21" name="Fin mediane" descr="J"/>
          <p:cNvSpPr/>
          <p:nvPr/>
        </p:nvSpPr>
        <p:spPr>
          <a:xfrm>
            <a:off x="5867758" y="2829079"/>
            <a:ext cx="1077905" cy="435576"/>
          </a:xfrm>
          <a:prstGeom prst="rect">
            <a:avLst/>
          </a:prstGeom>
          <a:solidFill>
            <a:srgbClr val="BBDEFB"/>
          </a:solidFill>
          <a:ln w="7744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5754" tIns="27877" rIns="55754" bIns="2787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50" dirty="0">
                <a:solidFill>
                  <a:srgbClr val="000000"/>
                </a:solidFill>
              </a:rPr>
              <a:t>Fin mediane</a:t>
            </a:r>
          </a:p>
        </p:txBody>
      </p:sp>
      <p:cxnSp>
        <p:nvCxnSpPr>
          <p:cNvPr id="22" name="A--B"/>
          <p:cNvCxnSpPr>
            <a:stCxn id="12" idx="2"/>
            <a:endCxn id="13" idx="0"/>
          </p:cNvCxnSpPr>
          <p:nvPr/>
        </p:nvCxnSpPr>
        <p:spPr>
          <a:xfrm flipH="1">
            <a:off x="4243932" y="1464276"/>
            <a:ext cx="383307" cy="464614"/>
          </a:xfrm>
          <a:prstGeom prst="line">
            <a:avLst/>
          </a:prstGeom>
          <a:ln w="7744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EdgeLabel"/>
          <p:cNvSpPr txBox="1"/>
          <p:nvPr/>
        </p:nvSpPr>
        <p:spPr>
          <a:xfrm>
            <a:off x="4172800" y="1626891"/>
            <a:ext cx="525571" cy="1393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23231" tIns="0" rIns="23231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etape 1</a:t>
            </a:r>
          </a:p>
        </p:txBody>
      </p:sp>
      <p:cxnSp>
        <p:nvCxnSpPr>
          <p:cNvPr id="24" name="B--C"/>
          <p:cNvCxnSpPr>
            <a:stCxn id="13" idx="2"/>
            <a:endCxn id="14" idx="0"/>
          </p:cNvCxnSpPr>
          <p:nvPr/>
        </p:nvCxnSpPr>
        <p:spPr>
          <a:xfrm>
            <a:off x="4243932" y="2364465"/>
            <a:ext cx="0" cy="464614"/>
          </a:xfrm>
          <a:prstGeom prst="line">
            <a:avLst/>
          </a:prstGeom>
          <a:ln w="7744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EdgeLabel"/>
          <p:cNvSpPr txBox="1"/>
          <p:nvPr/>
        </p:nvSpPr>
        <p:spPr>
          <a:xfrm>
            <a:off x="3846223" y="2527080"/>
            <a:ext cx="795419" cy="1393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23231" tIns="0" rIns="23231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sans fleche</a:t>
            </a:r>
          </a:p>
        </p:txBody>
      </p:sp>
      <p:cxnSp>
        <p:nvCxnSpPr>
          <p:cNvPr id="26" name="C--D"/>
          <p:cNvCxnSpPr>
            <a:stCxn id="14" idx="2"/>
            <a:endCxn id="15" idx="0"/>
          </p:cNvCxnSpPr>
          <p:nvPr/>
        </p:nvCxnSpPr>
        <p:spPr>
          <a:xfrm>
            <a:off x="4243932" y="3264655"/>
            <a:ext cx="0" cy="464614"/>
          </a:xfrm>
          <a:prstGeom prst="line">
            <a:avLst/>
          </a:prstGeom>
          <a:ln w="7744" cap="flat" cmpd="sng" algn="ctr">
            <a:solidFill>
              <a:srgbClr val="2F5496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EdgeLabel"/>
          <p:cNvSpPr txBox="1"/>
          <p:nvPr/>
        </p:nvSpPr>
        <p:spPr>
          <a:xfrm>
            <a:off x="3896401" y="3427270"/>
            <a:ext cx="695063" cy="1393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23231" tIns="0" rIns="23231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optionnel</a:t>
            </a:r>
          </a:p>
        </p:txBody>
      </p:sp>
      <p:cxnSp>
        <p:nvCxnSpPr>
          <p:cNvPr id="28" name="D--E"/>
          <p:cNvCxnSpPr>
            <a:stCxn id="15" idx="2"/>
            <a:endCxn id="16" idx="0"/>
          </p:cNvCxnSpPr>
          <p:nvPr/>
        </p:nvCxnSpPr>
        <p:spPr>
          <a:xfrm flipH="1">
            <a:off x="3760734" y="4600421"/>
            <a:ext cx="483198" cy="464614"/>
          </a:xfrm>
          <a:prstGeom prst="line">
            <a:avLst/>
          </a:prstGeom>
          <a:ln w="1548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EdgeLabel"/>
          <p:cNvSpPr txBox="1"/>
          <p:nvPr/>
        </p:nvSpPr>
        <p:spPr>
          <a:xfrm>
            <a:off x="3738432" y="4763036"/>
            <a:ext cx="527802" cy="1393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23231" tIns="0" rIns="23231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si vrai</a:t>
            </a:r>
          </a:p>
        </p:txBody>
      </p:sp>
      <p:cxnSp>
        <p:nvCxnSpPr>
          <p:cNvPr id="30" name="D--F"/>
          <p:cNvCxnSpPr>
            <a:stCxn id="15" idx="2"/>
            <a:endCxn id="17" idx="0"/>
          </p:cNvCxnSpPr>
          <p:nvPr/>
        </p:nvCxnSpPr>
        <p:spPr>
          <a:xfrm>
            <a:off x="4243932" y="4600421"/>
            <a:ext cx="483199" cy="464614"/>
          </a:xfrm>
          <a:prstGeom prst="line">
            <a:avLst/>
          </a:prstGeom>
          <a:ln w="7744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EdgeLabel"/>
          <p:cNvSpPr txBox="1"/>
          <p:nvPr/>
        </p:nvSpPr>
        <p:spPr>
          <a:xfrm>
            <a:off x="4221631" y="4763036"/>
            <a:ext cx="527802" cy="1393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23231" tIns="0" rIns="23231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si faux</a:t>
            </a:r>
          </a:p>
        </p:txBody>
      </p:sp>
      <p:cxnSp>
        <p:nvCxnSpPr>
          <p:cNvPr id="32" name="F--G"/>
          <p:cNvCxnSpPr>
            <a:stCxn id="17" idx="2"/>
            <a:endCxn id="18" idx="0"/>
          </p:cNvCxnSpPr>
          <p:nvPr/>
        </p:nvCxnSpPr>
        <p:spPr>
          <a:xfrm>
            <a:off x="4727131" y="5500610"/>
            <a:ext cx="383306" cy="464614"/>
          </a:xfrm>
          <a:prstGeom prst="line">
            <a:avLst/>
          </a:prstGeom>
          <a:ln w="7744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--A"/>
          <p:cNvCxnSpPr>
            <a:stCxn id="18" idx="0"/>
            <a:endCxn id="12" idx="2"/>
          </p:cNvCxnSpPr>
          <p:nvPr/>
        </p:nvCxnSpPr>
        <p:spPr>
          <a:xfrm flipH="1" flipV="1">
            <a:off x="4627239" y="1464276"/>
            <a:ext cx="483198" cy="4500948"/>
          </a:xfrm>
          <a:prstGeom prst="line">
            <a:avLst/>
          </a:prstGeom>
          <a:ln w="7744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H--I"/>
          <p:cNvCxnSpPr>
            <a:stCxn id="19" idx="2"/>
            <a:endCxn id="20" idx="0"/>
          </p:cNvCxnSpPr>
          <p:nvPr/>
        </p:nvCxnSpPr>
        <p:spPr>
          <a:xfrm>
            <a:off x="6406711" y="1464276"/>
            <a:ext cx="0" cy="464614"/>
          </a:xfrm>
          <a:prstGeom prst="line">
            <a:avLst/>
          </a:prstGeom>
          <a:ln w="7744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EdgeLabel"/>
          <p:cNvSpPr txBox="1"/>
          <p:nvPr/>
        </p:nvSpPr>
        <p:spPr>
          <a:xfrm>
            <a:off x="5875192" y="1626891"/>
            <a:ext cx="1063037" cy="1393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23231" tIns="0" rIns="23231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syntaxe mediane</a:t>
            </a:r>
          </a:p>
        </p:txBody>
      </p:sp>
      <p:cxnSp>
        <p:nvCxnSpPr>
          <p:cNvPr id="36" name="I--J"/>
          <p:cNvCxnSpPr>
            <a:stCxn id="20" idx="2"/>
            <a:endCxn id="21" idx="0"/>
          </p:cNvCxnSpPr>
          <p:nvPr/>
        </p:nvCxnSpPr>
        <p:spPr>
          <a:xfrm>
            <a:off x="6406711" y="2364465"/>
            <a:ext cx="0" cy="464614"/>
          </a:xfrm>
          <a:prstGeom prst="line">
            <a:avLst/>
          </a:prstGeom>
          <a:ln w="7744" cap="flat" cmpd="sng" algn="ctr">
            <a:solidFill>
              <a:srgbClr val="2F5496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EdgeLabel"/>
          <p:cNvSpPr txBox="1"/>
          <p:nvPr/>
        </p:nvSpPr>
        <p:spPr>
          <a:xfrm>
            <a:off x="5774836" y="2527080"/>
            <a:ext cx="1263750" cy="1393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23231" tIns="0" rIns="23231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mediane pointillee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edge-types-extended</a:t>
            </a:r>
          </a:p>
        </p:txBody>
      </p:sp>
      <p:sp>
        <p:nvSpPr>
          <p:cNvPr id="12" name="Fin" descr="F"/>
          <p:cNvSpPr/>
          <p:nvPr/>
        </p:nvSpPr>
        <p:spPr>
          <a:xfrm>
            <a:off x="3712776" y="1028700"/>
            <a:ext cx="296708" cy="286767"/>
          </a:xfrm>
          <a:prstGeom prst="rect">
            <a:avLst/>
          </a:prstGeom>
          <a:solidFill>
            <a:srgbClr val="FFCDD2"/>
          </a:solidFill>
          <a:ln w="5098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706" tIns="18353" rIns="36706" bIns="1835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Fin</a:t>
            </a:r>
          </a:p>
        </p:txBody>
      </p:sp>
      <p:sp>
        <p:nvSpPr>
          <p:cNvPr id="13" name="Ligne pointillee" descr="G"/>
          <p:cNvSpPr/>
          <p:nvPr/>
        </p:nvSpPr>
        <p:spPr>
          <a:xfrm>
            <a:off x="3524657" y="1621352"/>
            <a:ext cx="672946" cy="401474"/>
          </a:xfrm>
          <a:prstGeom prst="rect">
            <a:avLst/>
          </a:prstGeom>
          <a:solidFill>
            <a:srgbClr val="FFF9C4"/>
          </a:solidFill>
          <a:ln w="5098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706" tIns="18353" rIns="36706" bIns="1835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Ligne pointillee</a:t>
            </a:r>
          </a:p>
        </p:txBody>
      </p:sp>
      <p:sp>
        <p:nvSpPr>
          <p:cNvPr id="14" name="Ligne epaisse" descr="H"/>
          <p:cNvSpPr/>
          <p:nvPr/>
        </p:nvSpPr>
        <p:spPr>
          <a:xfrm>
            <a:off x="3451244" y="2328710"/>
            <a:ext cx="819771" cy="286767"/>
          </a:xfrm>
          <a:prstGeom prst="rect">
            <a:avLst/>
          </a:prstGeom>
          <a:solidFill>
            <a:srgbClr val="BBDEFB"/>
          </a:solidFill>
          <a:ln w="5098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706" tIns="18353" rIns="36706" bIns="1835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Ligne epaisse</a:t>
            </a:r>
          </a:p>
        </p:txBody>
      </p:sp>
      <p:sp>
        <p:nvSpPr>
          <p:cNvPr id="15" name="Bidirectionnel" descr="I"/>
          <p:cNvSpPr/>
          <p:nvPr/>
        </p:nvSpPr>
        <p:spPr>
          <a:xfrm>
            <a:off x="3409950" y="2921362"/>
            <a:ext cx="902360" cy="286767"/>
          </a:xfrm>
          <a:prstGeom prst="rect">
            <a:avLst/>
          </a:prstGeom>
          <a:solidFill>
            <a:srgbClr val="C8E6C9"/>
          </a:solidFill>
          <a:ln w="5098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706" tIns="18353" rIns="36706" bIns="1835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Bidirectionnel</a:t>
            </a:r>
          </a:p>
        </p:txBody>
      </p:sp>
      <p:sp>
        <p:nvSpPr>
          <p:cNvPr id="16" name="Tete cercle" descr="J"/>
          <p:cNvSpPr/>
          <p:nvPr/>
        </p:nvSpPr>
        <p:spPr>
          <a:xfrm>
            <a:off x="3506304" y="3514013"/>
            <a:ext cx="709652" cy="286767"/>
          </a:xfrm>
          <a:prstGeom prst="rect">
            <a:avLst/>
          </a:prstGeom>
          <a:solidFill>
            <a:srgbClr val="FFE0B2"/>
          </a:solidFill>
          <a:ln w="5098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706" tIns="18353" rIns="36706" bIns="1835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Tete cercle</a:t>
            </a:r>
          </a:p>
        </p:txBody>
      </p:sp>
      <p:sp>
        <p:nvSpPr>
          <p:cNvPr id="17" name="Tete croix" descr="K"/>
          <p:cNvSpPr/>
          <p:nvPr/>
        </p:nvSpPr>
        <p:spPr>
          <a:xfrm>
            <a:off x="3533833" y="4106665"/>
            <a:ext cx="654593" cy="286767"/>
          </a:xfrm>
          <a:prstGeom prst="rect">
            <a:avLst/>
          </a:prstGeom>
          <a:solidFill>
            <a:srgbClr val="E1BEE7"/>
          </a:solidFill>
          <a:ln w="5098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706" tIns="18353" rIns="36706" bIns="1835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Tete croix</a:t>
            </a:r>
          </a:p>
        </p:txBody>
      </p:sp>
      <p:sp>
        <p:nvSpPr>
          <p:cNvPr id="18" name="Cercle des deux cotes" descr="L"/>
          <p:cNvSpPr/>
          <p:nvPr/>
        </p:nvSpPr>
        <p:spPr>
          <a:xfrm>
            <a:off x="3533833" y="4699316"/>
            <a:ext cx="654593" cy="401474"/>
          </a:xfrm>
          <a:prstGeom prst="rect">
            <a:avLst/>
          </a:prstGeom>
          <a:solidFill>
            <a:srgbClr val="FFCDD2"/>
          </a:solidFill>
          <a:ln w="5098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706" tIns="18353" rIns="36706" bIns="1835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Cercle des deux cotes</a:t>
            </a:r>
          </a:p>
        </p:txBody>
      </p:sp>
      <p:sp>
        <p:nvSpPr>
          <p:cNvPr id="19" name="Croix des deux cotes" descr="M"/>
          <p:cNvSpPr/>
          <p:nvPr/>
        </p:nvSpPr>
        <p:spPr>
          <a:xfrm>
            <a:off x="3437480" y="5406675"/>
            <a:ext cx="847301" cy="401474"/>
          </a:xfrm>
          <a:prstGeom prst="rect">
            <a:avLst/>
          </a:prstGeom>
          <a:solidFill>
            <a:srgbClr val="FFF9C4"/>
          </a:solidFill>
          <a:ln w="5098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706" tIns="18353" rIns="36706" bIns="1835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Croix des deux cotes</a:t>
            </a:r>
          </a:p>
        </p:txBody>
      </p:sp>
      <p:sp>
        <p:nvSpPr>
          <p:cNvPr id="20" name="Invisible" descr="N"/>
          <p:cNvSpPr/>
          <p:nvPr/>
        </p:nvSpPr>
        <p:spPr>
          <a:xfrm>
            <a:off x="3547598" y="6114033"/>
            <a:ext cx="627064" cy="286767"/>
          </a:xfrm>
          <a:prstGeom prst="rect">
            <a:avLst/>
          </a:prstGeom>
          <a:solidFill>
            <a:srgbClr val="BBDEFB"/>
          </a:solidFill>
          <a:ln w="5098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706" tIns="18353" rIns="36706" bIns="1835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Invisible</a:t>
            </a:r>
          </a:p>
        </p:txBody>
      </p:sp>
      <p:cxnSp>
        <p:nvCxnSpPr>
          <p:cNvPr id="21" name="F--G"/>
          <p:cNvCxnSpPr>
            <a:stCxn id="12" idx="2"/>
            <a:endCxn id="13" idx="0"/>
          </p:cNvCxnSpPr>
          <p:nvPr/>
        </p:nvCxnSpPr>
        <p:spPr>
          <a:xfrm>
            <a:off x="3861130" y="1315467"/>
            <a:ext cx="0" cy="305885"/>
          </a:xfrm>
          <a:prstGeom prst="line">
            <a:avLst/>
          </a:prstGeom>
          <a:ln w="5098" cap="flat" cmpd="sng" algn="ctr">
            <a:solidFill>
              <a:srgbClr val="2F549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--H"/>
          <p:cNvCxnSpPr>
            <a:stCxn id="13" idx="2"/>
            <a:endCxn id="14" idx="0"/>
          </p:cNvCxnSpPr>
          <p:nvPr/>
        </p:nvCxnSpPr>
        <p:spPr>
          <a:xfrm>
            <a:off x="3861130" y="2022825"/>
            <a:ext cx="0" cy="305885"/>
          </a:xfrm>
          <a:prstGeom prst="line">
            <a:avLst/>
          </a:prstGeom>
          <a:ln w="10196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H--I"/>
          <p:cNvCxnSpPr>
            <a:stCxn id="14" idx="2"/>
            <a:endCxn id="15" idx="0"/>
          </p:cNvCxnSpPr>
          <p:nvPr/>
        </p:nvCxnSpPr>
        <p:spPr>
          <a:xfrm>
            <a:off x="3861130" y="2615477"/>
            <a:ext cx="0" cy="305885"/>
          </a:xfrm>
          <a:prstGeom prst="line">
            <a:avLst/>
          </a:prstGeom>
          <a:ln w="5098" cap="flat" cmpd="sng" algn="ctr">
            <a:solidFill>
              <a:srgbClr val="2F5496"/>
            </a:solidFill>
            <a:prstDash val="solid"/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I--J"/>
          <p:cNvCxnSpPr>
            <a:stCxn id="15" idx="2"/>
            <a:endCxn id="16" idx="0"/>
          </p:cNvCxnSpPr>
          <p:nvPr/>
        </p:nvCxnSpPr>
        <p:spPr>
          <a:xfrm>
            <a:off x="3861130" y="3208128"/>
            <a:ext cx="0" cy="305885"/>
          </a:xfrm>
          <a:prstGeom prst="line">
            <a:avLst/>
          </a:prstGeom>
          <a:ln w="5098" cap="flat" cmpd="sng" algn="ctr">
            <a:solidFill>
              <a:srgbClr val="2F5496"/>
            </a:solidFill>
            <a:prstDash val="solid"/>
            <a:tailEnd type="oval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J--K"/>
          <p:cNvCxnSpPr>
            <a:stCxn id="16" idx="2"/>
            <a:endCxn id="17" idx="0"/>
          </p:cNvCxnSpPr>
          <p:nvPr/>
        </p:nvCxnSpPr>
        <p:spPr>
          <a:xfrm>
            <a:off x="3861130" y="3800780"/>
            <a:ext cx="0" cy="305885"/>
          </a:xfrm>
          <a:prstGeom prst="line">
            <a:avLst/>
          </a:prstGeom>
          <a:ln w="5098" cap="flat" cmpd="sng" algn="ctr">
            <a:solidFill>
              <a:srgbClr val="2F5496"/>
            </a:solidFill>
            <a:prstDash val="solid"/>
            <a:tail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K--L"/>
          <p:cNvCxnSpPr>
            <a:stCxn id="17" idx="2"/>
            <a:endCxn id="18" idx="0"/>
          </p:cNvCxnSpPr>
          <p:nvPr/>
        </p:nvCxnSpPr>
        <p:spPr>
          <a:xfrm>
            <a:off x="3861130" y="4393432"/>
            <a:ext cx="0" cy="305884"/>
          </a:xfrm>
          <a:prstGeom prst="line">
            <a:avLst/>
          </a:prstGeom>
          <a:ln w="5098" cap="flat" cmpd="sng" algn="ctr">
            <a:solidFill>
              <a:srgbClr val="2F5496"/>
            </a:solidFill>
            <a:prstDash val="solid"/>
            <a:headEnd type="oval" w="med" len="med"/>
            <a:tailEnd type="oval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L--M"/>
          <p:cNvCxnSpPr>
            <a:stCxn id="18" idx="2"/>
            <a:endCxn id="19" idx="0"/>
          </p:cNvCxnSpPr>
          <p:nvPr/>
        </p:nvCxnSpPr>
        <p:spPr>
          <a:xfrm>
            <a:off x="3861130" y="5100790"/>
            <a:ext cx="0" cy="305885"/>
          </a:xfrm>
          <a:prstGeom prst="line">
            <a:avLst/>
          </a:prstGeom>
          <a:ln w="5098" cap="flat" cmpd="sng" algn="ctr">
            <a:solidFill>
              <a:srgbClr val="2F5496"/>
            </a:solidFill>
            <a:prstDash val="solid"/>
            <a:headEnd type="diamond" w="med" len="med"/>
            <a:tail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M--N"/>
          <p:cNvCxnSpPr>
            <a:stCxn id="19" idx="2"/>
            <a:endCxn id="20" idx="0"/>
          </p:cNvCxnSpPr>
          <p:nvPr/>
        </p:nvCxnSpPr>
        <p:spPr>
          <a:xfrm>
            <a:off x="3861130" y="5808148"/>
            <a:ext cx="0" cy="305885"/>
          </a:xfrm>
          <a:prstGeom prst="line">
            <a:avLst/>
          </a:prstGeom>
          <a:ln w="5098" cap="flat" cmpd="sng" algn="ctr">
            <a:noFill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edge-types</a:t>
            </a:r>
          </a:p>
        </p:txBody>
      </p:sp>
      <p:sp>
        <p:nvSpPr>
          <p:cNvPr id="12" name="Depart" descr="A"/>
          <p:cNvSpPr/>
          <p:nvPr/>
        </p:nvSpPr>
        <p:spPr>
          <a:xfrm>
            <a:off x="457200" y="3328883"/>
            <a:ext cx="1243006" cy="771734"/>
          </a:xfrm>
          <a:prstGeom prst="rect">
            <a:avLst/>
          </a:prstGeom>
          <a:solidFill>
            <a:srgbClr val="FFF9C4"/>
          </a:solidFill>
          <a:ln w="13720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8782" tIns="49391" rIns="98782" bIns="4939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96" dirty="0">
                <a:solidFill>
                  <a:srgbClr val="000000"/>
                </a:solidFill>
              </a:rPr>
              <a:t>Depart</a:t>
            </a:r>
          </a:p>
        </p:txBody>
      </p:sp>
      <p:sp>
        <p:nvSpPr>
          <p:cNvPr id="13" name="Fleche" descr="B"/>
          <p:cNvSpPr/>
          <p:nvPr/>
        </p:nvSpPr>
        <p:spPr>
          <a:xfrm>
            <a:off x="2523388" y="3328883"/>
            <a:ext cx="1243006" cy="771734"/>
          </a:xfrm>
          <a:prstGeom prst="rect">
            <a:avLst/>
          </a:prstGeom>
          <a:solidFill>
            <a:srgbClr val="BBDEFB"/>
          </a:solidFill>
          <a:ln w="13720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8782" tIns="49391" rIns="98782" bIns="4939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96" dirty="0">
                <a:solidFill>
                  <a:srgbClr val="000000"/>
                </a:solidFill>
              </a:rPr>
              <a:t>Fleche</a:t>
            </a:r>
          </a:p>
        </p:txBody>
      </p:sp>
      <p:sp>
        <p:nvSpPr>
          <p:cNvPr id="14" name="Ligne" descr="C"/>
          <p:cNvSpPr/>
          <p:nvPr/>
        </p:nvSpPr>
        <p:spPr>
          <a:xfrm>
            <a:off x="4589576" y="3328883"/>
            <a:ext cx="1094833" cy="771734"/>
          </a:xfrm>
          <a:prstGeom prst="rect">
            <a:avLst/>
          </a:prstGeom>
          <a:solidFill>
            <a:srgbClr val="C8E6C9"/>
          </a:solidFill>
          <a:ln w="13720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8782" tIns="49391" rIns="98782" bIns="4939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96" dirty="0">
                <a:solidFill>
                  <a:srgbClr val="000000"/>
                </a:solidFill>
              </a:rPr>
              <a:t>Ligne</a:t>
            </a:r>
          </a:p>
        </p:txBody>
      </p:sp>
      <p:sp>
        <p:nvSpPr>
          <p:cNvPr id="15" name="Pointille" descr="D"/>
          <p:cNvSpPr/>
          <p:nvPr/>
        </p:nvSpPr>
        <p:spPr>
          <a:xfrm>
            <a:off x="6507591" y="3328883"/>
            <a:ext cx="1687524" cy="771734"/>
          </a:xfrm>
          <a:prstGeom prst="rect">
            <a:avLst/>
          </a:prstGeom>
          <a:solidFill>
            <a:srgbClr val="FFE0B2"/>
          </a:solidFill>
          <a:ln w="13720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8782" tIns="49391" rIns="98782" bIns="4939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96" dirty="0">
                <a:solidFill>
                  <a:srgbClr val="000000"/>
                </a:solidFill>
              </a:rPr>
              <a:t>Pointille</a:t>
            </a:r>
          </a:p>
        </p:txBody>
      </p:sp>
      <p:sp>
        <p:nvSpPr>
          <p:cNvPr id="16" name="Epais" descr="E"/>
          <p:cNvSpPr/>
          <p:nvPr/>
        </p:nvSpPr>
        <p:spPr>
          <a:xfrm>
            <a:off x="9018298" y="3328883"/>
            <a:ext cx="1094833" cy="771734"/>
          </a:xfrm>
          <a:prstGeom prst="rect">
            <a:avLst/>
          </a:prstGeom>
          <a:solidFill>
            <a:srgbClr val="E1BEE7"/>
          </a:solidFill>
          <a:ln w="13720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8782" tIns="49391" rIns="98782" bIns="4939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96" dirty="0">
                <a:solidFill>
                  <a:srgbClr val="000000"/>
                </a:solidFill>
              </a:rPr>
              <a:t>Epais</a:t>
            </a:r>
          </a:p>
        </p:txBody>
      </p:sp>
      <p:sp>
        <p:nvSpPr>
          <p:cNvPr id="17" name="Fin" descr="F"/>
          <p:cNvSpPr/>
          <p:nvPr/>
        </p:nvSpPr>
        <p:spPr>
          <a:xfrm>
            <a:off x="10936313" y="3328883"/>
            <a:ext cx="798487" cy="771734"/>
          </a:xfrm>
          <a:prstGeom prst="rect">
            <a:avLst/>
          </a:prstGeom>
          <a:solidFill>
            <a:srgbClr val="FFCDD2"/>
          </a:solidFill>
          <a:ln w="13720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8782" tIns="49391" rIns="98782" bIns="4939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96" dirty="0">
                <a:solidFill>
                  <a:srgbClr val="000000"/>
                </a:solidFill>
              </a:rPr>
              <a:t>Fin</a:t>
            </a:r>
          </a:p>
        </p:txBody>
      </p:sp>
      <p:cxnSp>
        <p:nvCxnSpPr>
          <p:cNvPr id="18" name="A--B"/>
          <p:cNvCxnSpPr>
            <a:stCxn id="12" idx="3"/>
            <a:endCxn id="13" idx="1"/>
          </p:cNvCxnSpPr>
          <p:nvPr/>
        </p:nvCxnSpPr>
        <p:spPr>
          <a:xfrm>
            <a:off x="1700206" y="3714751"/>
            <a:ext cx="823182" cy="0"/>
          </a:xfrm>
          <a:prstGeom prst="line">
            <a:avLst/>
          </a:prstGeom>
          <a:ln w="13720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B--C"/>
          <p:cNvCxnSpPr>
            <a:stCxn id="13" idx="3"/>
            <a:endCxn id="14" idx="1"/>
          </p:cNvCxnSpPr>
          <p:nvPr/>
        </p:nvCxnSpPr>
        <p:spPr>
          <a:xfrm>
            <a:off x="3766394" y="3714751"/>
            <a:ext cx="823182" cy="0"/>
          </a:xfrm>
          <a:prstGeom prst="line">
            <a:avLst/>
          </a:prstGeom>
          <a:ln w="13720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--D"/>
          <p:cNvCxnSpPr>
            <a:stCxn id="14" idx="3"/>
            <a:endCxn id="15" idx="1"/>
          </p:cNvCxnSpPr>
          <p:nvPr/>
        </p:nvCxnSpPr>
        <p:spPr>
          <a:xfrm>
            <a:off x="5684409" y="3714751"/>
            <a:ext cx="823182" cy="0"/>
          </a:xfrm>
          <a:prstGeom prst="line">
            <a:avLst/>
          </a:prstGeom>
          <a:ln w="13720" cap="flat" cmpd="sng" algn="ctr">
            <a:solidFill>
              <a:srgbClr val="2F5496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D--E"/>
          <p:cNvCxnSpPr>
            <a:stCxn id="15" idx="3"/>
            <a:endCxn id="16" idx="1"/>
          </p:cNvCxnSpPr>
          <p:nvPr/>
        </p:nvCxnSpPr>
        <p:spPr>
          <a:xfrm>
            <a:off x="8195115" y="3714751"/>
            <a:ext cx="823182" cy="0"/>
          </a:xfrm>
          <a:prstGeom prst="line">
            <a:avLst/>
          </a:prstGeom>
          <a:ln w="2743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E--F"/>
          <p:cNvCxnSpPr>
            <a:stCxn id="16" idx="3"/>
            <a:endCxn id="17" idx="1"/>
          </p:cNvCxnSpPr>
          <p:nvPr/>
        </p:nvCxnSpPr>
        <p:spPr>
          <a:xfrm>
            <a:off x="10113131" y="3714751"/>
            <a:ext cx="823182" cy="0"/>
          </a:xfrm>
          <a:prstGeom prst="line">
            <a:avLst/>
          </a:prstGeom>
          <a:ln w="13720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EdgeLabel"/>
          <p:cNvSpPr txBox="1"/>
          <p:nvPr/>
        </p:nvSpPr>
        <p:spPr>
          <a:xfrm>
            <a:off x="9879347" y="3591273"/>
            <a:ext cx="1290750" cy="24695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41159" tIns="0" rIns="41159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864" dirty="0">
                <a:solidFill>
                  <a:srgbClr val="000000"/>
                </a:solidFill>
              </a:rPr>
              <a:t>avec label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er-diagram</a:t>
            </a:r>
          </a:p>
        </p:txBody>
      </p:sp>
      <p:cxnSp>
        <p:nvCxnSpPr>
          <p:cNvPr id="11" name="Connector 1"/>
          <p:cNvCxnSpPr/>
          <p:nvPr/>
        </p:nvCxnSpPr>
        <p:spPr>
          <a:xfrm flipH="1">
            <a:off x="6011059" y="2403958"/>
            <a:ext cx="209635" cy="752094"/>
          </a:xfrm>
          <a:prstGeom prst="line">
            <a:avLst/>
          </a:prstGeom>
          <a:ln w="10744">
            <a:solidFill>
              <a:srgbClr val="2F5496"/>
            </a:solidFill>
            <a:prstDash val="solid"/>
            <a:tailEnd type="diamond" w="lg" len="lg"/>
          </a:ln>
        </p:spPr>
      </p:cxnSp>
      <p:sp>
        <p:nvSpPr>
          <p:cNvPr id="12" name="Text 2"/>
          <p:cNvSpPr txBox="1"/>
          <p:nvPr/>
        </p:nvSpPr>
        <p:spPr>
          <a:xfrm>
            <a:off x="5896695" y="2672563"/>
            <a:ext cx="438363" cy="21488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02" dirty="0">
                <a:solidFill>
                  <a:srgbClr val="000000"/>
                </a:solidFill>
              </a:rPr>
              <a:t>places</a:t>
            </a:r>
          </a:p>
        </p:txBody>
      </p:sp>
      <p:cxnSp>
        <p:nvCxnSpPr>
          <p:cNvPr id="13" name="Connector 3"/>
          <p:cNvCxnSpPr/>
          <p:nvPr/>
        </p:nvCxnSpPr>
        <p:spPr>
          <a:xfrm>
            <a:off x="6011059" y="4273448"/>
            <a:ext cx="209635" cy="752094"/>
          </a:xfrm>
          <a:prstGeom prst="line">
            <a:avLst/>
          </a:prstGeom>
          <a:ln w="10744">
            <a:solidFill>
              <a:srgbClr val="2F5496"/>
            </a:solidFill>
            <a:prstDash val="solid"/>
            <a:tailEnd type="triangle" w="lg" len="lg"/>
          </a:ln>
        </p:spPr>
      </p:cxnSp>
      <p:sp>
        <p:nvSpPr>
          <p:cNvPr id="14" name="Text 4"/>
          <p:cNvSpPr txBox="1"/>
          <p:nvPr/>
        </p:nvSpPr>
        <p:spPr>
          <a:xfrm>
            <a:off x="5845123" y="4542053"/>
            <a:ext cx="541508" cy="21488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02" dirty="0">
                <a:solidFill>
                  <a:srgbClr val="000000"/>
                </a:solidFill>
              </a:rPr>
              <a:t>contains</a:t>
            </a:r>
          </a:p>
        </p:txBody>
      </p:sp>
      <p:cxnSp>
        <p:nvCxnSpPr>
          <p:cNvPr id="15" name="Connector 5"/>
          <p:cNvCxnSpPr/>
          <p:nvPr/>
        </p:nvCxnSpPr>
        <p:spPr>
          <a:xfrm>
            <a:off x="6376423" y="2403958"/>
            <a:ext cx="1" cy="2621585"/>
          </a:xfrm>
          <a:prstGeom prst="line">
            <a:avLst/>
          </a:prstGeom>
          <a:ln w="10744">
            <a:solidFill>
              <a:srgbClr val="2F5496"/>
            </a:solidFill>
            <a:prstDash val="dash"/>
            <a:headEnd type="triangle" w="lg" len="lg"/>
            <a:tailEnd type="triangle" w="lg" len="lg"/>
          </a:ln>
        </p:spPr>
      </p:cxnSp>
      <p:sp>
        <p:nvSpPr>
          <p:cNvPr id="16" name="Text 6"/>
          <p:cNvSpPr txBox="1"/>
          <p:nvPr/>
        </p:nvSpPr>
        <p:spPr>
          <a:xfrm>
            <a:off x="6131455" y="3607308"/>
            <a:ext cx="489936" cy="21488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02" dirty="0">
                <a:solidFill>
                  <a:srgbClr val="000000"/>
                </a:solidFill>
              </a:rPr>
              <a:t>reviews</a:t>
            </a:r>
          </a:p>
        </p:txBody>
      </p:sp>
      <p:sp>
        <p:nvSpPr>
          <p:cNvPr id="17" name="CUSTOMER"/>
          <p:cNvSpPr/>
          <p:nvPr/>
        </p:nvSpPr>
        <p:spPr>
          <a:xfrm>
            <a:off x="5791939" y="1286561"/>
            <a:ext cx="1168969" cy="1117397"/>
          </a:xfrm>
          <a:prstGeom prst="rect">
            <a:avLst/>
          </a:prstGeom>
          <a:solidFill>
            <a:srgbClr val="FFFFFF"/>
          </a:solidFill>
          <a:ln w="10744">
            <a:solidFill>
              <a:srgbClr val="2F5496"/>
            </a:solidFill>
          </a:ln>
        </p:spPr>
      </p:sp>
      <p:sp>
        <p:nvSpPr>
          <p:cNvPr id="18" name="CUSTOMER title"/>
          <p:cNvSpPr/>
          <p:nvPr/>
        </p:nvSpPr>
        <p:spPr>
          <a:xfrm>
            <a:off x="5791939" y="1286561"/>
            <a:ext cx="1168969" cy="343814"/>
          </a:xfrm>
          <a:prstGeom prst="rect">
            <a:avLst/>
          </a:prstGeom>
          <a:solidFill>
            <a:srgbClr val="D9E2F3"/>
          </a:solidFill>
          <a:ln>
            <a:noFill/>
          </a:ln>
        </p:spPr>
      </p:sp>
      <p:sp>
        <p:nvSpPr>
          <p:cNvPr id="19" name="Divider"/>
          <p:cNvSpPr/>
          <p:nvPr/>
        </p:nvSpPr>
        <p:spPr>
          <a:xfrm>
            <a:off x="5791939" y="1625003"/>
            <a:ext cx="1168969" cy="1074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20" name="Text 10"/>
          <p:cNvSpPr txBox="1"/>
          <p:nvPr/>
        </p:nvSpPr>
        <p:spPr>
          <a:xfrm>
            <a:off x="5791939" y="1286561"/>
            <a:ext cx="1168969" cy="3438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241" dirty="0">
                <a:solidFill>
                  <a:srgbClr val="000000"/>
                </a:solidFill>
              </a:rPr>
              <a:t>CUSTOMER</a:t>
            </a:r>
          </a:p>
        </p:txBody>
      </p:sp>
      <p:sp>
        <p:nvSpPr>
          <p:cNvPr id="21" name="Text 11"/>
          <p:cNvSpPr txBox="1"/>
          <p:nvPr/>
        </p:nvSpPr>
        <p:spPr>
          <a:xfrm>
            <a:off x="5899381" y="1630375"/>
            <a:ext cx="954085" cy="77358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5" dirty="0">
                <a:solidFill>
                  <a:srgbClr val="000000"/>
                </a:solidFill>
              </a:rPr>
              <a:t>PK int id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5" dirty="0">
                <a:solidFill>
                  <a:srgbClr val="000000"/>
                </a:solidFill>
              </a:rPr>
              <a:t>UK string email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5" dirty="0">
                <a:solidFill>
                  <a:srgbClr val="000000"/>
                </a:solidFill>
              </a:rPr>
              <a:t>string name</a:t>
            </a:r>
          </a:p>
        </p:txBody>
      </p:sp>
      <p:sp>
        <p:nvSpPr>
          <p:cNvPr id="22" name="ORDER"/>
          <p:cNvSpPr/>
          <p:nvPr/>
        </p:nvSpPr>
        <p:spPr>
          <a:xfrm>
            <a:off x="5189190" y="3156052"/>
            <a:ext cx="1332281" cy="1117397"/>
          </a:xfrm>
          <a:prstGeom prst="rect">
            <a:avLst/>
          </a:prstGeom>
          <a:solidFill>
            <a:srgbClr val="FFFFFF"/>
          </a:solidFill>
          <a:ln w="10744">
            <a:solidFill>
              <a:srgbClr val="2F5496"/>
            </a:solidFill>
          </a:ln>
        </p:spPr>
      </p:sp>
      <p:sp>
        <p:nvSpPr>
          <p:cNvPr id="23" name="ORDER title"/>
          <p:cNvSpPr/>
          <p:nvPr/>
        </p:nvSpPr>
        <p:spPr>
          <a:xfrm>
            <a:off x="5189190" y="3156052"/>
            <a:ext cx="1332281" cy="343814"/>
          </a:xfrm>
          <a:prstGeom prst="rect">
            <a:avLst/>
          </a:prstGeom>
          <a:solidFill>
            <a:srgbClr val="D9E2F3"/>
          </a:solidFill>
          <a:ln>
            <a:noFill/>
          </a:ln>
        </p:spPr>
      </p:sp>
      <p:sp>
        <p:nvSpPr>
          <p:cNvPr id="24" name="Divider"/>
          <p:cNvSpPr/>
          <p:nvPr/>
        </p:nvSpPr>
        <p:spPr>
          <a:xfrm>
            <a:off x="5189190" y="3494493"/>
            <a:ext cx="1332281" cy="1074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25" name="Text 15"/>
          <p:cNvSpPr txBox="1"/>
          <p:nvPr/>
        </p:nvSpPr>
        <p:spPr>
          <a:xfrm>
            <a:off x="5189190" y="3156052"/>
            <a:ext cx="1332281" cy="3438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241" dirty="0">
                <a:solidFill>
                  <a:srgbClr val="000000"/>
                </a:solidFill>
              </a:rPr>
              <a:t>ORDER</a:t>
            </a:r>
          </a:p>
        </p:txBody>
      </p:sp>
      <p:sp>
        <p:nvSpPr>
          <p:cNvPr id="26" name="Text 16"/>
          <p:cNvSpPr txBox="1"/>
          <p:nvPr/>
        </p:nvSpPr>
        <p:spPr>
          <a:xfrm>
            <a:off x="5296632" y="3499866"/>
            <a:ext cx="1117397" cy="77358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5" dirty="0">
                <a:solidFill>
                  <a:srgbClr val="000000"/>
                </a:solidFill>
              </a:rPr>
              <a:t>PK int id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5" dirty="0">
                <a:solidFill>
                  <a:srgbClr val="000000"/>
                </a:solidFill>
              </a:rPr>
              <a:t>FK int customer_id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5" dirty="0">
                <a:solidFill>
                  <a:srgbClr val="000000"/>
                </a:solidFill>
              </a:rPr>
              <a:t>string status</a:t>
            </a:r>
          </a:p>
        </p:txBody>
      </p:sp>
      <p:sp>
        <p:nvSpPr>
          <p:cNvPr id="27" name="LINE-ITEM"/>
          <p:cNvSpPr/>
          <p:nvPr/>
        </p:nvSpPr>
        <p:spPr>
          <a:xfrm>
            <a:off x="5750037" y="5025542"/>
            <a:ext cx="1252774" cy="1117397"/>
          </a:xfrm>
          <a:prstGeom prst="rect">
            <a:avLst/>
          </a:prstGeom>
          <a:solidFill>
            <a:srgbClr val="FFFFFF"/>
          </a:solidFill>
          <a:ln w="10744">
            <a:solidFill>
              <a:srgbClr val="2F5496"/>
            </a:solidFill>
          </a:ln>
        </p:spPr>
      </p:sp>
      <p:sp>
        <p:nvSpPr>
          <p:cNvPr id="28" name="LINE-ITEM title"/>
          <p:cNvSpPr/>
          <p:nvPr/>
        </p:nvSpPr>
        <p:spPr>
          <a:xfrm>
            <a:off x="5750037" y="5025542"/>
            <a:ext cx="1252774" cy="343814"/>
          </a:xfrm>
          <a:prstGeom prst="rect">
            <a:avLst/>
          </a:prstGeom>
          <a:solidFill>
            <a:srgbClr val="D9E2F3"/>
          </a:solidFill>
          <a:ln>
            <a:noFill/>
          </a:ln>
        </p:spPr>
      </p:sp>
      <p:sp>
        <p:nvSpPr>
          <p:cNvPr id="29" name="Divider"/>
          <p:cNvSpPr/>
          <p:nvPr/>
        </p:nvSpPr>
        <p:spPr>
          <a:xfrm>
            <a:off x="5750037" y="5363984"/>
            <a:ext cx="1252774" cy="1074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30" name="Text 20"/>
          <p:cNvSpPr txBox="1"/>
          <p:nvPr/>
        </p:nvSpPr>
        <p:spPr>
          <a:xfrm>
            <a:off x="5750037" y="5025542"/>
            <a:ext cx="1252774" cy="3438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241" dirty="0">
                <a:solidFill>
                  <a:srgbClr val="000000"/>
                </a:solidFill>
              </a:rPr>
              <a:t>LINE-ITEM</a:t>
            </a:r>
          </a:p>
        </p:txBody>
      </p:sp>
      <p:sp>
        <p:nvSpPr>
          <p:cNvPr id="31" name="Text 21"/>
          <p:cNvSpPr txBox="1"/>
          <p:nvPr/>
        </p:nvSpPr>
        <p:spPr>
          <a:xfrm>
            <a:off x="5857479" y="5369357"/>
            <a:ext cx="1037890" cy="77358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5" dirty="0">
                <a:solidFill>
                  <a:srgbClr val="000000"/>
                </a:solidFill>
              </a:rPr>
              <a:t>PK int id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5" dirty="0">
                <a:solidFill>
                  <a:srgbClr val="000000"/>
                </a:solidFill>
              </a:rPr>
              <a:t>FK int order_id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5" dirty="0">
                <a:solidFill>
                  <a:srgbClr val="000000"/>
                </a:solidFill>
              </a:rPr>
              <a:t>string product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escape-xml</a:t>
            </a:r>
          </a:p>
        </p:txBody>
      </p:sp>
      <p:sp>
        <p:nvSpPr>
          <p:cNvPr id="12" name="Requete &lt;GET&gt; &amp; valeur" descr="A"/>
          <p:cNvSpPr/>
          <p:nvPr/>
        </p:nvSpPr>
        <p:spPr>
          <a:xfrm>
            <a:off x="4370642" y="1028700"/>
            <a:ext cx="1619670" cy="767443"/>
          </a:xfrm>
          <a:prstGeom prst="rect">
            <a:avLst/>
          </a:prstGeom>
          <a:solidFill>
            <a:srgbClr val="D9E2F3"/>
          </a:solidFill>
          <a:ln w="9745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0166" tIns="35083" rIns="70166" bIns="350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Requete &lt;GET&gt; &amp; valeur</a:t>
            </a:r>
          </a:p>
        </p:txBody>
      </p:sp>
      <p:sp>
        <p:nvSpPr>
          <p:cNvPr id="13" name="Valide?" descr="B"/>
          <p:cNvSpPr/>
          <p:nvPr/>
        </p:nvSpPr>
        <p:spPr>
          <a:xfrm>
            <a:off x="4192303" y="2380861"/>
            <a:ext cx="1976348" cy="1096347"/>
          </a:xfrm>
          <a:prstGeom prst="diamond">
            <a:avLst/>
          </a:prstGeom>
          <a:solidFill>
            <a:srgbClr val="D9E2F3"/>
          </a:solidFill>
          <a:ln w="9745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0166" tIns="35083" rIns="70166" bIns="350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Valide?</a:t>
            </a:r>
          </a:p>
        </p:txBody>
      </p:sp>
      <p:sp>
        <p:nvSpPr>
          <p:cNvPr id="14" name="Resultat &lt;OK&gt;" descr="C"/>
          <p:cNvSpPr/>
          <p:nvPr/>
        </p:nvSpPr>
        <p:spPr>
          <a:xfrm>
            <a:off x="3409950" y="4171561"/>
            <a:ext cx="1602128" cy="548173"/>
          </a:xfrm>
          <a:prstGeom prst="rect">
            <a:avLst/>
          </a:prstGeom>
          <a:solidFill>
            <a:srgbClr val="D9E2F3"/>
          </a:solidFill>
          <a:ln w="9745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0166" tIns="35083" rIns="70166" bIns="350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Resultat &lt;OK&gt;</a:t>
            </a:r>
          </a:p>
        </p:txBody>
      </p:sp>
      <p:sp>
        <p:nvSpPr>
          <p:cNvPr id="15" name="Erreur 500 &amp; echec" descr="D"/>
          <p:cNvSpPr/>
          <p:nvPr/>
        </p:nvSpPr>
        <p:spPr>
          <a:xfrm>
            <a:off x="5450617" y="4061927"/>
            <a:ext cx="1398646" cy="767443"/>
          </a:xfrm>
          <a:prstGeom prst="rect">
            <a:avLst/>
          </a:prstGeom>
          <a:solidFill>
            <a:srgbClr val="D9E2F3"/>
          </a:solidFill>
          <a:ln w="9745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0166" tIns="35083" rIns="70166" bIns="350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Erreur 500 &amp; echec</a:t>
            </a:r>
          </a:p>
        </p:txBody>
      </p:sp>
      <p:sp>
        <p:nvSpPr>
          <p:cNvPr id="16" name="Sauver 'donnees' &amp; finir" descr="E"/>
          <p:cNvSpPr/>
          <p:nvPr/>
        </p:nvSpPr>
        <p:spPr>
          <a:xfrm>
            <a:off x="3541512" y="5414088"/>
            <a:ext cx="1339005" cy="986712"/>
          </a:xfrm>
          <a:prstGeom prst="rect">
            <a:avLst/>
          </a:prstGeom>
          <a:solidFill>
            <a:srgbClr val="D9E2F3"/>
          </a:solidFill>
          <a:ln w="9745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0166" tIns="35083" rIns="70166" bIns="350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Sauver 'donnees' &amp; finir</a:t>
            </a:r>
          </a:p>
        </p:txBody>
      </p:sp>
      <p:cxnSp>
        <p:nvCxnSpPr>
          <p:cNvPr id="17" name="A--B"/>
          <p:cNvCxnSpPr>
            <a:stCxn id="12" idx="2"/>
            <a:endCxn id="13" idx="0"/>
          </p:cNvCxnSpPr>
          <p:nvPr/>
        </p:nvCxnSpPr>
        <p:spPr>
          <a:xfrm>
            <a:off x="5180477" y="1796143"/>
            <a:ext cx="0" cy="584718"/>
          </a:xfrm>
          <a:prstGeom prst="line">
            <a:avLst/>
          </a:prstGeom>
          <a:ln w="9745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B--C"/>
          <p:cNvCxnSpPr>
            <a:stCxn id="13" idx="2"/>
            <a:endCxn id="14" idx="0"/>
          </p:cNvCxnSpPr>
          <p:nvPr/>
        </p:nvCxnSpPr>
        <p:spPr>
          <a:xfrm flipH="1">
            <a:off x="4211014" y="3477208"/>
            <a:ext cx="969463" cy="694353"/>
          </a:xfrm>
          <a:prstGeom prst="line">
            <a:avLst/>
          </a:prstGeom>
          <a:ln w="9745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EdgeLabel"/>
          <p:cNvSpPr txBox="1"/>
          <p:nvPr/>
        </p:nvSpPr>
        <p:spPr>
          <a:xfrm>
            <a:off x="4510975" y="3736677"/>
            <a:ext cx="369542" cy="1754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29236" tIns="0" rIns="29236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000000"/>
                </a:solidFill>
              </a:rPr>
              <a:t>oui</a:t>
            </a:r>
          </a:p>
        </p:txBody>
      </p:sp>
      <p:cxnSp>
        <p:nvCxnSpPr>
          <p:cNvPr id="20" name="B--D"/>
          <p:cNvCxnSpPr>
            <a:stCxn id="13" idx="2"/>
            <a:endCxn id="15" idx="0"/>
          </p:cNvCxnSpPr>
          <p:nvPr/>
        </p:nvCxnSpPr>
        <p:spPr>
          <a:xfrm>
            <a:off x="5180477" y="3477208"/>
            <a:ext cx="969463" cy="584719"/>
          </a:xfrm>
          <a:prstGeom prst="line">
            <a:avLst/>
          </a:prstGeom>
          <a:ln w="9745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EdgeLabel"/>
          <p:cNvSpPr txBox="1"/>
          <p:nvPr/>
        </p:nvSpPr>
        <p:spPr>
          <a:xfrm>
            <a:off x="5480438" y="3681859"/>
            <a:ext cx="369542" cy="1754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29236" tIns="0" rIns="29236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000000"/>
                </a:solidFill>
              </a:rPr>
              <a:t>non</a:t>
            </a:r>
          </a:p>
        </p:txBody>
      </p:sp>
      <p:cxnSp>
        <p:nvCxnSpPr>
          <p:cNvPr id="22" name="C--E"/>
          <p:cNvCxnSpPr>
            <a:stCxn id="14" idx="2"/>
            <a:endCxn id="16" idx="0"/>
          </p:cNvCxnSpPr>
          <p:nvPr/>
        </p:nvCxnSpPr>
        <p:spPr>
          <a:xfrm>
            <a:off x="4211014" y="4719735"/>
            <a:ext cx="0" cy="694353"/>
          </a:xfrm>
          <a:prstGeom prst="line">
            <a:avLst/>
          </a:prstGeom>
          <a:ln w="9745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eventmodeling</a:t>
            </a:r>
          </a:p>
        </p:txBody>
      </p:sp>
      <p:sp>
        <p:nvSpPr>
          <p:cNvPr id="11" name="Lane UI / Automation"/>
          <p:cNvSpPr/>
          <p:nvPr/>
        </p:nvSpPr>
        <p:spPr>
          <a:xfrm>
            <a:off x="457200" y="2688653"/>
            <a:ext cx="11277600" cy="366238"/>
          </a:xfrm>
          <a:prstGeom prst="rect">
            <a:avLst/>
          </a:prstGeom>
          <a:solidFill>
            <a:srgbClr val="F7F7F7"/>
          </a:solidFill>
          <a:ln w="9525">
            <a:solidFill>
              <a:srgbClr val="D0D0D0"/>
            </a:solidFill>
          </a:ln>
        </p:spPr>
      </p:sp>
      <p:sp>
        <p:nvSpPr>
          <p:cNvPr id="12" name="Box 2"/>
          <p:cNvSpPr/>
          <p:nvPr/>
        </p:nvSpPr>
        <p:spPr>
          <a:xfrm>
            <a:off x="495087" y="2783370"/>
            <a:ext cx="681960" cy="88402"/>
          </a:xfrm>
          <a:prstGeom prst="rect">
            <a:avLst/>
          </a:prstGeom>
          <a:noFill/>
          <a:ln>
            <a:noFill/>
          </a:ln>
        </p:spPr>
        <p:txBody>
          <a:bodyPr wrap="none" lIns="12629" tIns="0" rIns="12629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333333"/>
                </a:solidFill>
              </a:rPr>
              <a:t>UI / Automation</a:t>
            </a:r>
          </a:p>
        </p:txBody>
      </p:sp>
      <p:sp>
        <p:nvSpPr>
          <p:cNvPr id="13" name="Lane Command / Read Model"/>
          <p:cNvSpPr/>
          <p:nvPr/>
        </p:nvSpPr>
        <p:spPr>
          <a:xfrm>
            <a:off x="457200" y="3054891"/>
            <a:ext cx="11277600" cy="543042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</p:spPr>
      </p:sp>
      <p:sp>
        <p:nvSpPr>
          <p:cNvPr id="14" name="Box 4"/>
          <p:cNvSpPr/>
          <p:nvPr/>
        </p:nvSpPr>
        <p:spPr>
          <a:xfrm>
            <a:off x="495087" y="3238010"/>
            <a:ext cx="681960" cy="176804"/>
          </a:xfrm>
          <a:prstGeom prst="rect">
            <a:avLst/>
          </a:prstGeom>
          <a:noFill/>
          <a:ln>
            <a:noFill/>
          </a:ln>
        </p:spPr>
        <p:txBody>
          <a:bodyPr wrap="none" lIns="12629" tIns="0" rIns="12629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333333"/>
                </a:solidFill>
              </a:rPr>
              <a:t>Command / Read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333333"/>
                </a:solidFill>
              </a:rPr>
              <a:t>Model</a:t>
            </a:r>
          </a:p>
        </p:txBody>
      </p:sp>
      <p:sp>
        <p:nvSpPr>
          <p:cNvPr id="15" name="Lane Events"/>
          <p:cNvSpPr/>
          <p:nvPr/>
        </p:nvSpPr>
        <p:spPr>
          <a:xfrm>
            <a:off x="457200" y="3597933"/>
            <a:ext cx="11277600" cy="745105"/>
          </a:xfrm>
          <a:prstGeom prst="rect">
            <a:avLst/>
          </a:prstGeom>
          <a:solidFill>
            <a:srgbClr val="F7F7F7"/>
          </a:solidFill>
          <a:ln w="9525">
            <a:solidFill>
              <a:srgbClr val="D0D0D0"/>
            </a:solidFill>
          </a:ln>
        </p:spPr>
      </p:sp>
      <p:sp>
        <p:nvSpPr>
          <p:cNvPr id="16" name="Box 6"/>
          <p:cNvSpPr/>
          <p:nvPr/>
        </p:nvSpPr>
        <p:spPr>
          <a:xfrm>
            <a:off x="495087" y="3882083"/>
            <a:ext cx="681960" cy="88402"/>
          </a:xfrm>
          <a:prstGeom prst="rect">
            <a:avLst/>
          </a:prstGeom>
          <a:noFill/>
          <a:ln>
            <a:noFill/>
          </a:ln>
        </p:spPr>
        <p:txBody>
          <a:bodyPr wrap="none" lIns="12629" tIns="0" rIns="12629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333333"/>
                </a:solidFill>
              </a:rPr>
              <a:t>Events</a:t>
            </a:r>
          </a:p>
        </p:txBody>
      </p:sp>
      <p:sp>
        <p:nvSpPr>
          <p:cNvPr id="17" name="Lane Billing / Events"/>
          <p:cNvSpPr/>
          <p:nvPr/>
        </p:nvSpPr>
        <p:spPr>
          <a:xfrm>
            <a:off x="457200" y="4343038"/>
            <a:ext cx="11277600" cy="366238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</p:spPr>
      </p:sp>
      <p:sp>
        <p:nvSpPr>
          <p:cNvPr id="18" name="Box 8"/>
          <p:cNvSpPr/>
          <p:nvPr/>
        </p:nvSpPr>
        <p:spPr>
          <a:xfrm>
            <a:off x="495087" y="4437755"/>
            <a:ext cx="681960" cy="88402"/>
          </a:xfrm>
          <a:prstGeom prst="rect">
            <a:avLst/>
          </a:prstGeom>
          <a:noFill/>
          <a:ln>
            <a:noFill/>
          </a:ln>
        </p:spPr>
        <p:txBody>
          <a:bodyPr wrap="none" lIns="12629" tIns="0" rIns="12629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333333"/>
                </a:solidFill>
              </a:rPr>
              <a:t>Billing / Events</a:t>
            </a:r>
          </a:p>
        </p:txBody>
      </p:sp>
      <p:sp>
        <p:nvSpPr>
          <p:cNvPr id="19" name="Box 9"/>
          <p:cNvSpPr/>
          <p:nvPr/>
        </p:nvSpPr>
        <p:spPr>
          <a:xfrm>
            <a:off x="1214933" y="2511849"/>
            <a:ext cx="947167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7F7F7F"/>
                </a:solidFill>
              </a:rPr>
              <a:t>01</a:t>
            </a:r>
          </a:p>
        </p:txBody>
      </p:sp>
      <p:sp>
        <p:nvSpPr>
          <p:cNvPr id="20" name="Box 10"/>
          <p:cNvSpPr/>
          <p:nvPr/>
        </p:nvSpPr>
        <p:spPr>
          <a:xfrm>
            <a:off x="2162100" y="2511849"/>
            <a:ext cx="947167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7F7F7F"/>
                </a:solidFill>
              </a:rPr>
              <a:t>02</a:t>
            </a:r>
          </a:p>
        </p:txBody>
      </p:sp>
      <p:sp>
        <p:nvSpPr>
          <p:cNvPr id="21" name="Box 11"/>
          <p:cNvSpPr/>
          <p:nvPr/>
        </p:nvSpPr>
        <p:spPr>
          <a:xfrm>
            <a:off x="3109267" y="2511849"/>
            <a:ext cx="947167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7F7F7F"/>
                </a:solidFill>
              </a:rPr>
              <a:t>03</a:t>
            </a:r>
          </a:p>
        </p:txBody>
      </p:sp>
      <p:sp>
        <p:nvSpPr>
          <p:cNvPr id="22" name="Box 12"/>
          <p:cNvSpPr/>
          <p:nvPr/>
        </p:nvSpPr>
        <p:spPr>
          <a:xfrm>
            <a:off x="4056434" y="2511849"/>
            <a:ext cx="947167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7F7F7F"/>
                </a:solidFill>
              </a:rPr>
              <a:t>04</a:t>
            </a:r>
          </a:p>
        </p:txBody>
      </p:sp>
      <p:sp>
        <p:nvSpPr>
          <p:cNvPr id="23" name="Box 13"/>
          <p:cNvSpPr/>
          <p:nvPr/>
        </p:nvSpPr>
        <p:spPr>
          <a:xfrm>
            <a:off x="5003601" y="2511849"/>
            <a:ext cx="947167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7F7F7F"/>
                </a:solidFill>
              </a:rPr>
              <a:t>05</a:t>
            </a:r>
          </a:p>
        </p:txBody>
      </p:sp>
      <p:sp>
        <p:nvSpPr>
          <p:cNvPr id="24" name="Box 14"/>
          <p:cNvSpPr/>
          <p:nvPr/>
        </p:nvSpPr>
        <p:spPr>
          <a:xfrm>
            <a:off x="5950768" y="2511849"/>
            <a:ext cx="947167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7F7F7F"/>
                </a:solidFill>
              </a:rPr>
              <a:t>06</a:t>
            </a:r>
          </a:p>
        </p:txBody>
      </p:sp>
      <p:sp>
        <p:nvSpPr>
          <p:cNvPr id="25" name="Box 15"/>
          <p:cNvSpPr/>
          <p:nvPr/>
        </p:nvSpPr>
        <p:spPr>
          <a:xfrm>
            <a:off x="6897935" y="2511849"/>
            <a:ext cx="947167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7F7F7F"/>
                </a:solidFill>
              </a:rPr>
              <a:t>07</a:t>
            </a:r>
          </a:p>
        </p:txBody>
      </p:sp>
      <p:sp>
        <p:nvSpPr>
          <p:cNvPr id="26" name="Box 16"/>
          <p:cNvSpPr/>
          <p:nvPr/>
        </p:nvSpPr>
        <p:spPr>
          <a:xfrm>
            <a:off x="7845101" y="2511849"/>
            <a:ext cx="947167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7F7F7F"/>
                </a:solidFill>
              </a:rPr>
              <a:t>08</a:t>
            </a:r>
          </a:p>
        </p:txBody>
      </p:sp>
      <p:sp>
        <p:nvSpPr>
          <p:cNvPr id="27" name="Box 17"/>
          <p:cNvSpPr/>
          <p:nvPr/>
        </p:nvSpPr>
        <p:spPr>
          <a:xfrm>
            <a:off x="8792268" y="2511849"/>
            <a:ext cx="947167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7F7F7F"/>
                </a:solidFill>
              </a:rPr>
              <a:t>09 (reset)</a:t>
            </a:r>
          </a:p>
        </p:txBody>
      </p:sp>
      <p:sp>
        <p:nvSpPr>
          <p:cNvPr id="28" name="Box 18"/>
          <p:cNvSpPr/>
          <p:nvPr/>
        </p:nvSpPr>
        <p:spPr>
          <a:xfrm>
            <a:off x="9739435" y="2511849"/>
            <a:ext cx="947167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7F7F7F"/>
                </a:solidFill>
              </a:rPr>
              <a:t>10</a:t>
            </a:r>
          </a:p>
        </p:txBody>
      </p:sp>
      <p:sp>
        <p:nvSpPr>
          <p:cNvPr id="29" name="Box 19"/>
          <p:cNvSpPr/>
          <p:nvPr/>
        </p:nvSpPr>
        <p:spPr>
          <a:xfrm>
            <a:off x="10686602" y="2511849"/>
            <a:ext cx="947167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7F7F7F"/>
                </a:solidFill>
              </a:rPr>
              <a:t>11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1859533" y="2953860"/>
            <a:ext cx="420963" cy="202062"/>
          </a:xfrm>
          <a:prstGeom prst="line">
            <a:avLst/>
          </a:prstGeom>
          <a:ln w="6314">
            <a:solidFill>
              <a:srgbClr val="595959"/>
            </a:solidFill>
            <a:prstDash val="solid"/>
            <a:tailEnd type="triangle" w="sm" len="sm"/>
          </a:ln>
        </p:spPr>
      </p:cxnSp>
      <p:cxnSp>
        <p:nvCxnSpPr>
          <p:cNvPr id="31" name="Connector 21"/>
          <p:cNvCxnSpPr/>
          <p:nvPr/>
        </p:nvCxnSpPr>
        <p:spPr>
          <a:xfrm>
            <a:off x="2933050" y="3496902"/>
            <a:ext cx="352434" cy="202063"/>
          </a:xfrm>
          <a:prstGeom prst="line">
            <a:avLst/>
          </a:prstGeom>
          <a:ln w="6314">
            <a:solidFill>
              <a:srgbClr val="595959"/>
            </a:solidFill>
            <a:prstDash val="solid"/>
            <a:tailEnd type="triangle" w="sm" len="sm"/>
          </a:ln>
        </p:spPr>
      </p:cxnSp>
      <p:cxnSp>
        <p:nvCxnSpPr>
          <p:cNvPr id="32" name="Connector 22"/>
          <p:cNvCxnSpPr/>
          <p:nvPr/>
        </p:nvCxnSpPr>
        <p:spPr>
          <a:xfrm flipV="1">
            <a:off x="3838586" y="3320098"/>
            <a:ext cx="568300" cy="378867"/>
          </a:xfrm>
          <a:prstGeom prst="line">
            <a:avLst/>
          </a:prstGeom>
          <a:ln w="6314">
            <a:solidFill>
              <a:srgbClr val="595959"/>
            </a:solidFill>
            <a:prstDash val="solid"/>
            <a:tailEnd type="triangle" w="sm" len="sm"/>
          </a:ln>
        </p:spPr>
      </p:cxnSp>
      <p:cxnSp>
        <p:nvCxnSpPr>
          <p:cNvPr id="33" name="Connector 23"/>
          <p:cNvCxnSpPr/>
          <p:nvPr/>
        </p:nvCxnSpPr>
        <p:spPr>
          <a:xfrm flipV="1">
            <a:off x="4742313" y="2953860"/>
            <a:ext cx="522575" cy="202062"/>
          </a:xfrm>
          <a:prstGeom prst="line">
            <a:avLst/>
          </a:prstGeom>
          <a:ln w="6314">
            <a:solidFill>
              <a:srgbClr val="595959"/>
            </a:solidFill>
            <a:prstDash val="solid"/>
            <a:tailEnd type="triangle" w="sm" len="sm"/>
          </a:ln>
        </p:spPr>
      </p:cxnSp>
      <p:cxnSp>
        <p:nvCxnSpPr>
          <p:cNvPr id="34" name="Connector 24"/>
          <p:cNvCxnSpPr/>
          <p:nvPr/>
        </p:nvCxnSpPr>
        <p:spPr>
          <a:xfrm flipV="1">
            <a:off x="4934142" y="2949903"/>
            <a:ext cx="1086085" cy="209976"/>
          </a:xfrm>
          <a:prstGeom prst="line">
            <a:avLst/>
          </a:prstGeom>
          <a:ln w="6314">
            <a:solidFill>
              <a:srgbClr val="595959"/>
            </a:solidFill>
            <a:prstDash val="solid"/>
            <a:tailEnd type="triangle" w="sm" len="sm"/>
          </a:ln>
        </p:spPr>
      </p:cxnSp>
      <p:cxnSp>
        <p:nvCxnSpPr>
          <p:cNvPr id="35" name="Connector 25"/>
          <p:cNvCxnSpPr/>
          <p:nvPr/>
        </p:nvCxnSpPr>
        <p:spPr>
          <a:xfrm>
            <a:off x="6636647" y="2953860"/>
            <a:ext cx="522575" cy="202062"/>
          </a:xfrm>
          <a:prstGeom prst="line">
            <a:avLst/>
          </a:prstGeom>
          <a:ln w="6314">
            <a:solidFill>
              <a:srgbClr val="595959"/>
            </a:solidFill>
            <a:prstDash val="solid"/>
            <a:tailEnd type="triangle" w="sm" len="sm"/>
          </a:ln>
        </p:spPr>
      </p:cxnSp>
      <p:cxnSp>
        <p:nvCxnSpPr>
          <p:cNvPr id="36" name="Connector 26"/>
          <p:cNvCxnSpPr/>
          <p:nvPr/>
        </p:nvCxnSpPr>
        <p:spPr>
          <a:xfrm>
            <a:off x="7431877" y="3320098"/>
            <a:ext cx="826449" cy="1123971"/>
          </a:xfrm>
          <a:prstGeom prst="line">
            <a:avLst/>
          </a:prstGeom>
          <a:ln w="6314">
            <a:solidFill>
              <a:srgbClr val="595959"/>
            </a:solidFill>
            <a:prstDash val="solid"/>
            <a:tailEnd type="triangle" w="sm" len="sm"/>
          </a:ln>
        </p:spPr>
      </p:cxnSp>
      <p:cxnSp>
        <p:nvCxnSpPr>
          <p:cNvPr id="37" name="Connector 27"/>
          <p:cNvCxnSpPr/>
          <p:nvPr/>
        </p:nvCxnSpPr>
        <p:spPr>
          <a:xfrm flipV="1">
            <a:off x="4934142" y="2903024"/>
            <a:ext cx="3927585" cy="303734"/>
          </a:xfrm>
          <a:prstGeom prst="line">
            <a:avLst/>
          </a:prstGeom>
          <a:ln w="6314">
            <a:solidFill>
              <a:srgbClr val="595959"/>
            </a:solidFill>
            <a:prstDash val="solid"/>
            <a:tailEnd type="triangle" w="sm" len="sm"/>
          </a:ln>
        </p:spPr>
      </p:cxnSp>
      <p:cxnSp>
        <p:nvCxnSpPr>
          <p:cNvPr id="38" name="Connector 28"/>
          <p:cNvCxnSpPr/>
          <p:nvPr/>
        </p:nvCxnSpPr>
        <p:spPr>
          <a:xfrm>
            <a:off x="9478148" y="2953860"/>
            <a:ext cx="522575" cy="202062"/>
          </a:xfrm>
          <a:prstGeom prst="line">
            <a:avLst/>
          </a:prstGeom>
          <a:ln w="6314">
            <a:solidFill>
              <a:srgbClr val="595959"/>
            </a:solidFill>
            <a:prstDash val="solid"/>
            <a:tailEnd type="triangle" w="sm" len="sm"/>
          </a:ln>
        </p:spPr>
      </p:cxnSp>
      <p:cxnSp>
        <p:nvCxnSpPr>
          <p:cNvPr id="39" name="Connector 29"/>
          <p:cNvCxnSpPr/>
          <p:nvPr/>
        </p:nvCxnSpPr>
        <p:spPr>
          <a:xfrm>
            <a:off x="10273377" y="3320098"/>
            <a:ext cx="826450" cy="1123971"/>
          </a:xfrm>
          <a:prstGeom prst="line">
            <a:avLst/>
          </a:prstGeom>
          <a:ln w="6314">
            <a:solidFill>
              <a:srgbClr val="595959"/>
            </a:solidFill>
            <a:prstDash val="solid"/>
            <a:tailEnd type="triangle" w="sm" len="sm"/>
          </a:ln>
        </p:spPr>
      </p:cxnSp>
      <p:sp>
        <p:nvSpPr>
          <p:cNvPr id="40" name="Frame 01"/>
          <p:cNvSpPr/>
          <p:nvPr/>
        </p:nvSpPr>
        <p:spPr>
          <a:xfrm>
            <a:off x="1284392" y="2789684"/>
            <a:ext cx="808249" cy="16417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333333"/>
            </a:solidFill>
          </a:ln>
        </p:spPr>
      </p:sp>
      <p:sp>
        <p:nvSpPr>
          <p:cNvPr id="41" name="Box 31"/>
          <p:cNvSpPr/>
          <p:nvPr/>
        </p:nvSpPr>
        <p:spPr>
          <a:xfrm>
            <a:off x="1309650" y="2827571"/>
            <a:ext cx="757733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00" dirty="0">
                <a:solidFill>
                  <a:srgbClr val="333333"/>
                </a:solidFill>
              </a:rPr>
              <a:t>CartScreen</a:t>
            </a:r>
          </a:p>
        </p:txBody>
      </p:sp>
      <p:sp>
        <p:nvSpPr>
          <p:cNvPr id="42" name="Frame 02"/>
          <p:cNvSpPr/>
          <p:nvPr/>
        </p:nvSpPr>
        <p:spPr>
          <a:xfrm>
            <a:off x="2231559" y="3155922"/>
            <a:ext cx="808249" cy="340980"/>
          </a:xfrm>
          <a:prstGeom prst="roundRect">
            <a:avLst/>
          </a:prstGeom>
          <a:solidFill>
            <a:srgbClr val="A9C9F5"/>
          </a:solidFill>
          <a:ln w="9525">
            <a:solidFill>
              <a:srgbClr val="333333"/>
            </a:solidFill>
          </a:ln>
        </p:spPr>
      </p:sp>
      <p:sp>
        <p:nvSpPr>
          <p:cNvPr id="43" name="Box 33"/>
          <p:cNvSpPr/>
          <p:nvPr/>
        </p:nvSpPr>
        <p:spPr>
          <a:xfrm>
            <a:off x="2256817" y="3193809"/>
            <a:ext cx="757733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00" dirty="0">
                <a:solidFill>
                  <a:srgbClr val="333333"/>
                </a:solidFill>
              </a:rPr>
              <a:t>AddItem</a:t>
            </a:r>
          </a:p>
        </p:txBody>
      </p:sp>
      <p:sp>
        <p:nvSpPr>
          <p:cNvPr id="44" name="Box 34"/>
          <p:cNvSpPr/>
          <p:nvPr/>
        </p:nvSpPr>
        <p:spPr>
          <a:xfrm>
            <a:off x="2256817" y="3294840"/>
            <a:ext cx="757733" cy="15154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404040"/>
                </a:solidFill>
              </a:rPr>
              <a:t>description: 'john'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404040"/>
                </a:solidFill>
              </a:rPr>
              <a:t>price: 20.4</a:t>
            </a:r>
          </a:p>
        </p:txBody>
      </p:sp>
      <p:sp>
        <p:nvSpPr>
          <p:cNvPr id="45" name="Frame 03"/>
          <p:cNvSpPr/>
          <p:nvPr/>
        </p:nvSpPr>
        <p:spPr>
          <a:xfrm>
            <a:off x="3178726" y="3698965"/>
            <a:ext cx="808249" cy="340980"/>
          </a:xfrm>
          <a:prstGeom prst="roundRect">
            <a:avLst/>
          </a:prstGeom>
          <a:solidFill>
            <a:srgbClr val="FFC078"/>
          </a:solidFill>
          <a:ln w="9525">
            <a:solidFill>
              <a:srgbClr val="333333"/>
            </a:solidFill>
          </a:ln>
        </p:spPr>
      </p:sp>
      <p:sp>
        <p:nvSpPr>
          <p:cNvPr id="46" name="Box 36"/>
          <p:cNvSpPr/>
          <p:nvPr/>
        </p:nvSpPr>
        <p:spPr>
          <a:xfrm>
            <a:off x="3203984" y="3736851"/>
            <a:ext cx="757733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00" dirty="0">
                <a:solidFill>
                  <a:srgbClr val="333333"/>
                </a:solidFill>
              </a:rPr>
              <a:t>ItemAdded</a:t>
            </a:r>
          </a:p>
        </p:txBody>
      </p:sp>
      <p:sp>
        <p:nvSpPr>
          <p:cNvPr id="47" name="Box 37"/>
          <p:cNvSpPr/>
          <p:nvPr/>
        </p:nvSpPr>
        <p:spPr>
          <a:xfrm>
            <a:off x="3203984" y="3837882"/>
            <a:ext cx="757733" cy="15154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404040"/>
                </a:solidFill>
              </a:rPr>
              <a:t>{"itemId": "42",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404040"/>
                </a:solidFill>
              </a:rPr>
              <a:t>"qty": 1}</a:t>
            </a:r>
          </a:p>
        </p:txBody>
      </p:sp>
      <p:sp>
        <p:nvSpPr>
          <p:cNvPr id="48" name="Note"/>
          <p:cNvSpPr/>
          <p:nvPr/>
        </p:nvSpPr>
        <p:spPr>
          <a:xfrm>
            <a:off x="3178726" y="4077831"/>
            <a:ext cx="808249" cy="176804"/>
          </a:xfrm>
          <a:prstGeom prst="rect">
            <a:avLst/>
          </a:prstGeom>
          <a:solidFill>
            <a:srgbClr val="FFF2A8"/>
          </a:solidFill>
          <a:ln w="9525">
            <a:solidFill>
              <a:srgbClr val="BFA900"/>
            </a:solidFill>
          </a:ln>
        </p:spPr>
      </p:sp>
      <p:sp>
        <p:nvSpPr>
          <p:cNvPr id="49" name="Box 39"/>
          <p:cNvSpPr/>
          <p:nvPr/>
        </p:nvSpPr>
        <p:spPr>
          <a:xfrm>
            <a:off x="3203984" y="4090460"/>
            <a:ext cx="757733" cy="151547"/>
          </a:xfrm>
          <a:prstGeom prst="rect">
            <a:avLst/>
          </a:prstGeom>
          <a:noFill/>
          <a:ln>
            <a:noFill/>
          </a:ln>
        </p:spPr>
        <p:txBody>
          <a:bodyPr wrap="none" lIns="12629" tIns="0" rIns="12629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333333"/>
                </a:solidFill>
              </a:rPr>
              <a:t>stock reserved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333333"/>
                </a:solidFill>
              </a:rPr>
              <a:t>elsewhere</a:t>
            </a:r>
          </a:p>
        </p:txBody>
      </p:sp>
      <p:sp>
        <p:nvSpPr>
          <p:cNvPr id="50" name="Frame 04"/>
          <p:cNvSpPr/>
          <p:nvPr/>
        </p:nvSpPr>
        <p:spPr>
          <a:xfrm>
            <a:off x="4125893" y="3155922"/>
            <a:ext cx="808249" cy="164176"/>
          </a:xfrm>
          <a:prstGeom prst="roundRect">
            <a:avLst/>
          </a:prstGeom>
          <a:solidFill>
            <a:srgbClr val="B5E0A0"/>
          </a:solidFill>
          <a:ln w="9525">
            <a:solidFill>
              <a:srgbClr val="333333"/>
            </a:solidFill>
          </a:ln>
        </p:spPr>
      </p:sp>
      <p:sp>
        <p:nvSpPr>
          <p:cNvPr id="51" name="Box 41"/>
          <p:cNvSpPr/>
          <p:nvPr/>
        </p:nvSpPr>
        <p:spPr>
          <a:xfrm>
            <a:off x="4151151" y="3193809"/>
            <a:ext cx="757733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00" dirty="0">
                <a:solidFill>
                  <a:srgbClr val="333333"/>
                </a:solidFill>
              </a:rPr>
              <a:t>CartItems</a:t>
            </a:r>
          </a:p>
        </p:txBody>
      </p:sp>
      <p:sp>
        <p:nvSpPr>
          <p:cNvPr id="52" name="Frame 05"/>
          <p:cNvSpPr/>
          <p:nvPr/>
        </p:nvSpPr>
        <p:spPr>
          <a:xfrm>
            <a:off x="5073060" y="2789684"/>
            <a:ext cx="808249" cy="16417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333333"/>
            </a:solidFill>
          </a:ln>
        </p:spPr>
      </p:sp>
      <p:sp>
        <p:nvSpPr>
          <p:cNvPr id="53" name="Box 43"/>
          <p:cNvSpPr/>
          <p:nvPr/>
        </p:nvSpPr>
        <p:spPr>
          <a:xfrm>
            <a:off x="5098318" y="2827571"/>
            <a:ext cx="757733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450" dirty="0">
                <a:solidFill>
                  <a:srgbClr val="333333"/>
                </a:solidFill>
              </a:rPr>
              <a:t>CartScreenUpdated</a:t>
            </a:r>
          </a:p>
        </p:txBody>
      </p:sp>
      <p:sp>
        <p:nvSpPr>
          <p:cNvPr id="54" name="Frame 06"/>
          <p:cNvSpPr/>
          <p:nvPr/>
        </p:nvSpPr>
        <p:spPr>
          <a:xfrm>
            <a:off x="6020227" y="2789684"/>
            <a:ext cx="808249" cy="164176"/>
          </a:xfrm>
          <a:prstGeom prst="roundRect">
            <a:avLst/>
          </a:prstGeom>
          <a:solidFill>
            <a:srgbClr val="D9D9D9"/>
          </a:solidFill>
          <a:ln w="9525">
            <a:solidFill>
              <a:srgbClr val="333333"/>
            </a:solidFill>
          </a:ln>
        </p:spPr>
      </p:sp>
      <p:sp>
        <p:nvSpPr>
          <p:cNvPr id="55" name="Box 45"/>
          <p:cNvSpPr/>
          <p:nvPr/>
        </p:nvSpPr>
        <p:spPr>
          <a:xfrm>
            <a:off x="6045484" y="2827571"/>
            <a:ext cx="757733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333333"/>
                </a:solidFill>
              </a:rPr>
              <a:t>PriceCalculator</a:t>
            </a:r>
          </a:p>
        </p:txBody>
      </p:sp>
      <p:sp>
        <p:nvSpPr>
          <p:cNvPr id="56" name="Frame 07"/>
          <p:cNvSpPr/>
          <p:nvPr/>
        </p:nvSpPr>
        <p:spPr>
          <a:xfrm>
            <a:off x="6967394" y="3155922"/>
            <a:ext cx="808249" cy="164176"/>
          </a:xfrm>
          <a:prstGeom prst="roundRect">
            <a:avLst/>
          </a:prstGeom>
          <a:solidFill>
            <a:srgbClr val="A9C9F5"/>
          </a:solidFill>
          <a:ln w="9525">
            <a:solidFill>
              <a:srgbClr val="333333"/>
            </a:solidFill>
          </a:ln>
        </p:spPr>
      </p:sp>
      <p:sp>
        <p:nvSpPr>
          <p:cNvPr id="57" name="Box 47"/>
          <p:cNvSpPr/>
          <p:nvPr/>
        </p:nvSpPr>
        <p:spPr>
          <a:xfrm>
            <a:off x="6992651" y="3193809"/>
            <a:ext cx="757733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00" dirty="0">
                <a:solidFill>
                  <a:srgbClr val="333333"/>
                </a:solidFill>
              </a:rPr>
              <a:t>ApplyDiscount</a:t>
            </a:r>
          </a:p>
        </p:txBody>
      </p:sp>
      <p:sp>
        <p:nvSpPr>
          <p:cNvPr id="58" name="Frame 08"/>
          <p:cNvSpPr/>
          <p:nvPr/>
        </p:nvSpPr>
        <p:spPr>
          <a:xfrm>
            <a:off x="7914560" y="4444069"/>
            <a:ext cx="808249" cy="164176"/>
          </a:xfrm>
          <a:prstGeom prst="roundRect">
            <a:avLst/>
          </a:prstGeom>
          <a:solidFill>
            <a:srgbClr val="FFC078"/>
          </a:solidFill>
          <a:ln w="9525">
            <a:solidFill>
              <a:srgbClr val="333333"/>
            </a:solidFill>
          </a:ln>
        </p:spPr>
      </p:sp>
      <p:sp>
        <p:nvSpPr>
          <p:cNvPr id="59" name="Box 49"/>
          <p:cNvSpPr/>
          <p:nvPr/>
        </p:nvSpPr>
        <p:spPr>
          <a:xfrm>
            <a:off x="7939818" y="4481956"/>
            <a:ext cx="757733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333333"/>
                </a:solidFill>
              </a:rPr>
              <a:t>DiscountApplied</a:t>
            </a:r>
          </a:p>
        </p:txBody>
      </p:sp>
      <p:sp>
        <p:nvSpPr>
          <p:cNvPr id="60" name="Frame 09"/>
          <p:cNvSpPr/>
          <p:nvPr/>
        </p:nvSpPr>
        <p:spPr>
          <a:xfrm>
            <a:off x="8861727" y="2789684"/>
            <a:ext cx="808249" cy="16417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7F7F7F"/>
            </a:solidFill>
          </a:ln>
        </p:spPr>
      </p:sp>
      <p:sp>
        <p:nvSpPr>
          <p:cNvPr id="61" name="Box 51"/>
          <p:cNvSpPr/>
          <p:nvPr/>
        </p:nvSpPr>
        <p:spPr>
          <a:xfrm>
            <a:off x="8886985" y="2827571"/>
            <a:ext cx="757733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00" dirty="0">
                <a:solidFill>
                  <a:srgbClr val="333333"/>
                </a:solidFill>
              </a:rPr>
              <a:t>Checkout</a:t>
            </a:r>
          </a:p>
        </p:txBody>
      </p:sp>
      <p:sp>
        <p:nvSpPr>
          <p:cNvPr id="62" name="Frame 10"/>
          <p:cNvSpPr/>
          <p:nvPr/>
        </p:nvSpPr>
        <p:spPr>
          <a:xfrm>
            <a:off x="9808894" y="3155922"/>
            <a:ext cx="808249" cy="164176"/>
          </a:xfrm>
          <a:prstGeom prst="roundRect">
            <a:avLst/>
          </a:prstGeom>
          <a:solidFill>
            <a:srgbClr val="A9C9F5"/>
          </a:solidFill>
          <a:ln w="9525">
            <a:solidFill>
              <a:srgbClr val="333333"/>
            </a:solidFill>
          </a:ln>
        </p:spPr>
      </p:sp>
      <p:sp>
        <p:nvSpPr>
          <p:cNvPr id="63" name="Box 53"/>
          <p:cNvSpPr/>
          <p:nvPr/>
        </p:nvSpPr>
        <p:spPr>
          <a:xfrm>
            <a:off x="9834152" y="3193809"/>
            <a:ext cx="757733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00" dirty="0">
                <a:solidFill>
                  <a:srgbClr val="333333"/>
                </a:solidFill>
              </a:rPr>
              <a:t>Pay</a:t>
            </a:r>
          </a:p>
        </p:txBody>
      </p:sp>
      <p:sp>
        <p:nvSpPr>
          <p:cNvPr id="64" name="Frame 11"/>
          <p:cNvSpPr/>
          <p:nvPr/>
        </p:nvSpPr>
        <p:spPr>
          <a:xfrm>
            <a:off x="10756061" y="4444069"/>
            <a:ext cx="808249" cy="164176"/>
          </a:xfrm>
          <a:prstGeom prst="roundRect">
            <a:avLst/>
          </a:prstGeom>
          <a:solidFill>
            <a:srgbClr val="FFC078"/>
          </a:solidFill>
          <a:ln w="9525">
            <a:solidFill>
              <a:srgbClr val="333333"/>
            </a:solidFill>
          </a:ln>
        </p:spPr>
      </p:sp>
      <p:sp>
        <p:nvSpPr>
          <p:cNvPr id="65" name="Box 55"/>
          <p:cNvSpPr/>
          <p:nvPr/>
        </p:nvSpPr>
        <p:spPr>
          <a:xfrm>
            <a:off x="10781319" y="4481956"/>
            <a:ext cx="757733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00" dirty="0">
                <a:solidFill>
                  <a:srgbClr val="333333"/>
                </a:solidFill>
              </a:rPr>
              <a:t>Paid</a:t>
            </a:r>
          </a:p>
        </p:txBody>
      </p:sp>
      <p:sp>
        <p:nvSpPr>
          <p:cNvPr id="66" name="Box 56"/>
          <p:cNvSpPr/>
          <p:nvPr/>
        </p:nvSpPr>
        <p:spPr>
          <a:xfrm>
            <a:off x="558231" y="4734534"/>
            <a:ext cx="11075538" cy="82088"/>
          </a:xfrm>
          <a:prstGeom prst="rect">
            <a:avLst/>
          </a:prstGeom>
          <a:noFill/>
          <a:ln>
            <a:noFill/>
          </a:ln>
        </p:spPr>
        <p:txBody>
          <a:bodyPr wrap="none" lIns="12629" tIns="0" rIns="12629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i="1" sz="550" dirty="0">
                <a:solidFill>
                  <a:srgbClr val="404040"/>
                </a:solidFill>
              </a:rPr>
              <a:t>Scenario @03: Given Event ItemAdded; When Command AddItem; Then Event ItemAdded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fan-out</a:t>
            </a:r>
          </a:p>
        </p:txBody>
      </p:sp>
      <p:sp>
        <p:nvSpPr>
          <p:cNvPr id="12" name="Repartiteur" descr="A"/>
          <p:cNvSpPr/>
          <p:nvPr/>
        </p:nvSpPr>
        <p:spPr>
          <a:xfrm>
            <a:off x="4750882" y="1028700"/>
            <a:ext cx="2690236" cy="1046513"/>
          </a:xfrm>
          <a:prstGeom prst="rect">
            <a:avLst/>
          </a:prstGeom>
          <a:solidFill>
            <a:srgbClr val="BBDEFB"/>
          </a:solidFill>
          <a:ln w="18605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3954" tIns="66977" rIns="133954" bIns="6697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758" dirty="0">
                <a:solidFill>
                  <a:srgbClr val="000000"/>
                </a:solidFill>
              </a:rPr>
              <a:t>Repartiteur</a:t>
            </a:r>
          </a:p>
        </p:txBody>
      </p:sp>
      <p:sp>
        <p:nvSpPr>
          <p:cNvPr id="13" name="Branche 1" descr="B"/>
          <p:cNvSpPr/>
          <p:nvPr/>
        </p:nvSpPr>
        <p:spPr>
          <a:xfrm>
            <a:off x="1986971" y="3191494"/>
            <a:ext cx="2181212" cy="1046513"/>
          </a:xfrm>
          <a:prstGeom prst="rect">
            <a:avLst/>
          </a:prstGeom>
          <a:solidFill>
            <a:srgbClr val="C8E6C9"/>
          </a:solidFill>
          <a:ln w="18605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3954" tIns="66977" rIns="133954" bIns="6697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758" dirty="0">
                <a:solidFill>
                  <a:srgbClr val="000000"/>
                </a:solidFill>
              </a:rPr>
              <a:t>Branche 1</a:t>
            </a:r>
          </a:p>
        </p:txBody>
      </p:sp>
      <p:sp>
        <p:nvSpPr>
          <p:cNvPr id="14" name="Branche 2" descr="C"/>
          <p:cNvSpPr/>
          <p:nvPr/>
        </p:nvSpPr>
        <p:spPr>
          <a:xfrm>
            <a:off x="5005394" y="3191494"/>
            <a:ext cx="2181212" cy="1046513"/>
          </a:xfrm>
          <a:prstGeom prst="rect">
            <a:avLst/>
          </a:prstGeom>
          <a:solidFill>
            <a:srgbClr val="FFE0B2"/>
          </a:solidFill>
          <a:ln w="18605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3954" tIns="66977" rIns="133954" bIns="6697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758" dirty="0">
                <a:solidFill>
                  <a:srgbClr val="000000"/>
                </a:solidFill>
              </a:rPr>
              <a:t>Branche 2</a:t>
            </a:r>
          </a:p>
        </p:txBody>
      </p:sp>
      <p:sp>
        <p:nvSpPr>
          <p:cNvPr id="15" name="Branche 3" descr="D"/>
          <p:cNvSpPr/>
          <p:nvPr/>
        </p:nvSpPr>
        <p:spPr>
          <a:xfrm>
            <a:off x="8023816" y="3191494"/>
            <a:ext cx="2181212" cy="1046513"/>
          </a:xfrm>
          <a:prstGeom prst="rect">
            <a:avLst/>
          </a:prstGeom>
          <a:solidFill>
            <a:srgbClr val="E1BEE7"/>
          </a:solidFill>
          <a:ln w="18605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3954" tIns="66977" rIns="133954" bIns="6697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758" dirty="0">
                <a:solidFill>
                  <a:srgbClr val="000000"/>
                </a:solidFill>
              </a:rPr>
              <a:t>Branche 3</a:t>
            </a:r>
          </a:p>
        </p:txBody>
      </p:sp>
      <p:sp>
        <p:nvSpPr>
          <p:cNvPr id="16" name="Fin" descr="E"/>
          <p:cNvSpPr/>
          <p:nvPr/>
        </p:nvSpPr>
        <p:spPr>
          <a:xfrm>
            <a:off x="5554604" y="5354287"/>
            <a:ext cx="1082792" cy="1046513"/>
          </a:xfrm>
          <a:prstGeom prst="rect">
            <a:avLst/>
          </a:prstGeom>
          <a:solidFill>
            <a:srgbClr val="FFCDD2"/>
          </a:solidFill>
          <a:ln w="18605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3954" tIns="66977" rIns="133954" bIns="6697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758" dirty="0">
                <a:solidFill>
                  <a:srgbClr val="000000"/>
                </a:solidFill>
              </a:rPr>
              <a:t>Fin</a:t>
            </a:r>
          </a:p>
        </p:txBody>
      </p:sp>
      <p:cxnSp>
        <p:nvCxnSpPr>
          <p:cNvPr id="17" name="A--B"/>
          <p:cNvCxnSpPr>
            <a:stCxn id="12" idx="1"/>
            <a:endCxn id="13" idx="3"/>
          </p:cNvCxnSpPr>
          <p:nvPr/>
        </p:nvCxnSpPr>
        <p:spPr>
          <a:xfrm flipH="1">
            <a:off x="4168184" y="1551957"/>
            <a:ext cx="582698" cy="2162794"/>
          </a:xfrm>
          <a:prstGeom prst="line">
            <a:avLst/>
          </a:prstGeom>
          <a:ln w="18605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A--C"/>
          <p:cNvCxnSpPr>
            <a:stCxn id="12" idx="2"/>
            <a:endCxn id="14" idx="0"/>
          </p:cNvCxnSpPr>
          <p:nvPr/>
        </p:nvCxnSpPr>
        <p:spPr>
          <a:xfrm>
            <a:off x="6096000" y="2075213"/>
            <a:ext cx="0" cy="1116281"/>
          </a:xfrm>
          <a:prstGeom prst="line">
            <a:avLst/>
          </a:prstGeom>
          <a:ln w="18605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A--D"/>
          <p:cNvCxnSpPr>
            <a:stCxn id="12" idx="3"/>
            <a:endCxn id="15" idx="1"/>
          </p:cNvCxnSpPr>
          <p:nvPr/>
        </p:nvCxnSpPr>
        <p:spPr>
          <a:xfrm>
            <a:off x="7441118" y="1551957"/>
            <a:ext cx="582698" cy="2162794"/>
          </a:xfrm>
          <a:prstGeom prst="line">
            <a:avLst/>
          </a:prstGeom>
          <a:ln w="18605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B--E"/>
          <p:cNvCxnSpPr>
            <a:stCxn id="13" idx="3"/>
            <a:endCxn id="16" idx="1"/>
          </p:cNvCxnSpPr>
          <p:nvPr/>
        </p:nvCxnSpPr>
        <p:spPr>
          <a:xfrm>
            <a:off x="4168184" y="3714751"/>
            <a:ext cx="1386420" cy="2162794"/>
          </a:xfrm>
          <a:prstGeom prst="line">
            <a:avLst/>
          </a:prstGeom>
          <a:ln w="18605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--E"/>
          <p:cNvCxnSpPr>
            <a:stCxn id="14" idx="2"/>
            <a:endCxn id="16" idx="0"/>
          </p:cNvCxnSpPr>
          <p:nvPr/>
        </p:nvCxnSpPr>
        <p:spPr>
          <a:xfrm>
            <a:off x="6096000" y="4238006"/>
            <a:ext cx="0" cy="1116281"/>
          </a:xfrm>
          <a:prstGeom prst="line">
            <a:avLst/>
          </a:prstGeom>
          <a:ln w="18605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D--E"/>
          <p:cNvCxnSpPr>
            <a:stCxn id="15" idx="1"/>
            <a:endCxn id="16" idx="3"/>
          </p:cNvCxnSpPr>
          <p:nvPr/>
        </p:nvCxnSpPr>
        <p:spPr>
          <a:xfrm flipH="1">
            <a:off x="6637396" y="3714751"/>
            <a:ext cx="1386420" cy="2162794"/>
          </a:xfrm>
          <a:prstGeom prst="line">
            <a:avLst/>
          </a:prstGeom>
          <a:ln w="18605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gantt</a:t>
            </a:r>
          </a:p>
        </p:txBody>
      </p:sp>
      <p:sp>
        <p:nvSpPr>
          <p:cNvPr id="11" name="Text 1"/>
          <p:cNvSpPr txBox="1"/>
          <p:nvPr/>
        </p:nvSpPr>
        <p:spPr>
          <a:xfrm>
            <a:off x="457200" y="2180665"/>
            <a:ext cx="11277600" cy="4422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2031" dirty="0">
                <a:solidFill>
                  <a:srgbClr val="000000"/>
                </a:solidFill>
              </a:rPr>
              <a:t>Adoption d'un logiciel</a:t>
            </a:r>
          </a:p>
        </p:txBody>
      </p:sp>
      <p:sp>
        <p:nvSpPr>
          <p:cNvPr id="12" name="Shape 2"/>
          <p:cNvSpPr/>
          <p:nvPr/>
        </p:nvSpPr>
        <p:spPr>
          <a:xfrm>
            <a:off x="3912347" y="2982259"/>
            <a:ext cx="304053" cy="2266576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3" name="Shape 3"/>
          <p:cNvSpPr/>
          <p:nvPr/>
        </p:nvSpPr>
        <p:spPr>
          <a:xfrm>
            <a:off x="4216400" y="2982259"/>
            <a:ext cx="304053" cy="2266576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" name="Shape 4"/>
          <p:cNvSpPr/>
          <p:nvPr/>
        </p:nvSpPr>
        <p:spPr>
          <a:xfrm>
            <a:off x="6040718" y="2982259"/>
            <a:ext cx="304053" cy="2266576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5" name="Shape 5"/>
          <p:cNvSpPr/>
          <p:nvPr/>
        </p:nvSpPr>
        <p:spPr>
          <a:xfrm>
            <a:off x="6344771" y="2982259"/>
            <a:ext cx="304053" cy="2266576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6" name="Shape 6"/>
          <p:cNvSpPr/>
          <p:nvPr/>
        </p:nvSpPr>
        <p:spPr>
          <a:xfrm>
            <a:off x="8169088" y="2982259"/>
            <a:ext cx="304053" cy="2266576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7" name="Shape 7"/>
          <p:cNvSpPr/>
          <p:nvPr/>
        </p:nvSpPr>
        <p:spPr>
          <a:xfrm>
            <a:off x="8473141" y="2982259"/>
            <a:ext cx="304053" cy="2266576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8" name="Shape 8"/>
          <p:cNvSpPr/>
          <p:nvPr/>
        </p:nvSpPr>
        <p:spPr>
          <a:xfrm>
            <a:off x="10297459" y="2982259"/>
            <a:ext cx="304053" cy="2266576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9" name="Shape 9"/>
          <p:cNvSpPr/>
          <p:nvPr/>
        </p:nvSpPr>
        <p:spPr>
          <a:xfrm>
            <a:off x="10601512" y="2982259"/>
            <a:ext cx="304053" cy="2266576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20" name="Shape 10"/>
          <p:cNvSpPr/>
          <p:nvPr/>
        </p:nvSpPr>
        <p:spPr>
          <a:xfrm>
            <a:off x="2392082" y="2982259"/>
            <a:ext cx="13821" cy="2266576"/>
          </a:xfrm>
          <a:prstGeom prst="rect">
            <a:avLst/>
          </a:prstGeom>
          <a:solidFill>
            <a:srgbClr val="BFBFBF"/>
          </a:solidFill>
          <a:ln>
            <a:noFill/>
          </a:ln>
        </p:spPr>
      </p:sp>
      <p:sp>
        <p:nvSpPr>
          <p:cNvPr id="21" name="Text 11"/>
          <p:cNvSpPr txBox="1"/>
          <p:nvPr/>
        </p:nvSpPr>
        <p:spPr>
          <a:xfrm>
            <a:off x="2392082" y="2678206"/>
            <a:ext cx="1216212" cy="30405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6" dirty="0">
                <a:solidFill>
                  <a:srgbClr val="595959"/>
                </a:solidFill>
              </a:rPr>
              <a:t>01-05</a:t>
            </a:r>
          </a:p>
        </p:txBody>
      </p:sp>
      <p:sp>
        <p:nvSpPr>
          <p:cNvPr id="22" name="Shape 12"/>
          <p:cNvSpPr/>
          <p:nvPr/>
        </p:nvSpPr>
        <p:spPr>
          <a:xfrm>
            <a:off x="4520453" y="2982259"/>
            <a:ext cx="13821" cy="2266576"/>
          </a:xfrm>
          <a:prstGeom prst="rect">
            <a:avLst/>
          </a:prstGeom>
          <a:solidFill>
            <a:srgbClr val="BFBFBF"/>
          </a:solidFill>
          <a:ln>
            <a:noFill/>
          </a:ln>
        </p:spPr>
      </p:sp>
      <p:sp>
        <p:nvSpPr>
          <p:cNvPr id="23" name="Text 13"/>
          <p:cNvSpPr txBox="1"/>
          <p:nvPr/>
        </p:nvSpPr>
        <p:spPr>
          <a:xfrm>
            <a:off x="4520453" y="2678206"/>
            <a:ext cx="1216212" cy="30405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6" dirty="0">
                <a:solidFill>
                  <a:srgbClr val="595959"/>
                </a:solidFill>
              </a:rPr>
              <a:t>01-12</a:t>
            </a:r>
          </a:p>
        </p:txBody>
      </p:sp>
      <p:sp>
        <p:nvSpPr>
          <p:cNvPr id="24" name="Shape 14"/>
          <p:cNvSpPr/>
          <p:nvPr/>
        </p:nvSpPr>
        <p:spPr>
          <a:xfrm>
            <a:off x="6648824" y="2982259"/>
            <a:ext cx="13821" cy="2266576"/>
          </a:xfrm>
          <a:prstGeom prst="rect">
            <a:avLst/>
          </a:prstGeom>
          <a:solidFill>
            <a:srgbClr val="BFBFBF"/>
          </a:solidFill>
          <a:ln>
            <a:noFill/>
          </a:ln>
        </p:spPr>
      </p:sp>
      <p:sp>
        <p:nvSpPr>
          <p:cNvPr id="25" name="Text 15"/>
          <p:cNvSpPr txBox="1"/>
          <p:nvPr/>
        </p:nvSpPr>
        <p:spPr>
          <a:xfrm>
            <a:off x="6648824" y="2678206"/>
            <a:ext cx="1216212" cy="30405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6" dirty="0">
                <a:solidFill>
                  <a:srgbClr val="595959"/>
                </a:solidFill>
              </a:rPr>
              <a:t>01-19</a:t>
            </a:r>
          </a:p>
        </p:txBody>
      </p:sp>
      <p:sp>
        <p:nvSpPr>
          <p:cNvPr id="26" name="Shape 16"/>
          <p:cNvSpPr/>
          <p:nvPr/>
        </p:nvSpPr>
        <p:spPr>
          <a:xfrm>
            <a:off x="8777194" y="2982259"/>
            <a:ext cx="13821" cy="2266576"/>
          </a:xfrm>
          <a:prstGeom prst="rect">
            <a:avLst/>
          </a:prstGeom>
          <a:solidFill>
            <a:srgbClr val="BFBFBF"/>
          </a:solidFill>
          <a:ln>
            <a:noFill/>
          </a:ln>
        </p:spPr>
      </p:sp>
      <p:sp>
        <p:nvSpPr>
          <p:cNvPr id="27" name="Text 17"/>
          <p:cNvSpPr txBox="1"/>
          <p:nvPr/>
        </p:nvSpPr>
        <p:spPr>
          <a:xfrm>
            <a:off x="8777194" y="2678206"/>
            <a:ext cx="1216212" cy="30405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6" dirty="0">
                <a:solidFill>
                  <a:srgbClr val="595959"/>
                </a:solidFill>
              </a:rPr>
              <a:t>01-26</a:t>
            </a:r>
          </a:p>
        </p:txBody>
      </p:sp>
      <p:sp>
        <p:nvSpPr>
          <p:cNvPr id="28" name="Shape 18"/>
          <p:cNvSpPr/>
          <p:nvPr/>
        </p:nvSpPr>
        <p:spPr>
          <a:xfrm>
            <a:off x="10905565" y="2982259"/>
            <a:ext cx="13821" cy="2266576"/>
          </a:xfrm>
          <a:prstGeom prst="rect">
            <a:avLst/>
          </a:prstGeom>
          <a:solidFill>
            <a:srgbClr val="BFBFBF"/>
          </a:solidFill>
          <a:ln>
            <a:noFill/>
          </a:ln>
        </p:spPr>
      </p:sp>
      <p:sp>
        <p:nvSpPr>
          <p:cNvPr id="29" name="Text 19"/>
          <p:cNvSpPr txBox="1"/>
          <p:nvPr/>
        </p:nvSpPr>
        <p:spPr>
          <a:xfrm>
            <a:off x="10905565" y="2678206"/>
            <a:ext cx="1216212" cy="30405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6" dirty="0">
                <a:solidFill>
                  <a:srgbClr val="595959"/>
                </a:solidFill>
              </a:rPr>
              <a:t>02-02</a:t>
            </a:r>
          </a:p>
        </p:txBody>
      </p:sp>
      <p:sp>
        <p:nvSpPr>
          <p:cNvPr id="30" name="Shape 20"/>
          <p:cNvSpPr/>
          <p:nvPr/>
        </p:nvSpPr>
        <p:spPr>
          <a:xfrm>
            <a:off x="2392082" y="2982259"/>
            <a:ext cx="9121588" cy="2266576"/>
          </a:xfrm>
          <a:prstGeom prst="rect">
            <a:avLst/>
          </a:prstGeom>
          <a:noFill/>
          <a:ln w="9214">
            <a:solidFill>
              <a:srgbClr val="BFBFBF"/>
            </a:solidFill>
          </a:ln>
        </p:spPr>
      </p:sp>
      <p:sp>
        <p:nvSpPr>
          <p:cNvPr id="31" name="Shape 21"/>
          <p:cNvSpPr/>
          <p:nvPr/>
        </p:nvSpPr>
        <p:spPr>
          <a:xfrm>
            <a:off x="457200" y="2982259"/>
            <a:ext cx="11277600" cy="304053"/>
          </a:xfrm>
          <a:prstGeom prst="rect">
            <a:avLst/>
          </a:prstGeom>
          <a:solidFill>
            <a:srgbClr val="D9D9D9"/>
          </a:solidFill>
          <a:ln>
            <a:noFill/>
          </a:ln>
        </p:spPr>
      </p:sp>
      <p:sp>
        <p:nvSpPr>
          <p:cNvPr id="32" name="Text 22"/>
          <p:cNvSpPr txBox="1"/>
          <p:nvPr/>
        </p:nvSpPr>
        <p:spPr>
          <a:xfrm>
            <a:off x="540124" y="3009900"/>
            <a:ext cx="1769035" cy="2487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1161" dirty="0">
                <a:solidFill>
                  <a:srgbClr val="000000"/>
                </a:solidFill>
              </a:rPr>
              <a:t>Cadrage</a:t>
            </a:r>
          </a:p>
        </p:txBody>
      </p:sp>
      <p:sp>
        <p:nvSpPr>
          <p:cNvPr id="33" name="Text 23"/>
          <p:cNvSpPr txBox="1"/>
          <p:nvPr/>
        </p:nvSpPr>
        <p:spPr>
          <a:xfrm>
            <a:off x="540124" y="3313953"/>
            <a:ext cx="1796676" cy="2764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88" dirty="0">
                <a:solidFill>
                  <a:srgbClr val="000000"/>
                </a:solidFill>
              </a:rPr>
              <a:t>Recueil besoins</a:t>
            </a:r>
          </a:p>
        </p:txBody>
      </p:sp>
      <p:sp>
        <p:nvSpPr>
          <p:cNvPr id="34" name="Task 24"/>
          <p:cNvSpPr/>
          <p:nvPr/>
        </p:nvSpPr>
        <p:spPr>
          <a:xfrm>
            <a:off x="2392082" y="3341594"/>
            <a:ext cx="2128371" cy="221129"/>
          </a:xfrm>
          <a:prstGeom prst="roundRect">
            <a:avLst/>
          </a:prstGeom>
          <a:solidFill>
            <a:srgbClr val="A6A6A6"/>
          </a:solidFill>
          <a:ln w="9214">
            <a:solidFill>
              <a:srgbClr val="595959"/>
            </a:solidFill>
          </a:ln>
        </p:spPr>
      </p:sp>
      <p:sp>
        <p:nvSpPr>
          <p:cNvPr id="35" name="Text 25"/>
          <p:cNvSpPr txBox="1"/>
          <p:nvPr/>
        </p:nvSpPr>
        <p:spPr>
          <a:xfrm>
            <a:off x="540124" y="3645647"/>
            <a:ext cx="1796676" cy="2764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88" dirty="0">
                <a:solidFill>
                  <a:srgbClr val="000000"/>
                </a:solidFill>
              </a:rPr>
              <a:t>Choix outil</a:t>
            </a:r>
          </a:p>
        </p:txBody>
      </p:sp>
      <p:sp>
        <p:nvSpPr>
          <p:cNvPr id="36" name="Task 26"/>
          <p:cNvSpPr/>
          <p:nvPr/>
        </p:nvSpPr>
        <p:spPr>
          <a:xfrm>
            <a:off x="4520453" y="3673288"/>
            <a:ext cx="912159" cy="221129"/>
          </a:xfrm>
          <a:prstGeom prst="roundRect">
            <a:avLst/>
          </a:prstGeom>
          <a:solidFill>
            <a:srgbClr val="FFC000"/>
          </a:solidFill>
          <a:ln w="9214">
            <a:solidFill>
              <a:srgbClr val="595959"/>
            </a:solidFill>
          </a:ln>
        </p:spPr>
      </p:sp>
      <p:sp>
        <p:nvSpPr>
          <p:cNvPr id="37" name="Shape 27"/>
          <p:cNvSpPr/>
          <p:nvPr/>
        </p:nvSpPr>
        <p:spPr>
          <a:xfrm>
            <a:off x="457200" y="3949700"/>
            <a:ext cx="11277600" cy="304053"/>
          </a:xfrm>
          <a:prstGeom prst="rect">
            <a:avLst/>
          </a:prstGeom>
          <a:solidFill>
            <a:srgbClr val="D9D9D9"/>
          </a:solidFill>
          <a:ln>
            <a:noFill/>
          </a:ln>
        </p:spPr>
      </p:sp>
      <p:sp>
        <p:nvSpPr>
          <p:cNvPr id="38" name="Text 28"/>
          <p:cNvSpPr txBox="1"/>
          <p:nvPr/>
        </p:nvSpPr>
        <p:spPr>
          <a:xfrm>
            <a:off x="540124" y="3977341"/>
            <a:ext cx="1769035" cy="2487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1161" dirty="0">
                <a:solidFill>
                  <a:srgbClr val="000000"/>
                </a:solidFill>
              </a:rPr>
              <a:t>Deploiement</a:t>
            </a:r>
          </a:p>
        </p:txBody>
      </p:sp>
      <p:sp>
        <p:nvSpPr>
          <p:cNvPr id="39" name="Text 29"/>
          <p:cNvSpPr txBox="1"/>
          <p:nvPr/>
        </p:nvSpPr>
        <p:spPr>
          <a:xfrm>
            <a:off x="540124" y="4281394"/>
            <a:ext cx="1796676" cy="2764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88" dirty="0">
                <a:solidFill>
                  <a:srgbClr val="000000"/>
                </a:solidFill>
              </a:rPr>
              <a:t>Formation</a:t>
            </a:r>
          </a:p>
        </p:txBody>
      </p:sp>
      <p:sp>
        <p:nvSpPr>
          <p:cNvPr id="40" name="Task 30"/>
          <p:cNvSpPr/>
          <p:nvPr/>
        </p:nvSpPr>
        <p:spPr>
          <a:xfrm>
            <a:off x="5432612" y="4309035"/>
            <a:ext cx="1824318" cy="221129"/>
          </a:xfrm>
          <a:prstGeom prst="roundRect">
            <a:avLst/>
          </a:prstGeom>
          <a:solidFill>
            <a:srgbClr val="C00000"/>
          </a:solidFill>
          <a:ln w="9214">
            <a:solidFill>
              <a:srgbClr val="595959"/>
            </a:solidFill>
          </a:ln>
        </p:spPr>
      </p:sp>
      <p:sp>
        <p:nvSpPr>
          <p:cNvPr id="41" name="Text 31"/>
          <p:cNvSpPr txBox="1"/>
          <p:nvPr/>
        </p:nvSpPr>
        <p:spPr>
          <a:xfrm>
            <a:off x="540124" y="4613088"/>
            <a:ext cx="1796676" cy="2764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88" dirty="0">
                <a:solidFill>
                  <a:srgbClr val="000000"/>
                </a:solidFill>
              </a:rPr>
              <a:t>Go-live</a:t>
            </a:r>
          </a:p>
        </p:txBody>
      </p:sp>
      <p:sp>
        <p:nvSpPr>
          <p:cNvPr id="42" name="Milestone 32"/>
          <p:cNvSpPr/>
          <p:nvPr/>
        </p:nvSpPr>
        <p:spPr>
          <a:xfrm>
            <a:off x="7146365" y="4640729"/>
            <a:ext cx="221129" cy="221129"/>
          </a:xfrm>
          <a:prstGeom prst="diamond">
            <a:avLst/>
          </a:prstGeom>
          <a:solidFill>
            <a:srgbClr val="C00000"/>
          </a:solidFill>
          <a:ln w="9214">
            <a:solidFill>
              <a:srgbClr val="595959"/>
            </a:solidFill>
          </a:ln>
        </p:spPr>
      </p:sp>
      <p:sp>
        <p:nvSpPr>
          <p:cNvPr id="43" name="Text 33"/>
          <p:cNvSpPr txBox="1"/>
          <p:nvPr/>
        </p:nvSpPr>
        <p:spPr>
          <a:xfrm>
            <a:off x="540124" y="4944782"/>
            <a:ext cx="1796676" cy="2764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88" dirty="0">
                <a:solidFill>
                  <a:srgbClr val="000000"/>
                </a:solidFill>
              </a:rPr>
              <a:t>Suivi post go-live</a:t>
            </a:r>
          </a:p>
        </p:txBody>
      </p:sp>
      <p:sp>
        <p:nvSpPr>
          <p:cNvPr id="44" name="Task 34"/>
          <p:cNvSpPr/>
          <p:nvPr/>
        </p:nvSpPr>
        <p:spPr>
          <a:xfrm>
            <a:off x="7256929" y="4972424"/>
            <a:ext cx="4256741" cy="221129"/>
          </a:xfrm>
          <a:prstGeom prst="roundRect">
            <a:avLst/>
          </a:prstGeom>
          <a:solidFill>
            <a:srgbClr val="4472C4"/>
          </a:solidFill>
          <a:ln w="9214">
            <a:solidFill>
              <a:srgbClr val="595959"/>
            </a:solidFill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git-graph</a:t>
            </a:r>
          </a:p>
        </p:txBody>
      </p:sp>
      <p:cxnSp>
        <p:nvCxnSpPr>
          <p:cNvPr id="11" name="Connector 1"/>
          <p:cNvCxnSpPr/>
          <p:nvPr/>
        </p:nvCxnSpPr>
        <p:spPr>
          <a:xfrm>
            <a:off x="1248709" y="3188175"/>
            <a:ext cx="1077176" cy="1053150"/>
          </a:xfrm>
          <a:prstGeom prst="line">
            <a:avLst/>
          </a:prstGeom>
          <a:ln w="16455">
            <a:solidFill>
              <a:srgbClr val="4472C4"/>
            </a:solidFill>
            <a:prstDash val="solid"/>
          </a:ln>
        </p:spPr>
      </p:cxnSp>
      <p:cxnSp>
        <p:nvCxnSpPr>
          <p:cNvPr id="12" name="Connector 2"/>
          <p:cNvCxnSpPr/>
          <p:nvPr/>
        </p:nvCxnSpPr>
        <p:spPr>
          <a:xfrm>
            <a:off x="1248709" y="3188175"/>
            <a:ext cx="2154351" cy="1"/>
          </a:xfrm>
          <a:prstGeom prst="line">
            <a:avLst/>
          </a:prstGeom>
          <a:ln w="16455">
            <a:solidFill>
              <a:srgbClr val="4472C4"/>
            </a:solidFill>
            <a:prstDash val="solid"/>
          </a:ln>
        </p:spPr>
      </p:cxnSp>
      <p:cxnSp>
        <p:nvCxnSpPr>
          <p:cNvPr id="13" name="Connector 3"/>
          <p:cNvCxnSpPr/>
          <p:nvPr/>
        </p:nvCxnSpPr>
        <p:spPr>
          <a:xfrm>
            <a:off x="1248709" y="3188175"/>
            <a:ext cx="3231527" cy="526575"/>
          </a:xfrm>
          <a:prstGeom prst="line">
            <a:avLst/>
          </a:prstGeom>
          <a:ln w="16455">
            <a:solidFill>
              <a:srgbClr val="4472C4"/>
            </a:solidFill>
            <a:prstDash val="solid"/>
          </a:ln>
        </p:spPr>
      </p:cxnSp>
      <p:cxnSp>
        <p:nvCxnSpPr>
          <p:cNvPr id="14" name="Connector 4"/>
          <p:cNvCxnSpPr/>
          <p:nvPr/>
        </p:nvCxnSpPr>
        <p:spPr>
          <a:xfrm>
            <a:off x="3403060" y="3188175"/>
            <a:ext cx="2154352" cy="1"/>
          </a:xfrm>
          <a:prstGeom prst="line">
            <a:avLst/>
          </a:prstGeom>
          <a:ln w="16455">
            <a:solidFill>
              <a:srgbClr val="4472C4"/>
            </a:solidFill>
            <a:prstDash val="solid"/>
          </a:ln>
        </p:spPr>
      </p:cxnSp>
      <p:cxnSp>
        <p:nvCxnSpPr>
          <p:cNvPr id="15" name="Connector 5"/>
          <p:cNvCxnSpPr/>
          <p:nvPr/>
        </p:nvCxnSpPr>
        <p:spPr>
          <a:xfrm flipV="1">
            <a:off x="4480236" y="3188175"/>
            <a:ext cx="1077176" cy="526575"/>
          </a:xfrm>
          <a:prstGeom prst="line">
            <a:avLst/>
          </a:prstGeom>
          <a:ln w="16455">
            <a:solidFill>
              <a:srgbClr val="ED7D31"/>
            </a:solidFill>
            <a:prstDash val="solid"/>
          </a:ln>
        </p:spPr>
      </p:cxnSp>
      <p:cxnSp>
        <p:nvCxnSpPr>
          <p:cNvPr id="16" name="Connector 6"/>
          <p:cNvCxnSpPr/>
          <p:nvPr/>
        </p:nvCxnSpPr>
        <p:spPr>
          <a:xfrm>
            <a:off x="5557412" y="3188175"/>
            <a:ext cx="1077176" cy="1"/>
          </a:xfrm>
          <a:prstGeom prst="line">
            <a:avLst/>
          </a:prstGeom>
          <a:ln w="16455">
            <a:solidFill>
              <a:srgbClr val="4472C4"/>
            </a:solidFill>
            <a:prstDash val="solid"/>
          </a:ln>
        </p:spPr>
      </p:cxnSp>
      <p:cxnSp>
        <p:nvCxnSpPr>
          <p:cNvPr id="17" name="Connector 7"/>
          <p:cNvCxnSpPr/>
          <p:nvPr/>
        </p:nvCxnSpPr>
        <p:spPr>
          <a:xfrm>
            <a:off x="2325885" y="4241325"/>
            <a:ext cx="5385879" cy="1"/>
          </a:xfrm>
          <a:prstGeom prst="line">
            <a:avLst/>
          </a:prstGeom>
          <a:ln w="16455">
            <a:solidFill>
              <a:srgbClr val="70AD47"/>
            </a:solidFill>
            <a:prstDash val="solid"/>
          </a:ln>
        </p:spPr>
      </p:cxnSp>
      <p:cxnSp>
        <p:nvCxnSpPr>
          <p:cNvPr id="18" name="Connector 8"/>
          <p:cNvCxnSpPr/>
          <p:nvPr/>
        </p:nvCxnSpPr>
        <p:spPr>
          <a:xfrm>
            <a:off x="5557412" y="3188175"/>
            <a:ext cx="2154352" cy="1053150"/>
          </a:xfrm>
          <a:prstGeom prst="line">
            <a:avLst/>
          </a:prstGeom>
          <a:ln w="8228">
            <a:solidFill>
              <a:srgbClr val="808080"/>
            </a:solidFill>
            <a:prstDash val="dash"/>
          </a:ln>
        </p:spPr>
      </p:cxnSp>
      <p:cxnSp>
        <p:nvCxnSpPr>
          <p:cNvPr id="19" name="Connector 9"/>
          <p:cNvCxnSpPr/>
          <p:nvPr/>
        </p:nvCxnSpPr>
        <p:spPr>
          <a:xfrm>
            <a:off x="7711764" y="4241325"/>
            <a:ext cx="1077176" cy="1"/>
          </a:xfrm>
          <a:prstGeom prst="line">
            <a:avLst/>
          </a:prstGeom>
          <a:ln w="16455">
            <a:solidFill>
              <a:srgbClr val="70AD47"/>
            </a:solidFill>
            <a:prstDash val="solid"/>
          </a:ln>
        </p:spPr>
      </p:cxnSp>
      <p:cxnSp>
        <p:nvCxnSpPr>
          <p:cNvPr id="20" name="Connector 10"/>
          <p:cNvCxnSpPr/>
          <p:nvPr/>
        </p:nvCxnSpPr>
        <p:spPr>
          <a:xfrm>
            <a:off x="4480236" y="3714750"/>
            <a:ext cx="5385879" cy="1"/>
          </a:xfrm>
          <a:prstGeom prst="line">
            <a:avLst/>
          </a:prstGeom>
          <a:ln w="16455">
            <a:solidFill>
              <a:srgbClr val="ED7D31"/>
            </a:solidFill>
            <a:prstDash val="solid"/>
          </a:ln>
        </p:spPr>
      </p:cxnSp>
      <p:sp>
        <p:nvSpPr>
          <p:cNvPr id="21" name="Shape 11"/>
          <p:cNvSpPr/>
          <p:nvPr/>
        </p:nvSpPr>
        <p:spPr>
          <a:xfrm>
            <a:off x="1182887" y="3122353"/>
            <a:ext cx="131644" cy="131644"/>
          </a:xfrm>
          <a:prstGeom prst="ellipse">
            <a:avLst/>
          </a:prstGeom>
          <a:solidFill>
            <a:srgbClr val="4472C4"/>
          </a:solidFill>
          <a:ln w="9525">
            <a:solidFill>
              <a:srgbClr val="404040"/>
            </a:solidFill>
          </a:ln>
        </p:spPr>
      </p:sp>
      <p:sp>
        <p:nvSpPr>
          <p:cNvPr id="22" name="Text 12"/>
          <p:cNvSpPr txBox="1"/>
          <p:nvPr/>
        </p:nvSpPr>
        <p:spPr>
          <a:xfrm>
            <a:off x="1112128" y="3303363"/>
            <a:ext cx="273161" cy="1316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404040"/>
                </a:solidFill>
              </a:rPr>
              <a:t>ZERO</a:t>
            </a:r>
          </a:p>
        </p:txBody>
      </p:sp>
      <p:sp>
        <p:nvSpPr>
          <p:cNvPr id="23" name="Shape 13"/>
          <p:cNvSpPr/>
          <p:nvPr/>
        </p:nvSpPr>
        <p:spPr>
          <a:xfrm>
            <a:off x="2260063" y="4175503"/>
            <a:ext cx="131644" cy="131644"/>
          </a:xfrm>
          <a:prstGeom prst="ellipse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</p:sp>
      <p:sp>
        <p:nvSpPr>
          <p:cNvPr id="24" name="Text 14"/>
          <p:cNvSpPr txBox="1"/>
          <p:nvPr/>
        </p:nvSpPr>
        <p:spPr>
          <a:xfrm>
            <a:off x="2267056" y="4356514"/>
            <a:ext cx="117657" cy="1316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404040"/>
                </a:solidFill>
              </a:rPr>
              <a:t>A</a:t>
            </a:r>
          </a:p>
        </p:txBody>
      </p:sp>
      <p:sp>
        <p:nvSpPr>
          <p:cNvPr id="25" name="Shape 15"/>
          <p:cNvSpPr/>
          <p:nvPr/>
        </p:nvSpPr>
        <p:spPr>
          <a:xfrm>
            <a:off x="3337238" y="3122353"/>
            <a:ext cx="131644" cy="131644"/>
          </a:xfrm>
          <a:prstGeom prst="ellipse">
            <a:avLst/>
          </a:prstGeom>
          <a:solidFill>
            <a:srgbClr val="4472C4"/>
          </a:solidFill>
          <a:ln w="9525">
            <a:solidFill>
              <a:srgbClr val="404040"/>
            </a:solidFill>
          </a:ln>
        </p:spPr>
      </p:sp>
      <p:sp>
        <p:nvSpPr>
          <p:cNvPr id="26" name="Text 16"/>
          <p:cNvSpPr txBox="1"/>
          <p:nvPr/>
        </p:nvSpPr>
        <p:spPr>
          <a:xfrm>
            <a:off x="3292397" y="3303363"/>
            <a:ext cx="221326" cy="1316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404040"/>
                </a:solidFill>
              </a:rPr>
              <a:t>ONE</a:t>
            </a:r>
          </a:p>
        </p:txBody>
      </p:sp>
      <p:sp>
        <p:nvSpPr>
          <p:cNvPr id="27" name="Shape 17"/>
          <p:cNvSpPr/>
          <p:nvPr/>
        </p:nvSpPr>
        <p:spPr>
          <a:xfrm>
            <a:off x="4414414" y="3648928"/>
            <a:ext cx="131644" cy="131644"/>
          </a:xfrm>
          <a:prstGeom prst="ellipse">
            <a:avLst/>
          </a:prstGeom>
          <a:solidFill>
            <a:srgbClr val="ED7D31"/>
          </a:solidFill>
          <a:ln w="9525">
            <a:solidFill>
              <a:srgbClr val="404040"/>
            </a:solidFill>
          </a:ln>
        </p:spPr>
      </p:sp>
      <p:sp>
        <p:nvSpPr>
          <p:cNvPr id="28" name="Text 18"/>
          <p:cNvSpPr txBox="1"/>
          <p:nvPr/>
        </p:nvSpPr>
        <p:spPr>
          <a:xfrm>
            <a:off x="4421408" y="3829938"/>
            <a:ext cx="117657" cy="1316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404040"/>
                </a:solidFill>
              </a:rPr>
              <a:t>B</a:t>
            </a:r>
          </a:p>
        </p:txBody>
      </p:sp>
      <p:sp>
        <p:nvSpPr>
          <p:cNvPr id="29" name="Shape 19"/>
          <p:cNvSpPr/>
          <p:nvPr/>
        </p:nvSpPr>
        <p:spPr>
          <a:xfrm>
            <a:off x="5491590" y="3122353"/>
            <a:ext cx="131644" cy="131644"/>
          </a:xfrm>
          <a:prstGeom prst="ellipse">
            <a:avLst/>
          </a:prstGeom>
          <a:solidFill>
            <a:srgbClr val="4472C4"/>
          </a:solidFill>
          <a:ln w="9525">
            <a:solidFill>
              <a:srgbClr val="404040"/>
            </a:solidFill>
          </a:ln>
        </p:spPr>
      </p:sp>
      <p:sp>
        <p:nvSpPr>
          <p:cNvPr id="30" name="Shape 20"/>
          <p:cNvSpPr/>
          <p:nvPr/>
        </p:nvSpPr>
        <p:spPr>
          <a:xfrm>
            <a:off x="5524501" y="3155264"/>
            <a:ext cx="65822" cy="65822"/>
          </a:xfrm>
          <a:prstGeom prst="ellipse">
            <a:avLst/>
          </a:prstGeom>
          <a:solidFill>
            <a:srgbClr val="FFFFFF"/>
          </a:solidFill>
          <a:ln w="9525">
            <a:solidFill>
              <a:srgbClr val="4472C4"/>
            </a:solidFill>
          </a:ln>
        </p:spPr>
      </p:sp>
      <p:sp>
        <p:nvSpPr>
          <p:cNvPr id="31" name="Text 21"/>
          <p:cNvSpPr txBox="1"/>
          <p:nvPr/>
        </p:nvSpPr>
        <p:spPr>
          <a:xfrm>
            <a:off x="5394914" y="3303363"/>
            <a:ext cx="324996" cy="1316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404040"/>
                </a:solidFill>
              </a:rPr>
              <a:t>MERGE</a:t>
            </a:r>
          </a:p>
        </p:txBody>
      </p:sp>
      <p:sp>
        <p:nvSpPr>
          <p:cNvPr id="32" name="Shape 22"/>
          <p:cNvSpPr/>
          <p:nvPr/>
        </p:nvSpPr>
        <p:spPr>
          <a:xfrm>
            <a:off x="6568766" y="3122353"/>
            <a:ext cx="131644" cy="131644"/>
          </a:xfrm>
          <a:prstGeom prst="ellipse">
            <a:avLst/>
          </a:prstGeom>
          <a:solidFill>
            <a:srgbClr val="4472C4"/>
          </a:solidFill>
          <a:ln w="9525">
            <a:solidFill>
              <a:srgbClr val="404040"/>
            </a:solidFill>
          </a:ln>
        </p:spPr>
      </p:sp>
      <p:sp>
        <p:nvSpPr>
          <p:cNvPr id="33" name="Text 23"/>
          <p:cNvSpPr txBox="1"/>
          <p:nvPr/>
        </p:nvSpPr>
        <p:spPr>
          <a:xfrm>
            <a:off x="6523925" y="3303363"/>
            <a:ext cx="221326" cy="1316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404040"/>
                </a:solidFill>
              </a:rPr>
              <a:t>TWO</a:t>
            </a:r>
          </a:p>
        </p:txBody>
      </p:sp>
      <p:sp>
        <p:nvSpPr>
          <p:cNvPr id="34" name="Shape 24"/>
          <p:cNvSpPr/>
          <p:nvPr/>
        </p:nvSpPr>
        <p:spPr>
          <a:xfrm>
            <a:off x="7645942" y="4175503"/>
            <a:ext cx="131644" cy="131644"/>
          </a:xfrm>
          <a:prstGeom prst="ellipse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</p:sp>
      <p:sp>
        <p:nvSpPr>
          <p:cNvPr id="35" name="Text 25"/>
          <p:cNvSpPr txBox="1"/>
          <p:nvPr/>
        </p:nvSpPr>
        <p:spPr>
          <a:xfrm>
            <a:off x="6742865" y="4356514"/>
            <a:ext cx="1937798" cy="1316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404040"/>
                </a:solidFill>
              </a:rPr>
              <a:t>MERGE-cherry-pick-1 (cherry-pick of MERGE)</a:t>
            </a:r>
          </a:p>
        </p:txBody>
      </p:sp>
      <p:sp>
        <p:nvSpPr>
          <p:cNvPr id="36" name="Shape 26"/>
          <p:cNvSpPr/>
          <p:nvPr/>
        </p:nvSpPr>
        <p:spPr>
          <a:xfrm>
            <a:off x="8723118" y="4175503"/>
            <a:ext cx="131644" cy="131644"/>
          </a:xfrm>
          <a:prstGeom prst="ellipse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</p:sp>
      <p:sp>
        <p:nvSpPr>
          <p:cNvPr id="37" name="Text 27"/>
          <p:cNvSpPr txBox="1"/>
          <p:nvPr/>
        </p:nvSpPr>
        <p:spPr>
          <a:xfrm>
            <a:off x="8626442" y="4356514"/>
            <a:ext cx="324996" cy="1316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404040"/>
                </a:solidFill>
              </a:rPr>
              <a:t>THREE</a:t>
            </a:r>
          </a:p>
        </p:txBody>
      </p:sp>
      <p:sp>
        <p:nvSpPr>
          <p:cNvPr id="38" name="Shape 28"/>
          <p:cNvSpPr/>
          <p:nvPr/>
        </p:nvSpPr>
        <p:spPr>
          <a:xfrm>
            <a:off x="9800293" y="3648928"/>
            <a:ext cx="131644" cy="131644"/>
          </a:xfrm>
          <a:prstGeom prst="ellipse">
            <a:avLst/>
          </a:prstGeom>
          <a:solidFill>
            <a:srgbClr val="ED7D31"/>
          </a:solidFill>
          <a:ln w="9525">
            <a:solidFill>
              <a:srgbClr val="404040"/>
            </a:solidFill>
          </a:ln>
        </p:spPr>
      </p:sp>
      <p:sp>
        <p:nvSpPr>
          <p:cNvPr id="39" name="Text 29"/>
          <p:cNvSpPr txBox="1"/>
          <p:nvPr/>
        </p:nvSpPr>
        <p:spPr>
          <a:xfrm>
            <a:off x="9807287" y="3829938"/>
            <a:ext cx="117657" cy="1316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404040"/>
                </a:solidFill>
              </a:rPr>
              <a:t>C</a:t>
            </a:r>
          </a:p>
        </p:txBody>
      </p:sp>
      <p:sp>
        <p:nvSpPr>
          <p:cNvPr id="40" name="Text 30"/>
          <p:cNvSpPr txBox="1"/>
          <p:nvPr/>
        </p:nvSpPr>
        <p:spPr>
          <a:xfrm>
            <a:off x="10801774" y="3122353"/>
            <a:ext cx="283034" cy="14809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800" dirty="0">
                <a:solidFill>
                  <a:srgbClr val="4472C4"/>
                </a:solidFill>
              </a:rPr>
              <a:t>main</a:t>
            </a:r>
          </a:p>
        </p:txBody>
      </p:sp>
      <p:sp>
        <p:nvSpPr>
          <p:cNvPr id="41" name="Text 31"/>
          <p:cNvSpPr txBox="1"/>
          <p:nvPr/>
        </p:nvSpPr>
        <p:spPr>
          <a:xfrm>
            <a:off x="10720320" y="3648928"/>
            <a:ext cx="445944" cy="14809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800" dirty="0">
                <a:solidFill>
                  <a:srgbClr val="ED7D31"/>
                </a:solidFill>
              </a:rPr>
              <a:t>develop</a:t>
            </a:r>
          </a:p>
        </p:txBody>
      </p:sp>
      <p:sp>
        <p:nvSpPr>
          <p:cNvPr id="42" name="Text 32"/>
          <p:cNvSpPr txBox="1"/>
          <p:nvPr/>
        </p:nvSpPr>
        <p:spPr>
          <a:xfrm>
            <a:off x="10720320" y="4175504"/>
            <a:ext cx="445944" cy="14809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800" dirty="0">
                <a:solidFill>
                  <a:srgbClr val="70AD47"/>
                </a:solidFill>
              </a:rPr>
              <a:t>release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ishikawa</a:t>
            </a:r>
          </a:p>
        </p:txBody>
      </p:sp>
      <p:sp>
        <p:nvSpPr>
          <p:cNvPr id="11" name="Shape 1"/>
          <p:cNvSpPr/>
          <p:nvPr/>
        </p:nvSpPr>
        <p:spPr>
          <a:xfrm>
            <a:off x="768844" y="4428933"/>
            <a:ext cx="8940273" cy="1"/>
          </a:xfrm>
          <a:custGeom>
            <a:avLst/>
            <a:gdLst/>
            <a:ahLst/>
            <a:cxnLst/>
            <a:rect l="0" t="0" r="0" b="0"/>
            <a:pathLst>
              <a:path w="6557962" h="1" fill="none">
                <a:moveTo>
                  <a:pt x="0" y="0"/>
                </a:moveTo>
                <a:lnTo>
                  <a:pt x="6557962" y="0"/>
                </a:lnTo>
              </a:path>
            </a:pathLst>
          </a:custGeom>
          <a:noFill/>
          <a:ln w="51941">
            <a:solidFill>
              <a:srgbClr val="404040"/>
            </a:solidFill>
          </a:ln>
        </p:spPr>
      </p:sp>
      <p:sp>
        <p:nvSpPr>
          <p:cNvPr id="12" name="Box 2"/>
          <p:cNvSpPr/>
          <p:nvPr/>
        </p:nvSpPr>
        <p:spPr>
          <a:xfrm>
            <a:off x="9709117" y="4065349"/>
            <a:ext cx="1714039" cy="72716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36" dirty="0">
                <a:solidFill>
                  <a:srgbClr val="FFFFFF"/>
                </a:solidFill>
              </a:rPr>
              <a:t>Blurry Photo</a:t>
            </a:r>
          </a:p>
        </p:txBody>
      </p:sp>
      <p:sp>
        <p:nvSpPr>
          <p:cNvPr id="13" name="Shape 3"/>
          <p:cNvSpPr/>
          <p:nvPr/>
        </p:nvSpPr>
        <p:spPr>
          <a:xfrm>
            <a:off x="4063175" y="2143547"/>
            <a:ext cx="936230" cy="2285386"/>
          </a:xfrm>
          <a:custGeom>
            <a:avLst/>
            <a:gdLst/>
            <a:ahLst/>
            <a:cxnLst/>
            <a:rect l="0" t="0" r="0" b="0"/>
            <a:pathLst>
              <a:path w="686753" h="1676400" fill="none">
                <a:moveTo>
                  <a:pt x="0" y="0"/>
                </a:moveTo>
                <a:lnTo>
                  <a:pt x="686753" y="1676400"/>
                </a:lnTo>
              </a:path>
            </a:pathLst>
          </a:custGeom>
          <a:noFill/>
          <a:ln w="30299">
            <a:solidFill>
              <a:srgbClr val="4472C4"/>
            </a:solidFill>
          </a:ln>
        </p:spPr>
      </p:sp>
      <p:sp>
        <p:nvSpPr>
          <p:cNvPr id="14" name="Box 4"/>
          <p:cNvSpPr/>
          <p:nvPr/>
        </p:nvSpPr>
        <p:spPr>
          <a:xfrm>
            <a:off x="3543769" y="1753993"/>
            <a:ext cx="1038812" cy="38955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500" dirty="0">
                <a:solidFill>
                  <a:srgbClr val="FFFFFF"/>
                </a:solidFill>
              </a:rPr>
              <a:t>Process</a:t>
            </a:r>
          </a:p>
        </p:txBody>
      </p:sp>
      <p:sp>
        <p:nvSpPr>
          <p:cNvPr id="15" name="Box 5"/>
          <p:cNvSpPr/>
          <p:nvPr/>
        </p:nvSpPr>
        <p:spPr>
          <a:xfrm>
            <a:off x="2693324" y="2143547"/>
            <a:ext cx="1324485" cy="285673"/>
          </a:xfrm>
          <a:prstGeom prst="rect">
            <a:avLst/>
          </a:prstGeom>
          <a:noFill/>
          <a:ln>
            <a:noFill/>
          </a:ln>
        </p:spPr>
        <p:txBody>
          <a:bodyPr wrap="none" lIns="25970" tIns="0" rIns="2597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500" dirty="0">
                <a:solidFill>
                  <a:srgbClr val="000000"/>
                </a:solidFill>
              </a:rPr>
              <a:t>Out of focus</a:t>
            </a:r>
          </a:p>
        </p:txBody>
      </p:sp>
      <p:sp>
        <p:nvSpPr>
          <p:cNvPr id="16" name="Shape 6"/>
          <p:cNvSpPr/>
          <p:nvPr/>
        </p:nvSpPr>
        <p:spPr>
          <a:xfrm>
            <a:off x="4017809" y="2286384"/>
            <a:ext cx="103881" cy="1"/>
          </a:xfrm>
          <a:custGeom>
            <a:avLst/>
            <a:gdLst/>
            <a:ahLst/>
            <a:cxnLst/>
            <a:rect l="0" t="0" r="0" b="0"/>
            <a:pathLst>
              <a:path w="76200" h="1" fill="none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/>
          <a:ln w="12985">
            <a:solidFill>
              <a:srgbClr val="85A3D9"/>
            </a:solidFill>
          </a:ln>
        </p:spPr>
      </p:sp>
      <p:sp>
        <p:nvSpPr>
          <p:cNvPr id="17" name="Box 7"/>
          <p:cNvSpPr/>
          <p:nvPr/>
        </p:nvSpPr>
        <p:spPr>
          <a:xfrm>
            <a:off x="1849452" y="2429220"/>
            <a:ext cx="2285386" cy="285673"/>
          </a:xfrm>
          <a:prstGeom prst="rect">
            <a:avLst/>
          </a:prstGeom>
          <a:noFill/>
          <a:ln>
            <a:noFill/>
          </a:ln>
        </p:spPr>
        <p:txBody>
          <a:bodyPr wrap="none" lIns="25970" tIns="0" rIns="2597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500" dirty="0">
                <a:solidFill>
                  <a:srgbClr val="000000"/>
                </a:solidFill>
              </a:rPr>
              <a:t>Shutter speed too slow</a:t>
            </a:r>
          </a:p>
        </p:txBody>
      </p:sp>
      <p:sp>
        <p:nvSpPr>
          <p:cNvPr id="18" name="Shape 8"/>
          <p:cNvSpPr/>
          <p:nvPr/>
        </p:nvSpPr>
        <p:spPr>
          <a:xfrm>
            <a:off x="4134838" y="2572057"/>
            <a:ext cx="103881" cy="1"/>
          </a:xfrm>
          <a:custGeom>
            <a:avLst/>
            <a:gdLst/>
            <a:ahLst/>
            <a:cxnLst/>
            <a:rect l="0" t="0" r="0" b="0"/>
            <a:pathLst>
              <a:path w="76200" h="1" fill="none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/>
          <a:ln w="12985">
            <a:solidFill>
              <a:srgbClr val="85A3D9"/>
            </a:solidFill>
          </a:ln>
        </p:spPr>
      </p:sp>
      <p:sp>
        <p:nvSpPr>
          <p:cNvPr id="19" name="Box 9"/>
          <p:cNvSpPr/>
          <p:nvPr/>
        </p:nvSpPr>
        <p:spPr>
          <a:xfrm>
            <a:off x="1460060" y="2714894"/>
            <a:ext cx="2791807" cy="285673"/>
          </a:xfrm>
          <a:prstGeom prst="rect">
            <a:avLst/>
          </a:prstGeom>
          <a:noFill/>
          <a:ln>
            <a:noFill/>
          </a:ln>
        </p:spPr>
        <p:txBody>
          <a:bodyPr wrap="none" lIns="25970" tIns="0" rIns="2597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500" dirty="0">
                <a:solidFill>
                  <a:srgbClr val="000000"/>
                </a:solidFill>
              </a:rPr>
              <a:t>Protective film not removed</a:t>
            </a:r>
          </a:p>
        </p:txBody>
      </p:sp>
      <p:sp>
        <p:nvSpPr>
          <p:cNvPr id="20" name="Shape 10"/>
          <p:cNvSpPr/>
          <p:nvPr/>
        </p:nvSpPr>
        <p:spPr>
          <a:xfrm>
            <a:off x="4251866" y="2857730"/>
            <a:ext cx="103881" cy="1"/>
          </a:xfrm>
          <a:custGeom>
            <a:avLst/>
            <a:gdLst/>
            <a:ahLst/>
            <a:cxnLst/>
            <a:rect l="0" t="0" r="0" b="0"/>
            <a:pathLst>
              <a:path w="76200" h="1" fill="none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/>
          <a:ln w="12985">
            <a:solidFill>
              <a:srgbClr val="85A3D9"/>
            </a:solidFill>
          </a:ln>
        </p:spPr>
      </p:sp>
      <p:sp>
        <p:nvSpPr>
          <p:cNvPr id="21" name="Box 11"/>
          <p:cNvSpPr/>
          <p:nvPr/>
        </p:nvSpPr>
        <p:spPr>
          <a:xfrm>
            <a:off x="1330370" y="3000567"/>
            <a:ext cx="3038525" cy="285673"/>
          </a:xfrm>
          <a:prstGeom prst="rect">
            <a:avLst/>
          </a:prstGeom>
          <a:noFill/>
          <a:ln>
            <a:noFill/>
          </a:ln>
        </p:spPr>
        <p:txBody>
          <a:bodyPr wrap="none" lIns="25970" tIns="0" rIns="2597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500" dirty="0">
                <a:solidFill>
                  <a:srgbClr val="000000"/>
                </a:solidFill>
              </a:rPr>
              <a:t>Beautification filter applied</a:t>
            </a:r>
          </a:p>
        </p:txBody>
      </p:sp>
      <p:sp>
        <p:nvSpPr>
          <p:cNvPr id="22" name="Shape 12"/>
          <p:cNvSpPr/>
          <p:nvPr/>
        </p:nvSpPr>
        <p:spPr>
          <a:xfrm>
            <a:off x="4368895" y="3143404"/>
            <a:ext cx="103881" cy="1"/>
          </a:xfrm>
          <a:custGeom>
            <a:avLst/>
            <a:gdLst/>
            <a:ahLst/>
            <a:cxnLst/>
            <a:rect l="0" t="0" r="0" b="0"/>
            <a:pathLst>
              <a:path w="76200" h="1" fill="none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/>
          <a:ln w="12985">
            <a:solidFill>
              <a:srgbClr val="85A3D9"/>
            </a:solidFill>
          </a:ln>
        </p:spPr>
      </p:sp>
      <p:sp>
        <p:nvSpPr>
          <p:cNvPr id="23" name="Shape 13"/>
          <p:cNvSpPr/>
          <p:nvPr/>
        </p:nvSpPr>
        <p:spPr>
          <a:xfrm>
            <a:off x="4563104" y="4428933"/>
            <a:ext cx="436301" cy="857020"/>
          </a:xfrm>
          <a:custGeom>
            <a:avLst/>
            <a:gdLst/>
            <a:ahLst/>
            <a:cxnLst/>
            <a:rect l="0" t="0" r="0" b="0"/>
            <a:pathLst>
              <a:path w="320040" h="628650" fill="none">
                <a:moveTo>
                  <a:pt x="0" y="628650"/>
                </a:moveTo>
                <a:lnTo>
                  <a:pt x="320040" y="0"/>
                </a:lnTo>
              </a:path>
            </a:pathLst>
          </a:custGeom>
          <a:noFill/>
          <a:ln w="30299">
            <a:solidFill>
              <a:srgbClr val="ED7D31"/>
            </a:solidFill>
          </a:ln>
        </p:spPr>
      </p:sp>
      <p:sp>
        <p:nvSpPr>
          <p:cNvPr id="24" name="Box 14"/>
          <p:cNvSpPr/>
          <p:nvPr/>
        </p:nvSpPr>
        <p:spPr>
          <a:xfrm>
            <a:off x="4193026" y="5285953"/>
            <a:ext cx="740153" cy="38955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500" dirty="0">
                <a:solidFill>
                  <a:srgbClr val="FFFFFF"/>
                </a:solidFill>
              </a:rPr>
              <a:t>User</a:t>
            </a:r>
          </a:p>
        </p:txBody>
      </p:sp>
      <p:sp>
        <p:nvSpPr>
          <p:cNvPr id="25" name="Box 15"/>
          <p:cNvSpPr/>
          <p:nvPr/>
        </p:nvSpPr>
        <p:spPr>
          <a:xfrm>
            <a:off x="3259395" y="5000280"/>
            <a:ext cx="1272544" cy="285673"/>
          </a:xfrm>
          <a:prstGeom prst="rect">
            <a:avLst/>
          </a:prstGeom>
          <a:noFill/>
          <a:ln>
            <a:noFill/>
          </a:ln>
        </p:spPr>
        <p:txBody>
          <a:bodyPr wrap="none" lIns="25970" tIns="0" rIns="2597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500" dirty="0">
                <a:solidFill>
                  <a:srgbClr val="000000"/>
                </a:solidFill>
              </a:rPr>
              <a:t>Shaky hands</a:t>
            </a:r>
          </a:p>
        </p:txBody>
      </p:sp>
      <p:sp>
        <p:nvSpPr>
          <p:cNvPr id="26" name="Shape 16"/>
          <p:cNvSpPr/>
          <p:nvPr/>
        </p:nvSpPr>
        <p:spPr>
          <a:xfrm>
            <a:off x="4531939" y="5143116"/>
            <a:ext cx="103881" cy="1"/>
          </a:xfrm>
          <a:custGeom>
            <a:avLst/>
            <a:gdLst/>
            <a:ahLst/>
            <a:cxnLst/>
            <a:rect l="0" t="0" r="0" b="0"/>
            <a:pathLst>
              <a:path w="76200" h="1" fill="none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/>
          <a:ln w="12985">
            <a:solidFill>
              <a:srgbClr val="F3AB79"/>
            </a:solidFill>
          </a:ln>
        </p:spPr>
      </p:sp>
      <p:sp>
        <p:nvSpPr>
          <p:cNvPr id="27" name="Shape 17"/>
          <p:cNvSpPr/>
          <p:nvPr/>
        </p:nvSpPr>
        <p:spPr>
          <a:xfrm>
            <a:off x="8045720" y="2143547"/>
            <a:ext cx="936228" cy="2285386"/>
          </a:xfrm>
          <a:custGeom>
            <a:avLst/>
            <a:gdLst/>
            <a:ahLst/>
            <a:cxnLst/>
            <a:rect l="0" t="0" r="0" b="0"/>
            <a:pathLst>
              <a:path w="686752" h="1676400" fill="none">
                <a:moveTo>
                  <a:pt x="0" y="0"/>
                </a:moveTo>
                <a:lnTo>
                  <a:pt x="686752" y="1676400"/>
                </a:lnTo>
              </a:path>
            </a:pathLst>
          </a:custGeom>
          <a:noFill/>
          <a:ln w="30299">
            <a:solidFill>
              <a:srgbClr val="70AD47"/>
            </a:solidFill>
          </a:ln>
        </p:spPr>
      </p:sp>
      <p:sp>
        <p:nvSpPr>
          <p:cNvPr id="28" name="Box 18"/>
          <p:cNvSpPr/>
          <p:nvPr/>
        </p:nvSpPr>
        <p:spPr>
          <a:xfrm>
            <a:off x="7422433" y="1753993"/>
            <a:ext cx="1246574" cy="389554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500" dirty="0">
                <a:solidFill>
                  <a:srgbClr val="FFFFFF"/>
                </a:solidFill>
              </a:rPr>
              <a:t>Equipment</a:t>
            </a:r>
          </a:p>
        </p:txBody>
      </p:sp>
      <p:sp>
        <p:nvSpPr>
          <p:cNvPr id="29" name="Box 19"/>
          <p:cNvSpPr/>
          <p:nvPr/>
        </p:nvSpPr>
        <p:spPr>
          <a:xfrm>
            <a:off x="7338111" y="2143547"/>
            <a:ext cx="662243" cy="285673"/>
          </a:xfrm>
          <a:prstGeom prst="rect">
            <a:avLst/>
          </a:prstGeom>
          <a:noFill/>
          <a:ln>
            <a:noFill/>
          </a:ln>
        </p:spPr>
        <p:txBody>
          <a:bodyPr wrap="none" lIns="25970" tIns="0" rIns="2597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500" dirty="0">
                <a:solidFill>
                  <a:srgbClr val="000000"/>
                </a:solidFill>
              </a:rPr>
              <a:t>LENS</a:t>
            </a:r>
          </a:p>
        </p:txBody>
      </p:sp>
      <p:sp>
        <p:nvSpPr>
          <p:cNvPr id="30" name="Shape 20"/>
          <p:cNvSpPr/>
          <p:nvPr/>
        </p:nvSpPr>
        <p:spPr>
          <a:xfrm>
            <a:off x="8000353" y="2286384"/>
            <a:ext cx="103881" cy="1"/>
          </a:xfrm>
          <a:custGeom>
            <a:avLst/>
            <a:gdLst/>
            <a:ahLst/>
            <a:cxnLst/>
            <a:rect l="0" t="0" r="0" b="0"/>
            <a:pathLst>
              <a:path w="76200" h="1" fill="none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/>
          <a:ln w="12985">
            <a:solidFill>
              <a:srgbClr val="A2CA87"/>
            </a:solidFill>
          </a:ln>
        </p:spPr>
      </p:sp>
      <p:sp>
        <p:nvSpPr>
          <p:cNvPr id="31" name="Box 21"/>
          <p:cNvSpPr/>
          <p:nvPr/>
        </p:nvSpPr>
        <p:spPr>
          <a:xfrm>
            <a:off x="5961847" y="2429220"/>
            <a:ext cx="1973742" cy="285673"/>
          </a:xfrm>
          <a:prstGeom prst="rect">
            <a:avLst/>
          </a:prstGeom>
          <a:noFill/>
          <a:ln>
            <a:noFill/>
          </a:ln>
        </p:spPr>
        <p:txBody>
          <a:bodyPr wrap="none" lIns="25970" tIns="0" rIns="2597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i="1" sz="1500" dirty="0">
                <a:solidFill>
                  <a:srgbClr val="595959"/>
                </a:solidFill>
              </a:rPr>
              <a:t>Inappropriate lens</a:t>
            </a:r>
          </a:p>
        </p:txBody>
      </p:sp>
      <p:sp>
        <p:nvSpPr>
          <p:cNvPr id="32" name="Shape 22"/>
          <p:cNvSpPr/>
          <p:nvPr/>
        </p:nvSpPr>
        <p:spPr>
          <a:xfrm>
            <a:off x="7935590" y="2572057"/>
            <a:ext cx="285673" cy="1"/>
          </a:xfrm>
          <a:custGeom>
            <a:avLst/>
            <a:gdLst/>
            <a:ahLst/>
            <a:cxnLst/>
            <a:rect l="0" t="0" r="0" b="0"/>
            <a:pathLst>
              <a:path w="209550" h="1" fill="none">
                <a:moveTo>
                  <a:pt x="0" y="0"/>
                </a:moveTo>
                <a:lnTo>
                  <a:pt x="209550" y="0"/>
                </a:lnTo>
              </a:path>
            </a:pathLst>
          </a:custGeom>
          <a:noFill/>
          <a:ln w="12985">
            <a:solidFill>
              <a:srgbClr val="A2CA87"/>
            </a:solidFill>
          </a:ln>
        </p:spPr>
      </p:sp>
      <p:sp>
        <p:nvSpPr>
          <p:cNvPr id="33" name="Box 23"/>
          <p:cNvSpPr/>
          <p:nvPr/>
        </p:nvSpPr>
        <p:spPr>
          <a:xfrm>
            <a:off x="6689178" y="2714894"/>
            <a:ext cx="1363440" cy="285673"/>
          </a:xfrm>
          <a:prstGeom prst="rect">
            <a:avLst/>
          </a:prstGeom>
          <a:noFill/>
          <a:ln>
            <a:noFill/>
          </a:ln>
        </p:spPr>
        <p:txBody>
          <a:bodyPr wrap="none" lIns="25970" tIns="0" rIns="2597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i="1" sz="1500" dirty="0">
                <a:solidFill>
                  <a:srgbClr val="595959"/>
                </a:solidFill>
              </a:rPr>
              <a:t>Damaged lens</a:t>
            </a:r>
          </a:p>
        </p:txBody>
      </p:sp>
      <p:sp>
        <p:nvSpPr>
          <p:cNvPr id="34" name="Shape 24"/>
          <p:cNvSpPr/>
          <p:nvPr/>
        </p:nvSpPr>
        <p:spPr>
          <a:xfrm>
            <a:off x="8052618" y="2857730"/>
            <a:ext cx="285673" cy="1"/>
          </a:xfrm>
          <a:custGeom>
            <a:avLst/>
            <a:gdLst/>
            <a:ahLst/>
            <a:cxnLst/>
            <a:rect l="0" t="0" r="0" b="0"/>
            <a:pathLst>
              <a:path w="209550" h="1" fill="none">
                <a:moveTo>
                  <a:pt x="0" y="0"/>
                </a:moveTo>
                <a:lnTo>
                  <a:pt x="209550" y="0"/>
                </a:lnTo>
              </a:path>
            </a:pathLst>
          </a:custGeom>
          <a:noFill/>
          <a:ln w="12985">
            <a:solidFill>
              <a:srgbClr val="A2CA87"/>
            </a:solidFill>
          </a:ln>
        </p:spPr>
      </p:sp>
      <p:sp>
        <p:nvSpPr>
          <p:cNvPr id="35" name="Box 25"/>
          <p:cNvSpPr/>
          <p:nvPr/>
        </p:nvSpPr>
        <p:spPr>
          <a:xfrm>
            <a:off x="7000984" y="3000567"/>
            <a:ext cx="1168663" cy="285673"/>
          </a:xfrm>
          <a:prstGeom prst="rect">
            <a:avLst/>
          </a:prstGeom>
          <a:noFill/>
          <a:ln>
            <a:noFill/>
          </a:ln>
        </p:spPr>
        <p:txBody>
          <a:bodyPr wrap="none" lIns="25970" tIns="0" rIns="2597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i="1" sz="1500" dirty="0">
                <a:solidFill>
                  <a:srgbClr val="595959"/>
                </a:solidFill>
              </a:rPr>
              <a:t>Dirty lens</a:t>
            </a:r>
          </a:p>
        </p:txBody>
      </p:sp>
      <p:sp>
        <p:nvSpPr>
          <p:cNvPr id="36" name="Shape 26"/>
          <p:cNvSpPr/>
          <p:nvPr/>
        </p:nvSpPr>
        <p:spPr>
          <a:xfrm>
            <a:off x="8169647" y="3143404"/>
            <a:ext cx="285673" cy="1"/>
          </a:xfrm>
          <a:custGeom>
            <a:avLst/>
            <a:gdLst/>
            <a:ahLst/>
            <a:cxnLst/>
            <a:rect l="0" t="0" r="0" b="0"/>
            <a:pathLst>
              <a:path w="209550" h="1" fill="none">
                <a:moveTo>
                  <a:pt x="0" y="0"/>
                </a:moveTo>
                <a:lnTo>
                  <a:pt x="209550" y="0"/>
                </a:lnTo>
              </a:path>
            </a:pathLst>
          </a:custGeom>
          <a:noFill/>
          <a:ln w="12985">
            <a:solidFill>
              <a:srgbClr val="A2CA87"/>
            </a:solidFill>
          </a:ln>
        </p:spPr>
      </p:sp>
      <p:sp>
        <p:nvSpPr>
          <p:cNvPr id="37" name="Box 27"/>
          <p:cNvSpPr/>
          <p:nvPr/>
        </p:nvSpPr>
        <p:spPr>
          <a:xfrm>
            <a:off x="7572492" y="3286240"/>
            <a:ext cx="895975" cy="285673"/>
          </a:xfrm>
          <a:prstGeom prst="rect">
            <a:avLst/>
          </a:prstGeom>
          <a:noFill/>
          <a:ln>
            <a:noFill/>
          </a:ln>
        </p:spPr>
        <p:txBody>
          <a:bodyPr wrap="none" lIns="25970" tIns="0" rIns="2597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500" dirty="0">
                <a:solidFill>
                  <a:srgbClr val="000000"/>
                </a:solidFill>
              </a:rPr>
              <a:t>SENSOR</a:t>
            </a:r>
          </a:p>
        </p:txBody>
      </p:sp>
      <p:sp>
        <p:nvSpPr>
          <p:cNvPr id="38" name="Shape 28"/>
          <p:cNvSpPr/>
          <p:nvPr/>
        </p:nvSpPr>
        <p:spPr>
          <a:xfrm>
            <a:off x="8468468" y="3429077"/>
            <a:ext cx="103881" cy="1"/>
          </a:xfrm>
          <a:custGeom>
            <a:avLst/>
            <a:gdLst/>
            <a:ahLst/>
            <a:cxnLst/>
            <a:rect l="0" t="0" r="0" b="0"/>
            <a:pathLst>
              <a:path w="76200" h="1" fill="none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/>
          <a:ln w="12985">
            <a:solidFill>
              <a:srgbClr val="A2CA87"/>
            </a:solidFill>
          </a:ln>
        </p:spPr>
      </p:sp>
      <p:sp>
        <p:nvSpPr>
          <p:cNvPr id="39" name="Box 29"/>
          <p:cNvSpPr/>
          <p:nvPr/>
        </p:nvSpPr>
        <p:spPr>
          <a:xfrm>
            <a:off x="6832501" y="3571913"/>
            <a:ext cx="1571203" cy="285673"/>
          </a:xfrm>
          <a:prstGeom prst="rect">
            <a:avLst/>
          </a:prstGeom>
          <a:noFill/>
          <a:ln>
            <a:noFill/>
          </a:ln>
        </p:spPr>
        <p:txBody>
          <a:bodyPr wrap="none" lIns="25970" tIns="0" rIns="2597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i="1" sz="1500" dirty="0">
                <a:solidFill>
                  <a:srgbClr val="595959"/>
                </a:solidFill>
              </a:rPr>
              <a:t>Damaged sensor</a:t>
            </a:r>
          </a:p>
        </p:txBody>
      </p:sp>
      <p:sp>
        <p:nvSpPr>
          <p:cNvPr id="40" name="Shape 30"/>
          <p:cNvSpPr/>
          <p:nvPr/>
        </p:nvSpPr>
        <p:spPr>
          <a:xfrm>
            <a:off x="8403704" y="3714750"/>
            <a:ext cx="285673" cy="1"/>
          </a:xfrm>
          <a:custGeom>
            <a:avLst/>
            <a:gdLst/>
            <a:ahLst/>
            <a:cxnLst/>
            <a:rect l="0" t="0" r="0" b="0"/>
            <a:pathLst>
              <a:path w="209550" h="1" fill="none">
                <a:moveTo>
                  <a:pt x="0" y="0"/>
                </a:moveTo>
                <a:lnTo>
                  <a:pt x="209550" y="0"/>
                </a:lnTo>
              </a:path>
            </a:pathLst>
          </a:custGeom>
          <a:noFill/>
          <a:ln w="12985">
            <a:solidFill>
              <a:srgbClr val="A2CA87"/>
            </a:solidFill>
          </a:ln>
        </p:spPr>
      </p:sp>
      <p:sp>
        <p:nvSpPr>
          <p:cNvPr id="41" name="Box 31"/>
          <p:cNvSpPr/>
          <p:nvPr/>
        </p:nvSpPr>
        <p:spPr>
          <a:xfrm>
            <a:off x="7157292" y="3857587"/>
            <a:ext cx="1363440" cy="285673"/>
          </a:xfrm>
          <a:prstGeom prst="rect">
            <a:avLst/>
          </a:prstGeom>
          <a:noFill/>
          <a:ln>
            <a:noFill/>
          </a:ln>
        </p:spPr>
        <p:txBody>
          <a:bodyPr wrap="none" lIns="25970" tIns="0" rIns="2597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i="1" sz="1500" dirty="0">
                <a:solidFill>
                  <a:srgbClr val="595959"/>
                </a:solidFill>
              </a:rPr>
              <a:t>Dirty sensor</a:t>
            </a:r>
          </a:p>
        </p:txBody>
      </p:sp>
      <p:sp>
        <p:nvSpPr>
          <p:cNvPr id="42" name="Shape 32"/>
          <p:cNvSpPr/>
          <p:nvPr/>
        </p:nvSpPr>
        <p:spPr>
          <a:xfrm>
            <a:off x="8520733" y="4000423"/>
            <a:ext cx="285673" cy="1"/>
          </a:xfrm>
          <a:custGeom>
            <a:avLst/>
            <a:gdLst/>
            <a:ahLst/>
            <a:cxnLst/>
            <a:rect l="0" t="0" r="0" b="0"/>
            <a:pathLst>
              <a:path w="209550" h="1" fill="none">
                <a:moveTo>
                  <a:pt x="0" y="0"/>
                </a:moveTo>
                <a:lnTo>
                  <a:pt x="209550" y="0"/>
                </a:lnTo>
              </a:path>
            </a:pathLst>
          </a:custGeom>
          <a:noFill/>
          <a:ln w="12985">
            <a:solidFill>
              <a:srgbClr val="A2CA87"/>
            </a:solidFill>
          </a:ln>
        </p:spPr>
      </p:sp>
      <p:sp>
        <p:nvSpPr>
          <p:cNvPr id="43" name="Shape 33"/>
          <p:cNvSpPr/>
          <p:nvPr/>
        </p:nvSpPr>
        <p:spPr>
          <a:xfrm>
            <a:off x="8545648" y="4428933"/>
            <a:ext cx="436301" cy="857020"/>
          </a:xfrm>
          <a:custGeom>
            <a:avLst/>
            <a:gdLst/>
            <a:ahLst/>
            <a:cxnLst/>
            <a:rect l="0" t="0" r="0" b="0"/>
            <a:pathLst>
              <a:path w="320040" h="628650" fill="none">
                <a:moveTo>
                  <a:pt x="0" y="628650"/>
                </a:moveTo>
                <a:lnTo>
                  <a:pt x="320040" y="0"/>
                </a:lnTo>
              </a:path>
            </a:pathLst>
          </a:custGeom>
          <a:noFill/>
          <a:ln w="30299">
            <a:solidFill>
              <a:srgbClr val="FFC000"/>
            </a:solidFill>
          </a:ln>
        </p:spPr>
      </p:sp>
      <p:sp>
        <p:nvSpPr>
          <p:cNvPr id="44" name="Box 34"/>
          <p:cNvSpPr/>
          <p:nvPr/>
        </p:nvSpPr>
        <p:spPr>
          <a:xfrm>
            <a:off x="7818479" y="5285953"/>
            <a:ext cx="1454337" cy="38955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500" dirty="0">
                <a:solidFill>
                  <a:srgbClr val="FFFFFF"/>
                </a:solidFill>
              </a:rPr>
              <a:t>Environment</a:t>
            </a:r>
          </a:p>
        </p:txBody>
      </p:sp>
      <p:sp>
        <p:nvSpPr>
          <p:cNvPr id="45" name="Box 35"/>
          <p:cNvSpPr/>
          <p:nvPr/>
        </p:nvSpPr>
        <p:spPr>
          <a:xfrm>
            <a:off x="5930439" y="5000280"/>
            <a:ext cx="2584044" cy="285673"/>
          </a:xfrm>
          <a:prstGeom prst="rect">
            <a:avLst/>
          </a:prstGeom>
          <a:noFill/>
          <a:ln>
            <a:noFill/>
          </a:ln>
        </p:spPr>
        <p:txBody>
          <a:bodyPr wrap="none" lIns="25970" tIns="0" rIns="2597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500" dirty="0">
                <a:solidFill>
                  <a:srgbClr val="000000"/>
                </a:solidFill>
              </a:rPr>
              <a:t>Subject moved too quickly</a:t>
            </a:r>
          </a:p>
        </p:txBody>
      </p:sp>
      <p:sp>
        <p:nvSpPr>
          <p:cNvPr id="46" name="Shape 36"/>
          <p:cNvSpPr/>
          <p:nvPr/>
        </p:nvSpPr>
        <p:spPr>
          <a:xfrm>
            <a:off x="8514483" y="5143116"/>
            <a:ext cx="103881" cy="1"/>
          </a:xfrm>
          <a:custGeom>
            <a:avLst/>
            <a:gdLst/>
            <a:ahLst/>
            <a:cxnLst/>
            <a:rect l="0" t="0" r="0" b="0"/>
            <a:pathLst>
              <a:path w="76200" h="1" fill="none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/>
          <a:ln w="12985">
            <a:solidFill>
              <a:srgbClr val="FFD659"/>
            </a:solidFill>
          </a:ln>
        </p:spPr>
      </p:sp>
      <p:sp>
        <p:nvSpPr>
          <p:cNvPr id="47" name="Box 37"/>
          <p:cNvSpPr/>
          <p:nvPr/>
        </p:nvSpPr>
        <p:spPr>
          <a:xfrm>
            <a:off x="7699016" y="4714606"/>
            <a:ext cx="960901" cy="285673"/>
          </a:xfrm>
          <a:prstGeom prst="rect">
            <a:avLst/>
          </a:prstGeom>
          <a:noFill/>
          <a:ln>
            <a:noFill/>
          </a:ln>
        </p:spPr>
        <p:txBody>
          <a:bodyPr wrap="none" lIns="25970" tIns="0" rIns="2597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500" dirty="0">
                <a:solidFill>
                  <a:srgbClr val="000000"/>
                </a:solidFill>
              </a:rPr>
              <a:t>Too dark</a:t>
            </a:r>
          </a:p>
        </p:txBody>
      </p:sp>
      <p:sp>
        <p:nvSpPr>
          <p:cNvPr id="48" name="Shape 38"/>
          <p:cNvSpPr/>
          <p:nvPr/>
        </p:nvSpPr>
        <p:spPr>
          <a:xfrm>
            <a:off x="8659917" y="4857443"/>
            <a:ext cx="103881" cy="1"/>
          </a:xfrm>
          <a:custGeom>
            <a:avLst/>
            <a:gdLst/>
            <a:ahLst/>
            <a:cxnLst/>
            <a:rect l="0" t="0" r="0" b="0"/>
            <a:pathLst>
              <a:path w="76200" h="1" fill="none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/>
          <a:ln w="12985">
            <a:solidFill>
              <a:srgbClr val="FFD659"/>
            </a:solidFill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isolated</a:t>
            </a:r>
          </a:p>
        </p:txBody>
      </p:sp>
      <p:sp>
        <p:nvSpPr>
          <p:cNvPr id="12" name="Entree" descr="A"/>
          <p:cNvSpPr/>
          <p:nvPr/>
        </p:nvSpPr>
        <p:spPr>
          <a:xfrm>
            <a:off x="817708" y="1854987"/>
            <a:ext cx="1728149" cy="1072940"/>
          </a:xfrm>
          <a:prstGeom prst="rect">
            <a:avLst/>
          </a:prstGeom>
          <a:solidFill>
            <a:srgbClr val="C8E6C9"/>
          </a:solidFill>
          <a:ln w="19074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7336" tIns="68668" rIns="137336" bIns="6866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802" dirty="0">
                <a:solidFill>
                  <a:srgbClr val="000000"/>
                </a:solidFill>
              </a:rPr>
              <a:t>Entree</a:t>
            </a:r>
          </a:p>
        </p:txBody>
      </p:sp>
      <p:sp>
        <p:nvSpPr>
          <p:cNvPr id="13" name="Noeud isole 2" descr="B"/>
          <p:cNvSpPr/>
          <p:nvPr/>
        </p:nvSpPr>
        <p:spPr>
          <a:xfrm>
            <a:off x="3404208" y="1854987"/>
            <a:ext cx="2957309" cy="1072940"/>
          </a:xfrm>
          <a:prstGeom prst="rect">
            <a:avLst/>
          </a:prstGeom>
          <a:solidFill>
            <a:srgbClr val="FFE0B2"/>
          </a:solidFill>
          <a:ln w="19074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7336" tIns="68668" rIns="137336" bIns="6866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802" dirty="0">
                <a:solidFill>
                  <a:srgbClr val="000000"/>
                </a:solidFill>
              </a:rPr>
              <a:t>Noeud isole 2</a:t>
            </a:r>
          </a:p>
        </p:txBody>
      </p:sp>
      <p:sp>
        <p:nvSpPr>
          <p:cNvPr id="14" name="C" descr="C"/>
          <p:cNvSpPr/>
          <p:nvPr/>
        </p:nvSpPr>
        <p:spPr>
          <a:xfrm>
            <a:off x="7219869" y="1854987"/>
            <a:ext cx="1001411" cy="1072940"/>
          </a:xfrm>
          <a:prstGeom prst="rect">
            <a:avLst/>
          </a:prstGeom>
          <a:solidFill>
            <a:srgbClr val="E1BEE7"/>
          </a:solidFill>
          <a:ln w="19074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7336" tIns="68668" rIns="137336" bIns="6866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802" dirty="0">
                <a:solidFill>
                  <a:srgbClr val="000000"/>
                </a:solidFill>
              </a:rPr>
              <a:t>C</a:t>
            </a:r>
          </a:p>
        </p:txBody>
      </p:sp>
      <p:sp>
        <p:nvSpPr>
          <p:cNvPr id="15" name="D" descr="D"/>
          <p:cNvSpPr/>
          <p:nvPr/>
        </p:nvSpPr>
        <p:spPr>
          <a:xfrm>
            <a:off x="7219869" y="4286985"/>
            <a:ext cx="1001411" cy="1072940"/>
          </a:xfrm>
          <a:prstGeom prst="rect">
            <a:avLst/>
          </a:prstGeom>
          <a:solidFill>
            <a:srgbClr val="FFCDD2"/>
          </a:solidFill>
          <a:ln w="19074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7336" tIns="68668" rIns="137336" bIns="6866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802" dirty="0">
                <a:solidFill>
                  <a:srgbClr val="000000"/>
                </a:solidFill>
              </a:rPr>
              <a:t>D</a:t>
            </a:r>
          </a:p>
        </p:txBody>
      </p:sp>
      <p:sp>
        <p:nvSpPr>
          <p:cNvPr id="16" name="Rejoint le graphe" descr="E"/>
          <p:cNvSpPr/>
          <p:nvPr/>
        </p:nvSpPr>
        <p:spPr>
          <a:xfrm>
            <a:off x="457200" y="4072397"/>
            <a:ext cx="2449164" cy="1502116"/>
          </a:xfrm>
          <a:prstGeom prst="rect">
            <a:avLst/>
          </a:prstGeom>
          <a:solidFill>
            <a:srgbClr val="FFF9C4"/>
          </a:solidFill>
          <a:ln w="19074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7336" tIns="68668" rIns="137336" bIns="6866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802" dirty="0">
                <a:solidFill>
                  <a:srgbClr val="000000"/>
                </a:solidFill>
              </a:rPr>
              <a:t>Rejoint le graphe</a:t>
            </a:r>
          </a:p>
        </p:txBody>
      </p:sp>
      <p:sp>
        <p:nvSpPr>
          <p:cNvPr id="17" name="Noeud isole" descr="F"/>
          <p:cNvSpPr/>
          <p:nvPr/>
        </p:nvSpPr>
        <p:spPr>
          <a:xfrm>
            <a:off x="9079631" y="1854987"/>
            <a:ext cx="2655169" cy="1072940"/>
          </a:xfrm>
          <a:prstGeom prst="rect">
            <a:avLst/>
          </a:prstGeom>
          <a:solidFill>
            <a:srgbClr val="BBDEFB"/>
          </a:solidFill>
          <a:ln w="19074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7336" tIns="68668" rIns="137336" bIns="6866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802" dirty="0">
                <a:solidFill>
                  <a:srgbClr val="000000"/>
                </a:solidFill>
              </a:rPr>
              <a:t>Noeud isole</a:t>
            </a:r>
          </a:p>
        </p:txBody>
      </p:sp>
      <p:sp>
        <p:nvSpPr>
          <p:cNvPr id="18" name="Lien seul" descr="G"/>
          <p:cNvSpPr/>
          <p:nvPr/>
        </p:nvSpPr>
        <p:spPr>
          <a:xfrm>
            <a:off x="9285636" y="4286985"/>
            <a:ext cx="2243160" cy="1072940"/>
          </a:xfrm>
          <a:prstGeom prst="rect">
            <a:avLst/>
          </a:prstGeom>
          <a:solidFill>
            <a:srgbClr val="C8E6C9"/>
          </a:solidFill>
          <a:ln w="19074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7336" tIns="68668" rIns="137336" bIns="6866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802" dirty="0">
                <a:solidFill>
                  <a:srgbClr val="000000"/>
                </a:solidFill>
              </a:rPr>
              <a:t>Lien seul</a:t>
            </a:r>
          </a:p>
        </p:txBody>
      </p:sp>
      <p:cxnSp>
        <p:nvCxnSpPr>
          <p:cNvPr id="19" name="C--D"/>
          <p:cNvCxnSpPr>
            <a:stCxn id="14" idx="2"/>
            <a:endCxn id="15" idx="0"/>
          </p:cNvCxnSpPr>
          <p:nvPr/>
        </p:nvCxnSpPr>
        <p:spPr>
          <a:xfrm>
            <a:off x="7720574" y="2927927"/>
            <a:ext cx="0" cy="1359057"/>
          </a:xfrm>
          <a:prstGeom prst="line">
            <a:avLst/>
          </a:prstGeom>
          <a:ln w="19074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A--E"/>
          <p:cNvCxnSpPr>
            <a:stCxn id="12" idx="2"/>
            <a:endCxn id="16" idx="0"/>
          </p:cNvCxnSpPr>
          <p:nvPr/>
        </p:nvCxnSpPr>
        <p:spPr>
          <a:xfrm>
            <a:off x="1681782" y="2927927"/>
            <a:ext cx="0" cy="1144469"/>
          </a:xfrm>
          <a:prstGeom prst="line">
            <a:avLst/>
          </a:prstGeom>
          <a:ln w="19074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F--G"/>
          <p:cNvCxnSpPr>
            <a:stCxn id="17" idx="2"/>
            <a:endCxn id="18" idx="0"/>
          </p:cNvCxnSpPr>
          <p:nvPr/>
        </p:nvCxnSpPr>
        <p:spPr>
          <a:xfrm>
            <a:off x="10407216" y="2927927"/>
            <a:ext cx="0" cy="1359057"/>
          </a:xfrm>
          <a:prstGeom prst="line">
            <a:avLst/>
          </a:prstGeom>
          <a:ln w="19074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journey</a:t>
            </a:r>
          </a:p>
        </p:txBody>
      </p:sp>
      <p:sp>
        <p:nvSpPr>
          <p:cNvPr id="11" name="Box 1"/>
          <p:cNvSpPr/>
          <p:nvPr/>
        </p:nvSpPr>
        <p:spPr>
          <a:xfrm>
            <a:off x="457200" y="1883880"/>
            <a:ext cx="11277600" cy="6126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000000"/>
                </a:solidFill>
              </a:rPr>
              <a:t>My working day</a:t>
            </a:r>
          </a:p>
        </p:txBody>
      </p:sp>
      <p:sp>
        <p:nvSpPr>
          <p:cNvPr id="12" name="Box 2"/>
          <p:cNvSpPr/>
          <p:nvPr/>
        </p:nvSpPr>
        <p:spPr>
          <a:xfrm>
            <a:off x="2517799" y="2705335"/>
            <a:ext cx="5235034" cy="417689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FFFFFF"/>
                </a:solidFill>
              </a:rPr>
              <a:t>Go to work</a:t>
            </a:r>
          </a:p>
        </p:txBody>
      </p:sp>
      <p:sp>
        <p:nvSpPr>
          <p:cNvPr id="13" name="Box 3"/>
          <p:cNvSpPr/>
          <p:nvPr/>
        </p:nvSpPr>
        <p:spPr>
          <a:xfrm>
            <a:off x="7864216" y="2705335"/>
            <a:ext cx="3452895" cy="41768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FFFFFF"/>
                </a:solidFill>
              </a:rPr>
              <a:t>Go home</a:t>
            </a:r>
          </a:p>
        </p:txBody>
      </p:sp>
      <p:sp>
        <p:nvSpPr>
          <p:cNvPr id="14" name="Box 4"/>
          <p:cNvSpPr/>
          <p:nvPr/>
        </p:nvSpPr>
        <p:spPr>
          <a:xfrm>
            <a:off x="2517799" y="3234408"/>
            <a:ext cx="1670756" cy="515150"/>
          </a:xfrm>
          <a:prstGeom prst="rect">
            <a:avLst/>
          </a:prstGeom>
          <a:solidFill>
            <a:srgbClr val="DAE3F3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000000"/>
                </a:solidFill>
              </a:rPr>
              <a:t>Make tea</a:t>
            </a:r>
          </a:p>
        </p:txBody>
      </p:sp>
      <p:sp>
        <p:nvSpPr>
          <p:cNvPr id="15" name="Box 5"/>
          <p:cNvSpPr/>
          <p:nvPr/>
        </p:nvSpPr>
        <p:spPr>
          <a:xfrm>
            <a:off x="4299938" y="3234408"/>
            <a:ext cx="1670756" cy="515150"/>
          </a:xfrm>
          <a:prstGeom prst="rect">
            <a:avLst/>
          </a:prstGeom>
          <a:solidFill>
            <a:srgbClr val="DAE3F3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000000"/>
                </a:solidFill>
              </a:rPr>
              <a:t>Go upstairs</a:t>
            </a:r>
          </a:p>
        </p:txBody>
      </p:sp>
      <p:sp>
        <p:nvSpPr>
          <p:cNvPr id="16" name="Box 6"/>
          <p:cNvSpPr/>
          <p:nvPr/>
        </p:nvSpPr>
        <p:spPr>
          <a:xfrm>
            <a:off x="6082077" y="3234408"/>
            <a:ext cx="1670756" cy="515150"/>
          </a:xfrm>
          <a:prstGeom prst="rect">
            <a:avLst/>
          </a:prstGeom>
          <a:solidFill>
            <a:srgbClr val="DAE3F3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000000"/>
                </a:solidFill>
              </a:rPr>
              <a:t>Do work</a:t>
            </a:r>
          </a:p>
        </p:txBody>
      </p:sp>
      <p:sp>
        <p:nvSpPr>
          <p:cNvPr id="17" name="Box 7"/>
          <p:cNvSpPr/>
          <p:nvPr/>
        </p:nvSpPr>
        <p:spPr>
          <a:xfrm>
            <a:off x="7864216" y="3234408"/>
            <a:ext cx="1670756" cy="515150"/>
          </a:xfrm>
          <a:prstGeom prst="rect">
            <a:avLst/>
          </a:prstGeom>
          <a:solidFill>
            <a:srgbClr val="FBE5D6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000000"/>
                </a:solidFill>
              </a:rPr>
              <a:t>Go downstairs</a:t>
            </a:r>
          </a:p>
        </p:txBody>
      </p:sp>
      <p:sp>
        <p:nvSpPr>
          <p:cNvPr id="18" name="Box 8"/>
          <p:cNvSpPr/>
          <p:nvPr/>
        </p:nvSpPr>
        <p:spPr>
          <a:xfrm>
            <a:off x="9646356" y="3234408"/>
            <a:ext cx="1670756" cy="515150"/>
          </a:xfrm>
          <a:prstGeom prst="rect">
            <a:avLst/>
          </a:prstGeom>
          <a:solidFill>
            <a:srgbClr val="FBE5D6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000000"/>
                </a:solidFill>
              </a:rPr>
              <a:t>Sit down</a:t>
            </a:r>
          </a:p>
        </p:txBody>
      </p:sp>
      <p:sp>
        <p:nvSpPr>
          <p:cNvPr id="19" name="Box 9"/>
          <p:cNvSpPr/>
          <p:nvPr/>
        </p:nvSpPr>
        <p:spPr>
          <a:xfrm>
            <a:off x="2517799" y="3860941"/>
            <a:ext cx="1670756" cy="417689"/>
          </a:xfrm>
          <a:prstGeom prst="rect">
            <a:avLst/>
          </a:prstGeom>
          <a:solidFill>
            <a:srgbClr val="6AA84F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000000"/>
                </a:solidFill>
              </a:rPr>
              <a:t>5/5</a:t>
            </a:r>
          </a:p>
        </p:txBody>
      </p:sp>
      <p:sp>
        <p:nvSpPr>
          <p:cNvPr id="20" name="Box 10"/>
          <p:cNvSpPr/>
          <p:nvPr/>
        </p:nvSpPr>
        <p:spPr>
          <a:xfrm>
            <a:off x="4299938" y="3860941"/>
            <a:ext cx="1670756" cy="417689"/>
          </a:xfrm>
          <a:prstGeom prst="rect">
            <a:avLst/>
          </a:prstGeom>
          <a:solidFill>
            <a:srgbClr val="FFD966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000000"/>
                </a:solidFill>
              </a:rPr>
              <a:t>3/5</a:t>
            </a:r>
          </a:p>
        </p:txBody>
      </p:sp>
      <p:sp>
        <p:nvSpPr>
          <p:cNvPr id="21" name="Box 11"/>
          <p:cNvSpPr/>
          <p:nvPr/>
        </p:nvSpPr>
        <p:spPr>
          <a:xfrm>
            <a:off x="6082077" y="3860941"/>
            <a:ext cx="1670756" cy="417689"/>
          </a:xfrm>
          <a:prstGeom prst="rect">
            <a:avLst/>
          </a:prstGeom>
          <a:solidFill>
            <a:srgbClr val="E06666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000000"/>
                </a:solidFill>
              </a:rPr>
              <a:t>1/5</a:t>
            </a:r>
          </a:p>
        </p:txBody>
      </p:sp>
      <p:sp>
        <p:nvSpPr>
          <p:cNvPr id="22" name="Box 12"/>
          <p:cNvSpPr/>
          <p:nvPr/>
        </p:nvSpPr>
        <p:spPr>
          <a:xfrm>
            <a:off x="7864216" y="3860941"/>
            <a:ext cx="1670756" cy="417689"/>
          </a:xfrm>
          <a:prstGeom prst="rect">
            <a:avLst/>
          </a:prstGeom>
          <a:solidFill>
            <a:srgbClr val="6AA84F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000000"/>
                </a:solidFill>
              </a:rPr>
              <a:t>5/5</a:t>
            </a:r>
          </a:p>
        </p:txBody>
      </p:sp>
      <p:sp>
        <p:nvSpPr>
          <p:cNvPr id="23" name="Box 13"/>
          <p:cNvSpPr/>
          <p:nvPr/>
        </p:nvSpPr>
        <p:spPr>
          <a:xfrm>
            <a:off x="9646356" y="3860941"/>
            <a:ext cx="1670756" cy="417689"/>
          </a:xfrm>
          <a:prstGeom prst="rect">
            <a:avLst/>
          </a:prstGeom>
          <a:solidFill>
            <a:srgbClr val="6AA84F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000000"/>
                </a:solidFill>
              </a:rPr>
              <a:t>5/5</a:t>
            </a:r>
          </a:p>
        </p:txBody>
      </p:sp>
      <p:sp>
        <p:nvSpPr>
          <p:cNvPr id="24" name="Box 14"/>
          <p:cNvSpPr/>
          <p:nvPr/>
        </p:nvSpPr>
        <p:spPr>
          <a:xfrm>
            <a:off x="874889" y="4390014"/>
            <a:ext cx="1531526" cy="361997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FFFFFF"/>
                </a:solidFill>
              </a:rPr>
              <a:t>Me</a:t>
            </a:r>
          </a:p>
        </p:txBody>
      </p:sp>
      <p:sp>
        <p:nvSpPr>
          <p:cNvPr id="25" name="Box 15"/>
          <p:cNvSpPr/>
          <p:nvPr/>
        </p:nvSpPr>
        <p:spPr>
          <a:xfrm>
            <a:off x="2517799" y="4390014"/>
            <a:ext cx="1670756" cy="361997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608" dirty="0">
                <a:solidFill>
                  <a:srgbClr val="000000"/>
                </a:solidFill>
              </a:rPr>
              <a:t>Me</a:t>
            </a:r>
          </a:p>
        </p:txBody>
      </p:sp>
      <p:sp>
        <p:nvSpPr>
          <p:cNvPr id="26" name="Box 16"/>
          <p:cNvSpPr/>
          <p:nvPr/>
        </p:nvSpPr>
        <p:spPr>
          <a:xfrm>
            <a:off x="4299938" y="4390014"/>
            <a:ext cx="1670756" cy="361997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608" dirty="0">
                <a:solidFill>
                  <a:srgbClr val="000000"/>
                </a:solidFill>
              </a:rPr>
              <a:t>Me</a:t>
            </a:r>
          </a:p>
        </p:txBody>
      </p:sp>
      <p:sp>
        <p:nvSpPr>
          <p:cNvPr id="27" name="Box 17"/>
          <p:cNvSpPr/>
          <p:nvPr/>
        </p:nvSpPr>
        <p:spPr>
          <a:xfrm>
            <a:off x="6082077" y="4390014"/>
            <a:ext cx="1670756" cy="361997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608" dirty="0">
                <a:solidFill>
                  <a:srgbClr val="000000"/>
                </a:solidFill>
              </a:rPr>
              <a:t>Me</a:t>
            </a:r>
          </a:p>
        </p:txBody>
      </p:sp>
      <p:sp>
        <p:nvSpPr>
          <p:cNvPr id="28" name="Box 18"/>
          <p:cNvSpPr/>
          <p:nvPr/>
        </p:nvSpPr>
        <p:spPr>
          <a:xfrm>
            <a:off x="7864216" y="4390014"/>
            <a:ext cx="1670756" cy="361997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608" dirty="0">
                <a:solidFill>
                  <a:srgbClr val="000000"/>
                </a:solidFill>
              </a:rPr>
              <a:t>Me</a:t>
            </a:r>
          </a:p>
        </p:txBody>
      </p:sp>
      <p:sp>
        <p:nvSpPr>
          <p:cNvPr id="29" name="Box 19"/>
          <p:cNvSpPr/>
          <p:nvPr/>
        </p:nvSpPr>
        <p:spPr>
          <a:xfrm>
            <a:off x="9646356" y="4390014"/>
            <a:ext cx="1670756" cy="361997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608" dirty="0">
                <a:solidFill>
                  <a:srgbClr val="000000"/>
                </a:solidFill>
              </a:rPr>
              <a:t>Me</a:t>
            </a:r>
          </a:p>
        </p:txBody>
      </p:sp>
      <p:sp>
        <p:nvSpPr>
          <p:cNvPr id="30" name="Box 20"/>
          <p:cNvSpPr/>
          <p:nvPr/>
        </p:nvSpPr>
        <p:spPr>
          <a:xfrm>
            <a:off x="874889" y="4863394"/>
            <a:ext cx="1531526" cy="36199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FFFFFF"/>
                </a:solidFill>
              </a:rPr>
              <a:t>Cat</a:t>
            </a:r>
          </a:p>
        </p:txBody>
      </p:sp>
      <p:sp>
        <p:nvSpPr>
          <p:cNvPr id="31" name="Box 21"/>
          <p:cNvSpPr/>
          <p:nvPr/>
        </p:nvSpPr>
        <p:spPr>
          <a:xfrm>
            <a:off x="6082077" y="4863394"/>
            <a:ext cx="1670756" cy="361997"/>
          </a:xfrm>
          <a:prstGeom prst="rect">
            <a:avLst/>
          </a:prstGeom>
          <a:solidFill>
            <a:srgbClr val="F8CBAD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608" dirty="0">
                <a:solidFill>
                  <a:srgbClr val="000000"/>
                </a:solidFill>
              </a:rPr>
              <a:t>Cat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kanban</a:t>
            </a:r>
          </a:p>
        </p:txBody>
      </p:sp>
      <p:sp>
        <p:nvSpPr>
          <p:cNvPr id="11" name="Box 1"/>
          <p:cNvSpPr/>
          <p:nvPr/>
        </p:nvSpPr>
        <p:spPr>
          <a:xfrm>
            <a:off x="662558" y="2581000"/>
            <a:ext cx="1711320" cy="2267499"/>
          </a:xfrm>
          <a:prstGeom prst="rect">
            <a:avLst/>
          </a:prstGeom>
          <a:solidFill>
            <a:srgbClr val="E9EEF8"/>
          </a:solidFill>
          <a:ln>
            <a:noFill/>
          </a:ln>
        </p:spPr>
      </p:sp>
      <p:sp>
        <p:nvSpPr>
          <p:cNvPr id="12" name="Box 2"/>
          <p:cNvSpPr/>
          <p:nvPr/>
        </p:nvSpPr>
        <p:spPr>
          <a:xfrm>
            <a:off x="662558" y="2581000"/>
            <a:ext cx="1711320" cy="31659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000" dirty="0">
                <a:solidFill>
                  <a:srgbClr val="FFFFFF"/>
                </a:solidFill>
              </a:rPr>
              <a:t>Todo</a:t>
            </a:r>
          </a:p>
        </p:txBody>
      </p:sp>
      <p:sp>
        <p:nvSpPr>
          <p:cNvPr id="13" name="Box 3"/>
          <p:cNvSpPr/>
          <p:nvPr/>
        </p:nvSpPr>
        <p:spPr>
          <a:xfrm>
            <a:off x="696785" y="2966047"/>
            <a:ext cx="1642867" cy="462056"/>
          </a:xfrm>
          <a:prstGeom prst="rect">
            <a:avLst/>
          </a:prstGeom>
          <a:solidFill>
            <a:srgbClr val="FFFFFF"/>
          </a:solidFill>
          <a:ln w="8557">
            <a:solidFill>
              <a:srgbClr val="BFBFBF"/>
            </a:solidFill>
          </a:ln>
        </p:spPr>
        <p:txBody>
          <a:bodyPr wrap="square" lIns="68453" tIns="0" rIns="68453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Create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Documentation</a:t>
            </a:r>
          </a:p>
        </p:txBody>
      </p:sp>
      <p:sp>
        <p:nvSpPr>
          <p:cNvPr id="14" name="Box 4"/>
          <p:cNvSpPr/>
          <p:nvPr/>
        </p:nvSpPr>
        <p:spPr>
          <a:xfrm>
            <a:off x="696785" y="3496557"/>
            <a:ext cx="1642867" cy="462056"/>
          </a:xfrm>
          <a:prstGeom prst="rect">
            <a:avLst/>
          </a:prstGeom>
          <a:solidFill>
            <a:srgbClr val="FFFFFF"/>
          </a:solidFill>
          <a:ln w="8557">
            <a:solidFill>
              <a:srgbClr val="BFBFBF"/>
            </a:solidFill>
          </a:ln>
        </p:spPr>
        <p:txBody>
          <a:bodyPr wrap="square" lIns="68453" tIns="0" rIns="68453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Create Blog about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the new diagram</a:t>
            </a:r>
          </a:p>
        </p:txBody>
      </p:sp>
      <p:sp>
        <p:nvSpPr>
          <p:cNvPr id="15" name="Box 5"/>
          <p:cNvSpPr/>
          <p:nvPr/>
        </p:nvSpPr>
        <p:spPr>
          <a:xfrm>
            <a:off x="2493671" y="2581000"/>
            <a:ext cx="1711320" cy="2267499"/>
          </a:xfrm>
          <a:prstGeom prst="rect">
            <a:avLst/>
          </a:prstGeom>
          <a:solidFill>
            <a:srgbClr val="FDEFE6"/>
          </a:solidFill>
          <a:ln>
            <a:noFill/>
          </a:ln>
        </p:spPr>
      </p:sp>
      <p:sp>
        <p:nvSpPr>
          <p:cNvPr id="16" name="Box 6"/>
          <p:cNvSpPr/>
          <p:nvPr/>
        </p:nvSpPr>
        <p:spPr>
          <a:xfrm>
            <a:off x="2493671" y="2581000"/>
            <a:ext cx="1711320" cy="31659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000" dirty="0">
                <a:solidFill>
                  <a:srgbClr val="FFFFFF"/>
                </a:solidFill>
              </a:rPr>
              <a:t>In progress</a:t>
            </a:r>
          </a:p>
        </p:txBody>
      </p:sp>
      <p:sp>
        <p:nvSpPr>
          <p:cNvPr id="17" name="Box 7"/>
          <p:cNvSpPr/>
          <p:nvPr/>
        </p:nvSpPr>
        <p:spPr>
          <a:xfrm>
            <a:off x="2527897" y="2966047"/>
            <a:ext cx="1642867" cy="1334830"/>
          </a:xfrm>
          <a:prstGeom prst="rect">
            <a:avLst/>
          </a:prstGeom>
          <a:solidFill>
            <a:srgbClr val="FFFFFF"/>
          </a:solidFill>
          <a:ln w="8557">
            <a:solidFill>
              <a:srgbClr val="BFBFBF"/>
            </a:solidFill>
          </a:ln>
        </p:spPr>
        <p:txBody>
          <a:bodyPr wrap="square" lIns="68453" tIns="0" rIns="68453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Create renderer so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that it works in all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cases. We also add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some extra text here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for testing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purposes. And some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more just for the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extra flare.</a:t>
            </a:r>
          </a:p>
        </p:txBody>
      </p:sp>
      <p:sp>
        <p:nvSpPr>
          <p:cNvPr id="18" name="Box 8"/>
          <p:cNvSpPr/>
          <p:nvPr/>
        </p:nvSpPr>
        <p:spPr>
          <a:xfrm>
            <a:off x="4324784" y="2581000"/>
            <a:ext cx="1711320" cy="2267499"/>
          </a:xfrm>
          <a:prstGeom prst="rect">
            <a:avLst/>
          </a:prstGeom>
          <a:solidFill>
            <a:srgbClr val="EEF5E9"/>
          </a:solidFill>
          <a:ln>
            <a:noFill/>
          </a:ln>
        </p:spPr>
      </p:sp>
      <p:sp>
        <p:nvSpPr>
          <p:cNvPr id="19" name="Box 9"/>
          <p:cNvSpPr/>
          <p:nvPr/>
        </p:nvSpPr>
        <p:spPr>
          <a:xfrm>
            <a:off x="4324784" y="2581000"/>
            <a:ext cx="1711320" cy="316594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000" dirty="0">
                <a:solidFill>
                  <a:srgbClr val="FFFFFF"/>
                </a:solidFill>
              </a:rPr>
              <a:t>Ready for deploy</a:t>
            </a:r>
          </a:p>
        </p:txBody>
      </p:sp>
      <p:sp>
        <p:nvSpPr>
          <p:cNvPr id="20" name="Box 10"/>
          <p:cNvSpPr/>
          <p:nvPr/>
        </p:nvSpPr>
        <p:spPr>
          <a:xfrm>
            <a:off x="4359010" y="2966047"/>
            <a:ext cx="1642867" cy="462056"/>
          </a:xfrm>
          <a:prstGeom prst="rect">
            <a:avLst/>
          </a:prstGeom>
          <a:solidFill>
            <a:srgbClr val="FFFFFF"/>
          </a:solidFill>
          <a:ln w="8557">
            <a:solidFill>
              <a:srgbClr val="BFBFBF"/>
            </a:solidFill>
          </a:ln>
        </p:spPr>
        <p:txBody>
          <a:bodyPr wrap="square" lIns="68453" tIns="0" rIns="68453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Design grammar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knsv</a:t>
            </a:r>
          </a:p>
        </p:txBody>
      </p:sp>
      <p:sp>
        <p:nvSpPr>
          <p:cNvPr id="21" name="Box 11"/>
          <p:cNvSpPr/>
          <p:nvPr/>
        </p:nvSpPr>
        <p:spPr>
          <a:xfrm>
            <a:off x="6155896" y="2581000"/>
            <a:ext cx="1711320" cy="2267499"/>
          </a:xfrm>
          <a:prstGeom prst="rect">
            <a:avLst/>
          </a:prstGeom>
          <a:solidFill>
            <a:srgbClr val="FFF7E0"/>
          </a:solidFill>
          <a:ln>
            <a:noFill/>
          </a:ln>
        </p:spPr>
      </p:sp>
      <p:sp>
        <p:nvSpPr>
          <p:cNvPr id="22" name="Box 12"/>
          <p:cNvSpPr/>
          <p:nvPr/>
        </p:nvSpPr>
        <p:spPr>
          <a:xfrm>
            <a:off x="6155896" y="2581000"/>
            <a:ext cx="1711320" cy="31659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000" dirty="0">
                <a:solidFill>
                  <a:srgbClr val="FFFFFF"/>
                </a:solidFill>
              </a:rPr>
              <a:t>Ready for test</a:t>
            </a:r>
          </a:p>
        </p:txBody>
      </p:sp>
      <p:sp>
        <p:nvSpPr>
          <p:cNvPr id="23" name="Box 13"/>
          <p:cNvSpPr/>
          <p:nvPr/>
        </p:nvSpPr>
        <p:spPr>
          <a:xfrm>
            <a:off x="6190123" y="2966047"/>
            <a:ext cx="1642867" cy="462056"/>
          </a:xfrm>
          <a:prstGeom prst="rect">
            <a:avLst/>
          </a:prstGeom>
          <a:solidFill>
            <a:srgbClr val="FFFFFF"/>
          </a:solidFill>
          <a:ln w="8557">
            <a:solidFill>
              <a:srgbClr val="BFBFBF"/>
            </a:solidFill>
          </a:ln>
        </p:spPr>
        <p:txBody>
          <a:bodyPr wrap="square" lIns="68453" tIns="0" rIns="68453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Create parsing tests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MC-2038 · K.Sveidqvist</a:t>
            </a:r>
          </a:p>
        </p:txBody>
      </p:sp>
      <p:sp>
        <p:nvSpPr>
          <p:cNvPr id="24" name="Box 14"/>
          <p:cNvSpPr/>
          <p:nvPr/>
        </p:nvSpPr>
        <p:spPr>
          <a:xfrm>
            <a:off x="6190123" y="2966047"/>
            <a:ext cx="42783" cy="46205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25" name="Box 15"/>
          <p:cNvSpPr/>
          <p:nvPr/>
        </p:nvSpPr>
        <p:spPr>
          <a:xfrm>
            <a:off x="6190123" y="3496557"/>
            <a:ext cx="1642867" cy="462056"/>
          </a:xfrm>
          <a:prstGeom prst="rect">
            <a:avLst/>
          </a:prstGeom>
          <a:solidFill>
            <a:srgbClr val="FFFFFF"/>
          </a:solidFill>
          <a:ln w="8557">
            <a:solidFill>
              <a:srgbClr val="BFBFBF"/>
            </a:solidFill>
          </a:ln>
        </p:spPr>
        <p:txBody>
          <a:bodyPr wrap="square" lIns="68453" tIns="0" rIns="68453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last item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knsv</a:t>
            </a:r>
          </a:p>
        </p:txBody>
      </p:sp>
      <p:sp>
        <p:nvSpPr>
          <p:cNvPr id="26" name="Box 16"/>
          <p:cNvSpPr/>
          <p:nvPr/>
        </p:nvSpPr>
        <p:spPr>
          <a:xfrm>
            <a:off x="6190123" y="3496557"/>
            <a:ext cx="42783" cy="462056"/>
          </a:xfrm>
          <a:prstGeom prst="rect">
            <a:avLst/>
          </a:prstGeom>
          <a:solidFill>
            <a:srgbClr val="BDD7EE"/>
          </a:solidFill>
          <a:ln>
            <a:noFill/>
          </a:ln>
        </p:spPr>
      </p:sp>
      <p:sp>
        <p:nvSpPr>
          <p:cNvPr id="27" name="Box 17"/>
          <p:cNvSpPr/>
          <p:nvPr/>
        </p:nvSpPr>
        <p:spPr>
          <a:xfrm>
            <a:off x="7987009" y="2581000"/>
            <a:ext cx="1711320" cy="2267499"/>
          </a:xfrm>
          <a:prstGeom prst="rect">
            <a:avLst/>
          </a:prstGeom>
          <a:solidFill>
            <a:srgbClr val="EEE6F4"/>
          </a:solidFill>
          <a:ln>
            <a:noFill/>
          </a:ln>
        </p:spPr>
      </p:sp>
      <p:sp>
        <p:nvSpPr>
          <p:cNvPr id="28" name="Box 18"/>
          <p:cNvSpPr/>
          <p:nvPr/>
        </p:nvSpPr>
        <p:spPr>
          <a:xfrm>
            <a:off x="7987009" y="2581000"/>
            <a:ext cx="1711320" cy="316594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000" dirty="0">
                <a:solidFill>
                  <a:srgbClr val="FFFFFF"/>
                </a:solidFill>
              </a:rPr>
              <a:t>Done</a:t>
            </a:r>
          </a:p>
        </p:txBody>
      </p:sp>
      <p:sp>
        <p:nvSpPr>
          <p:cNvPr id="29" name="Box 19"/>
          <p:cNvSpPr/>
          <p:nvPr/>
        </p:nvSpPr>
        <p:spPr>
          <a:xfrm>
            <a:off x="8021235" y="2966047"/>
            <a:ext cx="1642867" cy="316594"/>
          </a:xfrm>
          <a:prstGeom prst="rect">
            <a:avLst/>
          </a:prstGeom>
          <a:solidFill>
            <a:srgbClr val="FFFFFF"/>
          </a:solidFill>
          <a:ln w="8557">
            <a:solidFill>
              <a:srgbClr val="BFBFBF"/>
            </a:solidFill>
          </a:ln>
        </p:spPr>
        <p:txBody>
          <a:bodyPr wrap="square" lIns="68453" tIns="0" rIns="68453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define getData</a:t>
            </a:r>
          </a:p>
        </p:txBody>
      </p:sp>
      <p:sp>
        <p:nvSpPr>
          <p:cNvPr id="30" name="Box 20"/>
          <p:cNvSpPr/>
          <p:nvPr/>
        </p:nvSpPr>
        <p:spPr>
          <a:xfrm>
            <a:off x="8021235" y="3351095"/>
            <a:ext cx="1642867" cy="898443"/>
          </a:xfrm>
          <a:prstGeom prst="rect">
            <a:avLst/>
          </a:prstGeom>
          <a:solidFill>
            <a:srgbClr val="FFFFFF"/>
          </a:solidFill>
          <a:ln w="8557">
            <a:solidFill>
              <a:srgbClr val="BFBFBF"/>
            </a:solidFill>
          </a:ln>
        </p:spPr>
        <p:txBody>
          <a:bodyPr wrap="square" lIns="68453" tIns="0" rIns="68453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Title of diagram is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more than 100 chars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when user duplicates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diagram with 100 char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MC-2036</a:t>
            </a:r>
          </a:p>
        </p:txBody>
      </p:sp>
      <p:sp>
        <p:nvSpPr>
          <p:cNvPr id="31" name="Box 21"/>
          <p:cNvSpPr/>
          <p:nvPr/>
        </p:nvSpPr>
        <p:spPr>
          <a:xfrm>
            <a:off x="8021235" y="3351095"/>
            <a:ext cx="42783" cy="898443"/>
          </a:xfrm>
          <a:prstGeom prst="rect">
            <a:avLst/>
          </a:prstGeom>
          <a:solidFill>
            <a:srgbClr val="C00000"/>
          </a:solidFill>
          <a:ln>
            <a:noFill/>
          </a:ln>
        </p:spPr>
      </p:sp>
      <p:sp>
        <p:nvSpPr>
          <p:cNvPr id="32" name="Box 22"/>
          <p:cNvSpPr/>
          <p:nvPr/>
        </p:nvSpPr>
        <p:spPr>
          <a:xfrm>
            <a:off x="8021235" y="4317990"/>
            <a:ext cx="1642867" cy="462056"/>
          </a:xfrm>
          <a:prstGeom prst="rect">
            <a:avLst/>
          </a:prstGeom>
          <a:solidFill>
            <a:srgbClr val="FFFFFF"/>
          </a:solidFill>
          <a:ln w="8557">
            <a:solidFill>
              <a:srgbClr val="BFBFBF"/>
            </a:solidFill>
          </a:ln>
        </p:spPr>
        <p:txBody>
          <a:bodyPr wrap="square" lIns="68453" tIns="0" rIns="68453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Update DB function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MC-2037 · knsv</a:t>
            </a:r>
          </a:p>
        </p:txBody>
      </p:sp>
      <p:sp>
        <p:nvSpPr>
          <p:cNvPr id="33" name="Box 23"/>
          <p:cNvSpPr/>
          <p:nvPr/>
        </p:nvSpPr>
        <p:spPr>
          <a:xfrm>
            <a:off x="8021235" y="4317990"/>
            <a:ext cx="42783" cy="46205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34" name="Box 24"/>
          <p:cNvSpPr/>
          <p:nvPr/>
        </p:nvSpPr>
        <p:spPr>
          <a:xfrm>
            <a:off x="9818121" y="2581000"/>
            <a:ext cx="1711320" cy="2267499"/>
          </a:xfrm>
          <a:prstGeom prst="rect">
            <a:avLst/>
          </a:prstGeom>
          <a:solidFill>
            <a:srgbClr val="EBF3FA"/>
          </a:solidFill>
          <a:ln>
            <a:noFill/>
          </a:ln>
        </p:spPr>
      </p:sp>
      <p:sp>
        <p:nvSpPr>
          <p:cNvPr id="35" name="Box 25"/>
          <p:cNvSpPr/>
          <p:nvPr/>
        </p:nvSpPr>
        <p:spPr>
          <a:xfrm>
            <a:off x="9818121" y="2581000"/>
            <a:ext cx="1711320" cy="31659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000" dirty="0">
                <a:solidFill>
                  <a:srgbClr val="FFFFFF"/>
                </a:solidFill>
              </a:rPr>
              <a:t>Can't reproduce</a:t>
            </a:r>
          </a:p>
        </p:txBody>
      </p:sp>
      <p:sp>
        <p:nvSpPr>
          <p:cNvPr id="36" name="Box 26"/>
          <p:cNvSpPr/>
          <p:nvPr/>
        </p:nvSpPr>
        <p:spPr>
          <a:xfrm>
            <a:off x="9852348" y="2966047"/>
            <a:ext cx="1642867" cy="462056"/>
          </a:xfrm>
          <a:prstGeom prst="rect">
            <a:avLst/>
          </a:prstGeom>
          <a:solidFill>
            <a:srgbClr val="FFFFFF"/>
          </a:solidFill>
          <a:ln w="8557">
            <a:solidFill>
              <a:srgbClr val="BFBFBF"/>
            </a:solidFill>
          </a:ln>
        </p:spPr>
        <p:txBody>
          <a:bodyPr wrap="square" lIns="68453" tIns="0" rIns="68453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Weird flickering in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Firefox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long-labels</a:t>
            </a:r>
          </a:p>
        </p:txBody>
      </p:sp>
      <p:sp>
        <p:nvSpPr>
          <p:cNvPr id="12" name="Ceci est un label assez long pour deborder" descr="A"/>
          <p:cNvSpPr/>
          <p:nvPr/>
        </p:nvSpPr>
        <p:spPr>
          <a:xfrm>
            <a:off x="5225054" y="1028700"/>
            <a:ext cx="1741892" cy="1568843"/>
          </a:xfrm>
          <a:prstGeom prst="rect">
            <a:avLst/>
          </a:prstGeom>
          <a:solidFill>
            <a:srgbClr val="FFE0B2"/>
          </a:solidFill>
          <a:ln w="12678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278" tIns="45639" rIns="91278" bIns="4563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000000"/>
                </a:solidFill>
              </a:rPr>
              <a:t>Ceci est un label assez long pour deborder</a:t>
            </a:r>
          </a:p>
        </p:txBody>
      </p:sp>
      <p:sp>
        <p:nvSpPr>
          <p:cNvPr id="13" name="Court" descr="B"/>
          <p:cNvSpPr/>
          <p:nvPr/>
        </p:nvSpPr>
        <p:spPr>
          <a:xfrm>
            <a:off x="5590167" y="3358195"/>
            <a:ext cx="1011666" cy="713111"/>
          </a:xfrm>
          <a:prstGeom prst="rect">
            <a:avLst/>
          </a:prstGeom>
          <a:solidFill>
            <a:srgbClr val="E1BEE7"/>
          </a:solidFill>
          <a:ln w="12678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278" tIns="45639" rIns="91278" bIns="4563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000000"/>
                </a:solidFill>
              </a:rPr>
              <a:t>Court</a:t>
            </a:r>
          </a:p>
        </p:txBody>
      </p:sp>
      <p:sp>
        <p:nvSpPr>
          <p:cNvPr id="14" name="Un autre label qui depasse la largeur du noeud" descr="C"/>
          <p:cNvSpPr/>
          <p:nvPr/>
        </p:nvSpPr>
        <p:spPr>
          <a:xfrm>
            <a:off x="5042498" y="4831957"/>
            <a:ext cx="2107004" cy="1568843"/>
          </a:xfrm>
          <a:prstGeom prst="rect">
            <a:avLst/>
          </a:prstGeom>
          <a:solidFill>
            <a:srgbClr val="FFCDD2"/>
          </a:solidFill>
          <a:ln w="12678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278" tIns="45639" rIns="91278" bIns="4563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000000"/>
                </a:solidFill>
              </a:rPr>
              <a:t>Un autre label qui depasse la largeur du noeud</a:t>
            </a:r>
          </a:p>
        </p:txBody>
      </p:sp>
      <p:cxnSp>
        <p:nvCxnSpPr>
          <p:cNvPr id="15" name="A--B"/>
          <p:cNvCxnSpPr>
            <a:stCxn id="12" idx="2"/>
            <a:endCxn id="13" idx="0"/>
          </p:cNvCxnSpPr>
          <p:nvPr/>
        </p:nvCxnSpPr>
        <p:spPr>
          <a:xfrm>
            <a:off x="6096000" y="2597543"/>
            <a:ext cx="0" cy="760652"/>
          </a:xfrm>
          <a:prstGeom prst="line">
            <a:avLst/>
          </a:prstGeom>
          <a:ln w="1267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B--C"/>
          <p:cNvCxnSpPr>
            <a:stCxn id="13" idx="2"/>
            <a:endCxn id="14" idx="0"/>
          </p:cNvCxnSpPr>
          <p:nvPr/>
        </p:nvCxnSpPr>
        <p:spPr>
          <a:xfrm>
            <a:off x="6096000" y="4071305"/>
            <a:ext cx="0" cy="760652"/>
          </a:xfrm>
          <a:prstGeom prst="line">
            <a:avLst/>
          </a:prstGeom>
          <a:ln w="1267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lr-direction</a:t>
            </a:r>
          </a:p>
        </p:txBody>
      </p:sp>
      <p:sp>
        <p:nvSpPr>
          <p:cNvPr id="12" name="Entree" descr="A"/>
          <p:cNvSpPr/>
          <p:nvPr/>
        </p:nvSpPr>
        <p:spPr>
          <a:xfrm>
            <a:off x="457200" y="3260204"/>
            <a:ext cx="1464246" cy="909093"/>
          </a:xfrm>
          <a:prstGeom prst="rect">
            <a:avLst/>
          </a:prstGeom>
          <a:solidFill>
            <a:srgbClr val="E1BEE7"/>
          </a:solidFill>
          <a:ln w="16162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6364" tIns="58182" rIns="116364" bIns="5818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27" dirty="0">
                <a:solidFill>
                  <a:srgbClr val="000000"/>
                </a:solidFill>
              </a:rPr>
              <a:t>Entree</a:t>
            </a:r>
          </a:p>
        </p:txBody>
      </p:sp>
      <p:sp>
        <p:nvSpPr>
          <p:cNvPr id="13" name="Traitement" descr="B"/>
          <p:cNvSpPr/>
          <p:nvPr/>
        </p:nvSpPr>
        <p:spPr>
          <a:xfrm>
            <a:off x="2891145" y="3260204"/>
            <a:ext cx="2162429" cy="909093"/>
          </a:xfrm>
          <a:prstGeom prst="rect">
            <a:avLst/>
          </a:prstGeom>
          <a:solidFill>
            <a:srgbClr val="FFCDD2"/>
          </a:solidFill>
          <a:ln w="16162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6364" tIns="58182" rIns="116364" bIns="5818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27" dirty="0">
                <a:solidFill>
                  <a:srgbClr val="000000"/>
                </a:solidFill>
              </a:rPr>
              <a:t>Traitement</a:t>
            </a:r>
          </a:p>
        </p:txBody>
      </p:sp>
      <p:sp>
        <p:nvSpPr>
          <p:cNvPr id="14" name="Valide?" descr="C"/>
          <p:cNvSpPr/>
          <p:nvPr/>
        </p:nvSpPr>
        <p:spPr>
          <a:xfrm>
            <a:off x="6023273" y="2805657"/>
            <a:ext cx="3277583" cy="1818186"/>
          </a:xfrm>
          <a:prstGeom prst="diamond">
            <a:avLst/>
          </a:prstGeom>
          <a:solidFill>
            <a:srgbClr val="FFF9C4"/>
          </a:solidFill>
          <a:ln w="16162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6364" tIns="58182" rIns="116364" bIns="5818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27" dirty="0">
                <a:solidFill>
                  <a:srgbClr val="000000"/>
                </a:solidFill>
              </a:rPr>
              <a:t>Valide?</a:t>
            </a:r>
          </a:p>
        </p:txBody>
      </p:sp>
      <p:sp>
        <p:nvSpPr>
          <p:cNvPr id="15" name="Sortie" descr="D"/>
          <p:cNvSpPr/>
          <p:nvPr/>
        </p:nvSpPr>
        <p:spPr>
          <a:xfrm>
            <a:off x="10270554" y="2442020"/>
            <a:ext cx="1464246" cy="909093"/>
          </a:xfrm>
          <a:prstGeom prst="rect">
            <a:avLst/>
          </a:prstGeom>
          <a:solidFill>
            <a:srgbClr val="BBDEFB"/>
          </a:solidFill>
          <a:ln w="16162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6364" tIns="58182" rIns="116364" bIns="5818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27" dirty="0">
                <a:solidFill>
                  <a:srgbClr val="000000"/>
                </a:solidFill>
              </a:rPr>
              <a:t>Sortie</a:t>
            </a:r>
          </a:p>
        </p:txBody>
      </p:sp>
      <p:sp>
        <p:nvSpPr>
          <p:cNvPr id="16" name="Erreur" descr="E"/>
          <p:cNvSpPr/>
          <p:nvPr/>
        </p:nvSpPr>
        <p:spPr>
          <a:xfrm>
            <a:off x="10270554" y="4078387"/>
            <a:ext cx="1464246" cy="909093"/>
          </a:xfrm>
          <a:prstGeom prst="rect">
            <a:avLst/>
          </a:prstGeom>
          <a:solidFill>
            <a:srgbClr val="C8E6C9"/>
          </a:solidFill>
          <a:ln w="16162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6364" tIns="58182" rIns="116364" bIns="5818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27" dirty="0">
                <a:solidFill>
                  <a:srgbClr val="000000"/>
                </a:solidFill>
              </a:rPr>
              <a:t>Erreur</a:t>
            </a:r>
          </a:p>
        </p:txBody>
      </p:sp>
      <p:cxnSp>
        <p:nvCxnSpPr>
          <p:cNvPr id="17" name="A--B"/>
          <p:cNvCxnSpPr>
            <a:stCxn id="12" idx="3"/>
            <a:endCxn id="13" idx="1"/>
          </p:cNvCxnSpPr>
          <p:nvPr/>
        </p:nvCxnSpPr>
        <p:spPr>
          <a:xfrm>
            <a:off x="1921446" y="3714750"/>
            <a:ext cx="969699" cy="0"/>
          </a:xfrm>
          <a:prstGeom prst="line">
            <a:avLst/>
          </a:prstGeom>
          <a:ln w="16162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B--C"/>
          <p:cNvCxnSpPr>
            <a:stCxn id="13" idx="3"/>
            <a:endCxn id="14" idx="1"/>
          </p:cNvCxnSpPr>
          <p:nvPr/>
        </p:nvCxnSpPr>
        <p:spPr>
          <a:xfrm>
            <a:off x="5053574" y="3714750"/>
            <a:ext cx="969699" cy="0"/>
          </a:xfrm>
          <a:prstGeom prst="line">
            <a:avLst/>
          </a:prstGeom>
          <a:ln w="16162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--D"/>
          <p:cNvCxnSpPr>
            <a:stCxn id="14" idx="3"/>
            <a:endCxn id="15" idx="1"/>
          </p:cNvCxnSpPr>
          <p:nvPr/>
        </p:nvCxnSpPr>
        <p:spPr>
          <a:xfrm flipV="1">
            <a:off x="9300855" y="2896567"/>
            <a:ext cx="969699" cy="818183"/>
          </a:xfrm>
          <a:prstGeom prst="line">
            <a:avLst/>
          </a:prstGeom>
          <a:ln w="16162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EdgeLabel"/>
          <p:cNvSpPr txBox="1"/>
          <p:nvPr/>
        </p:nvSpPr>
        <p:spPr>
          <a:xfrm>
            <a:off x="9479280" y="3160203"/>
            <a:ext cx="612850" cy="29091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48485" tIns="0" rIns="48485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18" dirty="0">
                <a:solidFill>
                  <a:srgbClr val="000000"/>
                </a:solidFill>
              </a:rPr>
              <a:t>oui</a:t>
            </a:r>
          </a:p>
        </p:txBody>
      </p:sp>
      <p:cxnSp>
        <p:nvCxnSpPr>
          <p:cNvPr id="21" name="C--E"/>
          <p:cNvCxnSpPr>
            <a:stCxn id="14" idx="3"/>
            <a:endCxn id="16" idx="1"/>
          </p:cNvCxnSpPr>
          <p:nvPr/>
        </p:nvCxnSpPr>
        <p:spPr>
          <a:xfrm>
            <a:off x="9300855" y="3714750"/>
            <a:ext cx="969699" cy="818184"/>
          </a:xfrm>
          <a:prstGeom prst="line">
            <a:avLst/>
          </a:prstGeom>
          <a:ln w="16162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EdgeLabel"/>
          <p:cNvSpPr txBox="1"/>
          <p:nvPr/>
        </p:nvSpPr>
        <p:spPr>
          <a:xfrm>
            <a:off x="9479280" y="3978387"/>
            <a:ext cx="612850" cy="29091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48485" tIns="0" rIns="48485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18" dirty="0">
                <a:solidFill>
                  <a:srgbClr val="000000"/>
                </a:solidFill>
              </a:rPr>
              <a:t>non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lr-subgraphs</a:t>
            </a:r>
          </a:p>
        </p:txBody>
      </p:sp>
      <p:sp>
        <p:nvSpPr>
          <p:cNvPr id="20" name="Nord (container)"/>
          <p:cNvSpPr/>
          <p:nvPr/>
        </p:nvSpPr>
        <p:spPr>
          <a:xfrm>
            <a:off x="457200" y="1342612"/>
            <a:ext cx="6744828" cy="1736657"/>
          </a:xfrm>
          <a:prstGeom prst="rect">
            <a:avLst/>
          </a:prstGeom>
          <a:solidFill>
            <a:srgbClr val="E8E8E8">
              <a:alpha val="40000"/>
            </a:srgbClr>
          </a:solidFill>
          <a:ln w="9702">
            <a:solidFill>
              <a:srgbClr val="999999"/>
            </a:solidFill>
            <a:prstDash val="dash"/>
          </a:ln>
        </p:spPr>
      </p:sp>
      <p:sp>
        <p:nvSpPr>
          <p:cNvPr id="21" name="Nord"/>
          <p:cNvSpPr/>
          <p:nvPr/>
        </p:nvSpPr>
        <p:spPr>
          <a:xfrm>
            <a:off x="457200" y="1342612"/>
            <a:ext cx="6744828" cy="232848"/>
          </a:xfrm>
          <a:prstGeom prst="rect">
            <a:avLst/>
          </a:prstGeom>
          <a:noFill/>
          <a:ln w="1">
            <a:noFill/>
          </a:ln>
        </p:spPr>
        <p:txBody>
          <a:bodyPr lIns="93139" tIns="46570" rIns="93139" bIns="46570" anchor="ctr" anchorCtr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22" dirty="0">
                <a:solidFill>
                  <a:srgbClr val="000000"/>
                </a:solidFill>
              </a:rPr>
              <a:t>Nord</a:t>
            </a:r>
          </a:p>
        </p:txBody>
      </p:sp>
      <p:sp>
        <p:nvSpPr>
          <p:cNvPr id="22" name="Sud (container)"/>
          <p:cNvSpPr/>
          <p:nvPr/>
        </p:nvSpPr>
        <p:spPr>
          <a:xfrm>
            <a:off x="2653732" y="3040461"/>
            <a:ext cx="4548296" cy="3046427"/>
          </a:xfrm>
          <a:prstGeom prst="rect">
            <a:avLst/>
          </a:prstGeom>
          <a:solidFill>
            <a:srgbClr val="E8E8E8">
              <a:alpha val="40000"/>
            </a:srgbClr>
          </a:solidFill>
          <a:ln w="9702">
            <a:solidFill>
              <a:srgbClr val="999999"/>
            </a:solidFill>
            <a:prstDash val="dash"/>
          </a:ln>
        </p:spPr>
      </p:sp>
      <p:sp>
        <p:nvSpPr>
          <p:cNvPr id="23" name="Sud"/>
          <p:cNvSpPr/>
          <p:nvPr/>
        </p:nvSpPr>
        <p:spPr>
          <a:xfrm>
            <a:off x="2653732" y="3040461"/>
            <a:ext cx="4548296" cy="232848"/>
          </a:xfrm>
          <a:prstGeom prst="rect">
            <a:avLst/>
          </a:prstGeom>
          <a:noFill/>
          <a:ln w="1">
            <a:noFill/>
          </a:ln>
        </p:spPr>
        <p:txBody>
          <a:bodyPr lIns="93139" tIns="46570" rIns="93139" bIns="46570" anchor="ctr" anchorCtr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22" dirty="0">
                <a:solidFill>
                  <a:srgbClr val="000000"/>
                </a:solidFill>
              </a:rPr>
              <a:t>Sud</a:t>
            </a:r>
          </a:p>
        </p:txBody>
      </p:sp>
      <p:sp>
        <p:nvSpPr>
          <p:cNvPr id="24" name="Ouest (container)"/>
          <p:cNvSpPr/>
          <p:nvPr/>
        </p:nvSpPr>
        <p:spPr>
          <a:xfrm>
            <a:off x="7978187" y="1524525"/>
            <a:ext cx="3756613" cy="2973662"/>
          </a:xfrm>
          <a:prstGeom prst="rect">
            <a:avLst/>
          </a:prstGeom>
          <a:solidFill>
            <a:srgbClr val="E8E8E8">
              <a:alpha val="40000"/>
            </a:srgbClr>
          </a:solidFill>
          <a:ln w="9702">
            <a:solidFill>
              <a:srgbClr val="999999"/>
            </a:solidFill>
            <a:prstDash val="dash"/>
          </a:ln>
        </p:spPr>
      </p:sp>
      <p:sp>
        <p:nvSpPr>
          <p:cNvPr id="25" name="Ouest"/>
          <p:cNvSpPr/>
          <p:nvPr/>
        </p:nvSpPr>
        <p:spPr>
          <a:xfrm>
            <a:off x="7978187" y="1524525"/>
            <a:ext cx="3756613" cy="232848"/>
          </a:xfrm>
          <a:prstGeom prst="rect">
            <a:avLst/>
          </a:prstGeom>
          <a:noFill/>
          <a:ln w="1">
            <a:noFill/>
          </a:ln>
        </p:spPr>
        <p:txBody>
          <a:bodyPr lIns="93139" tIns="46570" rIns="93139" bIns="46570" anchor="ctr" anchorCtr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22" dirty="0">
                <a:solidFill>
                  <a:srgbClr val="000000"/>
                </a:solidFill>
              </a:rPr>
              <a:t>Ouest</a:t>
            </a:r>
          </a:p>
        </p:txBody>
      </p:sp>
      <p:sp>
        <p:nvSpPr>
          <p:cNvPr id="12" name="Paris" descr="A"/>
          <p:cNvSpPr/>
          <p:nvPr/>
        </p:nvSpPr>
        <p:spPr>
          <a:xfrm>
            <a:off x="845280" y="1963540"/>
            <a:ext cx="1032292" cy="727650"/>
          </a:xfrm>
          <a:prstGeom prst="rect">
            <a:avLst/>
          </a:prstGeom>
          <a:solidFill>
            <a:srgbClr val="FFCDD2"/>
          </a:solidFill>
          <a:ln w="12936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3139" tIns="46570" rIns="93139" bIns="4657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22" dirty="0">
                <a:solidFill>
                  <a:srgbClr val="000000"/>
                </a:solidFill>
              </a:rPr>
              <a:t>Paris</a:t>
            </a:r>
          </a:p>
        </p:txBody>
      </p:sp>
      <p:sp>
        <p:nvSpPr>
          <p:cNvPr id="13" name="Rouen" descr="B"/>
          <p:cNvSpPr/>
          <p:nvPr/>
        </p:nvSpPr>
        <p:spPr>
          <a:xfrm>
            <a:off x="3321229" y="1963540"/>
            <a:ext cx="1032292" cy="727650"/>
          </a:xfrm>
          <a:prstGeom prst="rect">
            <a:avLst/>
          </a:prstGeom>
          <a:solidFill>
            <a:srgbClr val="FFF9C4"/>
          </a:solidFill>
          <a:ln w="12936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3139" tIns="46570" rIns="93139" bIns="4657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22" dirty="0">
                <a:solidFill>
                  <a:srgbClr val="000000"/>
                </a:solidFill>
              </a:rPr>
              <a:t>Rouen</a:t>
            </a:r>
          </a:p>
        </p:txBody>
      </p:sp>
      <p:sp>
        <p:nvSpPr>
          <p:cNvPr id="14" name="Le Havre" descr="C"/>
          <p:cNvSpPr/>
          <p:nvPr/>
        </p:nvSpPr>
        <p:spPr>
          <a:xfrm>
            <a:off x="5409099" y="1963540"/>
            <a:ext cx="1404849" cy="727650"/>
          </a:xfrm>
          <a:prstGeom prst="rect">
            <a:avLst/>
          </a:prstGeom>
          <a:solidFill>
            <a:srgbClr val="BBDEFB"/>
          </a:solidFill>
          <a:ln w="12936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3139" tIns="46570" rIns="93139" bIns="4657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22" dirty="0">
                <a:solidFill>
                  <a:srgbClr val="000000"/>
                </a:solidFill>
              </a:rPr>
              <a:t>Le Havre</a:t>
            </a:r>
          </a:p>
        </p:txBody>
      </p:sp>
      <p:sp>
        <p:nvSpPr>
          <p:cNvPr id="15" name="Marseille" descr="D"/>
          <p:cNvSpPr/>
          <p:nvPr/>
        </p:nvSpPr>
        <p:spPr>
          <a:xfrm>
            <a:off x="3041812" y="4316274"/>
            <a:ext cx="1591127" cy="727650"/>
          </a:xfrm>
          <a:prstGeom prst="rect">
            <a:avLst/>
          </a:prstGeom>
          <a:solidFill>
            <a:srgbClr val="C8E6C9"/>
          </a:solidFill>
          <a:ln w="12936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3139" tIns="46570" rIns="93139" bIns="4657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22" dirty="0">
                <a:solidFill>
                  <a:srgbClr val="000000"/>
                </a:solidFill>
              </a:rPr>
              <a:t>Marseille</a:t>
            </a:r>
          </a:p>
        </p:txBody>
      </p:sp>
      <p:sp>
        <p:nvSpPr>
          <p:cNvPr id="16" name="Toulon" descr="E"/>
          <p:cNvSpPr/>
          <p:nvPr/>
        </p:nvSpPr>
        <p:spPr>
          <a:xfrm>
            <a:off x="5525523" y="3661389"/>
            <a:ext cx="1172001" cy="727650"/>
          </a:xfrm>
          <a:prstGeom prst="rect">
            <a:avLst/>
          </a:prstGeom>
          <a:solidFill>
            <a:srgbClr val="FFE0B2"/>
          </a:solidFill>
          <a:ln w="12936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3139" tIns="46570" rIns="93139" bIns="4657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22" dirty="0">
                <a:solidFill>
                  <a:srgbClr val="000000"/>
                </a:solidFill>
              </a:rPr>
              <a:t>Toulon</a:t>
            </a:r>
          </a:p>
        </p:txBody>
      </p:sp>
      <p:sp>
        <p:nvSpPr>
          <p:cNvPr id="17" name="Nice" descr="F"/>
          <p:cNvSpPr/>
          <p:nvPr/>
        </p:nvSpPr>
        <p:spPr>
          <a:xfrm>
            <a:off x="5665231" y="4971158"/>
            <a:ext cx="892584" cy="727650"/>
          </a:xfrm>
          <a:prstGeom prst="rect">
            <a:avLst/>
          </a:prstGeom>
          <a:solidFill>
            <a:srgbClr val="E1BEE7"/>
          </a:solidFill>
          <a:ln w="12936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3139" tIns="46570" rIns="93139" bIns="4657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22" dirty="0">
                <a:solidFill>
                  <a:srgbClr val="000000"/>
                </a:solidFill>
              </a:rPr>
              <a:t>Nice</a:t>
            </a:r>
          </a:p>
        </p:txBody>
      </p:sp>
      <p:sp>
        <p:nvSpPr>
          <p:cNvPr id="18" name="Nantes" descr="G"/>
          <p:cNvSpPr/>
          <p:nvPr/>
        </p:nvSpPr>
        <p:spPr>
          <a:xfrm>
            <a:off x="8366267" y="2812465"/>
            <a:ext cx="1172001" cy="727650"/>
          </a:xfrm>
          <a:prstGeom prst="rect">
            <a:avLst/>
          </a:prstGeom>
          <a:solidFill>
            <a:srgbClr val="FFCDD2"/>
          </a:solidFill>
          <a:ln w="12936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3139" tIns="46570" rIns="93139" bIns="4657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22" dirty="0">
                <a:solidFill>
                  <a:srgbClr val="000000"/>
                </a:solidFill>
              </a:rPr>
              <a:t>Nantes</a:t>
            </a:r>
          </a:p>
        </p:txBody>
      </p:sp>
      <p:sp>
        <p:nvSpPr>
          <p:cNvPr id="19" name="Brest" descr="H"/>
          <p:cNvSpPr/>
          <p:nvPr/>
        </p:nvSpPr>
        <p:spPr>
          <a:xfrm>
            <a:off x="10314428" y="2812465"/>
            <a:ext cx="1032292" cy="727650"/>
          </a:xfrm>
          <a:prstGeom prst="rect">
            <a:avLst/>
          </a:prstGeom>
          <a:solidFill>
            <a:srgbClr val="FFF9C4"/>
          </a:solidFill>
          <a:ln w="12936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3139" tIns="46570" rIns="93139" bIns="4657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22" dirty="0">
                <a:solidFill>
                  <a:srgbClr val="000000"/>
                </a:solidFill>
              </a:rPr>
              <a:t>Brest</a:t>
            </a:r>
          </a:p>
        </p:txBody>
      </p:sp>
      <p:cxnSp>
        <p:nvCxnSpPr>
          <p:cNvPr id="26" name="A--B"/>
          <p:cNvCxnSpPr>
            <a:stCxn id="12" idx="3"/>
            <a:endCxn id="13" idx="1"/>
          </p:cNvCxnSpPr>
          <p:nvPr/>
        </p:nvCxnSpPr>
        <p:spPr>
          <a:xfrm>
            <a:off x="1877572" y="2327365"/>
            <a:ext cx="1443657" cy="0"/>
          </a:xfrm>
          <a:prstGeom prst="line">
            <a:avLst/>
          </a:prstGeom>
          <a:ln w="1293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B--C"/>
          <p:cNvCxnSpPr>
            <a:stCxn id="13" idx="3"/>
            <a:endCxn id="14" idx="1"/>
          </p:cNvCxnSpPr>
          <p:nvPr/>
        </p:nvCxnSpPr>
        <p:spPr>
          <a:xfrm>
            <a:off x="4353522" y="2327365"/>
            <a:ext cx="1055577" cy="0"/>
          </a:xfrm>
          <a:prstGeom prst="line">
            <a:avLst/>
          </a:prstGeom>
          <a:ln w="1293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D--E"/>
          <p:cNvCxnSpPr>
            <a:stCxn id="15" idx="3"/>
            <a:endCxn id="16" idx="1"/>
          </p:cNvCxnSpPr>
          <p:nvPr/>
        </p:nvCxnSpPr>
        <p:spPr>
          <a:xfrm flipV="1">
            <a:off x="4632939" y="4025214"/>
            <a:ext cx="892584" cy="654884"/>
          </a:xfrm>
          <a:prstGeom prst="line">
            <a:avLst/>
          </a:prstGeom>
          <a:ln w="1293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D--F"/>
          <p:cNvCxnSpPr>
            <a:stCxn id="15" idx="3"/>
            <a:endCxn id="17" idx="1"/>
          </p:cNvCxnSpPr>
          <p:nvPr/>
        </p:nvCxnSpPr>
        <p:spPr>
          <a:xfrm>
            <a:off x="4632939" y="4680099"/>
            <a:ext cx="1032292" cy="654885"/>
          </a:xfrm>
          <a:prstGeom prst="line">
            <a:avLst/>
          </a:prstGeom>
          <a:ln w="1293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--H"/>
          <p:cNvCxnSpPr>
            <a:stCxn id="18" idx="3"/>
            <a:endCxn id="19" idx="1"/>
          </p:cNvCxnSpPr>
          <p:nvPr/>
        </p:nvCxnSpPr>
        <p:spPr>
          <a:xfrm>
            <a:off x="9538268" y="3176289"/>
            <a:ext cx="776160" cy="0"/>
          </a:xfrm>
          <a:prstGeom prst="line">
            <a:avLst/>
          </a:prstGeom>
          <a:ln w="1293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--G"/>
          <p:cNvCxnSpPr>
            <a:stCxn id="14" idx="3"/>
            <a:endCxn id="18" idx="1"/>
          </p:cNvCxnSpPr>
          <p:nvPr/>
        </p:nvCxnSpPr>
        <p:spPr>
          <a:xfrm>
            <a:off x="6813948" y="2327365"/>
            <a:ext cx="1552319" cy="848924"/>
          </a:xfrm>
          <a:prstGeom prst="line">
            <a:avLst/>
          </a:prstGeom>
          <a:ln w="1293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E--G"/>
          <p:cNvCxnSpPr>
            <a:stCxn id="16" idx="3"/>
            <a:endCxn id="18" idx="1"/>
          </p:cNvCxnSpPr>
          <p:nvPr/>
        </p:nvCxnSpPr>
        <p:spPr>
          <a:xfrm flipV="1">
            <a:off x="6697524" y="3176289"/>
            <a:ext cx="1668743" cy="848925"/>
          </a:xfrm>
          <a:prstGeom prst="line">
            <a:avLst/>
          </a:prstGeom>
          <a:ln w="1293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medium-realistic</a:t>
            </a:r>
          </a:p>
        </p:txBody>
      </p:sp>
      <p:sp>
        <p:nvSpPr>
          <p:cNvPr id="12" name="Demarrer" descr="Start"/>
          <p:cNvSpPr/>
          <p:nvPr/>
        </p:nvSpPr>
        <p:spPr>
          <a:xfrm>
            <a:off x="4518299" y="1028700"/>
            <a:ext cx="469980" cy="235618"/>
          </a:xfrm>
          <a:prstGeom prst="roundRect">
            <a:avLst/>
          </a:prstGeom>
          <a:solidFill>
            <a:srgbClr val="C6E0B4"/>
          </a:solidFill>
          <a:ln w="4189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59" tIns="15080" rIns="30159" bIns="150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000000"/>
                </a:solidFill>
              </a:rPr>
              <a:t>Demarrer</a:t>
            </a:r>
          </a:p>
        </p:txBody>
      </p:sp>
      <p:sp>
        <p:nvSpPr>
          <p:cNvPr id="13" name="Lire config" descr="Lire"/>
          <p:cNvSpPr/>
          <p:nvPr/>
        </p:nvSpPr>
        <p:spPr>
          <a:xfrm>
            <a:off x="4461751" y="1515645"/>
            <a:ext cx="583077" cy="235618"/>
          </a:xfrm>
          <a:prstGeom prst="rect">
            <a:avLst/>
          </a:prstGeom>
          <a:solidFill>
            <a:srgbClr val="BDD7EE"/>
          </a:solidFill>
          <a:ln w="4189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59" tIns="15080" rIns="30159" bIns="150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000000"/>
                </a:solidFill>
              </a:rPr>
              <a:t>Lire config</a:t>
            </a:r>
          </a:p>
        </p:txBody>
      </p:sp>
      <p:sp>
        <p:nvSpPr>
          <p:cNvPr id="14" name="Config valide?" descr="Valider"/>
          <p:cNvSpPr/>
          <p:nvPr/>
        </p:nvSpPr>
        <p:spPr>
          <a:xfrm>
            <a:off x="4336087" y="2002589"/>
            <a:ext cx="834403" cy="659732"/>
          </a:xfrm>
          <a:prstGeom prst="diamond">
            <a:avLst/>
          </a:prstGeom>
          <a:solidFill>
            <a:srgbClr val="FFE699"/>
          </a:solidFill>
          <a:ln w="4189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59" tIns="15080" rIns="30159" bIns="150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000000"/>
                </a:solidFill>
              </a:rPr>
              <a:t>Config valide?</a:t>
            </a:r>
          </a:p>
        </p:txBody>
      </p:sp>
      <p:sp>
        <p:nvSpPr>
          <p:cNvPr id="15" name="Log erreur" descr="Erreur"/>
          <p:cNvSpPr/>
          <p:nvPr/>
        </p:nvSpPr>
        <p:spPr>
          <a:xfrm>
            <a:off x="4912881" y="5678237"/>
            <a:ext cx="537838" cy="235618"/>
          </a:xfrm>
          <a:prstGeom prst="rect">
            <a:avLst/>
          </a:prstGeom>
          <a:solidFill>
            <a:srgbClr val="C6E0B4"/>
          </a:solidFill>
          <a:ln w="4189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59" tIns="15080" rIns="30159" bIns="150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000000"/>
                </a:solidFill>
              </a:rPr>
              <a:t>Log erreur</a:t>
            </a:r>
          </a:p>
        </p:txBody>
      </p:sp>
      <p:sp>
        <p:nvSpPr>
          <p:cNvPr id="16" name="Arreter" descr="Stop"/>
          <p:cNvSpPr/>
          <p:nvPr/>
        </p:nvSpPr>
        <p:spPr>
          <a:xfrm>
            <a:off x="4572334" y="6165182"/>
            <a:ext cx="424741" cy="235618"/>
          </a:xfrm>
          <a:prstGeom prst="roundRect">
            <a:avLst/>
          </a:prstGeom>
          <a:solidFill>
            <a:srgbClr val="C6E0B4"/>
          </a:solidFill>
          <a:ln w="4189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59" tIns="15080" rIns="30159" bIns="150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000000"/>
                </a:solidFill>
              </a:rPr>
              <a:t>Arreter</a:t>
            </a:r>
          </a:p>
        </p:txBody>
      </p:sp>
      <p:sp>
        <p:nvSpPr>
          <p:cNvPr id="17" name="Connecter API" descr="Connect"/>
          <p:cNvSpPr/>
          <p:nvPr/>
        </p:nvSpPr>
        <p:spPr>
          <a:xfrm>
            <a:off x="3644940" y="2913647"/>
            <a:ext cx="696174" cy="235618"/>
          </a:xfrm>
          <a:prstGeom prst="rect">
            <a:avLst/>
          </a:prstGeom>
          <a:solidFill>
            <a:srgbClr val="BDD7EE"/>
          </a:solidFill>
          <a:ln w="4189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59" tIns="15080" rIns="30159" bIns="150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000000"/>
                </a:solidFill>
              </a:rPr>
              <a:t>Connecter API</a:t>
            </a:r>
          </a:p>
        </p:txBody>
      </p:sp>
      <p:sp>
        <p:nvSpPr>
          <p:cNvPr id="18" name="Recuperer donnees" descr="Fetch"/>
          <p:cNvSpPr/>
          <p:nvPr/>
        </p:nvSpPr>
        <p:spPr>
          <a:xfrm>
            <a:off x="3735418" y="3400592"/>
            <a:ext cx="515219" cy="329866"/>
          </a:xfrm>
          <a:prstGeom prst="rect">
            <a:avLst/>
          </a:prstGeom>
          <a:solidFill>
            <a:srgbClr val="BDD7EE"/>
          </a:solidFill>
          <a:ln w="4189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59" tIns="15080" rIns="30159" bIns="150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000000"/>
                </a:solidFill>
              </a:rPr>
              <a:t>Recuperer donnees</a:t>
            </a:r>
          </a:p>
        </p:txBody>
      </p:sp>
      <p:sp>
        <p:nvSpPr>
          <p:cNvPr id="19" name="Nettoyer" descr="Clean"/>
          <p:cNvSpPr/>
          <p:nvPr/>
        </p:nvSpPr>
        <p:spPr>
          <a:xfrm>
            <a:off x="3758037" y="3981784"/>
            <a:ext cx="469980" cy="235618"/>
          </a:xfrm>
          <a:prstGeom prst="rect">
            <a:avLst/>
          </a:prstGeom>
          <a:solidFill>
            <a:srgbClr val="BDD7EE"/>
          </a:solidFill>
          <a:ln w="4189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59" tIns="15080" rIns="30159" bIns="150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000000"/>
                </a:solidFill>
              </a:rPr>
              <a:t>Nettoyer</a:t>
            </a:r>
          </a:p>
        </p:txBody>
      </p:sp>
      <p:sp>
        <p:nvSpPr>
          <p:cNvPr id="20" name="Donnees ok?" descr="Check"/>
          <p:cNvSpPr/>
          <p:nvPr/>
        </p:nvSpPr>
        <p:spPr>
          <a:xfrm>
            <a:off x="3409950" y="4468729"/>
            <a:ext cx="1166154" cy="471237"/>
          </a:xfrm>
          <a:prstGeom prst="diamond">
            <a:avLst/>
          </a:prstGeom>
          <a:solidFill>
            <a:srgbClr val="FFE699"/>
          </a:solidFill>
          <a:ln w="4189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59" tIns="15080" rIns="30159" bIns="150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000000"/>
                </a:solidFill>
              </a:rPr>
              <a:t>Donnees ok?</a:t>
            </a:r>
          </a:p>
        </p:txBody>
      </p:sp>
      <p:sp>
        <p:nvSpPr>
          <p:cNvPr id="21" name="Retenter" descr="Retry"/>
          <p:cNvSpPr/>
          <p:nvPr/>
        </p:nvSpPr>
        <p:spPr>
          <a:xfrm>
            <a:off x="3426286" y="5191292"/>
            <a:ext cx="469980" cy="235618"/>
          </a:xfrm>
          <a:prstGeom prst="rect">
            <a:avLst/>
          </a:prstGeom>
          <a:solidFill>
            <a:srgbClr val="BDD7EE"/>
          </a:solidFill>
          <a:ln w="4189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59" tIns="15080" rIns="30159" bIns="150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000000"/>
                </a:solidFill>
              </a:rPr>
              <a:t>Retenter</a:t>
            </a:r>
          </a:p>
        </p:txBody>
      </p:sp>
      <p:sp>
        <p:nvSpPr>
          <p:cNvPr id="22" name="Sauvegarder" descr="Save"/>
          <p:cNvSpPr/>
          <p:nvPr/>
        </p:nvSpPr>
        <p:spPr>
          <a:xfrm>
            <a:off x="4084761" y="5191292"/>
            <a:ext cx="605696" cy="235618"/>
          </a:xfrm>
          <a:prstGeom prst="rect">
            <a:avLst/>
          </a:prstGeom>
          <a:solidFill>
            <a:srgbClr val="BDD7EE"/>
          </a:solidFill>
          <a:ln w="4189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59" tIns="15080" rIns="30159" bIns="150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000000"/>
                </a:solidFill>
              </a:rPr>
              <a:t>Sauvegarder</a:t>
            </a:r>
          </a:p>
        </p:txBody>
      </p:sp>
      <p:sp>
        <p:nvSpPr>
          <p:cNvPr id="23" name="Notifier user" descr="Notify"/>
          <p:cNvSpPr/>
          <p:nvPr/>
        </p:nvSpPr>
        <p:spPr>
          <a:xfrm>
            <a:off x="4050832" y="5678237"/>
            <a:ext cx="673555" cy="235618"/>
          </a:xfrm>
          <a:prstGeom prst="rect">
            <a:avLst/>
          </a:prstGeom>
          <a:solidFill>
            <a:srgbClr val="BDD7EE"/>
          </a:solidFill>
          <a:ln w="4189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59" tIns="15080" rIns="30159" bIns="150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000000"/>
                </a:solidFill>
              </a:rPr>
              <a:t>Notifier user</a:t>
            </a:r>
          </a:p>
        </p:txBody>
      </p:sp>
      <p:cxnSp>
        <p:nvCxnSpPr>
          <p:cNvPr id="24" name="Start--Lire"/>
          <p:cNvCxnSpPr>
            <a:stCxn id="12" idx="2"/>
            <a:endCxn id="13" idx="0"/>
          </p:cNvCxnSpPr>
          <p:nvPr/>
        </p:nvCxnSpPr>
        <p:spPr>
          <a:xfrm>
            <a:off x="4753289" y="1264318"/>
            <a:ext cx="0" cy="251327"/>
          </a:xfrm>
          <a:prstGeom prst="line">
            <a:avLst/>
          </a:prstGeom>
          <a:ln w="418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Lire--Valider"/>
          <p:cNvCxnSpPr>
            <a:stCxn id="13" idx="2"/>
            <a:endCxn id="14" idx="0"/>
          </p:cNvCxnSpPr>
          <p:nvPr/>
        </p:nvCxnSpPr>
        <p:spPr>
          <a:xfrm>
            <a:off x="4753289" y="1751263"/>
            <a:ext cx="0" cy="251326"/>
          </a:xfrm>
          <a:prstGeom prst="line">
            <a:avLst/>
          </a:prstGeom>
          <a:ln w="418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Valider--Erreur"/>
          <p:cNvCxnSpPr>
            <a:stCxn id="14" idx="2"/>
            <a:endCxn id="15" idx="0"/>
          </p:cNvCxnSpPr>
          <p:nvPr/>
        </p:nvCxnSpPr>
        <p:spPr>
          <a:xfrm>
            <a:off x="4753289" y="2662321"/>
            <a:ext cx="428512" cy="3015916"/>
          </a:xfrm>
          <a:prstGeom prst="line">
            <a:avLst/>
          </a:prstGeom>
          <a:ln w="418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EdgeLabel"/>
          <p:cNvSpPr txBox="1"/>
          <p:nvPr/>
        </p:nvSpPr>
        <p:spPr>
          <a:xfrm>
            <a:off x="4888126" y="4132580"/>
            <a:ext cx="158838" cy="753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12566" tIns="0" rIns="12566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non</a:t>
            </a:r>
          </a:p>
        </p:txBody>
      </p:sp>
      <p:cxnSp>
        <p:nvCxnSpPr>
          <p:cNvPr id="28" name="Erreur--Stop"/>
          <p:cNvCxnSpPr>
            <a:stCxn id="15" idx="2"/>
            <a:endCxn id="16" idx="0"/>
          </p:cNvCxnSpPr>
          <p:nvPr/>
        </p:nvCxnSpPr>
        <p:spPr>
          <a:xfrm flipH="1">
            <a:off x="4784705" y="5913855"/>
            <a:ext cx="397096" cy="251327"/>
          </a:xfrm>
          <a:prstGeom prst="line">
            <a:avLst/>
          </a:prstGeom>
          <a:ln w="418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Valider--Connect"/>
          <p:cNvCxnSpPr>
            <a:stCxn id="14" idx="1"/>
            <a:endCxn id="17" idx="3"/>
          </p:cNvCxnSpPr>
          <p:nvPr/>
        </p:nvCxnSpPr>
        <p:spPr>
          <a:xfrm>
            <a:off x="4336087" y="2332455"/>
            <a:ext cx="5027" cy="699002"/>
          </a:xfrm>
          <a:prstGeom prst="line">
            <a:avLst/>
          </a:prstGeom>
          <a:ln w="418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EdgeLabel"/>
          <p:cNvSpPr txBox="1"/>
          <p:nvPr/>
        </p:nvSpPr>
        <p:spPr>
          <a:xfrm>
            <a:off x="4259182" y="2644257"/>
            <a:ext cx="158838" cy="753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12566" tIns="0" rIns="12566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oui</a:t>
            </a:r>
          </a:p>
        </p:txBody>
      </p:sp>
      <p:cxnSp>
        <p:nvCxnSpPr>
          <p:cNvPr id="31" name="Connect--Fetch"/>
          <p:cNvCxnSpPr>
            <a:stCxn id="17" idx="2"/>
            <a:endCxn id="18" idx="0"/>
          </p:cNvCxnSpPr>
          <p:nvPr/>
        </p:nvCxnSpPr>
        <p:spPr>
          <a:xfrm>
            <a:off x="3993027" y="3149266"/>
            <a:ext cx="0" cy="251326"/>
          </a:xfrm>
          <a:prstGeom prst="line">
            <a:avLst/>
          </a:prstGeom>
          <a:ln w="418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Fetch--Clean"/>
          <p:cNvCxnSpPr>
            <a:stCxn id="18" idx="2"/>
            <a:endCxn id="19" idx="0"/>
          </p:cNvCxnSpPr>
          <p:nvPr/>
        </p:nvCxnSpPr>
        <p:spPr>
          <a:xfrm>
            <a:off x="3993027" y="3730458"/>
            <a:ext cx="0" cy="251326"/>
          </a:xfrm>
          <a:prstGeom prst="line">
            <a:avLst/>
          </a:prstGeom>
          <a:ln w="418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lean--Check"/>
          <p:cNvCxnSpPr>
            <a:stCxn id="19" idx="2"/>
            <a:endCxn id="20" idx="0"/>
          </p:cNvCxnSpPr>
          <p:nvPr/>
        </p:nvCxnSpPr>
        <p:spPr>
          <a:xfrm>
            <a:off x="3993027" y="4217403"/>
            <a:ext cx="0" cy="251326"/>
          </a:xfrm>
          <a:prstGeom prst="line">
            <a:avLst/>
          </a:prstGeom>
          <a:ln w="418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heck--Retry"/>
          <p:cNvCxnSpPr>
            <a:stCxn id="20" idx="2"/>
            <a:endCxn id="21" idx="0"/>
          </p:cNvCxnSpPr>
          <p:nvPr/>
        </p:nvCxnSpPr>
        <p:spPr>
          <a:xfrm flipH="1">
            <a:off x="3661276" y="4939966"/>
            <a:ext cx="331751" cy="251326"/>
          </a:xfrm>
          <a:prstGeom prst="line">
            <a:avLst/>
          </a:prstGeom>
          <a:ln w="418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EdgeLabel"/>
          <p:cNvSpPr txBox="1"/>
          <p:nvPr/>
        </p:nvSpPr>
        <p:spPr>
          <a:xfrm>
            <a:off x="3747733" y="5027930"/>
            <a:ext cx="158838" cy="753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12566" tIns="0" rIns="12566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non</a:t>
            </a:r>
          </a:p>
        </p:txBody>
      </p:sp>
      <p:cxnSp>
        <p:nvCxnSpPr>
          <p:cNvPr id="36" name="Retry--Check"/>
          <p:cNvCxnSpPr>
            <a:stCxn id="21" idx="0"/>
            <a:endCxn id="20" idx="2"/>
          </p:cNvCxnSpPr>
          <p:nvPr/>
        </p:nvCxnSpPr>
        <p:spPr>
          <a:xfrm flipV="1">
            <a:off x="3661276" y="4939966"/>
            <a:ext cx="331751" cy="251326"/>
          </a:xfrm>
          <a:prstGeom prst="line">
            <a:avLst/>
          </a:prstGeom>
          <a:ln w="418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heck--Save"/>
          <p:cNvCxnSpPr>
            <a:stCxn id="20" idx="2"/>
            <a:endCxn id="22" idx="0"/>
          </p:cNvCxnSpPr>
          <p:nvPr/>
        </p:nvCxnSpPr>
        <p:spPr>
          <a:xfrm>
            <a:off x="3993027" y="4939966"/>
            <a:ext cx="394582" cy="251326"/>
          </a:xfrm>
          <a:prstGeom prst="line">
            <a:avLst/>
          </a:prstGeom>
          <a:ln w="418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EdgeLabel"/>
          <p:cNvSpPr txBox="1"/>
          <p:nvPr/>
        </p:nvSpPr>
        <p:spPr>
          <a:xfrm>
            <a:off x="4110899" y="5027930"/>
            <a:ext cx="158838" cy="753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12566" tIns="0" rIns="12566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oui</a:t>
            </a:r>
          </a:p>
        </p:txBody>
      </p:sp>
      <p:cxnSp>
        <p:nvCxnSpPr>
          <p:cNvPr id="39" name="Save--Notify"/>
          <p:cNvCxnSpPr>
            <a:stCxn id="22" idx="2"/>
            <a:endCxn id="23" idx="0"/>
          </p:cNvCxnSpPr>
          <p:nvPr/>
        </p:nvCxnSpPr>
        <p:spPr>
          <a:xfrm>
            <a:off x="4387609" y="5426911"/>
            <a:ext cx="0" cy="251326"/>
          </a:xfrm>
          <a:prstGeom prst="line">
            <a:avLst/>
          </a:prstGeom>
          <a:ln w="418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Notify--Stop"/>
          <p:cNvCxnSpPr>
            <a:stCxn id="23" idx="2"/>
            <a:endCxn id="16" idx="0"/>
          </p:cNvCxnSpPr>
          <p:nvPr/>
        </p:nvCxnSpPr>
        <p:spPr>
          <a:xfrm>
            <a:off x="4387609" y="5913855"/>
            <a:ext cx="397096" cy="251327"/>
          </a:xfrm>
          <a:prstGeom prst="line">
            <a:avLst/>
          </a:prstGeom>
          <a:ln w="418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mindmap</a:t>
            </a:r>
          </a:p>
        </p:txBody>
      </p:sp>
      <p:cxnSp>
        <p:nvCxnSpPr>
          <p:cNvPr id="11" name="Connector 1"/>
          <p:cNvCxnSpPr/>
          <p:nvPr/>
        </p:nvCxnSpPr>
        <p:spPr>
          <a:xfrm>
            <a:off x="6604413" y="4098110"/>
            <a:ext cx="670127" cy="773368"/>
          </a:xfrm>
          <a:prstGeom prst="line">
            <a:avLst/>
          </a:prstGeom>
          <a:ln w="12039">
            <a:solidFill>
              <a:srgbClr val="4472C4"/>
            </a:solidFill>
          </a:ln>
        </p:spPr>
      </p:cxnSp>
      <p:cxnSp>
        <p:nvCxnSpPr>
          <p:cNvPr id="12" name="Connector 2"/>
          <p:cNvCxnSpPr/>
          <p:nvPr/>
        </p:nvCxnSpPr>
        <p:spPr>
          <a:xfrm flipV="1">
            <a:off x="7274540" y="4674711"/>
            <a:ext cx="1293595" cy="196767"/>
          </a:xfrm>
          <a:prstGeom prst="line">
            <a:avLst/>
          </a:prstGeom>
          <a:ln w="12039">
            <a:solidFill>
              <a:srgbClr val="4472C4"/>
            </a:solidFill>
          </a:ln>
        </p:spPr>
      </p:cxnSp>
      <p:cxnSp>
        <p:nvCxnSpPr>
          <p:cNvPr id="13" name="Connector 3"/>
          <p:cNvCxnSpPr/>
          <p:nvPr/>
        </p:nvCxnSpPr>
        <p:spPr>
          <a:xfrm>
            <a:off x="7274540" y="4871478"/>
            <a:ext cx="670127" cy="773368"/>
          </a:xfrm>
          <a:prstGeom prst="line">
            <a:avLst/>
          </a:prstGeom>
          <a:ln w="12039">
            <a:solidFill>
              <a:srgbClr val="4472C4"/>
            </a:solidFill>
          </a:ln>
        </p:spPr>
      </p:cxnSp>
      <p:cxnSp>
        <p:nvCxnSpPr>
          <p:cNvPr id="14" name="Connector 4"/>
          <p:cNvCxnSpPr/>
          <p:nvPr/>
        </p:nvCxnSpPr>
        <p:spPr>
          <a:xfrm flipV="1">
            <a:off x="6895678" y="4871478"/>
            <a:ext cx="378862" cy="1252425"/>
          </a:xfrm>
          <a:prstGeom prst="line">
            <a:avLst/>
          </a:prstGeom>
          <a:ln w="12039">
            <a:solidFill>
              <a:srgbClr val="4472C4"/>
            </a:solidFill>
          </a:ln>
        </p:spPr>
      </p:cxnSp>
      <p:cxnSp>
        <p:nvCxnSpPr>
          <p:cNvPr id="15" name="Connector 5"/>
          <p:cNvCxnSpPr/>
          <p:nvPr/>
        </p:nvCxnSpPr>
        <p:spPr>
          <a:xfrm flipV="1">
            <a:off x="5743547" y="4098110"/>
            <a:ext cx="860866" cy="553244"/>
          </a:xfrm>
          <a:prstGeom prst="line">
            <a:avLst/>
          </a:prstGeom>
          <a:ln w="12039">
            <a:solidFill>
              <a:srgbClr val="ED7D31"/>
            </a:solidFill>
          </a:ln>
        </p:spPr>
      </p:cxnSp>
      <p:cxnSp>
        <p:nvCxnSpPr>
          <p:cNvPr id="16" name="Connector 6"/>
          <p:cNvCxnSpPr/>
          <p:nvPr/>
        </p:nvCxnSpPr>
        <p:spPr>
          <a:xfrm>
            <a:off x="5743547" y="4651354"/>
            <a:ext cx="10667" cy="1308432"/>
          </a:xfrm>
          <a:prstGeom prst="line">
            <a:avLst/>
          </a:prstGeom>
          <a:ln w="12039">
            <a:solidFill>
              <a:srgbClr val="ED7D31"/>
            </a:solidFill>
          </a:ln>
        </p:spPr>
      </p:cxnSp>
      <p:cxnSp>
        <p:nvCxnSpPr>
          <p:cNvPr id="17" name="Connector 7"/>
          <p:cNvCxnSpPr/>
          <p:nvPr/>
        </p:nvCxnSpPr>
        <p:spPr>
          <a:xfrm flipV="1">
            <a:off x="4640690" y="4651354"/>
            <a:ext cx="1102857" cy="23357"/>
          </a:xfrm>
          <a:prstGeom prst="line">
            <a:avLst/>
          </a:prstGeom>
          <a:ln w="12039">
            <a:solidFill>
              <a:srgbClr val="ED7D31"/>
            </a:solidFill>
          </a:ln>
        </p:spPr>
      </p:cxnSp>
      <p:cxnSp>
        <p:nvCxnSpPr>
          <p:cNvPr id="18" name="Connector 8"/>
          <p:cNvCxnSpPr/>
          <p:nvPr/>
        </p:nvCxnSpPr>
        <p:spPr>
          <a:xfrm flipV="1">
            <a:off x="4021817" y="4674711"/>
            <a:ext cx="618873" cy="1083133"/>
          </a:xfrm>
          <a:prstGeom prst="line">
            <a:avLst/>
          </a:prstGeom>
          <a:ln w="12039">
            <a:solidFill>
              <a:srgbClr val="ED7D31"/>
            </a:solidFill>
          </a:ln>
        </p:spPr>
      </p:cxnSp>
      <p:cxnSp>
        <p:nvCxnSpPr>
          <p:cNvPr id="19" name="Connector 9"/>
          <p:cNvCxnSpPr/>
          <p:nvPr/>
        </p:nvCxnSpPr>
        <p:spPr>
          <a:xfrm>
            <a:off x="3534475" y="4098110"/>
            <a:ext cx="1106215" cy="576601"/>
          </a:xfrm>
          <a:prstGeom prst="line">
            <a:avLst/>
          </a:prstGeom>
          <a:ln w="12039">
            <a:solidFill>
              <a:srgbClr val="ED7D31"/>
            </a:solidFill>
          </a:ln>
        </p:spPr>
      </p:cxnSp>
      <p:cxnSp>
        <p:nvCxnSpPr>
          <p:cNvPr id="20" name="Connector 10"/>
          <p:cNvCxnSpPr/>
          <p:nvPr/>
        </p:nvCxnSpPr>
        <p:spPr>
          <a:xfrm>
            <a:off x="6179313" y="3167272"/>
            <a:ext cx="425100" cy="930838"/>
          </a:xfrm>
          <a:prstGeom prst="line">
            <a:avLst/>
          </a:prstGeom>
          <a:ln w="12039">
            <a:solidFill>
              <a:srgbClr val="70AD47"/>
            </a:solidFill>
          </a:ln>
        </p:spPr>
      </p:cxnSp>
      <p:cxnSp>
        <p:nvCxnSpPr>
          <p:cNvPr id="21" name="Connector 11"/>
          <p:cNvCxnSpPr/>
          <p:nvPr/>
        </p:nvCxnSpPr>
        <p:spPr>
          <a:xfrm>
            <a:off x="5264158" y="2551374"/>
            <a:ext cx="915155" cy="615898"/>
          </a:xfrm>
          <a:prstGeom prst="line">
            <a:avLst/>
          </a:prstGeom>
          <a:ln w="12039">
            <a:solidFill>
              <a:srgbClr val="70AD47"/>
            </a:solidFill>
          </a:ln>
        </p:spPr>
      </p:cxnSp>
      <p:cxnSp>
        <p:nvCxnSpPr>
          <p:cNvPr id="22" name="Connector 12"/>
          <p:cNvCxnSpPr/>
          <p:nvPr/>
        </p:nvCxnSpPr>
        <p:spPr>
          <a:xfrm>
            <a:off x="4021817" y="2438376"/>
            <a:ext cx="1242341" cy="112998"/>
          </a:xfrm>
          <a:prstGeom prst="line">
            <a:avLst/>
          </a:prstGeom>
          <a:ln w="12039">
            <a:solidFill>
              <a:srgbClr val="70AD47"/>
            </a:solidFill>
          </a:ln>
        </p:spPr>
      </p:cxnSp>
      <p:cxnSp>
        <p:nvCxnSpPr>
          <p:cNvPr id="23" name="Connector 13"/>
          <p:cNvCxnSpPr/>
          <p:nvPr/>
        </p:nvCxnSpPr>
        <p:spPr>
          <a:xfrm flipV="1">
            <a:off x="5264158" y="1305596"/>
            <a:ext cx="64957" cy="1245778"/>
          </a:xfrm>
          <a:prstGeom prst="line">
            <a:avLst/>
          </a:prstGeom>
          <a:ln w="12039">
            <a:solidFill>
              <a:srgbClr val="70AD47"/>
            </a:solidFill>
          </a:ln>
        </p:spPr>
      </p:cxnSp>
      <p:cxnSp>
        <p:nvCxnSpPr>
          <p:cNvPr id="24" name="Connector 14"/>
          <p:cNvCxnSpPr/>
          <p:nvPr/>
        </p:nvCxnSpPr>
        <p:spPr>
          <a:xfrm flipV="1">
            <a:off x="6179313" y="2072316"/>
            <a:ext cx="716365" cy="1094956"/>
          </a:xfrm>
          <a:prstGeom prst="line">
            <a:avLst/>
          </a:prstGeom>
          <a:ln w="12039">
            <a:solidFill>
              <a:srgbClr val="70AD47"/>
            </a:solidFill>
          </a:ln>
        </p:spPr>
      </p:cxnSp>
      <p:cxnSp>
        <p:nvCxnSpPr>
          <p:cNvPr id="25" name="Connector 15"/>
          <p:cNvCxnSpPr/>
          <p:nvPr/>
        </p:nvCxnSpPr>
        <p:spPr>
          <a:xfrm flipV="1">
            <a:off x="6604413" y="3544865"/>
            <a:ext cx="860865" cy="553245"/>
          </a:xfrm>
          <a:prstGeom prst="line">
            <a:avLst/>
          </a:prstGeom>
          <a:ln w="12039">
            <a:solidFill>
              <a:srgbClr val="FFC000"/>
            </a:solidFill>
          </a:ln>
        </p:spPr>
      </p:cxnSp>
      <p:cxnSp>
        <p:nvCxnSpPr>
          <p:cNvPr id="26" name="Connector 16"/>
          <p:cNvCxnSpPr/>
          <p:nvPr/>
        </p:nvCxnSpPr>
        <p:spPr>
          <a:xfrm flipV="1">
            <a:off x="7465278" y="2551374"/>
            <a:ext cx="479389" cy="993491"/>
          </a:xfrm>
          <a:prstGeom prst="line">
            <a:avLst/>
          </a:prstGeom>
          <a:ln w="12039">
            <a:solidFill>
              <a:srgbClr val="FFC000"/>
            </a:solidFill>
          </a:ln>
        </p:spPr>
      </p:cxnSp>
      <p:cxnSp>
        <p:nvCxnSpPr>
          <p:cNvPr id="27" name="Connector 17"/>
          <p:cNvCxnSpPr/>
          <p:nvPr/>
        </p:nvCxnSpPr>
        <p:spPr>
          <a:xfrm flipV="1">
            <a:off x="7465278" y="3521509"/>
            <a:ext cx="1102857" cy="23356"/>
          </a:xfrm>
          <a:prstGeom prst="line">
            <a:avLst/>
          </a:prstGeom>
          <a:ln w="12039">
            <a:solidFill>
              <a:srgbClr val="FFC000"/>
            </a:solidFill>
          </a:ln>
        </p:spPr>
      </p:cxnSp>
      <p:sp>
        <p:nvSpPr>
          <p:cNvPr id="28" name="Project Plan"/>
          <p:cNvSpPr/>
          <p:nvPr/>
        </p:nvSpPr>
        <p:spPr>
          <a:xfrm>
            <a:off x="6000297" y="3953642"/>
            <a:ext cx="1208231" cy="288935"/>
          </a:xfrm>
          <a:prstGeom prst="ellipse">
            <a:avLst/>
          </a:prstGeom>
          <a:solidFill>
            <a:srgbClr val="404040"/>
          </a:solidFill>
          <a:ln w="6019">
            <a:solidFill>
              <a:srgbClr val="4040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FFFFF"/>
                </a:solidFill>
              </a:rPr>
              <a:t>Project Plan</a:t>
            </a:r>
          </a:p>
        </p:txBody>
      </p:sp>
      <p:sp>
        <p:nvSpPr>
          <p:cNvPr id="29" name="Research"/>
          <p:cNvSpPr/>
          <p:nvPr/>
        </p:nvSpPr>
        <p:spPr>
          <a:xfrm>
            <a:off x="6974469" y="4775166"/>
            <a:ext cx="600143" cy="192624"/>
          </a:xfrm>
          <a:prstGeom prst="roundRect">
            <a:avLst/>
          </a:prstGeom>
          <a:solidFill>
            <a:srgbClr val="4472C4"/>
          </a:solidFill>
          <a:ln w="6019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00" dirty="0">
                <a:solidFill>
                  <a:srgbClr val="FFFFFF"/>
                </a:solidFill>
              </a:rPr>
              <a:t>Research</a:t>
            </a:r>
          </a:p>
        </p:txBody>
      </p:sp>
      <p:sp>
        <p:nvSpPr>
          <p:cNvPr id="30" name="Market analysis"/>
          <p:cNvSpPr/>
          <p:nvPr/>
        </p:nvSpPr>
        <p:spPr>
          <a:xfrm>
            <a:off x="8168441" y="4578399"/>
            <a:ext cx="799388" cy="192624"/>
          </a:xfrm>
          <a:prstGeom prst="roundRect">
            <a:avLst/>
          </a:prstGeom>
          <a:solidFill>
            <a:srgbClr val="4472C4"/>
          </a:solidFill>
          <a:ln w="6019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FFFFFF"/>
                </a:solidFill>
              </a:rPr>
              <a:t>Market analysis</a:t>
            </a:r>
          </a:p>
        </p:txBody>
      </p:sp>
      <p:sp>
        <p:nvSpPr>
          <p:cNvPr id="31" name="Competitor review"/>
          <p:cNvSpPr/>
          <p:nvPr/>
        </p:nvSpPr>
        <p:spPr>
          <a:xfrm>
            <a:off x="7505245" y="5548534"/>
            <a:ext cx="878845" cy="192624"/>
          </a:xfrm>
          <a:prstGeom prst="roundRect">
            <a:avLst/>
          </a:prstGeom>
          <a:solidFill>
            <a:srgbClr val="4472C4"/>
          </a:solidFill>
          <a:ln w="6019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FFFFFF"/>
                </a:solidFill>
              </a:rPr>
              <a:t>Competitor review</a:t>
            </a:r>
          </a:p>
        </p:txBody>
      </p:sp>
      <p:sp>
        <p:nvSpPr>
          <p:cNvPr id="32" name="User interviews"/>
          <p:cNvSpPr/>
          <p:nvPr/>
        </p:nvSpPr>
        <p:spPr>
          <a:xfrm>
            <a:off x="6495984" y="6027592"/>
            <a:ext cx="799388" cy="192624"/>
          </a:xfrm>
          <a:prstGeom prst="roundRect">
            <a:avLst/>
          </a:prstGeom>
          <a:solidFill>
            <a:srgbClr val="4472C4"/>
          </a:solidFill>
          <a:ln w="6019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FFFFFF"/>
                </a:solidFill>
              </a:rPr>
              <a:t>User interviews</a:t>
            </a:r>
          </a:p>
        </p:txBody>
      </p:sp>
      <p:sp>
        <p:nvSpPr>
          <p:cNvPr id="33" name="Design"/>
          <p:cNvSpPr/>
          <p:nvPr/>
        </p:nvSpPr>
        <p:spPr>
          <a:xfrm>
            <a:off x="5490428" y="4555043"/>
            <a:ext cx="506239" cy="192624"/>
          </a:xfrm>
          <a:prstGeom prst="roundRect">
            <a:avLst/>
          </a:prstGeom>
          <a:solidFill>
            <a:srgbClr val="ED7D31"/>
          </a:solidFill>
          <a:ln w="6019">
            <a:solidFill>
              <a:srgbClr val="ED7D3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00" dirty="0">
                <a:solidFill>
                  <a:srgbClr val="FFFFFF"/>
                </a:solidFill>
              </a:rPr>
              <a:t>Design</a:t>
            </a:r>
          </a:p>
        </p:txBody>
      </p:sp>
      <p:sp>
        <p:nvSpPr>
          <p:cNvPr id="34" name="Wireframes"/>
          <p:cNvSpPr/>
          <p:nvPr/>
        </p:nvSpPr>
        <p:spPr>
          <a:xfrm>
            <a:off x="5443909" y="5863474"/>
            <a:ext cx="620609" cy="192624"/>
          </a:xfrm>
          <a:prstGeom prst="rect">
            <a:avLst/>
          </a:prstGeom>
          <a:solidFill>
            <a:srgbClr val="ED7D31"/>
          </a:solidFill>
          <a:ln w="6019">
            <a:solidFill>
              <a:srgbClr val="ED7D3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FFFFFF"/>
                </a:solidFill>
              </a:rPr>
              <a:t>Wireframes</a:t>
            </a:r>
          </a:p>
        </p:txBody>
      </p:sp>
      <p:sp>
        <p:nvSpPr>
          <p:cNvPr id="35" name="Moodboard"/>
          <p:cNvSpPr/>
          <p:nvPr/>
        </p:nvSpPr>
        <p:spPr>
          <a:xfrm>
            <a:off x="4259205" y="4578399"/>
            <a:ext cx="762970" cy="192624"/>
          </a:xfrm>
          <a:prstGeom prst="cloud">
            <a:avLst/>
          </a:prstGeom>
          <a:solidFill>
            <a:srgbClr val="ED7D31"/>
          </a:solidFill>
          <a:ln w="6019">
            <a:solidFill>
              <a:srgbClr val="ED7D3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FFFFFF"/>
                </a:solidFill>
              </a:rPr>
              <a:t>Moodboard</a:t>
            </a:r>
          </a:p>
        </p:txBody>
      </p:sp>
      <p:sp>
        <p:nvSpPr>
          <p:cNvPr id="36" name="Colors"/>
          <p:cNvSpPr/>
          <p:nvPr/>
        </p:nvSpPr>
        <p:spPr>
          <a:xfrm>
            <a:off x="3790970" y="5661532"/>
            <a:ext cx="461695" cy="192624"/>
          </a:xfrm>
          <a:prstGeom prst="roundRect">
            <a:avLst/>
          </a:prstGeom>
          <a:solidFill>
            <a:srgbClr val="ED7D31"/>
          </a:solidFill>
          <a:ln w="6019">
            <a:solidFill>
              <a:srgbClr val="ED7D3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FFFFFF"/>
                </a:solidFill>
              </a:rPr>
              <a:t>Colors</a:t>
            </a:r>
          </a:p>
        </p:txBody>
      </p:sp>
      <p:sp>
        <p:nvSpPr>
          <p:cNvPr id="37" name="Typography"/>
          <p:cNvSpPr/>
          <p:nvPr/>
        </p:nvSpPr>
        <p:spPr>
          <a:xfrm>
            <a:off x="3224171" y="4001798"/>
            <a:ext cx="620609" cy="192624"/>
          </a:xfrm>
          <a:prstGeom prst="roundRect">
            <a:avLst/>
          </a:prstGeom>
          <a:solidFill>
            <a:srgbClr val="ED7D31"/>
          </a:solidFill>
          <a:ln w="6019">
            <a:solidFill>
              <a:srgbClr val="ED7D3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FFFFFF"/>
                </a:solidFill>
              </a:rPr>
              <a:t>Typography</a:t>
            </a:r>
          </a:p>
        </p:txBody>
      </p:sp>
      <p:sp>
        <p:nvSpPr>
          <p:cNvPr id="38" name="Engineering"/>
          <p:cNvSpPr/>
          <p:nvPr/>
        </p:nvSpPr>
        <p:spPr>
          <a:xfrm>
            <a:off x="5717062" y="3070960"/>
            <a:ext cx="924503" cy="192624"/>
          </a:xfrm>
          <a:prstGeom prst="hexagon">
            <a:avLst/>
          </a:prstGeom>
          <a:solidFill>
            <a:srgbClr val="70AD47"/>
          </a:solidFill>
          <a:ln w="6019">
            <a:solidFill>
              <a:srgbClr val="70AD4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00" dirty="0">
                <a:solidFill>
                  <a:srgbClr val="FFFFFF"/>
                </a:solidFill>
              </a:rPr>
              <a:t>Engineering</a:t>
            </a:r>
          </a:p>
        </p:txBody>
      </p:sp>
      <p:sp>
        <p:nvSpPr>
          <p:cNvPr id="39" name="Backend"/>
          <p:cNvSpPr/>
          <p:nvPr/>
        </p:nvSpPr>
        <p:spPr>
          <a:xfrm>
            <a:off x="5013447" y="2455062"/>
            <a:ext cx="501423" cy="192624"/>
          </a:xfrm>
          <a:prstGeom prst="roundRect">
            <a:avLst/>
          </a:prstGeom>
          <a:solidFill>
            <a:srgbClr val="70AD47"/>
          </a:solidFill>
          <a:ln w="6019">
            <a:solidFill>
              <a:srgbClr val="70AD4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FFFFFF"/>
                </a:solidFill>
              </a:rPr>
              <a:t>Backend</a:t>
            </a:r>
          </a:p>
        </p:txBody>
      </p:sp>
      <p:sp>
        <p:nvSpPr>
          <p:cNvPr id="40" name="API"/>
          <p:cNvSpPr/>
          <p:nvPr/>
        </p:nvSpPr>
        <p:spPr>
          <a:xfrm>
            <a:off x="3841232" y="2342065"/>
            <a:ext cx="361169" cy="192624"/>
          </a:xfrm>
          <a:prstGeom prst="roundRect">
            <a:avLst/>
          </a:prstGeom>
          <a:solidFill>
            <a:srgbClr val="70AD47"/>
          </a:solidFill>
          <a:ln w="6019">
            <a:solidFill>
              <a:srgbClr val="70AD4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FFFFFF"/>
                </a:solidFill>
              </a:rPr>
              <a:t>API</a:t>
            </a:r>
          </a:p>
        </p:txBody>
      </p:sp>
      <p:sp>
        <p:nvSpPr>
          <p:cNvPr id="41" name="Database"/>
          <p:cNvSpPr/>
          <p:nvPr/>
        </p:nvSpPr>
        <p:spPr>
          <a:xfrm>
            <a:off x="5058539" y="1209285"/>
            <a:ext cx="541152" cy="192624"/>
          </a:xfrm>
          <a:prstGeom prst="roundRect">
            <a:avLst/>
          </a:prstGeom>
          <a:solidFill>
            <a:srgbClr val="70AD47"/>
          </a:solidFill>
          <a:ln w="6019">
            <a:solidFill>
              <a:srgbClr val="70AD4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FFFFFF"/>
                </a:solidFill>
              </a:rPr>
              <a:t>Database</a:t>
            </a:r>
          </a:p>
        </p:txBody>
      </p:sp>
      <p:sp>
        <p:nvSpPr>
          <p:cNvPr id="42" name="Frontend"/>
          <p:cNvSpPr/>
          <p:nvPr/>
        </p:nvSpPr>
        <p:spPr>
          <a:xfrm>
            <a:off x="6625102" y="1976005"/>
            <a:ext cx="541152" cy="192624"/>
          </a:xfrm>
          <a:prstGeom prst="roundRect">
            <a:avLst/>
          </a:prstGeom>
          <a:solidFill>
            <a:srgbClr val="70AD47"/>
          </a:solidFill>
          <a:ln w="6019">
            <a:solidFill>
              <a:srgbClr val="70AD4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FFFFFF"/>
                </a:solidFill>
              </a:rPr>
              <a:t>Frontend</a:t>
            </a:r>
          </a:p>
        </p:txBody>
      </p:sp>
      <p:sp>
        <p:nvSpPr>
          <p:cNvPr id="43" name="Launch"/>
          <p:cNvSpPr/>
          <p:nvPr/>
        </p:nvSpPr>
        <p:spPr>
          <a:xfrm>
            <a:off x="7212159" y="3448554"/>
            <a:ext cx="506239" cy="192624"/>
          </a:xfrm>
          <a:prstGeom prst="roundRect">
            <a:avLst/>
          </a:prstGeom>
          <a:solidFill>
            <a:srgbClr val="FFC000"/>
          </a:solidFill>
          <a:ln w="6019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00" dirty="0">
                <a:solidFill>
                  <a:srgbClr val="FFFFFF"/>
                </a:solidFill>
              </a:rPr>
              <a:t>Launch</a:t>
            </a:r>
          </a:p>
        </p:txBody>
      </p:sp>
      <p:sp>
        <p:nvSpPr>
          <p:cNvPr id="44" name="Marketing"/>
          <p:cNvSpPr/>
          <p:nvPr/>
        </p:nvSpPr>
        <p:spPr>
          <a:xfrm>
            <a:off x="7490347" y="2455062"/>
            <a:ext cx="908641" cy="192624"/>
          </a:xfrm>
          <a:prstGeom prst="irregularSeal2">
            <a:avLst/>
          </a:prstGeom>
          <a:solidFill>
            <a:srgbClr val="FFC000"/>
          </a:solidFill>
          <a:ln w="6019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FFFFFF"/>
                </a:solidFill>
              </a:rPr>
              <a:t>Marketing</a:t>
            </a:r>
          </a:p>
        </p:txBody>
      </p:sp>
      <p:sp>
        <p:nvSpPr>
          <p:cNvPr id="45" name="Support"/>
          <p:cNvSpPr/>
          <p:nvPr/>
        </p:nvSpPr>
        <p:spPr>
          <a:xfrm>
            <a:off x="8317424" y="3425197"/>
            <a:ext cx="501423" cy="192624"/>
          </a:xfrm>
          <a:prstGeom prst="roundRect">
            <a:avLst/>
          </a:prstGeom>
          <a:solidFill>
            <a:srgbClr val="FFC000"/>
          </a:solidFill>
          <a:ln w="6019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FFFFFF"/>
                </a:solidFill>
              </a:rPr>
              <a:t>Support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minimal</a:t>
            </a:r>
          </a:p>
        </p:txBody>
      </p:sp>
      <p:sp>
        <p:nvSpPr>
          <p:cNvPr id="12" name="A" descr="A"/>
          <p:cNvSpPr/>
          <p:nvPr/>
        </p:nvSpPr>
        <p:spPr>
          <a:xfrm>
            <a:off x="1690688" y="3268266"/>
            <a:ext cx="1666875" cy="1785938"/>
          </a:xfrm>
          <a:prstGeom prst="rect">
            <a:avLst/>
          </a:prstGeom>
          <a:solidFill>
            <a:srgbClr val="FFF9C4"/>
          </a:solidFill>
          <a:ln w="31750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28600" tIns="114300" rIns="228600" bIns="1143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0" dirty="0">
                <a:solidFill>
                  <a:srgbClr val="000000"/>
                </a:solidFill>
              </a:rPr>
              <a:t>A</a:t>
            </a:r>
          </a:p>
        </p:txBody>
      </p:sp>
      <p:sp>
        <p:nvSpPr>
          <p:cNvPr id="13" name="B" descr="B"/>
          <p:cNvSpPr/>
          <p:nvPr/>
        </p:nvSpPr>
        <p:spPr>
          <a:xfrm>
            <a:off x="5262563" y="2345531"/>
            <a:ext cx="1666875" cy="1785938"/>
          </a:xfrm>
          <a:prstGeom prst="rect">
            <a:avLst/>
          </a:prstGeom>
          <a:solidFill>
            <a:srgbClr val="BBDEFB"/>
          </a:solidFill>
          <a:ln w="31750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28600" tIns="114300" rIns="228600" bIns="1143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0" dirty="0">
                <a:solidFill>
                  <a:srgbClr val="000000"/>
                </a:solidFill>
              </a:rPr>
              <a:t>B</a:t>
            </a:r>
          </a:p>
        </p:txBody>
      </p:sp>
      <p:sp>
        <p:nvSpPr>
          <p:cNvPr id="14" name="C" descr="C"/>
          <p:cNvSpPr/>
          <p:nvPr/>
        </p:nvSpPr>
        <p:spPr>
          <a:xfrm>
            <a:off x="8834438" y="3268266"/>
            <a:ext cx="1666875" cy="1785938"/>
          </a:xfrm>
          <a:prstGeom prst="rect">
            <a:avLst/>
          </a:prstGeom>
          <a:solidFill>
            <a:srgbClr val="C8E6C9"/>
          </a:solidFill>
          <a:ln w="31750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28600" tIns="114300" rIns="228600" bIns="1143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0" dirty="0">
                <a:solidFill>
                  <a:srgbClr val="000000"/>
                </a:solidFill>
              </a:rPr>
              <a:t>C</a:t>
            </a:r>
          </a:p>
        </p:txBody>
      </p:sp>
      <p:cxnSp>
        <p:nvCxnSpPr>
          <p:cNvPr id="15" name="A--B"/>
          <p:cNvCxnSpPr>
            <a:stCxn id="12" idx="3"/>
            <a:endCxn id="13" idx="1"/>
          </p:cNvCxnSpPr>
          <p:nvPr/>
        </p:nvCxnSpPr>
        <p:spPr>
          <a:xfrm flipV="1">
            <a:off x="3357563" y="3238501"/>
            <a:ext cx="1905000" cy="922733"/>
          </a:xfrm>
          <a:prstGeom prst="line">
            <a:avLst/>
          </a:prstGeom>
          <a:ln w="31750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B--C"/>
          <p:cNvCxnSpPr>
            <a:stCxn id="13" idx="3"/>
            <a:endCxn id="14" idx="1"/>
          </p:cNvCxnSpPr>
          <p:nvPr/>
        </p:nvCxnSpPr>
        <p:spPr>
          <a:xfrm>
            <a:off x="6929438" y="3238501"/>
            <a:ext cx="1905000" cy="922733"/>
          </a:xfrm>
          <a:prstGeom prst="line">
            <a:avLst/>
          </a:prstGeom>
          <a:ln w="31750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--A"/>
          <p:cNvCxnSpPr>
            <a:stCxn id="14" idx="1"/>
            <a:endCxn id="12" idx="3"/>
          </p:cNvCxnSpPr>
          <p:nvPr/>
        </p:nvCxnSpPr>
        <p:spPr>
          <a:xfrm flipH="1">
            <a:off x="3357563" y="4161234"/>
            <a:ext cx="5476875" cy="0"/>
          </a:xfrm>
          <a:prstGeom prst="line">
            <a:avLst/>
          </a:prstGeom>
          <a:ln w="31750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mixed</a:t>
            </a:r>
          </a:p>
        </p:txBody>
      </p:sp>
      <p:sp>
        <p:nvSpPr>
          <p:cNvPr id="17" name="Validation (container)"/>
          <p:cNvSpPr/>
          <p:nvPr/>
        </p:nvSpPr>
        <p:spPr>
          <a:xfrm>
            <a:off x="4461954" y="1028700"/>
            <a:ext cx="3268092" cy="4359517"/>
          </a:xfrm>
          <a:prstGeom prst="rect">
            <a:avLst/>
          </a:prstGeom>
          <a:solidFill>
            <a:srgbClr val="E8E8E8">
              <a:alpha val="40000"/>
            </a:srgbClr>
          </a:solidFill>
          <a:ln w="9525">
            <a:solidFill>
              <a:srgbClr val="999999"/>
            </a:solidFill>
            <a:prstDash val="dash"/>
          </a:ln>
        </p:spPr>
      </p:sp>
      <p:sp>
        <p:nvSpPr>
          <p:cNvPr id="18" name="Validation"/>
          <p:cNvSpPr/>
          <p:nvPr/>
        </p:nvSpPr>
        <p:spPr>
          <a:xfrm>
            <a:off x="4461954" y="1028700"/>
            <a:ext cx="3268092" cy="185511"/>
          </a:xfrm>
          <a:prstGeom prst="rect">
            <a:avLst/>
          </a:prstGeom>
          <a:noFill/>
          <a:ln w="0">
            <a:noFill/>
          </a:ln>
        </p:spPr>
        <p:txBody>
          <a:bodyPr lIns="74205" tIns="37102" rIns="74205" bIns="37102" anchor="ctr" anchorCtr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Validation</a:t>
            </a:r>
          </a:p>
        </p:txBody>
      </p:sp>
      <p:sp>
        <p:nvSpPr>
          <p:cNvPr id="12" name="Requete" descr="A"/>
          <p:cNvSpPr/>
          <p:nvPr/>
        </p:nvSpPr>
        <p:spPr>
          <a:xfrm>
            <a:off x="5573476" y="1523397"/>
            <a:ext cx="1045047" cy="579723"/>
          </a:xfrm>
          <a:prstGeom prst="rect">
            <a:avLst/>
          </a:prstGeom>
          <a:solidFill>
            <a:srgbClr val="D9E2F3"/>
          </a:solidFill>
          <a:ln w="10306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4205" tIns="37102" rIns="74205" bIns="371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Requete</a:t>
            </a:r>
          </a:p>
        </p:txBody>
      </p:sp>
      <p:sp>
        <p:nvSpPr>
          <p:cNvPr id="13" name="OK?" descr="B"/>
          <p:cNvSpPr/>
          <p:nvPr/>
        </p:nvSpPr>
        <p:spPr>
          <a:xfrm>
            <a:off x="5477629" y="2721491"/>
            <a:ext cx="1236742" cy="1159446"/>
          </a:xfrm>
          <a:prstGeom prst="diamond">
            <a:avLst/>
          </a:prstGeom>
          <a:solidFill>
            <a:srgbClr val="D9E2F3"/>
          </a:solidFill>
          <a:ln w="10306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4205" tIns="37102" rIns="74205" bIns="371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OK?</a:t>
            </a:r>
          </a:p>
        </p:txBody>
      </p:sp>
      <p:sp>
        <p:nvSpPr>
          <p:cNvPr id="14" name="Traiter" descr="C"/>
          <p:cNvSpPr/>
          <p:nvPr/>
        </p:nvSpPr>
        <p:spPr>
          <a:xfrm>
            <a:off x="4819063" y="4499308"/>
            <a:ext cx="1045047" cy="579723"/>
          </a:xfrm>
          <a:prstGeom prst="rect">
            <a:avLst/>
          </a:prstGeom>
          <a:solidFill>
            <a:srgbClr val="A9D18E"/>
          </a:solidFill>
          <a:ln w="10306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4205" tIns="37102" rIns="74205" bIns="371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Traiter</a:t>
            </a:r>
          </a:p>
        </p:txBody>
      </p:sp>
      <p:sp>
        <p:nvSpPr>
          <p:cNvPr id="15" name="Rejeter" descr="D"/>
          <p:cNvSpPr/>
          <p:nvPr/>
        </p:nvSpPr>
        <p:spPr>
          <a:xfrm>
            <a:off x="6327889" y="4499308"/>
            <a:ext cx="1045047" cy="579723"/>
          </a:xfrm>
          <a:prstGeom prst="rect">
            <a:avLst/>
          </a:prstGeom>
          <a:solidFill>
            <a:srgbClr val="F4B183"/>
          </a:solidFill>
          <a:ln w="10306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4205" tIns="37102" rIns="74205" bIns="371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Rejeter</a:t>
            </a:r>
          </a:p>
        </p:txBody>
      </p:sp>
      <p:sp>
        <p:nvSpPr>
          <p:cNvPr id="16" name="Reponse" descr="E"/>
          <p:cNvSpPr/>
          <p:nvPr/>
        </p:nvSpPr>
        <p:spPr>
          <a:xfrm>
            <a:off x="5573476" y="5821077"/>
            <a:ext cx="1045047" cy="579723"/>
          </a:xfrm>
          <a:prstGeom prst="roundRect">
            <a:avLst/>
          </a:prstGeom>
          <a:solidFill>
            <a:srgbClr val="D9E2F3"/>
          </a:solidFill>
          <a:ln w="10306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4205" tIns="37102" rIns="74205" bIns="371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Reponse</a:t>
            </a:r>
          </a:p>
        </p:txBody>
      </p:sp>
      <p:cxnSp>
        <p:nvCxnSpPr>
          <p:cNvPr id="19" name="A--B"/>
          <p:cNvCxnSpPr>
            <a:stCxn id="12" idx="2"/>
            <a:endCxn id="13" idx="0"/>
          </p:cNvCxnSpPr>
          <p:nvPr/>
        </p:nvCxnSpPr>
        <p:spPr>
          <a:xfrm>
            <a:off x="6096000" y="2103120"/>
            <a:ext cx="0" cy="618371"/>
          </a:xfrm>
          <a:prstGeom prst="line">
            <a:avLst/>
          </a:prstGeom>
          <a:ln w="1030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B--C"/>
          <p:cNvCxnSpPr>
            <a:stCxn id="13" idx="2"/>
            <a:endCxn id="14" idx="0"/>
          </p:cNvCxnSpPr>
          <p:nvPr/>
        </p:nvCxnSpPr>
        <p:spPr>
          <a:xfrm flipH="1">
            <a:off x="5341587" y="3880937"/>
            <a:ext cx="754413" cy="618371"/>
          </a:xfrm>
          <a:prstGeom prst="line">
            <a:avLst/>
          </a:prstGeom>
          <a:ln w="1030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EdgeLabel"/>
          <p:cNvSpPr txBox="1"/>
          <p:nvPr/>
        </p:nvSpPr>
        <p:spPr>
          <a:xfrm>
            <a:off x="5523388" y="4097367"/>
            <a:ext cx="390811" cy="1855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30919" tIns="0" rIns="30919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000000"/>
                </a:solidFill>
              </a:rPr>
              <a:t>oui</a:t>
            </a:r>
          </a:p>
        </p:txBody>
      </p:sp>
      <p:cxnSp>
        <p:nvCxnSpPr>
          <p:cNvPr id="22" name="B--D"/>
          <p:cNvCxnSpPr>
            <a:stCxn id="13" idx="2"/>
            <a:endCxn id="15" idx="0"/>
          </p:cNvCxnSpPr>
          <p:nvPr/>
        </p:nvCxnSpPr>
        <p:spPr>
          <a:xfrm>
            <a:off x="6096000" y="3880937"/>
            <a:ext cx="754413" cy="618371"/>
          </a:xfrm>
          <a:prstGeom prst="line">
            <a:avLst/>
          </a:prstGeom>
          <a:ln w="1030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EdgeLabel"/>
          <p:cNvSpPr txBox="1"/>
          <p:nvPr/>
        </p:nvSpPr>
        <p:spPr>
          <a:xfrm>
            <a:off x="6277801" y="4097367"/>
            <a:ext cx="390811" cy="1855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30919" tIns="0" rIns="30919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000000"/>
                </a:solidFill>
              </a:rPr>
              <a:t>non</a:t>
            </a:r>
          </a:p>
        </p:txBody>
      </p:sp>
      <p:cxnSp>
        <p:nvCxnSpPr>
          <p:cNvPr id="24" name="C--E"/>
          <p:cNvCxnSpPr>
            <a:stCxn id="14" idx="2"/>
            <a:endCxn id="16" idx="0"/>
          </p:cNvCxnSpPr>
          <p:nvPr/>
        </p:nvCxnSpPr>
        <p:spPr>
          <a:xfrm>
            <a:off x="5341587" y="5079032"/>
            <a:ext cx="754413" cy="742045"/>
          </a:xfrm>
          <a:prstGeom prst="line">
            <a:avLst/>
          </a:prstGeom>
          <a:ln w="1030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D--E"/>
          <p:cNvCxnSpPr>
            <a:stCxn id="15" idx="2"/>
            <a:endCxn id="16" idx="0"/>
          </p:cNvCxnSpPr>
          <p:nvPr/>
        </p:nvCxnSpPr>
        <p:spPr>
          <a:xfrm flipH="1">
            <a:off x="6096000" y="5079032"/>
            <a:ext cx="754413" cy="742045"/>
          </a:xfrm>
          <a:prstGeom prst="line">
            <a:avLst/>
          </a:prstGeom>
          <a:ln w="1030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multiple-subgraphs</a:t>
            </a:r>
          </a:p>
        </p:txBody>
      </p:sp>
      <p:sp>
        <p:nvSpPr>
          <p:cNvPr id="20" name="Collecte des donnees (container)"/>
          <p:cNvSpPr/>
          <p:nvPr/>
        </p:nvSpPr>
        <p:spPr>
          <a:xfrm>
            <a:off x="457200" y="2544349"/>
            <a:ext cx="2492880" cy="2340803"/>
          </a:xfrm>
          <a:prstGeom prst="rect">
            <a:avLst/>
          </a:prstGeom>
          <a:solidFill>
            <a:srgbClr val="E8E8E8">
              <a:alpha val="40000"/>
            </a:srgbClr>
          </a:solidFill>
          <a:ln w="9525">
            <a:solidFill>
              <a:srgbClr val="999999"/>
            </a:solidFill>
            <a:prstDash val="dash"/>
          </a:ln>
        </p:spPr>
      </p:sp>
      <p:sp>
        <p:nvSpPr>
          <p:cNvPr id="21" name="Collecte des donnees"/>
          <p:cNvSpPr/>
          <p:nvPr/>
        </p:nvSpPr>
        <p:spPr>
          <a:xfrm>
            <a:off x="457200" y="2544349"/>
            <a:ext cx="2492880" cy="178915"/>
          </a:xfrm>
          <a:prstGeom prst="rect">
            <a:avLst/>
          </a:prstGeom>
          <a:noFill/>
          <a:ln w="0">
            <a:noFill/>
          </a:ln>
        </p:spPr>
        <p:txBody>
          <a:bodyPr lIns="71566" tIns="35783" rIns="71566" bIns="35783" anchor="ctr" anchorCtr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Collecte des donnees</a:t>
            </a:r>
          </a:p>
        </p:txBody>
      </p:sp>
      <p:sp>
        <p:nvSpPr>
          <p:cNvPr id="22" name="Traitement (container)"/>
          <p:cNvSpPr/>
          <p:nvPr/>
        </p:nvSpPr>
        <p:spPr>
          <a:xfrm>
            <a:off x="3546463" y="2684126"/>
            <a:ext cx="4598112" cy="1986700"/>
          </a:xfrm>
          <a:prstGeom prst="rect">
            <a:avLst/>
          </a:prstGeom>
          <a:solidFill>
            <a:srgbClr val="E8E8E8">
              <a:alpha val="40000"/>
            </a:srgbClr>
          </a:solidFill>
          <a:ln w="9525">
            <a:solidFill>
              <a:srgbClr val="999999"/>
            </a:solidFill>
            <a:prstDash val="dash"/>
          </a:ln>
        </p:spPr>
      </p:sp>
      <p:sp>
        <p:nvSpPr>
          <p:cNvPr id="23" name="Traitement"/>
          <p:cNvSpPr/>
          <p:nvPr/>
        </p:nvSpPr>
        <p:spPr>
          <a:xfrm>
            <a:off x="3546463" y="2684126"/>
            <a:ext cx="4598112" cy="178915"/>
          </a:xfrm>
          <a:prstGeom prst="rect">
            <a:avLst/>
          </a:prstGeom>
          <a:noFill/>
          <a:ln w="0">
            <a:noFill/>
          </a:ln>
        </p:spPr>
        <p:txBody>
          <a:bodyPr lIns="71566" tIns="35783" rIns="71566" bIns="35783" anchor="ctr" anchorCtr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Traitement</a:t>
            </a:r>
          </a:p>
        </p:txBody>
      </p:sp>
      <p:sp>
        <p:nvSpPr>
          <p:cNvPr id="24" name="Livraison (container)"/>
          <p:cNvSpPr/>
          <p:nvPr/>
        </p:nvSpPr>
        <p:spPr>
          <a:xfrm>
            <a:off x="8740958" y="3047547"/>
            <a:ext cx="2993842" cy="1334407"/>
          </a:xfrm>
          <a:prstGeom prst="rect">
            <a:avLst/>
          </a:prstGeom>
          <a:solidFill>
            <a:srgbClr val="E8E8E8">
              <a:alpha val="40000"/>
            </a:srgbClr>
          </a:solidFill>
          <a:ln w="9525">
            <a:solidFill>
              <a:srgbClr val="999999"/>
            </a:solidFill>
            <a:prstDash val="dash"/>
          </a:ln>
        </p:spPr>
      </p:sp>
      <p:sp>
        <p:nvSpPr>
          <p:cNvPr id="25" name="Livraison"/>
          <p:cNvSpPr/>
          <p:nvPr/>
        </p:nvSpPr>
        <p:spPr>
          <a:xfrm>
            <a:off x="8740958" y="3047547"/>
            <a:ext cx="2993842" cy="178915"/>
          </a:xfrm>
          <a:prstGeom prst="rect">
            <a:avLst/>
          </a:prstGeom>
          <a:noFill/>
          <a:ln w="0">
            <a:noFill/>
          </a:ln>
        </p:spPr>
        <p:txBody>
          <a:bodyPr lIns="71566" tIns="35783" rIns="71566" bIns="35783" anchor="ctr" anchorCtr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Livraison</a:t>
            </a:r>
          </a:p>
        </p:txBody>
      </p:sp>
      <p:sp>
        <p:nvSpPr>
          <p:cNvPr id="12" name="API" descr="A"/>
          <p:cNvSpPr/>
          <p:nvPr/>
        </p:nvSpPr>
        <p:spPr>
          <a:xfrm>
            <a:off x="755391" y="3524653"/>
            <a:ext cx="614274" cy="559109"/>
          </a:xfrm>
          <a:prstGeom prst="rect">
            <a:avLst/>
          </a:prstGeom>
          <a:solidFill>
            <a:srgbClr val="BBDEFB"/>
          </a:solidFill>
          <a:ln w="9940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1566" tIns="35783" rIns="71566" bIns="357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API</a:t>
            </a:r>
          </a:p>
        </p:txBody>
      </p:sp>
      <p:sp>
        <p:nvSpPr>
          <p:cNvPr id="13" name="Base" descr="B"/>
          <p:cNvSpPr/>
          <p:nvPr/>
        </p:nvSpPr>
        <p:spPr>
          <a:xfrm>
            <a:off x="1966049" y="3021455"/>
            <a:ext cx="685840" cy="559109"/>
          </a:xfrm>
          <a:prstGeom prst="rect">
            <a:avLst/>
          </a:prstGeom>
          <a:solidFill>
            <a:srgbClr val="C8E6C9"/>
          </a:solidFill>
          <a:ln w="9940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1566" tIns="35783" rIns="71566" bIns="357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Base</a:t>
            </a:r>
          </a:p>
        </p:txBody>
      </p:sp>
      <p:sp>
        <p:nvSpPr>
          <p:cNvPr id="14" name="Logs" descr="C"/>
          <p:cNvSpPr/>
          <p:nvPr/>
        </p:nvSpPr>
        <p:spPr>
          <a:xfrm>
            <a:off x="1966049" y="4027851"/>
            <a:ext cx="685840" cy="559109"/>
          </a:xfrm>
          <a:prstGeom prst="rect">
            <a:avLst/>
          </a:prstGeom>
          <a:solidFill>
            <a:srgbClr val="FFE0B2"/>
          </a:solidFill>
          <a:ln w="9940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1566" tIns="35783" rIns="71566" bIns="357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Logs</a:t>
            </a:r>
          </a:p>
        </p:txBody>
      </p:sp>
      <p:sp>
        <p:nvSpPr>
          <p:cNvPr id="15" name="Propre" descr="D"/>
          <p:cNvSpPr/>
          <p:nvPr/>
        </p:nvSpPr>
        <p:spPr>
          <a:xfrm>
            <a:off x="3844655" y="3524653"/>
            <a:ext cx="900538" cy="559109"/>
          </a:xfrm>
          <a:prstGeom prst="rect">
            <a:avLst/>
          </a:prstGeom>
          <a:solidFill>
            <a:srgbClr val="E1BEE7"/>
          </a:solidFill>
          <a:ln w="9940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1566" tIns="35783" rIns="71566" bIns="357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Propre</a:t>
            </a:r>
          </a:p>
        </p:txBody>
      </p:sp>
      <p:sp>
        <p:nvSpPr>
          <p:cNvPr id="16" name="Aggrege" descr="E"/>
          <p:cNvSpPr/>
          <p:nvPr/>
        </p:nvSpPr>
        <p:spPr>
          <a:xfrm>
            <a:off x="5341576" y="3524653"/>
            <a:ext cx="1007887" cy="559109"/>
          </a:xfrm>
          <a:prstGeom prst="rect">
            <a:avLst/>
          </a:prstGeom>
          <a:solidFill>
            <a:srgbClr val="FFCDD2"/>
          </a:solidFill>
          <a:ln w="9940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1566" tIns="35783" rIns="71566" bIns="357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Aggrege</a:t>
            </a:r>
          </a:p>
        </p:txBody>
      </p:sp>
      <p:sp>
        <p:nvSpPr>
          <p:cNvPr id="17" name="Stocke" descr="F"/>
          <p:cNvSpPr/>
          <p:nvPr/>
        </p:nvSpPr>
        <p:spPr>
          <a:xfrm>
            <a:off x="6945846" y="3524653"/>
            <a:ext cx="900538" cy="559109"/>
          </a:xfrm>
          <a:prstGeom prst="rect">
            <a:avLst/>
          </a:prstGeom>
          <a:solidFill>
            <a:srgbClr val="FFF9C4"/>
          </a:solidFill>
          <a:ln w="9940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1566" tIns="35783" rIns="71566" bIns="357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Stocke</a:t>
            </a:r>
          </a:p>
        </p:txBody>
      </p:sp>
      <p:sp>
        <p:nvSpPr>
          <p:cNvPr id="18" name="Rapport" descr="G"/>
          <p:cNvSpPr/>
          <p:nvPr/>
        </p:nvSpPr>
        <p:spPr>
          <a:xfrm>
            <a:off x="9039149" y="3524653"/>
            <a:ext cx="1007887" cy="559109"/>
          </a:xfrm>
          <a:prstGeom prst="rect">
            <a:avLst/>
          </a:prstGeom>
          <a:solidFill>
            <a:srgbClr val="BBDEFB"/>
          </a:solidFill>
          <a:ln w="9940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1566" tIns="35783" rIns="71566" bIns="357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Rapport</a:t>
            </a:r>
          </a:p>
        </p:txBody>
      </p:sp>
      <p:sp>
        <p:nvSpPr>
          <p:cNvPr id="19" name="Email" descr="H"/>
          <p:cNvSpPr/>
          <p:nvPr/>
        </p:nvSpPr>
        <p:spPr>
          <a:xfrm>
            <a:off x="10643419" y="3524653"/>
            <a:ext cx="793189" cy="559109"/>
          </a:xfrm>
          <a:prstGeom prst="rect">
            <a:avLst/>
          </a:prstGeom>
          <a:solidFill>
            <a:srgbClr val="C8E6C9"/>
          </a:solidFill>
          <a:ln w="9940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1566" tIns="35783" rIns="71566" bIns="357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Email</a:t>
            </a:r>
          </a:p>
        </p:txBody>
      </p:sp>
      <p:cxnSp>
        <p:nvCxnSpPr>
          <p:cNvPr id="26" name="A--B"/>
          <p:cNvCxnSpPr>
            <a:stCxn id="12" idx="3"/>
            <a:endCxn id="13" idx="1"/>
          </p:cNvCxnSpPr>
          <p:nvPr/>
        </p:nvCxnSpPr>
        <p:spPr>
          <a:xfrm flipV="1">
            <a:off x="1369666" y="3301010"/>
            <a:ext cx="596383" cy="503198"/>
          </a:xfrm>
          <a:prstGeom prst="line">
            <a:avLst/>
          </a:prstGeom>
          <a:ln w="9940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A--C"/>
          <p:cNvCxnSpPr>
            <a:stCxn id="12" idx="3"/>
            <a:endCxn id="14" idx="1"/>
          </p:cNvCxnSpPr>
          <p:nvPr/>
        </p:nvCxnSpPr>
        <p:spPr>
          <a:xfrm>
            <a:off x="1369666" y="3804208"/>
            <a:ext cx="596383" cy="503198"/>
          </a:xfrm>
          <a:prstGeom prst="line">
            <a:avLst/>
          </a:prstGeom>
          <a:ln w="9940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D--E"/>
          <p:cNvCxnSpPr>
            <a:stCxn id="15" idx="3"/>
            <a:endCxn id="16" idx="1"/>
          </p:cNvCxnSpPr>
          <p:nvPr/>
        </p:nvCxnSpPr>
        <p:spPr>
          <a:xfrm>
            <a:off x="4745193" y="3804208"/>
            <a:ext cx="596383" cy="0"/>
          </a:xfrm>
          <a:prstGeom prst="line">
            <a:avLst/>
          </a:prstGeom>
          <a:ln w="9940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E--F"/>
          <p:cNvCxnSpPr>
            <a:stCxn id="16" idx="3"/>
            <a:endCxn id="17" idx="1"/>
          </p:cNvCxnSpPr>
          <p:nvPr/>
        </p:nvCxnSpPr>
        <p:spPr>
          <a:xfrm>
            <a:off x="6349463" y="3804208"/>
            <a:ext cx="596383" cy="0"/>
          </a:xfrm>
          <a:prstGeom prst="line">
            <a:avLst/>
          </a:prstGeom>
          <a:ln w="9940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--H"/>
          <p:cNvCxnSpPr>
            <a:stCxn id="18" idx="3"/>
            <a:endCxn id="19" idx="1"/>
          </p:cNvCxnSpPr>
          <p:nvPr/>
        </p:nvCxnSpPr>
        <p:spPr>
          <a:xfrm>
            <a:off x="10047036" y="3804208"/>
            <a:ext cx="596383" cy="0"/>
          </a:xfrm>
          <a:prstGeom prst="line">
            <a:avLst/>
          </a:prstGeom>
          <a:ln w="9940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B--D"/>
          <p:cNvCxnSpPr>
            <a:stCxn id="13" idx="3"/>
            <a:endCxn id="15" idx="1"/>
          </p:cNvCxnSpPr>
          <p:nvPr/>
        </p:nvCxnSpPr>
        <p:spPr>
          <a:xfrm>
            <a:off x="2651889" y="3301010"/>
            <a:ext cx="1192766" cy="503198"/>
          </a:xfrm>
          <a:prstGeom prst="line">
            <a:avLst/>
          </a:prstGeom>
          <a:ln w="9940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--D"/>
          <p:cNvCxnSpPr>
            <a:stCxn id="14" idx="3"/>
            <a:endCxn id="15" idx="1"/>
          </p:cNvCxnSpPr>
          <p:nvPr/>
        </p:nvCxnSpPr>
        <p:spPr>
          <a:xfrm flipV="1">
            <a:off x="2651889" y="3804208"/>
            <a:ext cx="1192766" cy="503198"/>
          </a:xfrm>
          <a:prstGeom prst="line">
            <a:avLst/>
          </a:prstGeom>
          <a:ln w="9940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F--G"/>
          <p:cNvCxnSpPr>
            <a:stCxn id="17" idx="3"/>
            <a:endCxn id="18" idx="1"/>
          </p:cNvCxnSpPr>
          <p:nvPr/>
        </p:nvCxnSpPr>
        <p:spPr>
          <a:xfrm>
            <a:off x="7846384" y="3804208"/>
            <a:ext cx="1192765" cy="0"/>
          </a:xfrm>
          <a:prstGeom prst="line">
            <a:avLst/>
          </a:prstGeom>
          <a:ln w="9940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nested-3-levels</a:t>
            </a:r>
          </a:p>
        </p:txBody>
      </p:sp>
      <p:sp>
        <p:nvSpPr>
          <p:cNvPr id="19" name="Niveau 1 (container)"/>
          <p:cNvSpPr/>
          <p:nvPr/>
        </p:nvSpPr>
        <p:spPr>
          <a:xfrm>
            <a:off x="3472085" y="1028700"/>
            <a:ext cx="742170" cy="1441190"/>
          </a:xfrm>
          <a:prstGeom prst="rect">
            <a:avLst/>
          </a:prstGeom>
          <a:solidFill>
            <a:srgbClr val="E8E8E8">
              <a:alpha val="40000"/>
            </a:srgbClr>
          </a:solidFill>
          <a:ln w="9525">
            <a:solidFill>
              <a:srgbClr val="999999"/>
            </a:solidFill>
            <a:prstDash val="dash"/>
          </a:ln>
        </p:spPr>
      </p:sp>
      <p:sp>
        <p:nvSpPr>
          <p:cNvPr id="20" name="Niveau 1"/>
          <p:cNvSpPr/>
          <p:nvPr/>
        </p:nvSpPr>
        <p:spPr>
          <a:xfrm>
            <a:off x="3472085" y="1028700"/>
            <a:ext cx="742170" cy="103559"/>
          </a:xfrm>
          <a:prstGeom prst="rect">
            <a:avLst/>
          </a:prstGeom>
          <a:noFill/>
          <a:ln w="0">
            <a:noFill/>
          </a:ln>
        </p:spPr>
        <p:txBody>
          <a:bodyPr lIns="41423" tIns="20712" rIns="41423" bIns="20712" anchor="ctr" anchorCtr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Niveau 1</a:t>
            </a:r>
          </a:p>
        </p:txBody>
      </p:sp>
      <p:sp>
        <p:nvSpPr>
          <p:cNvPr id="21" name="Niveau 2 (container)"/>
          <p:cNvSpPr/>
          <p:nvPr/>
        </p:nvSpPr>
        <p:spPr>
          <a:xfrm>
            <a:off x="3409950" y="2815085"/>
            <a:ext cx="866440" cy="1441190"/>
          </a:xfrm>
          <a:prstGeom prst="rect">
            <a:avLst/>
          </a:prstGeom>
          <a:solidFill>
            <a:srgbClr val="E8E8E8">
              <a:alpha val="40000"/>
            </a:srgbClr>
          </a:solidFill>
          <a:ln w="9525">
            <a:solidFill>
              <a:srgbClr val="999999"/>
            </a:solidFill>
            <a:prstDash val="dash"/>
          </a:ln>
        </p:spPr>
      </p:sp>
      <p:sp>
        <p:nvSpPr>
          <p:cNvPr id="22" name="Niveau 2"/>
          <p:cNvSpPr/>
          <p:nvPr/>
        </p:nvSpPr>
        <p:spPr>
          <a:xfrm>
            <a:off x="3409950" y="2815085"/>
            <a:ext cx="866440" cy="103559"/>
          </a:xfrm>
          <a:prstGeom prst="rect">
            <a:avLst/>
          </a:prstGeom>
          <a:noFill/>
          <a:ln w="0">
            <a:noFill/>
          </a:ln>
        </p:spPr>
        <p:txBody>
          <a:bodyPr lIns="41423" tIns="20712" rIns="41423" bIns="20712" anchor="ctr" anchorCtr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Niveau 2</a:t>
            </a:r>
          </a:p>
        </p:txBody>
      </p:sp>
      <p:sp>
        <p:nvSpPr>
          <p:cNvPr id="23" name="Niveau 3 (container)"/>
          <p:cNvSpPr/>
          <p:nvPr/>
        </p:nvSpPr>
        <p:spPr>
          <a:xfrm>
            <a:off x="3472085" y="4601470"/>
            <a:ext cx="742170" cy="1441190"/>
          </a:xfrm>
          <a:prstGeom prst="rect">
            <a:avLst/>
          </a:prstGeom>
          <a:solidFill>
            <a:srgbClr val="E8E8E8">
              <a:alpha val="40000"/>
            </a:srgbClr>
          </a:solidFill>
          <a:ln w="9525">
            <a:solidFill>
              <a:srgbClr val="999999"/>
            </a:solidFill>
            <a:prstDash val="dash"/>
          </a:ln>
        </p:spPr>
      </p:sp>
      <p:sp>
        <p:nvSpPr>
          <p:cNvPr id="24" name="Niveau 3"/>
          <p:cNvSpPr/>
          <p:nvPr/>
        </p:nvSpPr>
        <p:spPr>
          <a:xfrm>
            <a:off x="3472085" y="4601470"/>
            <a:ext cx="742170" cy="103559"/>
          </a:xfrm>
          <a:prstGeom prst="rect">
            <a:avLst/>
          </a:prstGeom>
          <a:noFill/>
          <a:ln w="0">
            <a:noFill/>
          </a:ln>
        </p:spPr>
        <p:txBody>
          <a:bodyPr lIns="41423" tIns="20712" rIns="41423" bIns="20712" anchor="ctr" anchorCtr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Niveau 3</a:t>
            </a:r>
          </a:p>
        </p:txBody>
      </p:sp>
      <p:sp>
        <p:nvSpPr>
          <p:cNvPr id="12" name="Un" descr="A"/>
          <p:cNvSpPr/>
          <p:nvPr/>
        </p:nvSpPr>
        <p:spPr>
          <a:xfrm>
            <a:off x="3692147" y="1304856"/>
            <a:ext cx="302046" cy="323620"/>
          </a:xfrm>
          <a:prstGeom prst="rect">
            <a:avLst/>
          </a:prstGeom>
          <a:solidFill>
            <a:srgbClr val="C8E6C9"/>
          </a:solidFill>
          <a:ln w="5753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1423" tIns="20712" rIns="41423" bIns="207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Un</a:t>
            </a:r>
          </a:p>
        </p:txBody>
      </p:sp>
      <p:sp>
        <p:nvSpPr>
          <p:cNvPr id="13" name="Deux" descr="B"/>
          <p:cNvSpPr/>
          <p:nvPr/>
        </p:nvSpPr>
        <p:spPr>
          <a:xfrm>
            <a:off x="3644683" y="1973672"/>
            <a:ext cx="396974" cy="323620"/>
          </a:xfrm>
          <a:prstGeom prst="rect">
            <a:avLst/>
          </a:prstGeom>
          <a:solidFill>
            <a:srgbClr val="FFE0B2"/>
          </a:solidFill>
          <a:ln w="5753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1423" tIns="20712" rIns="41423" bIns="207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Deux</a:t>
            </a:r>
          </a:p>
        </p:txBody>
      </p:sp>
      <p:sp>
        <p:nvSpPr>
          <p:cNvPr id="14" name="Trois" descr="C"/>
          <p:cNvSpPr/>
          <p:nvPr/>
        </p:nvSpPr>
        <p:spPr>
          <a:xfrm>
            <a:off x="3613615" y="3091241"/>
            <a:ext cx="459110" cy="323620"/>
          </a:xfrm>
          <a:prstGeom prst="rect">
            <a:avLst/>
          </a:prstGeom>
          <a:solidFill>
            <a:srgbClr val="E1BEE7"/>
          </a:solidFill>
          <a:ln w="5753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1423" tIns="20712" rIns="41423" bIns="207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Trois</a:t>
            </a:r>
          </a:p>
        </p:txBody>
      </p:sp>
      <p:sp>
        <p:nvSpPr>
          <p:cNvPr id="15" name="Quatre" descr="D"/>
          <p:cNvSpPr/>
          <p:nvPr/>
        </p:nvSpPr>
        <p:spPr>
          <a:xfrm>
            <a:off x="3582548" y="3760057"/>
            <a:ext cx="521245" cy="323620"/>
          </a:xfrm>
          <a:prstGeom prst="rect">
            <a:avLst/>
          </a:prstGeom>
          <a:solidFill>
            <a:srgbClr val="FFCDD2"/>
          </a:solidFill>
          <a:ln w="5753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1423" tIns="20712" rIns="41423" bIns="207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Quatre</a:t>
            </a:r>
          </a:p>
        </p:txBody>
      </p:sp>
      <p:sp>
        <p:nvSpPr>
          <p:cNvPr id="16" name="Cinq" descr="E"/>
          <p:cNvSpPr/>
          <p:nvPr/>
        </p:nvSpPr>
        <p:spPr>
          <a:xfrm>
            <a:off x="3644683" y="4877626"/>
            <a:ext cx="396974" cy="323620"/>
          </a:xfrm>
          <a:prstGeom prst="rect">
            <a:avLst/>
          </a:prstGeom>
          <a:solidFill>
            <a:srgbClr val="FFF9C4"/>
          </a:solidFill>
          <a:ln w="5753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1423" tIns="20712" rIns="41423" bIns="207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Cinq</a:t>
            </a:r>
          </a:p>
        </p:txBody>
      </p:sp>
      <p:sp>
        <p:nvSpPr>
          <p:cNvPr id="17" name="Six" descr="F"/>
          <p:cNvSpPr/>
          <p:nvPr/>
        </p:nvSpPr>
        <p:spPr>
          <a:xfrm>
            <a:off x="3675750" y="5546442"/>
            <a:ext cx="334839" cy="323620"/>
          </a:xfrm>
          <a:prstGeom prst="rect">
            <a:avLst/>
          </a:prstGeom>
          <a:solidFill>
            <a:srgbClr val="BBDEFB"/>
          </a:solidFill>
          <a:ln w="5753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1423" tIns="20712" rIns="41423" bIns="207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Six</a:t>
            </a:r>
          </a:p>
        </p:txBody>
      </p:sp>
      <p:sp>
        <p:nvSpPr>
          <p:cNvPr id="18" name="Sept" descr="G"/>
          <p:cNvSpPr/>
          <p:nvPr/>
        </p:nvSpPr>
        <p:spPr>
          <a:xfrm>
            <a:off x="3644683" y="6077180"/>
            <a:ext cx="396974" cy="323620"/>
          </a:xfrm>
          <a:prstGeom prst="rect">
            <a:avLst/>
          </a:prstGeom>
          <a:solidFill>
            <a:srgbClr val="C8E6C9"/>
          </a:solidFill>
          <a:ln w="5753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1423" tIns="20712" rIns="41423" bIns="207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Sept</a:t>
            </a:r>
          </a:p>
        </p:txBody>
      </p:sp>
      <p:cxnSp>
        <p:nvCxnSpPr>
          <p:cNvPr id="25" name="A--B"/>
          <p:cNvCxnSpPr>
            <a:stCxn id="12" idx="2"/>
            <a:endCxn id="13" idx="0"/>
          </p:cNvCxnSpPr>
          <p:nvPr/>
        </p:nvCxnSpPr>
        <p:spPr>
          <a:xfrm>
            <a:off x="3843170" y="1628477"/>
            <a:ext cx="0" cy="345195"/>
          </a:xfrm>
          <a:prstGeom prst="line">
            <a:avLst/>
          </a:prstGeom>
          <a:ln w="575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--D"/>
          <p:cNvCxnSpPr>
            <a:stCxn id="14" idx="2"/>
            <a:endCxn id="15" idx="0"/>
          </p:cNvCxnSpPr>
          <p:nvPr/>
        </p:nvCxnSpPr>
        <p:spPr>
          <a:xfrm>
            <a:off x="3843170" y="3414862"/>
            <a:ext cx="0" cy="345195"/>
          </a:xfrm>
          <a:prstGeom prst="line">
            <a:avLst/>
          </a:prstGeom>
          <a:ln w="575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E--F"/>
          <p:cNvCxnSpPr>
            <a:stCxn id="16" idx="2"/>
            <a:endCxn id="17" idx="0"/>
          </p:cNvCxnSpPr>
          <p:nvPr/>
        </p:nvCxnSpPr>
        <p:spPr>
          <a:xfrm>
            <a:off x="3843170" y="5201247"/>
            <a:ext cx="0" cy="345195"/>
          </a:xfrm>
          <a:prstGeom prst="line">
            <a:avLst/>
          </a:prstGeom>
          <a:ln w="575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D--E"/>
          <p:cNvCxnSpPr>
            <a:stCxn id="15" idx="2"/>
            <a:endCxn id="16" idx="0"/>
          </p:cNvCxnSpPr>
          <p:nvPr/>
        </p:nvCxnSpPr>
        <p:spPr>
          <a:xfrm>
            <a:off x="3843170" y="4083677"/>
            <a:ext cx="0" cy="793949"/>
          </a:xfrm>
          <a:prstGeom prst="line">
            <a:avLst/>
          </a:prstGeom>
          <a:ln w="575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B--C"/>
          <p:cNvCxnSpPr>
            <a:stCxn id="13" idx="2"/>
            <a:endCxn id="14" idx="0"/>
          </p:cNvCxnSpPr>
          <p:nvPr/>
        </p:nvCxnSpPr>
        <p:spPr>
          <a:xfrm>
            <a:off x="3843170" y="2297292"/>
            <a:ext cx="0" cy="793949"/>
          </a:xfrm>
          <a:prstGeom prst="line">
            <a:avLst/>
          </a:prstGeom>
          <a:ln w="575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F--G"/>
          <p:cNvCxnSpPr>
            <a:stCxn id="17" idx="2"/>
            <a:endCxn id="18" idx="0"/>
          </p:cNvCxnSpPr>
          <p:nvPr/>
        </p:nvCxnSpPr>
        <p:spPr>
          <a:xfrm>
            <a:off x="3843170" y="5870062"/>
            <a:ext cx="0" cy="207118"/>
          </a:xfrm>
          <a:prstGeom prst="line">
            <a:avLst/>
          </a:prstGeom>
          <a:ln w="575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order-flow</a:t>
            </a:r>
          </a:p>
        </p:txBody>
      </p:sp>
      <p:sp>
        <p:nvSpPr>
          <p:cNvPr id="12" name="Commande recue" descr="A"/>
          <p:cNvSpPr/>
          <p:nvPr/>
        </p:nvSpPr>
        <p:spPr>
          <a:xfrm>
            <a:off x="3802997" y="1028700"/>
            <a:ext cx="508649" cy="357007"/>
          </a:xfrm>
          <a:prstGeom prst="rect">
            <a:avLst/>
          </a:prstGeom>
          <a:solidFill>
            <a:srgbClr val="FFE0B2"/>
          </a:solidFill>
          <a:ln w="4533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2641" tIns="16320" rIns="32641" bIns="163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000000"/>
                </a:solidFill>
              </a:rPr>
              <a:t>Commande recue</a:t>
            </a:r>
          </a:p>
        </p:txBody>
      </p:sp>
      <p:sp>
        <p:nvSpPr>
          <p:cNvPr id="13" name="Stock disponible?" descr="B"/>
          <p:cNvSpPr/>
          <p:nvPr/>
        </p:nvSpPr>
        <p:spPr>
          <a:xfrm>
            <a:off x="3409950" y="1657712"/>
            <a:ext cx="1294744" cy="714013"/>
          </a:xfrm>
          <a:prstGeom prst="diamond">
            <a:avLst/>
          </a:prstGeom>
          <a:solidFill>
            <a:srgbClr val="E1BEE7"/>
          </a:solidFill>
          <a:ln w="4533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2641" tIns="16320" rIns="32641" bIns="163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000000"/>
                </a:solidFill>
              </a:rPr>
              <a:t>Stock disponible?</a:t>
            </a:r>
          </a:p>
        </p:txBody>
      </p:sp>
      <p:sp>
        <p:nvSpPr>
          <p:cNvPr id="14" name="Reserver stock" descr="C"/>
          <p:cNvSpPr/>
          <p:nvPr/>
        </p:nvSpPr>
        <p:spPr>
          <a:xfrm>
            <a:off x="4320487" y="2643730"/>
            <a:ext cx="508649" cy="357007"/>
          </a:xfrm>
          <a:prstGeom prst="rect">
            <a:avLst/>
          </a:prstGeom>
          <a:solidFill>
            <a:srgbClr val="FFCDD2"/>
          </a:solidFill>
          <a:ln w="4533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2641" tIns="16320" rIns="32641" bIns="163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000000"/>
                </a:solidFill>
              </a:rPr>
              <a:t>Reserver stock</a:t>
            </a:r>
          </a:p>
        </p:txBody>
      </p:sp>
      <p:sp>
        <p:nvSpPr>
          <p:cNvPr id="15" name="Notifier rupture" descr="D"/>
          <p:cNvSpPr/>
          <p:nvPr/>
        </p:nvSpPr>
        <p:spPr>
          <a:xfrm>
            <a:off x="3505152" y="5516784"/>
            <a:ext cx="508649" cy="357007"/>
          </a:xfrm>
          <a:prstGeom prst="rect">
            <a:avLst/>
          </a:prstGeom>
          <a:solidFill>
            <a:srgbClr val="FFF9C4"/>
          </a:solidFill>
          <a:ln w="4533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2641" tIns="16320" rIns="32641" bIns="163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000000"/>
                </a:solidFill>
              </a:rPr>
              <a:t>Notifier rupture</a:t>
            </a:r>
          </a:p>
        </p:txBody>
      </p:sp>
      <p:sp>
        <p:nvSpPr>
          <p:cNvPr id="16" name="Preparer colis" descr="E"/>
          <p:cNvSpPr/>
          <p:nvPr/>
        </p:nvSpPr>
        <p:spPr>
          <a:xfrm>
            <a:off x="4320487" y="3272742"/>
            <a:ext cx="508649" cy="357007"/>
          </a:xfrm>
          <a:prstGeom prst="rect">
            <a:avLst/>
          </a:prstGeom>
          <a:solidFill>
            <a:srgbClr val="BBDEFB"/>
          </a:solidFill>
          <a:ln w="4533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2641" tIns="16320" rIns="32641" bIns="163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000000"/>
                </a:solidFill>
              </a:rPr>
              <a:t>Preparer colis</a:t>
            </a:r>
          </a:p>
        </p:txBody>
      </p:sp>
      <p:sp>
        <p:nvSpPr>
          <p:cNvPr id="17" name="Adresse valide?" descr="F"/>
          <p:cNvSpPr/>
          <p:nvPr/>
        </p:nvSpPr>
        <p:spPr>
          <a:xfrm>
            <a:off x="4115123" y="3901753"/>
            <a:ext cx="919377" cy="714013"/>
          </a:xfrm>
          <a:prstGeom prst="diamond">
            <a:avLst/>
          </a:prstGeom>
          <a:solidFill>
            <a:srgbClr val="C8E6C9"/>
          </a:solidFill>
          <a:ln w="4533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2641" tIns="16320" rIns="32641" bIns="163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000000"/>
                </a:solidFill>
              </a:rPr>
              <a:t>Adresse valide?</a:t>
            </a:r>
          </a:p>
        </p:txBody>
      </p:sp>
      <p:sp>
        <p:nvSpPr>
          <p:cNvPr id="18" name="Expedier" descr="G"/>
          <p:cNvSpPr/>
          <p:nvPr/>
        </p:nvSpPr>
        <p:spPr>
          <a:xfrm>
            <a:off x="4813496" y="4938773"/>
            <a:ext cx="508649" cy="255005"/>
          </a:xfrm>
          <a:prstGeom prst="rect">
            <a:avLst/>
          </a:prstGeom>
          <a:solidFill>
            <a:srgbClr val="FFE0B2"/>
          </a:solidFill>
          <a:ln w="4533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2641" tIns="16320" rIns="32641" bIns="163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000000"/>
                </a:solidFill>
              </a:rPr>
              <a:t>Expedier</a:t>
            </a:r>
          </a:p>
        </p:txBody>
      </p:sp>
      <p:sp>
        <p:nvSpPr>
          <p:cNvPr id="19" name="Corriger adresse" descr="H"/>
          <p:cNvSpPr/>
          <p:nvPr/>
        </p:nvSpPr>
        <p:spPr>
          <a:xfrm>
            <a:off x="4100843" y="4887772"/>
            <a:ext cx="508649" cy="357007"/>
          </a:xfrm>
          <a:prstGeom prst="rect">
            <a:avLst/>
          </a:prstGeom>
          <a:solidFill>
            <a:srgbClr val="E1BEE7"/>
          </a:solidFill>
          <a:ln w="4533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2641" tIns="16320" rIns="32641" bIns="163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000000"/>
                </a:solidFill>
              </a:rPr>
              <a:t>Corriger adresse</a:t>
            </a:r>
          </a:p>
        </p:txBody>
      </p:sp>
      <p:sp>
        <p:nvSpPr>
          <p:cNvPr id="20" name="Notifier client" descr="I"/>
          <p:cNvSpPr/>
          <p:nvPr/>
        </p:nvSpPr>
        <p:spPr>
          <a:xfrm>
            <a:off x="4813496" y="5516784"/>
            <a:ext cx="508649" cy="357007"/>
          </a:xfrm>
          <a:prstGeom prst="rect">
            <a:avLst/>
          </a:prstGeom>
          <a:solidFill>
            <a:srgbClr val="FFCDD2"/>
          </a:solidFill>
          <a:ln w="4533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2641" tIns="16320" rIns="32641" bIns="163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000000"/>
                </a:solidFill>
              </a:rPr>
              <a:t>Notifier client</a:t>
            </a:r>
          </a:p>
        </p:txBody>
      </p:sp>
      <p:sp>
        <p:nvSpPr>
          <p:cNvPr id="21" name="Fin" descr="J"/>
          <p:cNvSpPr/>
          <p:nvPr/>
        </p:nvSpPr>
        <p:spPr>
          <a:xfrm>
            <a:off x="4281726" y="6145795"/>
            <a:ext cx="263845" cy="255005"/>
          </a:xfrm>
          <a:prstGeom prst="rect">
            <a:avLst/>
          </a:prstGeom>
          <a:solidFill>
            <a:srgbClr val="FFF9C4"/>
          </a:solidFill>
          <a:ln w="4533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2641" tIns="16320" rIns="32641" bIns="163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000000"/>
                </a:solidFill>
              </a:rPr>
              <a:t>Fin</a:t>
            </a:r>
          </a:p>
        </p:txBody>
      </p:sp>
      <p:cxnSp>
        <p:nvCxnSpPr>
          <p:cNvPr id="22" name="A--B"/>
          <p:cNvCxnSpPr>
            <a:stCxn id="12" idx="2"/>
            <a:endCxn id="13" idx="0"/>
          </p:cNvCxnSpPr>
          <p:nvPr/>
        </p:nvCxnSpPr>
        <p:spPr>
          <a:xfrm>
            <a:off x="4057322" y="1385707"/>
            <a:ext cx="0" cy="272005"/>
          </a:xfrm>
          <a:prstGeom prst="line">
            <a:avLst/>
          </a:prstGeom>
          <a:ln w="453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B--C"/>
          <p:cNvCxnSpPr>
            <a:stCxn id="13" idx="2"/>
            <a:endCxn id="14" idx="0"/>
          </p:cNvCxnSpPr>
          <p:nvPr/>
        </p:nvCxnSpPr>
        <p:spPr>
          <a:xfrm>
            <a:off x="4057322" y="2371725"/>
            <a:ext cx="517490" cy="272005"/>
          </a:xfrm>
          <a:prstGeom prst="line">
            <a:avLst/>
          </a:prstGeom>
          <a:ln w="453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EdgeLabel"/>
          <p:cNvSpPr txBox="1"/>
          <p:nvPr/>
        </p:nvSpPr>
        <p:spPr>
          <a:xfrm>
            <a:off x="4230113" y="2466927"/>
            <a:ext cx="171907" cy="8160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13600" tIns="0" rIns="13600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000000"/>
                </a:solidFill>
              </a:rPr>
              <a:t>oui</a:t>
            </a:r>
          </a:p>
        </p:txBody>
      </p:sp>
      <p:cxnSp>
        <p:nvCxnSpPr>
          <p:cNvPr id="25" name="B--D"/>
          <p:cNvCxnSpPr>
            <a:stCxn id="13" idx="2"/>
            <a:endCxn id="15" idx="0"/>
          </p:cNvCxnSpPr>
          <p:nvPr/>
        </p:nvCxnSpPr>
        <p:spPr>
          <a:xfrm flipH="1">
            <a:off x="3759477" y="2371725"/>
            <a:ext cx="297845" cy="3145059"/>
          </a:xfrm>
          <a:prstGeom prst="line">
            <a:avLst/>
          </a:prstGeom>
          <a:ln w="453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EdgeLabel"/>
          <p:cNvSpPr txBox="1"/>
          <p:nvPr/>
        </p:nvSpPr>
        <p:spPr>
          <a:xfrm>
            <a:off x="3822446" y="3903453"/>
            <a:ext cx="171907" cy="8160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13600" tIns="0" rIns="13600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000000"/>
                </a:solidFill>
              </a:rPr>
              <a:t>non</a:t>
            </a:r>
          </a:p>
        </p:txBody>
      </p:sp>
      <p:cxnSp>
        <p:nvCxnSpPr>
          <p:cNvPr id="27" name="C--E"/>
          <p:cNvCxnSpPr>
            <a:stCxn id="14" idx="2"/>
            <a:endCxn id="16" idx="0"/>
          </p:cNvCxnSpPr>
          <p:nvPr/>
        </p:nvCxnSpPr>
        <p:spPr>
          <a:xfrm>
            <a:off x="4574812" y="3000737"/>
            <a:ext cx="0" cy="272005"/>
          </a:xfrm>
          <a:prstGeom prst="line">
            <a:avLst/>
          </a:prstGeom>
          <a:ln w="453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E--F"/>
          <p:cNvCxnSpPr>
            <a:stCxn id="16" idx="2"/>
            <a:endCxn id="17" idx="0"/>
          </p:cNvCxnSpPr>
          <p:nvPr/>
        </p:nvCxnSpPr>
        <p:spPr>
          <a:xfrm>
            <a:off x="4574812" y="3629748"/>
            <a:ext cx="0" cy="272005"/>
          </a:xfrm>
          <a:prstGeom prst="line">
            <a:avLst/>
          </a:prstGeom>
          <a:ln w="453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F--G"/>
          <p:cNvCxnSpPr>
            <a:stCxn id="17" idx="2"/>
            <a:endCxn id="18" idx="0"/>
          </p:cNvCxnSpPr>
          <p:nvPr/>
        </p:nvCxnSpPr>
        <p:spPr>
          <a:xfrm>
            <a:off x="4574812" y="4615767"/>
            <a:ext cx="493009" cy="323006"/>
          </a:xfrm>
          <a:prstGeom prst="line">
            <a:avLst/>
          </a:prstGeom>
          <a:ln w="453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EdgeLabel"/>
          <p:cNvSpPr txBox="1"/>
          <p:nvPr/>
        </p:nvSpPr>
        <p:spPr>
          <a:xfrm>
            <a:off x="4735363" y="4736469"/>
            <a:ext cx="171907" cy="8160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13600" tIns="0" rIns="13600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000000"/>
                </a:solidFill>
              </a:rPr>
              <a:t>oui</a:t>
            </a:r>
          </a:p>
        </p:txBody>
      </p:sp>
      <p:cxnSp>
        <p:nvCxnSpPr>
          <p:cNvPr id="31" name="F--H"/>
          <p:cNvCxnSpPr>
            <a:stCxn id="17" idx="2"/>
            <a:endCxn id="19" idx="0"/>
          </p:cNvCxnSpPr>
          <p:nvPr/>
        </p:nvCxnSpPr>
        <p:spPr>
          <a:xfrm flipH="1">
            <a:off x="4355168" y="4615767"/>
            <a:ext cx="219644" cy="272005"/>
          </a:xfrm>
          <a:prstGeom prst="line">
            <a:avLst/>
          </a:prstGeom>
          <a:ln w="453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EdgeLabel"/>
          <p:cNvSpPr txBox="1"/>
          <p:nvPr/>
        </p:nvSpPr>
        <p:spPr>
          <a:xfrm>
            <a:off x="4379036" y="4710968"/>
            <a:ext cx="171907" cy="8160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13600" tIns="0" rIns="13600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000000"/>
                </a:solidFill>
              </a:rPr>
              <a:t>non</a:t>
            </a:r>
          </a:p>
        </p:txBody>
      </p:sp>
      <p:cxnSp>
        <p:nvCxnSpPr>
          <p:cNvPr id="33" name="H--F"/>
          <p:cNvCxnSpPr>
            <a:stCxn id="19" idx="0"/>
            <a:endCxn id="17" idx="2"/>
          </p:cNvCxnSpPr>
          <p:nvPr/>
        </p:nvCxnSpPr>
        <p:spPr>
          <a:xfrm flipV="1">
            <a:off x="4355168" y="4615767"/>
            <a:ext cx="219644" cy="272005"/>
          </a:xfrm>
          <a:prstGeom prst="line">
            <a:avLst/>
          </a:prstGeom>
          <a:ln w="453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G--I"/>
          <p:cNvCxnSpPr>
            <a:stCxn id="18" idx="2"/>
            <a:endCxn id="20" idx="0"/>
          </p:cNvCxnSpPr>
          <p:nvPr/>
        </p:nvCxnSpPr>
        <p:spPr>
          <a:xfrm>
            <a:off x="5067821" y="5193778"/>
            <a:ext cx="0" cy="323006"/>
          </a:xfrm>
          <a:prstGeom prst="line">
            <a:avLst/>
          </a:prstGeom>
          <a:ln w="453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D--J"/>
          <p:cNvCxnSpPr>
            <a:stCxn id="15" idx="3"/>
            <a:endCxn id="21" idx="1"/>
          </p:cNvCxnSpPr>
          <p:nvPr/>
        </p:nvCxnSpPr>
        <p:spPr>
          <a:xfrm>
            <a:off x="4013801" y="5695287"/>
            <a:ext cx="267925" cy="578011"/>
          </a:xfrm>
          <a:prstGeom prst="line">
            <a:avLst/>
          </a:prstGeom>
          <a:ln w="453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I--J"/>
          <p:cNvCxnSpPr>
            <a:stCxn id="20" idx="1"/>
            <a:endCxn id="21" idx="3"/>
          </p:cNvCxnSpPr>
          <p:nvPr/>
        </p:nvCxnSpPr>
        <p:spPr>
          <a:xfrm flipH="1">
            <a:off x="4545571" y="5695287"/>
            <a:ext cx="267925" cy="578011"/>
          </a:xfrm>
          <a:prstGeom prst="line">
            <a:avLst/>
          </a:prstGeom>
          <a:ln w="453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packet</a:t>
            </a:r>
          </a:p>
        </p:txBody>
      </p:sp>
      <p:sp>
        <p:nvSpPr>
          <p:cNvPr id="11" name="Box 1"/>
          <p:cNvSpPr/>
          <p:nvPr/>
        </p:nvSpPr>
        <p:spPr>
          <a:xfrm>
            <a:off x="3145128" y="1142195"/>
            <a:ext cx="5901744" cy="3783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0" dirty="0">
                <a:solidFill>
                  <a:srgbClr val="000000"/>
                </a:solidFill>
              </a:rPr>
              <a:t>TCP Packet</a:t>
            </a:r>
          </a:p>
        </p:txBody>
      </p:sp>
      <p:sp>
        <p:nvSpPr>
          <p:cNvPr id="12" name="Box 2"/>
          <p:cNvSpPr/>
          <p:nvPr/>
        </p:nvSpPr>
        <p:spPr>
          <a:xfrm>
            <a:off x="3372118" y="1634007"/>
            <a:ext cx="2723882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0</a:t>
            </a:r>
          </a:p>
        </p:txBody>
      </p:sp>
      <p:sp>
        <p:nvSpPr>
          <p:cNvPr id="13" name="Box 3"/>
          <p:cNvSpPr/>
          <p:nvPr/>
        </p:nvSpPr>
        <p:spPr>
          <a:xfrm>
            <a:off x="3372118" y="1634007"/>
            <a:ext cx="2723882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15</a:t>
            </a:r>
          </a:p>
        </p:txBody>
      </p:sp>
      <p:sp>
        <p:nvSpPr>
          <p:cNvPr id="14" name="Box 4"/>
          <p:cNvSpPr/>
          <p:nvPr/>
        </p:nvSpPr>
        <p:spPr>
          <a:xfrm>
            <a:off x="3372118" y="1785334"/>
            <a:ext cx="2723882" cy="340485"/>
          </a:xfrm>
          <a:prstGeom prst="rect">
            <a:avLst/>
          </a:prstGeom>
          <a:solidFill>
            <a:srgbClr val="C7D5ED"/>
          </a:solidFill>
          <a:ln w="9458">
            <a:solidFill>
              <a:srgbClr val="7F7F7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Source Port</a:t>
            </a:r>
          </a:p>
        </p:txBody>
      </p:sp>
      <p:sp>
        <p:nvSpPr>
          <p:cNvPr id="15" name="Box 5"/>
          <p:cNvSpPr/>
          <p:nvPr/>
        </p:nvSpPr>
        <p:spPr>
          <a:xfrm>
            <a:off x="6096000" y="1634007"/>
            <a:ext cx="2723882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16</a:t>
            </a:r>
          </a:p>
        </p:txBody>
      </p:sp>
      <p:sp>
        <p:nvSpPr>
          <p:cNvPr id="16" name="Box 6"/>
          <p:cNvSpPr/>
          <p:nvPr/>
        </p:nvSpPr>
        <p:spPr>
          <a:xfrm>
            <a:off x="6096000" y="1634007"/>
            <a:ext cx="2723882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31</a:t>
            </a:r>
          </a:p>
        </p:txBody>
      </p:sp>
      <p:sp>
        <p:nvSpPr>
          <p:cNvPr id="17" name="Box 7"/>
          <p:cNvSpPr/>
          <p:nvPr/>
        </p:nvSpPr>
        <p:spPr>
          <a:xfrm>
            <a:off x="6096000" y="1785334"/>
            <a:ext cx="2723882" cy="340485"/>
          </a:xfrm>
          <a:prstGeom prst="rect">
            <a:avLst/>
          </a:prstGeom>
          <a:solidFill>
            <a:srgbClr val="FAD8C1"/>
          </a:solidFill>
          <a:ln w="9458">
            <a:solidFill>
              <a:srgbClr val="7F7F7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Destination Port</a:t>
            </a:r>
          </a:p>
        </p:txBody>
      </p:sp>
      <p:sp>
        <p:nvSpPr>
          <p:cNvPr id="18" name="Box 8"/>
          <p:cNvSpPr/>
          <p:nvPr/>
        </p:nvSpPr>
        <p:spPr>
          <a:xfrm>
            <a:off x="3372118" y="2201482"/>
            <a:ext cx="5447763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32</a:t>
            </a:r>
          </a:p>
        </p:txBody>
      </p:sp>
      <p:sp>
        <p:nvSpPr>
          <p:cNvPr id="19" name="Box 9"/>
          <p:cNvSpPr/>
          <p:nvPr/>
        </p:nvSpPr>
        <p:spPr>
          <a:xfrm>
            <a:off x="3372118" y="2201482"/>
            <a:ext cx="5447763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63</a:t>
            </a:r>
          </a:p>
        </p:txBody>
      </p:sp>
      <p:sp>
        <p:nvSpPr>
          <p:cNvPr id="20" name="Box 10"/>
          <p:cNvSpPr/>
          <p:nvPr/>
        </p:nvSpPr>
        <p:spPr>
          <a:xfrm>
            <a:off x="3372118" y="2352809"/>
            <a:ext cx="5447763" cy="340485"/>
          </a:xfrm>
          <a:prstGeom prst="rect">
            <a:avLst/>
          </a:prstGeom>
          <a:solidFill>
            <a:srgbClr val="D4E6C8"/>
          </a:solidFill>
          <a:ln w="9458">
            <a:solidFill>
              <a:srgbClr val="7F7F7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Sequence Number</a:t>
            </a:r>
          </a:p>
        </p:txBody>
      </p:sp>
      <p:sp>
        <p:nvSpPr>
          <p:cNvPr id="21" name="Box 11"/>
          <p:cNvSpPr/>
          <p:nvPr/>
        </p:nvSpPr>
        <p:spPr>
          <a:xfrm>
            <a:off x="3372118" y="2768958"/>
            <a:ext cx="5447763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64</a:t>
            </a:r>
          </a:p>
        </p:txBody>
      </p:sp>
      <p:sp>
        <p:nvSpPr>
          <p:cNvPr id="22" name="Box 12"/>
          <p:cNvSpPr/>
          <p:nvPr/>
        </p:nvSpPr>
        <p:spPr>
          <a:xfrm>
            <a:off x="3372118" y="2768958"/>
            <a:ext cx="5447763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95</a:t>
            </a:r>
          </a:p>
        </p:txBody>
      </p:sp>
      <p:sp>
        <p:nvSpPr>
          <p:cNvPr id="23" name="Box 13"/>
          <p:cNvSpPr/>
          <p:nvPr/>
        </p:nvSpPr>
        <p:spPr>
          <a:xfrm>
            <a:off x="3372118" y="2920285"/>
            <a:ext cx="5447763" cy="340485"/>
          </a:xfrm>
          <a:prstGeom prst="rect">
            <a:avLst/>
          </a:prstGeom>
          <a:solidFill>
            <a:srgbClr val="FFECB3"/>
          </a:solidFill>
          <a:ln w="9458">
            <a:solidFill>
              <a:srgbClr val="7F7F7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Acknowledgment Number</a:t>
            </a:r>
          </a:p>
        </p:txBody>
      </p:sp>
      <p:sp>
        <p:nvSpPr>
          <p:cNvPr id="24" name="Box 14"/>
          <p:cNvSpPr/>
          <p:nvPr/>
        </p:nvSpPr>
        <p:spPr>
          <a:xfrm>
            <a:off x="3372118" y="3336433"/>
            <a:ext cx="680970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96</a:t>
            </a:r>
          </a:p>
        </p:txBody>
      </p:sp>
      <p:sp>
        <p:nvSpPr>
          <p:cNvPr id="25" name="Box 15"/>
          <p:cNvSpPr/>
          <p:nvPr/>
        </p:nvSpPr>
        <p:spPr>
          <a:xfrm>
            <a:off x="3372118" y="3336433"/>
            <a:ext cx="680970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99</a:t>
            </a:r>
          </a:p>
        </p:txBody>
      </p:sp>
      <p:sp>
        <p:nvSpPr>
          <p:cNvPr id="26" name="Box 16"/>
          <p:cNvSpPr/>
          <p:nvPr/>
        </p:nvSpPr>
        <p:spPr>
          <a:xfrm>
            <a:off x="3372118" y="3487760"/>
            <a:ext cx="680970" cy="340485"/>
          </a:xfrm>
          <a:prstGeom prst="rect">
            <a:avLst/>
          </a:prstGeom>
          <a:solidFill>
            <a:srgbClr val="D4C1E3"/>
          </a:solidFill>
          <a:ln w="9458">
            <a:solidFill>
              <a:srgbClr val="7F7F7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Data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Offset</a:t>
            </a:r>
          </a:p>
        </p:txBody>
      </p:sp>
      <p:sp>
        <p:nvSpPr>
          <p:cNvPr id="27" name="Box 17"/>
          <p:cNvSpPr/>
          <p:nvPr/>
        </p:nvSpPr>
        <p:spPr>
          <a:xfrm>
            <a:off x="4053089" y="3336433"/>
            <a:ext cx="1021456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100</a:t>
            </a:r>
          </a:p>
        </p:txBody>
      </p:sp>
      <p:sp>
        <p:nvSpPr>
          <p:cNvPr id="28" name="Box 18"/>
          <p:cNvSpPr/>
          <p:nvPr/>
        </p:nvSpPr>
        <p:spPr>
          <a:xfrm>
            <a:off x="4053089" y="3336433"/>
            <a:ext cx="1021456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105</a:t>
            </a:r>
          </a:p>
        </p:txBody>
      </p:sp>
      <p:sp>
        <p:nvSpPr>
          <p:cNvPr id="29" name="Box 19"/>
          <p:cNvSpPr/>
          <p:nvPr/>
        </p:nvSpPr>
        <p:spPr>
          <a:xfrm>
            <a:off x="4053089" y="3487760"/>
            <a:ext cx="1021456" cy="340485"/>
          </a:xfrm>
          <a:prstGeom prst="rect">
            <a:avLst/>
          </a:prstGeom>
          <a:solidFill>
            <a:srgbClr val="CEE1F2"/>
          </a:solidFill>
          <a:ln w="9458">
            <a:solidFill>
              <a:srgbClr val="7F7F7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Reserved</a:t>
            </a:r>
          </a:p>
        </p:txBody>
      </p:sp>
      <p:sp>
        <p:nvSpPr>
          <p:cNvPr id="30" name="Box 20"/>
          <p:cNvSpPr/>
          <p:nvPr/>
        </p:nvSpPr>
        <p:spPr>
          <a:xfrm>
            <a:off x="5074544" y="3336433"/>
            <a:ext cx="240231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106</a:t>
            </a:r>
          </a:p>
        </p:txBody>
      </p:sp>
      <p:sp>
        <p:nvSpPr>
          <p:cNvPr id="31" name="Box 21"/>
          <p:cNvSpPr/>
          <p:nvPr/>
        </p:nvSpPr>
        <p:spPr>
          <a:xfrm>
            <a:off x="5074544" y="3487760"/>
            <a:ext cx="170243" cy="340485"/>
          </a:xfrm>
          <a:prstGeom prst="rect">
            <a:avLst/>
          </a:prstGeom>
          <a:solidFill>
            <a:srgbClr val="ECB3B3"/>
          </a:solidFill>
          <a:ln w="9458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URG</a:t>
            </a:r>
          </a:p>
        </p:txBody>
      </p:sp>
      <p:sp>
        <p:nvSpPr>
          <p:cNvPr id="32" name="Box 22"/>
          <p:cNvSpPr/>
          <p:nvPr/>
        </p:nvSpPr>
        <p:spPr>
          <a:xfrm>
            <a:off x="5244787" y="3336433"/>
            <a:ext cx="240231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107</a:t>
            </a:r>
          </a:p>
        </p:txBody>
      </p:sp>
      <p:sp>
        <p:nvSpPr>
          <p:cNvPr id="33" name="Box 23"/>
          <p:cNvSpPr/>
          <p:nvPr/>
        </p:nvSpPr>
        <p:spPr>
          <a:xfrm>
            <a:off x="5244787" y="3487760"/>
            <a:ext cx="170243" cy="340485"/>
          </a:xfrm>
          <a:prstGeom prst="rect">
            <a:avLst/>
          </a:prstGeom>
          <a:solidFill>
            <a:srgbClr val="C0DCDC"/>
          </a:solidFill>
          <a:ln w="9458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ACK</a:t>
            </a:r>
          </a:p>
        </p:txBody>
      </p:sp>
      <p:sp>
        <p:nvSpPr>
          <p:cNvPr id="34" name="Box 24"/>
          <p:cNvSpPr/>
          <p:nvPr/>
        </p:nvSpPr>
        <p:spPr>
          <a:xfrm>
            <a:off x="5415029" y="3336433"/>
            <a:ext cx="240231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108</a:t>
            </a:r>
          </a:p>
        </p:txBody>
      </p:sp>
      <p:sp>
        <p:nvSpPr>
          <p:cNvPr id="35" name="Box 25"/>
          <p:cNvSpPr/>
          <p:nvPr/>
        </p:nvSpPr>
        <p:spPr>
          <a:xfrm>
            <a:off x="5415029" y="3487760"/>
            <a:ext cx="170243" cy="340485"/>
          </a:xfrm>
          <a:prstGeom prst="rect">
            <a:avLst/>
          </a:prstGeom>
          <a:solidFill>
            <a:srgbClr val="C7D5ED"/>
          </a:solidFill>
          <a:ln w="9458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PSH</a:t>
            </a:r>
          </a:p>
        </p:txBody>
      </p:sp>
      <p:sp>
        <p:nvSpPr>
          <p:cNvPr id="36" name="Box 26"/>
          <p:cNvSpPr/>
          <p:nvPr/>
        </p:nvSpPr>
        <p:spPr>
          <a:xfrm>
            <a:off x="5585272" y="3336433"/>
            <a:ext cx="240231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109</a:t>
            </a:r>
          </a:p>
        </p:txBody>
      </p:sp>
      <p:sp>
        <p:nvSpPr>
          <p:cNvPr id="37" name="Box 27"/>
          <p:cNvSpPr/>
          <p:nvPr/>
        </p:nvSpPr>
        <p:spPr>
          <a:xfrm>
            <a:off x="5585272" y="3487760"/>
            <a:ext cx="170243" cy="340485"/>
          </a:xfrm>
          <a:prstGeom prst="rect">
            <a:avLst/>
          </a:prstGeom>
          <a:solidFill>
            <a:srgbClr val="FAD8C1"/>
          </a:solidFill>
          <a:ln w="9458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RST</a:t>
            </a:r>
          </a:p>
        </p:txBody>
      </p:sp>
      <p:sp>
        <p:nvSpPr>
          <p:cNvPr id="38" name="Box 28"/>
          <p:cNvSpPr/>
          <p:nvPr/>
        </p:nvSpPr>
        <p:spPr>
          <a:xfrm>
            <a:off x="5755515" y="3336433"/>
            <a:ext cx="240231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110</a:t>
            </a:r>
          </a:p>
        </p:txBody>
      </p:sp>
      <p:sp>
        <p:nvSpPr>
          <p:cNvPr id="39" name="Box 29"/>
          <p:cNvSpPr/>
          <p:nvPr/>
        </p:nvSpPr>
        <p:spPr>
          <a:xfrm>
            <a:off x="5755515" y="3487760"/>
            <a:ext cx="170243" cy="340485"/>
          </a:xfrm>
          <a:prstGeom prst="rect">
            <a:avLst/>
          </a:prstGeom>
          <a:solidFill>
            <a:srgbClr val="D4E6C8"/>
          </a:solidFill>
          <a:ln w="9458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SYN</a:t>
            </a:r>
          </a:p>
        </p:txBody>
      </p:sp>
      <p:sp>
        <p:nvSpPr>
          <p:cNvPr id="40" name="Box 30"/>
          <p:cNvSpPr/>
          <p:nvPr/>
        </p:nvSpPr>
        <p:spPr>
          <a:xfrm>
            <a:off x="5925757" y="3336433"/>
            <a:ext cx="240231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111</a:t>
            </a:r>
          </a:p>
        </p:txBody>
      </p:sp>
      <p:sp>
        <p:nvSpPr>
          <p:cNvPr id="41" name="Box 31"/>
          <p:cNvSpPr/>
          <p:nvPr/>
        </p:nvSpPr>
        <p:spPr>
          <a:xfrm>
            <a:off x="5925757" y="3487760"/>
            <a:ext cx="170243" cy="340485"/>
          </a:xfrm>
          <a:prstGeom prst="rect">
            <a:avLst/>
          </a:prstGeom>
          <a:solidFill>
            <a:srgbClr val="FFECB3"/>
          </a:solidFill>
          <a:ln w="9458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FIN</a:t>
            </a:r>
          </a:p>
        </p:txBody>
      </p:sp>
      <p:sp>
        <p:nvSpPr>
          <p:cNvPr id="42" name="Box 32"/>
          <p:cNvSpPr/>
          <p:nvPr/>
        </p:nvSpPr>
        <p:spPr>
          <a:xfrm>
            <a:off x="6096000" y="3336433"/>
            <a:ext cx="2723882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112</a:t>
            </a:r>
          </a:p>
        </p:txBody>
      </p:sp>
      <p:sp>
        <p:nvSpPr>
          <p:cNvPr id="43" name="Box 33"/>
          <p:cNvSpPr/>
          <p:nvPr/>
        </p:nvSpPr>
        <p:spPr>
          <a:xfrm>
            <a:off x="6096000" y="3336433"/>
            <a:ext cx="2723882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127</a:t>
            </a:r>
          </a:p>
        </p:txBody>
      </p:sp>
      <p:sp>
        <p:nvSpPr>
          <p:cNvPr id="44" name="Box 34"/>
          <p:cNvSpPr/>
          <p:nvPr/>
        </p:nvSpPr>
        <p:spPr>
          <a:xfrm>
            <a:off x="6096000" y="3487760"/>
            <a:ext cx="2723882" cy="340485"/>
          </a:xfrm>
          <a:prstGeom prst="rect">
            <a:avLst/>
          </a:prstGeom>
          <a:solidFill>
            <a:srgbClr val="D4C1E3"/>
          </a:solidFill>
          <a:ln w="9458">
            <a:solidFill>
              <a:srgbClr val="7F7F7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Window</a:t>
            </a:r>
          </a:p>
        </p:txBody>
      </p:sp>
      <p:sp>
        <p:nvSpPr>
          <p:cNvPr id="45" name="Box 35"/>
          <p:cNvSpPr/>
          <p:nvPr/>
        </p:nvSpPr>
        <p:spPr>
          <a:xfrm>
            <a:off x="3372118" y="3903908"/>
            <a:ext cx="2723882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128</a:t>
            </a:r>
          </a:p>
        </p:txBody>
      </p:sp>
      <p:sp>
        <p:nvSpPr>
          <p:cNvPr id="46" name="Box 36"/>
          <p:cNvSpPr/>
          <p:nvPr/>
        </p:nvSpPr>
        <p:spPr>
          <a:xfrm>
            <a:off x="3372118" y="3903908"/>
            <a:ext cx="2723882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143</a:t>
            </a:r>
          </a:p>
        </p:txBody>
      </p:sp>
      <p:sp>
        <p:nvSpPr>
          <p:cNvPr id="47" name="Box 37"/>
          <p:cNvSpPr/>
          <p:nvPr/>
        </p:nvSpPr>
        <p:spPr>
          <a:xfrm>
            <a:off x="3372118" y="4055235"/>
            <a:ext cx="2723882" cy="340485"/>
          </a:xfrm>
          <a:prstGeom prst="rect">
            <a:avLst/>
          </a:prstGeom>
          <a:solidFill>
            <a:srgbClr val="CEE1F2"/>
          </a:solidFill>
          <a:ln w="9458">
            <a:solidFill>
              <a:srgbClr val="7F7F7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Checksum</a:t>
            </a:r>
          </a:p>
        </p:txBody>
      </p:sp>
      <p:sp>
        <p:nvSpPr>
          <p:cNvPr id="48" name="Box 38"/>
          <p:cNvSpPr/>
          <p:nvPr/>
        </p:nvSpPr>
        <p:spPr>
          <a:xfrm>
            <a:off x="6096000" y="3903908"/>
            <a:ext cx="2723882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144</a:t>
            </a:r>
          </a:p>
        </p:txBody>
      </p:sp>
      <p:sp>
        <p:nvSpPr>
          <p:cNvPr id="49" name="Box 39"/>
          <p:cNvSpPr/>
          <p:nvPr/>
        </p:nvSpPr>
        <p:spPr>
          <a:xfrm>
            <a:off x="6096000" y="3903908"/>
            <a:ext cx="2723882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159</a:t>
            </a:r>
          </a:p>
        </p:txBody>
      </p:sp>
      <p:sp>
        <p:nvSpPr>
          <p:cNvPr id="50" name="Box 40"/>
          <p:cNvSpPr/>
          <p:nvPr/>
        </p:nvSpPr>
        <p:spPr>
          <a:xfrm>
            <a:off x="6096000" y="4055235"/>
            <a:ext cx="2723882" cy="340485"/>
          </a:xfrm>
          <a:prstGeom prst="rect">
            <a:avLst/>
          </a:prstGeom>
          <a:solidFill>
            <a:srgbClr val="ECB3B3"/>
          </a:solidFill>
          <a:ln w="9458">
            <a:solidFill>
              <a:srgbClr val="7F7F7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Urgent Pointer</a:t>
            </a:r>
          </a:p>
        </p:txBody>
      </p:sp>
      <p:sp>
        <p:nvSpPr>
          <p:cNvPr id="51" name="Box 41"/>
          <p:cNvSpPr/>
          <p:nvPr/>
        </p:nvSpPr>
        <p:spPr>
          <a:xfrm>
            <a:off x="3372118" y="4471384"/>
            <a:ext cx="5447763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160</a:t>
            </a:r>
          </a:p>
        </p:txBody>
      </p:sp>
      <p:sp>
        <p:nvSpPr>
          <p:cNvPr id="52" name="Box 42"/>
          <p:cNvSpPr/>
          <p:nvPr/>
        </p:nvSpPr>
        <p:spPr>
          <a:xfrm>
            <a:off x="3372118" y="4471384"/>
            <a:ext cx="5447763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191</a:t>
            </a:r>
          </a:p>
        </p:txBody>
      </p:sp>
      <p:sp>
        <p:nvSpPr>
          <p:cNvPr id="53" name="Box 43"/>
          <p:cNvSpPr/>
          <p:nvPr/>
        </p:nvSpPr>
        <p:spPr>
          <a:xfrm>
            <a:off x="3372118" y="4622711"/>
            <a:ext cx="5447763" cy="340485"/>
          </a:xfrm>
          <a:prstGeom prst="rect">
            <a:avLst/>
          </a:prstGeom>
          <a:solidFill>
            <a:srgbClr val="C0DCDC"/>
          </a:solidFill>
          <a:ln w="9458">
            <a:solidFill>
              <a:srgbClr val="7F7F7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(Options and Padding)</a:t>
            </a:r>
          </a:p>
        </p:txBody>
      </p:sp>
      <p:sp>
        <p:nvSpPr>
          <p:cNvPr id="54" name="Box 44"/>
          <p:cNvSpPr/>
          <p:nvPr/>
        </p:nvSpPr>
        <p:spPr>
          <a:xfrm>
            <a:off x="3372118" y="5038859"/>
            <a:ext cx="5447763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192</a:t>
            </a:r>
          </a:p>
        </p:txBody>
      </p:sp>
      <p:sp>
        <p:nvSpPr>
          <p:cNvPr id="55" name="Box 45"/>
          <p:cNvSpPr/>
          <p:nvPr/>
        </p:nvSpPr>
        <p:spPr>
          <a:xfrm>
            <a:off x="3372118" y="5038859"/>
            <a:ext cx="5447763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223</a:t>
            </a:r>
          </a:p>
        </p:txBody>
      </p:sp>
      <p:sp>
        <p:nvSpPr>
          <p:cNvPr id="56" name="Box 46"/>
          <p:cNvSpPr/>
          <p:nvPr/>
        </p:nvSpPr>
        <p:spPr>
          <a:xfrm>
            <a:off x="3372118" y="5190186"/>
            <a:ext cx="5447763" cy="340485"/>
          </a:xfrm>
          <a:prstGeom prst="rect">
            <a:avLst/>
          </a:prstGeom>
          <a:solidFill>
            <a:srgbClr val="C7D5ED"/>
          </a:solidFill>
          <a:ln w="9458">
            <a:solidFill>
              <a:srgbClr val="7F7F7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Data (variable length)</a:t>
            </a:r>
          </a:p>
        </p:txBody>
      </p:sp>
      <p:sp>
        <p:nvSpPr>
          <p:cNvPr id="57" name="Box 47"/>
          <p:cNvSpPr/>
          <p:nvPr/>
        </p:nvSpPr>
        <p:spPr>
          <a:xfrm>
            <a:off x="3372118" y="5606335"/>
            <a:ext cx="5447763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224</a:t>
            </a:r>
          </a:p>
        </p:txBody>
      </p:sp>
      <p:sp>
        <p:nvSpPr>
          <p:cNvPr id="58" name="Box 48"/>
          <p:cNvSpPr/>
          <p:nvPr/>
        </p:nvSpPr>
        <p:spPr>
          <a:xfrm>
            <a:off x="3372118" y="5606335"/>
            <a:ext cx="5447763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255</a:t>
            </a:r>
          </a:p>
        </p:txBody>
      </p:sp>
      <p:sp>
        <p:nvSpPr>
          <p:cNvPr id="59" name="Box 49"/>
          <p:cNvSpPr/>
          <p:nvPr/>
        </p:nvSpPr>
        <p:spPr>
          <a:xfrm>
            <a:off x="3372118" y="5757661"/>
            <a:ext cx="5447763" cy="340485"/>
          </a:xfrm>
          <a:prstGeom prst="rect">
            <a:avLst/>
          </a:prstGeom>
          <a:solidFill>
            <a:srgbClr val="C7D5ED"/>
          </a:solidFill>
          <a:ln w="9458">
            <a:solidFill>
              <a:srgbClr val="7F7F7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Data (variable length)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pie</a:t>
            </a:r>
          </a:p>
        </p:txBody>
      </p:sp>
      <p:sp>
        <p:nvSpPr>
          <p:cNvPr id="11" name="Text 1"/>
          <p:cNvSpPr txBox="1"/>
          <p:nvPr/>
        </p:nvSpPr>
        <p:spPr>
          <a:xfrm>
            <a:off x="2300425" y="1028700"/>
            <a:ext cx="7591150" cy="7845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954" dirty="0">
                <a:solidFill>
                  <a:srgbClr val="000000"/>
                </a:solidFill>
              </a:rPr>
              <a:t>Key elements in Product X</a:t>
            </a:r>
          </a:p>
        </p:txBody>
      </p:sp>
      <p:sp>
        <p:nvSpPr>
          <p:cNvPr id="12" name="Slice 2"/>
          <p:cNvSpPr/>
          <p:nvPr/>
        </p:nvSpPr>
        <p:spPr>
          <a:xfrm>
            <a:off x="2699344" y="2012699"/>
            <a:ext cx="3989183" cy="3989183"/>
          </a:xfrm>
          <a:prstGeom prst="pie">
            <a:avLst>
              <a:gd name="adj1" fmla="val 16200000"/>
              <a:gd name="adj2" fmla="val 3190409"/>
            </a:avLst>
          </a:prstGeom>
          <a:solidFill>
            <a:srgbClr val="4472C4"/>
          </a:solidFill>
          <a:ln w="26595">
            <a:solidFill>
              <a:srgbClr val="FFFFFF"/>
            </a:solidFill>
          </a:ln>
        </p:spPr>
      </p:sp>
      <p:sp>
        <p:nvSpPr>
          <p:cNvPr id="14" name="Slice 4"/>
          <p:cNvSpPr/>
          <p:nvPr/>
        </p:nvSpPr>
        <p:spPr>
          <a:xfrm>
            <a:off x="2699344" y="2012699"/>
            <a:ext cx="3989183" cy="3989183"/>
          </a:xfrm>
          <a:prstGeom prst="pie">
            <a:avLst>
              <a:gd name="adj1" fmla="val 3190409"/>
              <a:gd name="adj2" fmla="val 13198556"/>
            </a:avLst>
          </a:prstGeom>
          <a:solidFill>
            <a:srgbClr val="ED7D31"/>
          </a:solidFill>
          <a:ln w="26595">
            <a:solidFill>
              <a:srgbClr val="FFFFFF"/>
            </a:solidFill>
          </a:ln>
        </p:spPr>
      </p:sp>
      <p:sp>
        <p:nvSpPr>
          <p:cNvPr id="16" name="Slice 6"/>
          <p:cNvSpPr/>
          <p:nvPr/>
        </p:nvSpPr>
        <p:spPr>
          <a:xfrm>
            <a:off x="2699344" y="2012699"/>
            <a:ext cx="3989183" cy="3989183"/>
          </a:xfrm>
          <a:prstGeom prst="pie">
            <a:avLst>
              <a:gd name="adj1" fmla="val 13198556"/>
              <a:gd name="adj2" fmla="val 15200185"/>
            </a:avLst>
          </a:prstGeom>
          <a:solidFill>
            <a:srgbClr val="A5A5A5"/>
          </a:solidFill>
          <a:ln w="26595">
            <a:solidFill>
              <a:srgbClr val="FFFFFF"/>
            </a:solidFill>
          </a:ln>
        </p:spPr>
      </p:sp>
      <p:sp>
        <p:nvSpPr>
          <p:cNvPr id="18" name="Slice 8"/>
          <p:cNvSpPr/>
          <p:nvPr/>
        </p:nvSpPr>
        <p:spPr>
          <a:xfrm>
            <a:off x="2699344" y="2012699"/>
            <a:ext cx="3989183" cy="3989183"/>
          </a:xfrm>
          <a:prstGeom prst="pie">
            <a:avLst>
              <a:gd name="adj1" fmla="val 15200185"/>
              <a:gd name="adj2" fmla="val 16200000"/>
            </a:avLst>
          </a:prstGeom>
          <a:solidFill>
            <a:srgbClr val="FFC000"/>
          </a:solidFill>
          <a:ln w="26595">
            <a:solidFill>
              <a:srgbClr val="FFFFFF"/>
            </a:solidFill>
          </a:ln>
        </p:spPr>
      </p:sp>
      <p:sp>
        <p:nvSpPr>
          <p:cNvPr id="13" name="Text 3"/>
          <p:cNvSpPr txBox="1"/>
          <p:nvPr/>
        </p:nvSpPr>
        <p:spPr>
          <a:xfrm>
            <a:off x="5780859" y="3415093"/>
            <a:ext cx="664864" cy="2393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87" dirty="0">
                <a:solidFill>
                  <a:srgbClr val="000000"/>
                </a:solidFill>
              </a:rPr>
              <a:t>40%</a:t>
            </a:r>
          </a:p>
        </p:txBody>
      </p:sp>
      <p:sp>
        <p:nvSpPr>
          <p:cNvPr id="15" name="Text 5"/>
          <p:cNvSpPr txBox="1"/>
          <p:nvPr/>
        </p:nvSpPr>
        <p:spPr>
          <a:xfrm>
            <a:off x="3275042" y="4915939"/>
            <a:ext cx="664864" cy="2393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87" dirty="0">
                <a:solidFill>
                  <a:srgbClr val="000000"/>
                </a:solidFill>
              </a:rPr>
              <a:t>46%</a:t>
            </a:r>
          </a:p>
        </p:txBody>
      </p:sp>
      <p:sp>
        <p:nvSpPr>
          <p:cNvPr id="17" name="Text 7"/>
          <p:cNvSpPr txBox="1"/>
          <p:nvPr/>
        </p:nvSpPr>
        <p:spPr>
          <a:xfrm>
            <a:off x="3539240" y="2637922"/>
            <a:ext cx="664864" cy="2393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87" dirty="0">
                <a:solidFill>
                  <a:srgbClr val="000000"/>
                </a:solidFill>
              </a:rPr>
              <a:t>9%</a:t>
            </a:r>
          </a:p>
        </p:txBody>
      </p:sp>
      <p:sp>
        <p:nvSpPr>
          <p:cNvPr id="19" name="Text 9"/>
          <p:cNvSpPr txBox="1"/>
          <p:nvPr/>
        </p:nvSpPr>
        <p:spPr>
          <a:xfrm>
            <a:off x="4144733" y="2407459"/>
            <a:ext cx="664864" cy="2393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87" dirty="0">
                <a:solidFill>
                  <a:srgbClr val="000000"/>
                </a:solidFill>
              </a:rPr>
              <a:t>5%</a:t>
            </a:r>
          </a:p>
        </p:txBody>
      </p:sp>
      <p:sp>
        <p:nvSpPr>
          <p:cNvPr id="20" name="Legend 10"/>
          <p:cNvSpPr/>
          <p:nvPr/>
        </p:nvSpPr>
        <p:spPr>
          <a:xfrm>
            <a:off x="7220418" y="3382318"/>
            <a:ext cx="212756" cy="212756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21" name="Text 11"/>
          <p:cNvSpPr txBox="1"/>
          <p:nvPr/>
        </p:nvSpPr>
        <p:spPr>
          <a:xfrm>
            <a:off x="7539552" y="3315832"/>
            <a:ext cx="1953104" cy="345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396" dirty="0">
                <a:solidFill>
                  <a:srgbClr val="000000"/>
                </a:solidFill>
              </a:rPr>
              <a:t>Calcium [42.96]</a:t>
            </a:r>
          </a:p>
        </p:txBody>
      </p:sp>
      <p:sp>
        <p:nvSpPr>
          <p:cNvPr id="22" name="Legend 12"/>
          <p:cNvSpPr/>
          <p:nvPr/>
        </p:nvSpPr>
        <p:spPr>
          <a:xfrm>
            <a:off x="7220418" y="3728047"/>
            <a:ext cx="212756" cy="21275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23" name="Text 13"/>
          <p:cNvSpPr txBox="1"/>
          <p:nvPr/>
        </p:nvSpPr>
        <p:spPr>
          <a:xfrm>
            <a:off x="7539552" y="3661561"/>
            <a:ext cx="1953104" cy="345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396" dirty="0">
                <a:solidFill>
                  <a:srgbClr val="000000"/>
                </a:solidFill>
              </a:rPr>
              <a:t>Potassium [50.05]</a:t>
            </a:r>
          </a:p>
        </p:txBody>
      </p:sp>
      <p:sp>
        <p:nvSpPr>
          <p:cNvPr id="24" name="Legend 14"/>
          <p:cNvSpPr/>
          <p:nvPr/>
        </p:nvSpPr>
        <p:spPr>
          <a:xfrm>
            <a:off x="7220418" y="4073776"/>
            <a:ext cx="212756" cy="212756"/>
          </a:xfrm>
          <a:prstGeom prst="rect">
            <a:avLst/>
          </a:prstGeom>
          <a:solidFill>
            <a:srgbClr val="A5A5A5"/>
          </a:solidFill>
          <a:ln>
            <a:noFill/>
          </a:ln>
        </p:spPr>
      </p:sp>
      <p:sp>
        <p:nvSpPr>
          <p:cNvPr id="25" name="Text 15"/>
          <p:cNvSpPr txBox="1"/>
          <p:nvPr/>
        </p:nvSpPr>
        <p:spPr>
          <a:xfrm>
            <a:off x="7539552" y="4007290"/>
            <a:ext cx="1953104" cy="345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396" dirty="0">
                <a:solidFill>
                  <a:srgbClr val="000000"/>
                </a:solidFill>
              </a:rPr>
              <a:t>Magnesium [10.01]</a:t>
            </a:r>
          </a:p>
        </p:txBody>
      </p:sp>
      <p:sp>
        <p:nvSpPr>
          <p:cNvPr id="26" name="Legend 16"/>
          <p:cNvSpPr/>
          <p:nvPr/>
        </p:nvSpPr>
        <p:spPr>
          <a:xfrm>
            <a:off x="7220418" y="4419506"/>
            <a:ext cx="212756" cy="212756"/>
          </a:xfrm>
          <a:prstGeom prst="rect">
            <a:avLst/>
          </a:prstGeom>
          <a:solidFill>
            <a:srgbClr val="FFC000"/>
          </a:solidFill>
          <a:ln>
            <a:noFill/>
          </a:ln>
        </p:spPr>
      </p:sp>
      <p:sp>
        <p:nvSpPr>
          <p:cNvPr id="27" name="Text 17"/>
          <p:cNvSpPr txBox="1"/>
          <p:nvPr/>
        </p:nvSpPr>
        <p:spPr>
          <a:xfrm>
            <a:off x="7539552" y="4353019"/>
            <a:ext cx="1953104" cy="345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396" dirty="0">
                <a:solidFill>
                  <a:srgbClr val="000000"/>
                </a:solidFill>
              </a:rPr>
              <a:t>Iron [5]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quadrant</a:t>
            </a:r>
          </a:p>
        </p:txBody>
      </p:sp>
      <p:sp>
        <p:nvSpPr>
          <p:cNvPr id="11" name="Text 1"/>
          <p:cNvSpPr txBox="1"/>
          <p:nvPr/>
        </p:nvSpPr>
        <p:spPr>
          <a:xfrm>
            <a:off x="3147897" y="1028700"/>
            <a:ext cx="5896207" cy="41179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400" dirty="0">
                <a:solidFill>
                  <a:srgbClr val="000000"/>
                </a:solidFill>
              </a:rPr>
              <a:t>Reach and engagement of campaigns</a:t>
            </a:r>
          </a:p>
        </p:txBody>
      </p:sp>
      <p:sp>
        <p:nvSpPr>
          <p:cNvPr id="12" name="Shape 2"/>
          <p:cNvSpPr/>
          <p:nvPr/>
        </p:nvSpPr>
        <p:spPr>
          <a:xfrm>
            <a:off x="6610749" y="1440499"/>
            <a:ext cx="2246174" cy="2246174"/>
          </a:xfrm>
          <a:prstGeom prst="rect">
            <a:avLst/>
          </a:prstGeom>
          <a:solidFill>
            <a:srgbClr val="D9E2F3"/>
          </a:solidFill>
          <a:ln w="9525">
            <a:solidFill>
              <a:srgbClr val="BFBFBF"/>
            </a:solidFill>
          </a:ln>
        </p:spPr>
      </p:sp>
      <p:sp>
        <p:nvSpPr>
          <p:cNvPr id="13" name="Text 3"/>
          <p:cNvSpPr txBox="1"/>
          <p:nvPr/>
        </p:nvSpPr>
        <p:spPr>
          <a:xfrm>
            <a:off x="6666903" y="1477935"/>
            <a:ext cx="2133866" cy="1871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i="1" sz="900" dirty="0">
                <a:solidFill>
                  <a:srgbClr val="595959"/>
                </a:solidFill>
              </a:rPr>
              <a:t>We should expand</a:t>
            </a:r>
          </a:p>
        </p:txBody>
      </p:sp>
      <p:sp>
        <p:nvSpPr>
          <p:cNvPr id="14" name="Shape 4"/>
          <p:cNvSpPr/>
          <p:nvPr/>
        </p:nvSpPr>
        <p:spPr>
          <a:xfrm>
            <a:off x="4364575" y="1440499"/>
            <a:ext cx="2246174" cy="2246174"/>
          </a:xfrm>
          <a:prstGeom prst="rect">
            <a:avLst/>
          </a:prstGeom>
          <a:solidFill>
            <a:srgbClr val="FCE4D6"/>
          </a:solidFill>
          <a:ln w="9525">
            <a:solidFill>
              <a:srgbClr val="BFBFBF"/>
            </a:solidFill>
          </a:ln>
        </p:spPr>
      </p:sp>
      <p:sp>
        <p:nvSpPr>
          <p:cNvPr id="15" name="Text 5"/>
          <p:cNvSpPr txBox="1"/>
          <p:nvPr/>
        </p:nvSpPr>
        <p:spPr>
          <a:xfrm>
            <a:off x="4420729" y="1477935"/>
            <a:ext cx="2133866" cy="1871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i="1" sz="900" dirty="0">
                <a:solidFill>
                  <a:srgbClr val="595959"/>
                </a:solidFill>
              </a:rPr>
              <a:t>Need to promote</a:t>
            </a:r>
          </a:p>
        </p:txBody>
      </p:sp>
      <p:sp>
        <p:nvSpPr>
          <p:cNvPr id="16" name="Shape 6"/>
          <p:cNvSpPr/>
          <p:nvPr/>
        </p:nvSpPr>
        <p:spPr>
          <a:xfrm>
            <a:off x="4364575" y="3686673"/>
            <a:ext cx="2246174" cy="2246174"/>
          </a:xfrm>
          <a:prstGeom prst="rect">
            <a:avLst/>
          </a:prstGeom>
          <a:solidFill>
            <a:srgbClr val="E2EFDA"/>
          </a:solidFill>
          <a:ln w="9525">
            <a:solidFill>
              <a:srgbClr val="BFBFBF"/>
            </a:solidFill>
          </a:ln>
        </p:spPr>
      </p:sp>
      <p:sp>
        <p:nvSpPr>
          <p:cNvPr id="17" name="Text 7"/>
          <p:cNvSpPr txBox="1"/>
          <p:nvPr/>
        </p:nvSpPr>
        <p:spPr>
          <a:xfrm>
            <a:off x="4420729" y="3724109"/>
            <a:ext cx="2133866" cy="1871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i="1" sz="900" dirty="0">
                <a:solidFill>
                  <a:srgbClr val="595959"/>
                </a:solidFill>
              </a:rPr>
              <a:t>Re-evaluate</a:t>
            </a:r>
          </a:p>
        </p:txBody>
      </p:sp>
      <p:sp>
        <p:nvSpPr>
          <p:cNvPr id="18" name="Shape 8"/>
          <p:cNvSpPr/>
          <p:nvPr/>
        </p:nvSpPr>
        <p:spPr>
          <a:xfrm>
            <a:off x="6610749" y="3686673"/>
            <a:ext cx="2246174" cy="2246174"/>
          </a:xfrm>
          <a:prstGeom prst="rect">
            <a:avLst/>
          </a:prstGeom>
          <a:solidFill>
            <a:srgbClr val="FFF2CC"/>
          </a:solidFill>
          <a:ln w="9525">
            <a:solidFill>
              <a:srgbClr val="BFBFBF"/>
            </a:solidFill>
          </a:ln>
        </p:spPr>
      </p:sp>
      <p:sp>
        <p:nvSpPr>
          <p:cNvPr id="19" name="Text 9"/>
          <p:cNvSpPr txBox="1"/>
          <p:nvPr/>
        </p:nvSpPr>
        <p:spPr>
          <a:xfrm>
            <a:off x="6666903" y="3724109"/>
            <a:ext cx="2133866" cy="1871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i="1" sz="900" dirty="0">
                <a:solidFill>
                  <a:srgbClr val="595959"/>
                </a:solidFill>
              </a:rPr>
              <a:t>May be improved</a:t>
            </a:r>
          </a:p>
        </p:txBody>
      </p:sp>
      <p:sp>
        <p:nvSpPr>
          <p:cNvPr id="20" name="Text 10"/>
          <p:cNvSpPr txBox="1"/>
          <p:nvPr/>
        </p:nvSpPr>
        <p:spPr>
          <a:xfrm>
            <a:off x="4364575" y="5989001"/>
            <a:ext cx="2246174" cy="1871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Low Reach</a:t>
            </a:r>
          </a:p>
        </p:txBody>
      </p:sp>
      <p:sp>
        <p:nvSpPr>
          <p:cNvPr id="21" name="Text 11"/>
          <p:cNvSpPr txBox="1"/>
          <p:nvPr/>
        </p:nvSpPr>
        <p:spPr>
          <a:xfrm>
            <a:off x="6610749" y="5989001"/>
            <a:ext cx="2246174" cy="1871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High Reach</a:t>
            </a:r>
          </a:p>
        </p:txBody>
      </p:sp>
      <p:sp>
        <p:nvSpPr>
          <p:cNvPr id="22" name="Text 12"/>
          <p:cNvSpPr txBox="1"/>
          <p:nvPr/>
        </p:nvSpPr>
        <p:spPr>
          <a:xfrm>
            <a:off x="3147897" y="5745666"/>
            <a:ext cx="1160523" cy="1871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Low Engagement</a:t>
            </a:r>
          </a:p>
        </p:txBody>
      </p:sp>
      <p:sp>
        <p:nvSpPr>
          <p:cNvPr id="23" name="Text 13"/>
          <p:cNvSpPr txBox="1"/>
          <p:nvPr/>
        </p:nvSpPr>
        <p:spPr>
          <a:xfrm>
            <a:off x="3147897" y="1440499"/>
            <a:ext cx="1160523" cy="1871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High Engagement</a:t>
            </a:r>
          </a:p>
        </p:txBody>
      </p:sp>
      <p:sp>
        <p:nvSpPr>
          <p:cNvPr id="24" name="Point 14"/>
          <p:cNvSpPr/>
          <p:nvPr/>
        </p:nvSpPr>
        <p:spPr>
          <a:xfrm>
            <a:off x="5665484" y="3190643"/>
            <a:ext cx="93591" cy="93591"/>
          </a:xfrm>
          <a:prstGeom prst="ellipse">
            <a:avLst/>
          </a:prstGeom>
          <a:solidFill>
            <a:srgbClr val="1565C0"/>
          </a:solidFill>
          <a:ln w="6350">
            <a:solidFill>
              <a:srgbClr val="000000"/>
            </a:solidFill>
          </a:ln>
        </p:spPr>
      </p:sp>
      <p:sp>
        <p:nvSpPr>
          <p:cNvPr id="25" name="Text 15"/>
          <p:cNvSpPr txBox="1"/>
          <p:nvPr/>
        </p:nvSpPr>
        <p:spPr>
          <a:xfrm>
            <a:off x="5787152" y="3153206"/>
            <a:ext cx="737494" cy="16846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Campaign A</a:t>
            </a:r>
          </a:p>
        </p:txBody>
      </p:sp>
      <p:sp>
        <p:nvSpPr>
          <p:cNvPr id="26" name="Point 16"/>
          <p:cNvSpPr/>
          <p:nvPr/>
        </p:nvSpPr>
        <p:spPr>
          <a:xfrm>
            <a:off x="6339336" y="4852812"/>
            <a:ext cx="93591" cy="93591"/>
          </a:xfrm>
          <a:prstGeom prst="ellipse">
            <a:avLst/>
          </a:prstGeom>
          <a:solidFill>
            <a:srgbClr val="1565C0"/>
          </a:solidFill>
          <a:ln w="6350">
            <a:solidFill>
              <a:srgbClr val="000000"/>
            </a:solidFill>
          </a:ln>
        </p:spPr>
      </p:sp>
      <p:sp>
        <p:nvSpPr>
          <p:cNvPr id="27" name="Text 17"/>
          <p:cNvSpPr txBox="1"/>
          <p:nvPr/>
        </p:nvSpPr>
        <p:spPr>
          <a:xfrm>
            <a:off x="6461004" y="4815375"/>
            <a:ext cx="737494" cy="16846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Campaign B</a:t>
            </a:r>
          </a:p>
        </p:txBody>
      </p:sp>
      <p:sp>
        <p:nvSpPr>
          <p:cNvPr id="28" name="Point 18"/>
          <p:cNvSpPr/>
          <p:nvPr/>
        </p:nvSpPr>
        <p:spPr>
          <a:xfrm>
            <a:off x="6878418" y="2786331"/>
            <a:ext cx="93591" cy="93591"/>
          </a:xfrm>
          <a:prstGeom prst="ellipse">
            <a:avLst/>
          </a:prstGeom>
          <a:solidFill>
            <a:srgbClr val="FF3300"/>
          </a:solidFill>
          <a:ln w="6350">
            <a:solidFill>
              <a:srgbClr val="000000"/>
            </a:solidFill>
          </a:ln>
        </p:spPr>
      </p:sp>
      <p:sp>
        <p:nvSpPr>
          <p:cNvPr id="29" name="Text 19"/>
          <p:cNvSpPr txBox="1"/>
          <p:nvPr/>
        </p:nvSpPr>
        <p:spPr>
          <a:xfrm>
            <a:off x="7000086" y="2748895"/>
            <a:ext cx="737494" cy="16846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Campaign C</a:t>
            </a:r>
          </a:p>
        </p:txBody>
      </p:sp>
      <p:sp>
        <p:nvSpPr>
          <p:cNvPr id="30" name="Point 20"/>
          <p:cNvSpPr/>
          <p:nvPr/>
        </p:nvSpPr>
        <p:spPr>
          <a:xfrm>
            <a:off x="7821811" y="4358653"/>
            <a:ext cx="93591" cy="93591"/>
          </a:xfrm>
          <a:prstGeom prst="ellipse">
            <a:avLst/>
          </a:prstGeom>
          <a:solidFill>
            <a:srgbClr val="1565C0"/>
          </a:solidFill>
          <a:ln w="6350">
            <a:solidFill>
              <a:srgbClr val="000000"/>
            </a:solidFill>
          </a:ln>
        </p:spPr>
      </p:sp>
      <p:sp>
        <p:nvSpPr>
          <p:cNvPr id="31" name="Text 21"/>
          <p:cNvSpPr txBox="1"/>
          <p:nvPr/>
        </p:nvSpPr>
        <p:spPr>
          <a:xfrm>
            <a:off x="7943479" y="4321217"/>
            <a:ext cx="737494" cy="16846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Campaign D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radar</a:t>
            </a:r>
          </a:p>
        </p:txBody>
      </p:sp>
      <p:sp>
        <p:nvSpPr>
          <p:cNvPr id="11" name="Box 1"/>
          <p:cNvSpPr/>
          <p:nvPr/>
        </p:nvSpPr>
        <p:spPr>
          <a:xfrm>
            <a:off x="2178844" y="1171142"/>
            <a:ext cx="6104659" cy="40697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175" dirty="0">
                <a:solidFill>
                  <a:srgbClr val="000000"/>
                </a:solidFill>
              </a:rPr>
              <a:t>Grades</a:t>
            </a:r>
          </a:p>
        </p:txBody>
      </p:sp>
      <p:sp>
        <p:nvSpPr>
          <p:cNvPr id="12" name="Shape 2"/>
          <p:cNvSpPr/>
          <p:nvPr/>
        </p:nvSpPr>
        <p:spPr>
          <a:xfrm>
            <a:off x="4812636" y="3577396"/>
            <a:ext cx="837074" cy="966571"/>
          </a:xfrm>
          <a:custGeom>
            <a:avLst/>
            <a:gdLst/>
            <a:ahLst/>
            <a:cxnLst/>
            <a:rect l="0" t="0" r="0" b="0"/>
            <a:pathLst>
              <a:path w="783644" h="904875">
                <a:moveTo>
                  <a:pt x="391822" y="0"/>
                </a:moveTo>
                <a:lnTo>
                  <a:pt x="783644" y="226218"/>
                </a:lnTo>
                <a:lnTo>
                  <a:pt x="783644" y="678656"/>
                </a:lnTo>
                <a:lnTo>
                  <a:pt x="391822" y="904875"/>
                </a:lnTo>
                <a:lnTo>
                  <a:pt x="0" y="678656"/>
                </a:lnTo>
                <a:lnTo>
                  <a:pt x="0" y="226218"/>
                </a:lnTo>
                <a:close/>
              </a:path>
            </a:pathLst>
          </a:custGeom>
          <a:noFill/>
          <a:ln w="10174">
            <a:solidFill>
              <a:srgbClr val="BFBFBF"/>
            </a:solidFill>
          </a:ln>
        </p:spPr>
      </p:sp>
      <p:sp>
        <p:nvSpPr>
          <p:cNvPr id="13" name="Shape 3"/>
          <p:cNvSpPr/>
          <p:nvPr/>
        </p:nvSpPr>
        <p:spPr>
          <a:xfrm>
            <a:off x="4394098" y="3094110"/>
            <a:ext cx="1674151" cy="1933142"/>
          </a:xfrm>
          <a:custGeom>
            <a:avLst/>
            <a:gdLst/>
            <a:ahLst/>
            <a:cxnLst/>
            <a:rect l="0" t="0" r="0" b="0"/>
            <a:pathLst>
              <a:path w="1567290" h="1809750">
                <a:moveTo>
                  <a:pt x="783645" y="0"/>
                </a:moveTo>
                <a:lnTo>
                  <a:pt x="1567290" y="452438"/>
                </a:lnTo>
                <a:lnTo>
                  <a:pt x="1567290" y="1357313"/>
                </a:lnTo>
                <a:lnTo>
                  <a:pt x="783645" y="1809750"/>
                </a:lnTo>
                <a:lnTo>
                  <a:pt x="0" y="1357313"/>
                </a:lnTo>
                <a:lnTo>
                  <a:pt x="0" y="452438"/>
                </a:lnTo>
                <a:close/>
              </a:path>
            </a:pathLst>
          </a:custGeom>
          <a:noFill/>
          <a:ln w="10174">
            <a:solidFill>
              <a:srgbClr val="BFBFBF"/>
            </a:solidFill>
          </a:ln>
        </p:spPr>
      </p:sp>
      <p:sp>
        <p:nvSpPr>
          <p:cNvPr id="14" name="Shape 4"/>
          <p:cNvSpPr/>
          <p:nvPr/>
        </p:nvSpPr>
        <p:spPr>
          <a:xfrm>
            <a:off x="3975561" y="2610825"/>
            <a:ext cx="2511225" cy="2899713"/>
          </a:xfrm>
          <a:custGeom>
            <a:avLst/>
            <a:gdLst/>
            <a:ahLst/>
            <a:cxnLst/>
            <a:rect l="0" t="0" r="0" b="0"/>
            <a:pathLst>
              <a:path w="2350934" h="2714625">
                <a:moveTo>
                  <a:pt x="1175467" y="0"/>
                </a:moveTo>
                <a:lnTo>
                  <a:pt x="2350934" y="678656"/>
                </a:lnTo>
                <a:lnTo>
                  <a:pt x="2350934" y="2035968"/>
                </a:lnTo>
                <a:lnTo>
                  <a:pt x="1175467" y="2714625"/>
                </a:lnTo>
                <a:lnTo>
                  <a:pt x="0" y="2035968"/>
                </a:lnTo>
                <a:lnTo>
                  <a:pt x="0" y="678656"/>
                </a:lnTo>
                <a:close/>
              </a:path>
            </a:pathLst>
          </a:custGeom>
          <a:noFill/>
          <a:ln w="10174">
            <a:solidFill>
              <a:srgbClr val="BFBFBF"/>
            </a:solidFill>
          </a:ln>
        </p:spPr>
      </p:sp>
      <p:sp>
        <p:nvSpPr>
          <p:cNvPr id="15" name="Shape 5"/>
          <p:cNvSpPr/>
          <p:nvPr/>
        </p:nvSpPr>
        <p:spPr>
          <a:xfrm>
            <a:off x="3557024" y="2127539"/>
            <a:ext cx="3348299" cy="3866284"/>
          </a:xfrm>
          <a:custGeom>
            <a:avLst/>
            <a:gdLst/>
            <a:ahLst/>
            <a:cxnLst/>
            <a:rect l="0" t="0" r="0" b="0"/>
            <a:pathLst>
              <a:path w="3134578" h="3619500">
                <a:moveTo>
                  <a:pt x="1567289" y="0"/>
                </a:moveTo>
                <a:lnTo>
                  <a:pt x="3134578" y="904875"/>
                </a:lnTo>
                <a:lnTo>
                  <a:pt x="3134578" y="2714625"/>
                </a:lnTo>
                <a:lnTo>
                  <a:pt x="1567289" y="3619500"/>
                </a:lnTo>
                <a:lnTo>
                  <a:pt x="0" y="2714625"/>
                </a:lnTo>
                <a:lnTo>
                  <a:pt x="0" y="904875"/>
                </a:lnTo>
                <a:close/>
              </a:path>
            </a:pathLst>
          </a:custGeom>
          <a:noFill/>
          <a:ln w="10174">
            <a:solidFill>
              <a:srgbClr val="BFBFBF"/>
            </a:solidFill>
          </a:ln>
        </p:spPr>
      </p:sp>
      <p:sp>
        <p:nvSpPr>
          <p:cNvPr id="16" name="Shape 6"/>
          <p:cNvSpPr/>
          <p:nvPr/>
        </p:nvSpPr>
        <p:spPr>
          <a:xfrm>
            <a:off x="5231173" y="2127539"/>
            <a:ext cx="1" cy="1933142"/>
          </a:xfrm>
          <a:custGeom>
            <a:avLst/>
            <a:gdLst/>
            <a:ahLst/>
            <a:cxnLst/>
            <a:rect l="0" t="0" r="0" b="0"/>
            <a:pathLst>
              <a:path w="1" h="1809750" fill="none">
                <a:moveTo>
                  <a:pt x="0" y="1809750"/>
                </a:moveTo>
                <a:lnTo>
                  <a:pt x="0" y="0"/>
                </a:lnTo>
              </a:path>
            </a:pathLst>
          </a:custGeom>
          <a:noFill/>
          <a:ln w="10174">
            <a:solidFill>
              <a:srgbClr val="7F7F7F"/>
            </a:solidFill>
          </a:ln>
        </p:spPr>
      </p:sp>
      <p:sp>
        <p:nvSpPr>
          <p:cNvPr id="17" name="Box 7"/>
          <p:cNvSpPr/>
          <p:nvPr/>
        </p:nvSpPr>
        <p:spPr>
          <a:xfrm>
            <a:off x="5002249" y="1842655"/>
            <a:ext cx="457849" cy="20348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75" dirty="0">
                <a:solidFill>
                  <a:srgbClr val="000000"/>
                </a:solidFill>
              </a:rPr>
              <a:t>Math</a:t>
            </a:r>
          </a:p>
        </p:txBody>
      </p:sp>
      <p:sp>
        <p:nvSpPr>
          <p:cNvPr id="18" name="Shape 8"/>
          <p:cNvSpPr/>
          <p:nvPr/>
        </p:nvSpPr>
        <p:spPr>
          <a:xfrm>
            <a:off x="5231173" y="3094110"/>
            <a:ext cx="1674150" cy="966571"/>
          </a:xfrm>
          <a:custGeom>
            <a:avLst/>
            <a:gdLst/>
            <a:ahLst/>
            <a:cxnLst/>
            <a:rect l="0" t="0" r="0" b="0"/>
            <a:pathLst>
              <a:path w="1567289" h="904875" fill="none">
                <a:moveTo>
                  <a:pt x="0" y="904875"/>
                </a:moveTo>
                <a:lnTo>
                  <a:pt x="1567289" y="0"/>
                </a:lnTo>
              </a:path>
            </a:pathLst>
          </a:custGeom>
          <a:noFill/>
          <a:ln w="10174">
            <a:solidFill>
              <a:srgbClr val="7F7F7F"/>
            </a:solidFill>
          </a:ln>
        </p:spPr>
      </p:sp>
      <p:sp>
        <p:nvSpPr>
          <p:cNvPr id="19" name="Box 9"/>
          <p:cNvSpPr/>
          <p:nvPr/>
        </p:nvSpPr>
        <p:spPr>
          <a:xfrm>
            <a:off x="6947091" y="2900795"/>
            <a:ext cx="691861" cy="20348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75" dirty="0">
                <a:solidFill>
                  <a:srgbClr val="000000"/>
                </a:solidFill>
              </a:rPr>
              <a:t>Science</a:t>
            </a:r>
          </a:p>
        </p:txBody>
      </p:sp>
      <p:sp>
        <p:nvSpPr>
          <p:cNvPr id="20" name="Shape 10"/>
          <p:cNvSpPr/>
          <p:nvPr/>
        </p:nvSpPr>
        <p:spPr>
          <a:xfrm>
            <a:off x="5231173" y="4060681"/>
            <a:ext cx="1674150" cy="966571"/>
          </a:xfrm>
          <a:custGeom>
            <a:avLst/>
            <a:gdLst/>
            <a:ahLst/>
            <a:cxnLst/>
            <a:rect l="0" t="0" r="0" b="0"/>
            <a:pathLst>
              <a:path w="1567289" h="904875" fill="none">
                <a:moveTo>
                  <a:pt x="0" y="0"/>
                </a:moveTo>
                <a:lnTo>
                  <a:pt x="1567289" y="904875"/>
                </a:lnTo>
              </a:path>
            </a:pathLst>
          </a:custGeom>
          <a:noFill/>
          <a:ln w="10174">
            <a:solidFill>
              <a:srgbClr val="7F7F7F"/>
            </a:solidFill>
          </a:ln>
        </p:spPr>
      </p:sp>
      <p:sp>
        <p:nvSpPr>
          <p:cNvPr id="21" name="Box 11"/>
          <p:cNvSpPr/>
          <p:nvPr/>
        </p:nvSpPr>
        <p:spPr>
          <a:xfrm>
            <a:off x="6947091" y="5017077"/>
            <a:ext cx="691861" cy="20348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75" dirty="0">
                <a:solidFill>
                  <a:srgbClr val="000000"/>
                </a:solidFill>
              </a:rPr>
              <a:t>English</a:t>
            </a:r>
          </a:p>
        </p:txBody>
      </p:sp>
      <p:sp>
        <p:nvSpPr>
          <p:cNvPr id="22" name="Shape 12"/>
          <p:cNvSpPr/>
          <p:nvPr/>
        </p:nvSpPr>
        <p:spPr>
          <a:xfrm>
            <a:off x="5231173" y="4060681"/>
            <a:ext cx="1" cy="1933142"/>
          </a:xfrm>
          <a:custGeom>
            <a:avLst/>
            <a:gdLst/>
            <a:ahLst/>
            <a:cxnLst/>
            <a:rect l="0" t="0" r="0" b="0"/>
            <a:pathLst>
              <a:path w="1" h="1809750" fill="none">
                <a:moveTo>
                  <a:pt x="0" y="0"/>
                </a:moveTo>
                <a:lnTo>
                  <a:pt x="0" y="1809750"/>
                </a:lnTo>
              </a:path>
            </a:pathLst>
          </a:custGeom>
          <a:noFill/>
          <a:ln w="10174">
            <a:solidFill>
              <a:srgbClr val="7F7F7F"/>
            </a:solidFill>
          </a:ln>
        </p:spPr>
      </p:sp>
      <p:sp>
        <p:nvSpPr>
          <p:cNvPr id="23" name="Box 13"/>
          <p:cNvSpPr/>
          <p:nvPr/>
        </p:nvSpPr>
        <p:spPr>
          <a:xfrm>
            <a:off x="4885243" y="6075218"/>
            <a:ext cx="691861" cy="20348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75" dirty="0">
                <a:solidFill>
                  <a:srgbClr val="000000"/>
                </a:solidFill>
              </a:rPr>
              <a:t>History</a:t>
            </a:r>
          </a:p>
        </p:txBody>
      </p:sp>
      <p:sp>
        <p:nvSpPr>
          <p:cNvPr id="24" name="Shape 14"/>
          <p:cNvSpPr/>
          <p:nvPr/>
        </p:nvSpPr>
        <p:spPr>
          <a:xfrm>
            <a:off x="3557024" y="4060681"/>
            <a:ext cx="1674150" cy="966571"/>
          </a:xfrm>
          <a:custGeom>
            <a:avLst/>
            <a:gdLst/>
            <a:ahLst/>
            <a:cxnLst/>
            <a:rect l="0" t="0" r="0" b="0"/>
            <a:pathLst>
              <a:path w="1567289" h="904875" fill="none">
                <a:moveTo>
                  <a:pt x="1567289" y="0"/>
                </a:moveTo>
                <a:lnTo>
                  <a:pt x="0" y="904875"/>
                </a:lnTo>
              </a:path>
            </a:pathLst>
          </a:custGeom>
          <a:noFill/>
          <a:ln w="10174">
            <a:solidFill>
              <a:srgbClr val="7F7F7F"/>
            </a:solidFill>
          </a:ln>
        </p:spPr>
      </p:sp>
      <p:sp>
        <p:nvSpPr>
          <p:cNvPr id="25" name="Box 15"/>
          <p:cNvSpPr/>
          <p:nvPr/>
        </p:nvSpPr>
        <p:spPr>
          <a:xfrm>
            <a:off x="2671508" y="5017077"/>
            <a:ext cx="854652" cy="20348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75" dirty="0">
                <a:solidFill>
                  <a:srgbClr val="000000"/>
                </a:solidFill>
              </a:rPr>
              <a:t>Geography</a:t>
            </a:r>
          </a:p>
        </p:txBody>
      </p:sp>
      <p:sp>
        <p:nvSpPr>
          <p:cNvPr id="26" name="Shape 16"/>
          <p:cNvSpPr/>
          <p:nvPr/>
        </p:nvSpPr>
        <p:spPr>
          <a:xfrm>
            <a:off x="3557024" y="3094110"/>
            <a:ext cx="1674150" cy="966571"/>
          </a:xfrm>
          <a:custGeom>
            <a:avLst/>
            <a:gdLst/>
            <a:ahLst/>
            <a:cxnLst/>
            <a:rect l="0" t="0" r="0" b="0"/>
            <a:pathLst>
              <a:path w="1567289" h="904875" fill="none">
                <a:moveTo>
                  <a:pt x="1567289" y="904875"/>
                </a:moveTo>
                <a:lnTo>
                  <a:pt x="0" y="0"/>
                </a:lnTo>
              </a:path>
            </a:pathLst>
          </a:custGeom>
          <a:noFill/>
          <a:ln w="10174">
            <a:solidFill>
              <a:srgbClr val="7F7F7F"/>
            </a:solidFill>
          </a:ln>
        </p:spPr>
      </p:sp>
      <p:sp>
        <p:nvSpPr>
          <p:cNvPr id="27" name="Box 17"/>
          <p:cNvSpPr/>
          <p:nvPr/>
        </p:nvSpPr>
        <p:spPr>
          <a:xfrm>
            <a:off x="3117674" y="2900795"/>
            <a:ext cx="376454" cy="20348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75" dirty="0">
                <a:solidFill>
                  <a:srgbClr val="000000"/>
                </a:solidFill>
              </a:rPr>
              <a:t>Art</a:t>
            </a:r>
          </a:p>
        </p:txBody>
      </p:sp>
      <p:sp>
        <p:nvSpPr>
          <p:cNvPr id="28" name="Shape 18"/>
          <p:cNvSpPr/>
          <p:nvPr/>
        </p:nvSpPr>
        <p:spPr>
          <a:xfrm>
            <a:off x="3724438" y="2417510"/>
            <a:ext cx="3013471" cy="2996370"/>
          </a:xfrm>
          <a:custGeom>
            <a:avLst/>
            <a:gdLst/>
            <a:ahLst/>
            <a:cxnLst/>
            <a:rect l="0" t="0" r="0" b="0"/>
            <a:pathLst>
              <a:path w="2821122" h="2805112">
                <a:moveTo>
                  <a:pt x="1410561" y="0"/>
                </a:moveTo>
                <a:lnTo>
                  <a:pt x="2821122" y="723900"/>
                </a:lnTo>
                <a:lnTo>
                  <a:pt x="2664393" y="2262187"/>
                </a:lnTo>
                <a:lnTo>
                  <a:pt x="1410561" y="2805112"/>
                </a:lnTo>
                <a:lnTo>
                  <a:pt x="235094" y="2216943"/>
                </a:lnTo>
                <a:lnTo>
                  <a:pt x="0" y="723900"/>
                </a:lnTo>
                <a:close/>
              </a:path>
            </a:pathLst>
          </a:custGeom>
          <a:solidFill>
            <a:srgbClr val="4472C4">
              <a:alpha val="30000"/>
            </a:srgbClr>
          </a:solidFill>
          <a:ln w="30523">
            <a:solidFill>
              <a:srgbClr val="4472C4"/>
            </a:solidFill>
          </a:ln>
        </p:spPr>
      </p:sp>
      <p:sp>
        <p:nvSpPr>
          <p:cNvPr id="29" name="Shape 19"/>
          <p:cNvSpPr/>
          <p:nvPr/>
        </p:nvSpPr>
        <p:spPr>
          <a:xfrm>
            <a:off x="3724438" y="2707481"/>
            <a:ext cx="2929763" cy="2899713"/>
          </a:xfrm>
          <a:custGeom>
            <a:avLst/>
            <a:gdLst/>
            <a:ahLst/>
            <a:cxnLst/>
            <a:rect l="0" t="0" r="0" b="0"/>
            <a:pathLst>
              <a:path w="2742757" h="2714625">
                <a:moveTo>
                  <a:pt x="1410561" y="0"/>
                </a:moveTo>
                <a:lnTo>
                  <a:pt x="2586028" y="588169"/>
                </a:lnTo>
                <a:lnTo>
                  <a:pt x="2742757" y="2035969"/>
                </a:lnTo>
                <a:lnTo>
                  <a:pt x="1410561" y="2714625"/>
                </a:lnTo>
                <a:lnTo>
                  <a:pt x="0" y="2081213"/>
                </a:lnTo>
                <a:lnTo>
                  <a:pt x="78365" y="497681"/>
                </a:lnTo>
                <a:close/>
              </a:path>
            </a:pathLst>
          </a:custGeom>
          <a:solidFill>
            <a:srgbClr val="ED7D31">
              <a:alpha val="30000"/>
            </a:srgbClr>
          </a:solidFill>
          <a:ln w="30523">
            <a:solidFill>
              <a:srgbClr val="ED7D31"/>
            </a:solidFill>
          </a:ln>
        </p:spPr>
      </p:sp>
      <p:sp>
        <p:nvSpPr>
          <p:cNvPr id="30" name="Box 20"/>
          <p:cNvSpPr/>
          <p:nvPr/>
        </p:nvSpPr>
        <p:spPr>
          <a:xfrm>
            <a:off x="8385247" y="2168236"/>
            <a:ext cx="142442" cy="142442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31" name="Box 21"/>
          <p:cNvSpPr/>
          <p:nvPr/>
        </p:nvSpPr>
        <p:spPr>
          <a:xfrm>
            <a:off x="8588736" y="2127539"/>
            <a:ext cx="1322676" cy="223838"/>
          </a:xfrm>
          <a:prstGeom prst="rect">
            <a:avLst/>
          </a:prstGeom>
          <a:noFill/>
          <a:ln>
            <a:noFill/>
          </a:ln>
        </p:spPr>
        <p:txBody>
          <a:bodyPr wrap="none" lIns="20349" tIns="0" rIns="20349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175" dirty="0">
                <a:solidFill>
                  <a:srgbClr val="000000"/>
                </a:solidFill>
              </a:rPr>
              <a:t>Alice</a:t>
            </a:r>
          </a:p>
        </p:txBody>
      </p:sp>
      <p:sp>
        <p:nvSpPr>
          <p:cNvPr id="32" name="Box 22"/>
          <p:cNvSpPr/>
          <p:nvPr/>
        </p:nvSpPr>
        <p:spPr>
          <a:xfrm>
            <a:off x="8385247" y="2432772"/>
            <a:ext cx="142442" cy="142442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33" name="Box 23"/>
          <p:cNvSpPr/>
          <p:nvPr/>
        </p:nvSpPr>
        <p:spPr>
          <a:xfrm>
            <a:off x="8588736" y="2392074"/>
            <a:ext cx="1322676" cy="223838"/>
          </a:xfrm>
          <a:prstGeom prst="rect">
            <a:avLst/>
          </a:prstGeom>
          <a:noFill/>
          <a:ln>
            <a:noFill/>
          </a:ln>
        </p:spPr>
        <p:txBody>
          <a:bodyPr wrap="none" lIns="20349" tIns="0" rIns="20349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175" dirty="0">
                <a:solidFill>
                  <a:srgbClr val="000000"/>
                </a:solidFill>
              </a:rPr>
              <a:t>Bob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requirement-diagram</a:t>
            </a:r>
          </a:p>
        </p:txBody>
      </p:sp>
      <p:cxnSp>
        <p:nvCxnSpPr>
          <p:cNvPr id="11" name="Connector 1"/>
          <p:cNvCxnSpPr/>
          <p:nvPr/>
        </p:nvCxnSpPr>
        <p:spPr>
          <a:xfrm>
            <a:off x="6096000" y="2034782"/>
            <a:ext cx="1" cy="664394"/>
          </a:xfrm>
          <a:prstGeom prst="line">
            <a:avLst/>
          </a:prstGeom>
          <a:ln w="9491">
            <a:solidFill>
              <a:srgbClr val="2F5496"/>
            </a:solidFill>
            <a:prstDash val="dash"/>
            <a:tailEnd type="triangle" w="sm" len="sm"/>
          </a:ln>
        </p:spPr>
      </p:cxnSp>
      <p:sp>
        <p:nvSpPr>
          <p:cNvPr id="12" name="Text 2"/>
          <p:cNvSpPr txBox="1"/>
          <p:nvPr/>
        </p:nvSpPr>
        <p:spPr>
          <a:xfrm>
            <a:off x="5788481" y="2272066"/>
            <a:ext cx="615039" cy="1898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«satisfies»</a:t>
            </a:r>
          </a:p>
        </p:txBody>
      </p:sp>
      <p:cxnSp>
        <p:nvCxnSpPr>
          <p:cNvPr id="13" name="Connector 3"/>
          <p:cNvCxnSpPr/>
          <p:nvPr/>
        </p:nvCxnSpPr>
        <p:spPr>
          <a:xfrm>
            <a:off x="6162440" y="4103895"/>
            <a:ext cx="1" cy="664394"/>
          </a:xfrm>
          <a:prstGeom prst="line">
            <a:avLst/>
          </a:prstGeom>
          <a:ln w="9491">
            <a:solidFill>
              <a:srgbClr val="2F5496"/>
            </a:solidFill>
            <a:prstDash val="dash"/>
            <a:tailEnd type="triangle" w="sm" len="sm"/>
          </a:ln>
        </p:spPr>
      </p:cxnSp>
      <p:sp>
        <p:nvSpPr>
          <p:cNvPr id="14" name="Text 4"/>
          <p:cNvSpPr txBox="1"/>
          <p:nvPr/>
        </p:nvSpPr>
        <p:spPr>
          <a:xfrm>
            <a:off x="5923258" y="4265248"/>
            <a:ext cx="478364" cy="1898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«traces»</a:t>
            </a:r>
          </a:p>
        </p:txBody>
      </p:sp>
      <p:cxnSp>
        <p:nvCxnSpPr>
          <p:cNvPr id="15" name="Connector 5"/>
          <p:cNvCxnSpPr/>
          <p:nvPr/>
        </p:nvCxnSpPr>
        <p:spPr>
          <a:xfrm flipV="1">
            <a:off x="6029561" y="4103895"/>
            <a:ext cx="1" cy="664394"/>
          </a:xfrm>
          <a:prstGeom prst="line">
            <a:avLst/>
          </a:prstGeom>
          <a:ln w="9491">
            <a:solidFill>
              <a:srgbClr val="2F5496"/>
            </a:solidFill>
            <a:prstDash val="dash"/>
            <a:tailEnd type="triangle" w="sm" len="sm"/>
          </a:ln>
        </p:spPr>
      </p:cxnSp>
      <p:sp>
        <p:nvSpPr>
          <p:cNvPr id="16" name="Text 6"/>
          <p:cNvSpPr txBox="1"/>
          <p:nvPr/>
        </p:nvSpPr>
        <p:spPr>
          <a:xfrm>
            <a:off x="5767600" y="4417109"/>
            <a:ext cx="523922" cy="1898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«derives»</a:t>
            </a:r>
          </a:p>
        </p:txBody>
      </p:sp>
      <p:sp>
        <p:nvSpPr>
          <p:cNvPr id="17" name="test_req"/>
          <p:cNvSpPr/>
          <p:nvPr/>
        </p:nvSpPr>
        <p:spPr>
          <a:xfrm>
            <a:off x="5474317" y="2699176"/>
            <a:ext cx="1243366" cy="1404719"/>
          </a:xfrm>
          <a:prstGeom prst="rect">
            <a:avLst/>
          </a:prstGeom>
          <a:solidFill>
            <a:srgbClr val="FFFFFF"/>
          </a:solidFill>
          <a:ln w="9525">
            <a:solidFill>
              <a:srgbClr val="2F5496"/>
            </a:solidFill>
          </a:ln>
        </p:spPr>
      </p:sp>
      <p:sp>
        <p:nvSpPr>
          <p:cNvPr id="18" name="test_req title"/>
          <p:cNvSpPr/>
          <p:nvPr/>
        </p:nvSpPr>
        <p:spPr>
          <a:xfrm>
            <a:off x="5474317" y="2699176"/>
            <a:ext cx="1243366" cy="303723"/>
          </a:xfrm>
          <a:prstGeom prst="rect">
            <a:avLst/>
          </a:prstGeom>
          <a:solidFill>
            <a:srgbClr val="D9E2F3"/>
          </a:solidFill>
          <a:ln>
            <a:noFill/>
          </a:ln>
        </p:spPr>
      </p:sp>
      <p:sp>
        <p:nvSpPr>
          <p:cNvPr id="19" name="Divider"/>
          <p:cNvSpPr/>
          <p:nvPr/>
        </p:nvSpPr>
        <p:spPr>
          <a:xfrm>
            <a:off x="5474317" y="2998153"/>
            <a:ext cx="1243366" cy="9491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20" name="Text 10"/>
          <p:cNvSpPr txBox="1"/>
          <p:nvPr/>
        </p:nvSpPr>
        <p:spPr>
          <a:xfrm>
            <a:off x="5474317" y="2699176"/>
            <a:ext cx="1243366" cy="30372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100" dirty="0">
                <a:solidFill>
                  <a:srgbClr val="000000"/>
                </a:solidFill>
              </a:rPr>
              <a:t>test_req</a:t>
            </a:r>
          </a:p>
        </p:txBody>
      </p:sp>
      <p:sp>
        <p:nvSpPr>
          <p:cNvPr id="21" name="Text 11"/>
          <p:cNvSpPr txBox="1"/>
          <p:nvPr/>
        </p:nvSpPr>
        <p:spPr>
          <a:xfrm>
            <a:off x="5569230" y="3002899"/>
            <a:ext cx="1053540" cy="11009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«requirement»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id: 1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text: the test text.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risk: high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verifyMethod: test</a:t>
            </a:r>
          </a:p>
        </p:txBody>
      </p:sp>
      <p:sp>
        <p:nvSpPr>
          <p:cNvPr id="22" name="test_req2"/>
          <p:cNvSpPr/>
          <p:nvPr/>
        </p:nvSpPr>
        <p:spPr>
          <a:xfrm>
            <a:off x="5289236" y="4768289"/>
            <a:ext cx="1613528" cy="1404719"/>
          </a:xfrm>
          <a:prstGeom prst="rect">
            <a:avLst/>
          </a:prstGeom>
          <a:solidFill>
            <a:srgbClr val="FFFFFF"/>
          </a:solidFill>
          <a:ln w="9525">
            <a:solidFill>
              <a:srgbClr val="2F5496"/>
            </a:solidFill>
          </a:ln>
        </p:spPr>
      </p:sp>
      <p:sp>
        <p:nvSpPr>
          <p:cNvPr id="23" name="test_req2 title"/>
          <p:cNvSpPr/>
          <p:nvPr/>
        </p:nvSpPr>
        <p:spPr>
          <a:xfrm>
            <a:off x="5289236" y="4768289"/>
            <a:ext cx="1613528" cy="303723"/>
          </a:xfrm>
          <a:prstGeom prst="rect">
            <a:avLst/>
          </a:prstGeom>
          <a:solidFill>
            <a:srgbClr val="D9E2F3"/>
          </a:solidFill>
          <a:ln>
            <a:noFill/>
          </a:ln>
        </p:spPr>
      </p:sp>
      <p:sp>
        <p:nvSpPr>
          <p:cNvPr id="24" name="Divider"/>
          <p:cNvSpPr/>
          <p:nvPr/>
        </p:nvSpPr>
        <p:spPr>
          <a:xfrm>
            <a:off x="5289236" y="5067266"/>
            <a:ext cx="1613528" cy="9491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25" name="Text 15"/>
          <p:cNvSpPr txBox="1"/>
          <p:nvPr/>
        </p:nvSpPr>
        <p:spPr>
          <a:xfrm>
            <a:off x="5289236" y="4768289"/>
            <a:ext cx="1613528" cy="30372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100" dirty="0">
                <a:solidFill>
                  <a:srgbClr val="000000"/>
                </a:solidFill>
              </a:rPr>
              <a:t>test_req2</a:t>
            </a:r>
          </a:p>
        </p:txBody>
      </p:sp>
      <p:sp>
        <p:nvSpPr>
          <p:cNvPr id="26" name="Text 16"/>
          <p:cNvSpPr txBox="1"/>
          <p:nvPr/>
        </p:nvSpPr>
        <p:spPr>
          <a:xfrm>
            <a:off x="5384149" y="5072012"/>
            <a:ext cx="1423702" cy="11009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«functionalRequirement»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id: 1.1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text: the second test text.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risk: low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verifyMethod: inspection</a:t>
            </a:r>
          </a:p>
        </p:txBody>
      </p:sp>
      <p:sp>
        <p:nvSpPr>
          <p:cNvPr id="27" name="test_entity"/>
          <p:cNvSpPr/>
          <p:nvPr/>
        </p:nvSpPr>
        <p:spPr>
          <a:xfrm>
            <a:off x="5517978" y="1256492"/>
            <a:ext cx="1156046" cy="778290"/>
          </a:xfrm>
          <a:prstGeom prst="rect">
            <a:avLst/>
          </a:prstGeom>
          <a:solidFill>
            <a:srgbClr val="FFFFFF"/>
          </a:solidFill>
          <a:ln w="9525">
            <a:solidFill>
              <a:srgbClr val="2F5496"/>
            </a:solidFill>
          </a:ln>
        </p:spPr>
      </p:sp>
      <p:sp>
        <p:nvSpPr>
          <p:cNvPr id="28" name="test_entity title"/>
          <p:cNvSpPr/>
          <p:nvPr/>
        </p:nvSpPr>
        <p:spPr>
          <a:xfrm>
            <a:off x="5517978" y="1256492"/>
            <a:ext cx="1156046" cy="303723"/>
          </a:xfrm>
          <a:prstGeom prst="rect">
            <a:avLst/>
          </a:prstGeom>
          <a:solidFill>
            <a:srgbClr val="D9E2F3"/>
          </a:solidFill>
          <a:ln>
            <a:noFill/>
          </a:ln>
        </p:spPr>
      </p:sp>
      <p:sp>
        <p:nvSpPr>
          <p:cNvPr id="29" name="Divider"/>
          <p:cNvSpPr/>
          <p:nvPr/>
        </p:nvSpPr>
        <p:spPr>
          <a:xfrm>
            <a:off x="5517978" y="1555469"/>
            <a:ext cx="1156046" cy="9491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30" name="Text 20"/>
          <p:cNvSpPr txBox="1"/>
          <p:nvPr/>
        </p:nvSpPr>
        <p:spPr>
          <a:xfrm>
            <a:off x="5517978" y="1256492"/>
            <a:ext cx="1156046" cy="30372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100" dirty="0">
                <a:solidFill>
                  <a:srgbClr val="000000"/>
                </a:solidFill>
              </a:rPr>
              <a:t>test_entity</a:t>
            </a:r>
          </a:p>
        </p:txBody>
      </p:sp>
      <p:sp>
        <p:nvSpPr>
          <p:cNvPr id="31" name="Text 21"/>
          <p:cNvSpPr txBox="1"/>
          <p:nvPr/>
        </p:nvSpPr>
        <p:spPr>
          <a:xfrm>
            <a:off x="5612891" y="1560215"/>
            <a:ext cx="966220" cy="47456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«element»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type: simulation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rich-text</a:t>
            </a:r>
          </a:p>
        </p:txBody>
      </p:sp>
      <p:sp>
        <p:nvSpPr>
          <p:cNvPr id="12" name="Ligne1 Ligne2" descr="A"/>
          <p:cNvSpPr/>
          <p:nvPr/>
        </p:nvSpPr>
        <p:spPr>
          <a:xfrm>
            <a:off x="5523990" y="1028700"/>
            <a:ext cx="1144020" cy="998355"/>
          </a:xfrm>
          <a:prstGeom prst="rect">
            <a:avLst/>
          </a:prstGeom>
          <a:solidFill>
            <a:srgbClr val="E1BEE7"/>
          </a:solidFill>
          <a:ln w="12678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278" tIns="45639" rIns="91278" bIns="4563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000000"/>
                </a:solidFill>
              </a:rPr>
              <a:t>Ligne1</a:t>
            </a:r>
            <a:br/>
            <a:r>
              <a:rPr lang="en-US" sz="1200" dirty="0">
                <a:solidFill>
                  <a:srgbClr val="000000"/>
                </a:solidFill>
              </a:rPr>
              <a:t>Ligne2</a:t>
            </a:r>
          </a:p>
        </p:txBody>
      </p:sp>
      <p:sp>
        <p:nvSpPr>
          <p:cNvPr id="13" name="gras et italique et normal" descr="B"/>
          <p:cNvSpPr/>
          <p:nvPr/>
        </p:nvSpPr>
        <p:spPr>
          <a:xfrm>
            <a:off x="5225054" y="2787706"/>
            <a:ext cx="1741892" cy="1283599"/>
          </a:xfrm>
          <a:prstGeom prst="rect">
            <a:avLst/>
          </a:prstGeom>
          <a:solidFill>
            <a:srgbClr val="FFCDD2"/>
          </a:solidFill>
          <a:ln w="12678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278" tIns="45639" rIns="91278" bIns="4563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200" dirty="0">
                <a:solidFill>
                  <a:srgbClr val="000000"/>
                </a:solidFill>
              </a:rPr>
              <a:t>gras</a:t>
            </a:r>
            <a:r>
              <a:rPr lang="en-US" sz="1200" dirty="0">
                <a:solidFill>
                  <a:srgbClr val="000000"/>
                </a:solidFill>
              </a:rPr>
              <a:t> et </a:t>
            </a:r>
            <a:r>
              <a:rPr lang="en-US" i="1" sz="1200" dirty="0">
                <a:solidFill>
                  <a:srgbClr val="000000"/>
                </a:solidFill>
              </a:rPr>
              <a:t>italique</a:t>
            </a:r>
            <a:r>
              <a:rPr lang="en-US" sz="1200" dirty="0">
                <a:solidFill>
                  <a:srgbClr val="000000"/>
                </a:solidFill>
              </a:rPr>
              <a:t> et normal</a:t>
            </a:r>
          </a:p>
        </p:txBody>
      </p:sp>
      <p:sp>
        <p:nvSpPr>
          <p:cNvPr id="14" name="Pas de **markup** ici, texte classique" descr="C"/>
          <p:cNvSpPr/>
          <p:nvPr/>
        </p:nvSpPr>
        <p:spPr>
          <a:xfrm>
            <a:off x="5259283" y="4831957"/>
            <a:ext cx="1673433" cy="1568843"/>
          </a:xfrm>
          <a:prstGeom prst="rect">
            <a:avLst/>
          </a:prstGeom>
          <a:solidFill>
            <a:srgbClr val="FFF9C4"/>
          </a:solidFill>
          <a:ln w="12678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278" tIns="45639" rIns="91278" bIns="4563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000000"/>
                </a:solidFill>
              </a:rPr>
              <a:t>Pas de **markup** ici, texte classique</a:t>
            </a:r>
          </a:p>
        </p:txBody>
      </p:sp>
      <p:cxnSp>
        <p:nvCxnSpPr>
          <p:cNvPr id="15" name="A--B"/>
          <p:cNvCxnSpPr>
            <a:stCxn id="12" idx="2"/>
            <a:endCxn id="13" idx="0"/>
          </p:cNvCxnSpPr>
          <p:nvPr/>
        </p:nvCxnSpPr>
        <p:spPr>
          <a:xfrm>
            <a:off x="6096000" y="2027055"/>
            <a:ext cx="0" cy="760651"/>
          </a:xfrm>
          <a:prstGeom prst="line">
            <a:avLst/>
          </a:prstGeom>
          <a:ln w="1267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EdgeLabel"/>
          <p:cNvSpPr txBox="1"/>
          <p:nvPr/>
        </p:nvSpPr>
        <p:spPr>
          <a:xfrm>
            <a:off x="5846506" y="2293283"/>
            <a:ext cx="498987" cy="22819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38033" tIns="0" rIns="38033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800" dirty="0">
                <a:solidFill>
                  <a:srgbClr val="000000"/>
                </a:solidFill>
              </a:rPr>
              <a:t>Oui</a:t>
            </a:r>
          </a:p>
        </p:txBody>
      </p:sp>
      <p:cxnSp>
        <p:nvCxnSpPr>
          <p:cNvPr id="17" name="B--C"/>
          <p:cNvCxnSpPr>
            <a:stCxn id="13" idx="2"/>
            <a:endCxn id="14" idx="0"/>
          </p:cNvCxnSpPr>
          <p:nvPr/>
        </p:nvCxnSpPr>
        <p:spPr>
          <a:xfrm>
            <a:off x="6096000" y="4071305"/>
            <a:ext cx="0" cy="760652"/>
          </a:xfrm>
          <a:prstGeom prst="line">
            <a:avLst/>
          </a:prstGeom>
          <a:ln w="1267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rl-direction</a:t>
            </a:r>
          </a:p>
        </p:txBody>
      </p:sp>
      <p:sp>
        <p:nvSpPr>
          <p:cNvPr id="12" name="Entree" descr="A"/>
          <p:cNvSpPr/>
          <p:nvPr/>
        </p:nvSpPr>
        <p:spPr>
          <a:xfrm>
            <a:off x="10270554" y="3260204"/>
            <a:ext cx="1464246" cy="909093"/>
          </a:xfrm>
          <a:prstGeom prst="rect">
            <a:avLst/>
          </a:prstGeom>
          <a:solidFill>
            <a:srgbClr val="FFCDD2"/>
          </a:solidFill>
          <a:ln w="16162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6364" tIns="58182" rIns="116364" bIns="5818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27" dirty="0">
                <a:solidFill>
                  <a:srgbClr val="000000"/>
                </a:solidFill>
              </a:rPr>
              <a:t>Entree</a:t>
            </a:r>
          </a:p>
        </p:txBody>
      </p:sp>
      <p:sp>
        <p:nvSpPr>
          <p:cNvPr id="13" name="Traitement" descr="B"/>
          <p:cNvSpPr/>
          <p:nvPr/>
        </p:nvSpPr>
        <p:spPr>
          <a:xfrm>
            <a:off x="7138426" y="3260204"/>
            <a:ext cx="2162429" cy="909093"/>
          </a:xfrm>
          <a:prstGeom prst="rect">
            <a:avLst/>
          </a:prstGeom>
          <a:solidFill>
            <a:srgbClr val="FFF9C4"/>
          </a:solidFill>
          <a:ln w="16162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6364" tIns="58182" rIns="116364" bIns="5818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27" dirty="0">
                <a:solidFill>
                  <a:srgbClr val="000000"/>
                </a:solidFill>
              </a:rPr>
              <a:t>Traitement</a:t>
            </a:r>
          </a:p>
        </p:txBody>
      </p:sp>
      <p:sp>
        <p:nvSpPr>
          <p:cNvPr id="14" name="Valide?" descr="C"/>
          <p:cNvSpPr/>
          <p:nvPr/>
        </p:nvSpPr>
        <p:spPr>
          <a:xfrm>
            <a:off x="2891145" y="2805657"/>
            <a:ext cx="3277583" cy="1818186"/>
          </a:xfrm>
          <a:prstGeom prst="diamond">
            <a:avLst/>
          </a:prstGeom>
          <a:solidFill>
            <a:srgbClr val="BBDEFB"/>
          </a:solidFill>
          <a:ln w="16162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6364" tIns="58182" rIns="116364" bIns="5818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27" dirty="0">
                <a:solidFill>
                  <a:srgbClr val="000000"/>
                </a:solidFill>
              </a:rPr>
              <a:t>Valide?</a:t>
            </a:r>
          </a:p>
        </p:txBody>
      </p:sp>
      <p:sp>
        <p:nvSpPr>
          <p:cNvPr id="15" name="Sortie" descr="D"/>
          <p:cNvSpPr/>
          <p:nvPr/>
        </p:nvSpPr>
        <p:spPr>
          <a:xfrm>
            <a:off x="457200" y="2442020"/>
            <a:ext cx="1464246" cy="909093"/>
          </a:xfrm>
          <a:prstGeom prst="rect">
            <a:avLst/>
          </a:prstGeom>
          <a:solidFill>
            <a:srgbClr val="C8E6C9"/>
          </a:solidFill>
          <a:ln w="16162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6364" tIns="58182" rIns="116364" bIns="5818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27" dirty="0">
                <a:solidFill>
                  <a:srgbClr val="000000"/>
                </a:solidFill>
              </a:rPr>
              <a:t>Sortie</a:t>
            </a:r>
          </a:p>
        </p:txBody>
      </p:sp>
      <p:sp>
        <p:nvSpPr>
          <p:cNvPr id="16" name="Erreur" descr="E"/>
          <p:cNvSpPr/>
          <p:nvPr/>
        </p:nvSpPr>
        <p:spPr>
          <a:xfrm>
            <a:off x="457200" y="4078387"/>
            <a:ext cx="1464246" cy="909093"/>
          </a:xfrm>
          <a:prstGeom prst="rect">
            <a:avLst/>
          </a:prstGeom>
          <a:solidFill>
            <a:srgbClr val="FFE0B2"/>
          </a:solidFill>
          <a:ln w="16162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6364" tIns="58182" rIns="116364" bIns="5818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27" dirty="0">
                <a:solidFill>
                  <a:srgbClr val="000000"/>
                </a:solidFill>
              </a:rPr>
              <a:t>Erreur</a:t>
            </a:r>
          </a:p>
        </p:txBody>
      </p:sp>
      <p:cxnSp>
        <p:nvCxnSpPr>
          <p:cNvPr id="17" name="A--B"/>
          <p:cNvCxnSpPr>
            <a:stCxn id="12" idx="1"/>
            <a:endCxn id="13" idx="3"/>
          </p:cNvCxnSpPr>
          <p:nvPr/>
        </p:nvCxnSpPr>
        <p:spPr>
          <a:xfrm flipH="1">
            <a:off x="9300855" y="3714750"/>
            <a:ext cx="969699" cy="0"/>
          </a:xfrm>
          <a:prstGeom prst="line">
            <a:avLst/>
          </a:prstGeom>
          <a:ln w="16162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B--C"/>
          <p:cNvCxnSpPr>
            <a:stCxn id="13" idx="1"/>
            <a:endCxn id="14" idx="3"/>
          </p:cNvCxnSpPr>
          <p:nvPr/>
        </p:nvCxnSpPr>
        <p:spPr>
          <a:xfrm flipH="1">
            <a:off x="6168727" y="3714750"/>
            <a:ext cx="969699" cy="0"/>
          </a:xfrm>
          <a:prstGeom prst="line">
            <a:avLst/>
          </a:prstGeom>
          <a:ln w="16162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--D"/>
          <p:cNvCxnSpPr>
            <a:stCxn id="14" idx="1"/>
            <a:endCxn id="15" idx="3"/>
          </p:cNvCxnSpPr>
          <p:nvPr/>
        </p:nvCxnSpPr>
        <p:spPr>
          <a:xfrm flipH="1" flipV="1">
            <a:off x="1921446" y="2896567"/>
            <a:ext cx="969699" cy="818183"/>
          </a:xfrm>
          <a:prstGeom prst="line">
            <a:avLst/>
          </a:prstGeom>
          <a:ln w="16162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EdgeLabel"/>
          <p:cNvSpPr txBox="1"/>
          <p:nvPr/>
        </p:nvSpPr>
        <p:spPr>
          <a:xfrm>
            <a:off x="2099870" y="3160203"/>
            <a:ext cx="612850" cy="29091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48485" tIns="0" rIns="48485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18" dirty="0">
                <a:solidFill>
                  <a:srgbClr val="000000"/>
                </a:solidFill>
              </a:rPr>
              <a:t>oui</a:t>
            </a:r>
          </a:p>
        </p:txBody>
      </p:sp>
      <p:cxnSp>
        <p:nvCxnSpPr>
          <p:cNvPr id="21" name="C--E"/>
          <p:cNvCxnSpPr>
            <a:stCxn id="14" idx="1"/>
            <a:endCxn id="16" idx="3"/>
          </p:cNvCxnSpPr>
          <p:nvPr/>
        </p:nvCxnSpPr>
        <p:spPr>
          <a:xfrm flipH="1">
            <a:off x="1921446" y="3714750"/>
            <a:ext cx="969699" cy="818184"/>
          </a:xfrm>
          <a:prstGeom prst="line">
            <a:avLst/>
          </a:prstGeom>
          <a:ln w="16162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EdgeLabel"/>
          <p:cNvSpPr txBox="1"/>
          <p:nvPr/>
        </p:nvSpPr>
        <p:spPr>
          <a:xfrm>
            <a:off x="2099870" y="3978387"/>
            <a:ext cx="612850" cy="29091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48485" tIns="0" rIns="48485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18" dirty="0">
                <a:solidFill>
                  <a:srgbClr val="000000"/>
                </a:solidFill>
              </a:rPr>
              <a:t>non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sankey</a:t>
            </a:r>
          </a:p>
        </p:txBody>
      </p:sp>
      <p:sp>
        <p:nvSpPr>
          <p:cNvPr id="11" name="Shape 1"/>
          <p:cNvSpPr/>
          <p:nvPr/>
        </p:nvSpPr>
        <p:spPr>
          <a:xfrm>
            <a:off x="4469448" y="1327150"/>
            <a:ext cx="3253105" cy="186512"/>
          </a:xfrm>
          <a:custGeom>
            <a:avLst/>
            <a:gdLst/>
            <a:ahLst/>
            <a:cxnLst/>
            <a:rect l="0" t="0" r="0" b="0"/>
            <a:pathLst>
              <a:path w="2076450" h="119050">
                <a:moveTo>
                  <a:pt x="0" y="115207"/>
                </a:moveTo>
                <a:lnTo>
                  <a:pt x="183007" y="113914"/>
                </a:lnTo>
                <a:lnTo>
                  <a:pt x="344723" y="110257"/>
                </a:lnTo>
                <a:lnTo>
                  <a:pt x="488189" y="104575"/>
                </a:lnTo>
                <a:lnTo>
                  <a:pt x="616446" y="97206"/>
                </a:lnTo>
                <a:lnTo>
                  <a:pt x="732537" y="88487"/>
                </a:lnTo>
                <a:lnTo>
                  <a:pt x="839502" y="78755"/>
                </a:lnTo>
                <a:lnTo>
                  <a:pt x="940384" y="68348"/>
                </a:lnTo>
                <a:lnTo>
                  <a:pt x="1038225" y="57604"/>
                </a:lnTo>
                <a:lnTo>
                  <a:pt x="1136066" y="46859"/>
                </a:lnTo>
                <a:lnTo>
                  <a:pt x="1236948" y="36452"/>
                </a:lnTo>
                <a:lnTo>
                  <a:pt x="1343913" y="26720"/>
                </a:lnTo>
                <a:lnTo>
                  <a:pt x="1460004" y="18001"/>
                </a:lnTo>
                <a:lnTo>
                  <a:pt x="1588261" y="10632"/>
                </a:lnTo>
                <a:lnTo>
                  <a:pt x="1731727" y="4950"/>
                </a:lnTo>
                <a:lnTo>
                  <a:pt x="1893443" y="1294"/>
                </a:lnTo>
                <a:lnTo>
                  <a:pt x="2076450" y="0"/>
                </a:lnTo>
                <a:lnTo>
                  <a:pt x="2076450" y="3843"/>
                </a:lnTo>
                <a:lnTo>
                  <a:pt x="1893443" y="5136"/>
                </a:lnTo>
                <a:lnTo>
                  <a:pt x="1731727" y="8793"/>
                </a:lnTo>
                <a:lnTo>
                  <a:pt x="1588261" y="14475"/>
                </a:lnTo>
                <a:lnTo>
                  <a:pt x="1460004" y="21844"/>
                </a:lnTo>
                <a:lnTo>
                  <a:pt x="1343913" y="30563"/>
                </a:lnTo>
                <a:lnTo>
                  <a:pt x="1236948" y="40295"/>
                </a:lnTo>
                <a:lnTo>
                  <a:pt x="1136066" y="50702"/>
                </a:lnTo>
                <a:lnTo>
                  <a:pt x="1038225" y="61446"/>
                </a:lnTo>
                <a:lnTo>
                  <a:pt x="940384" y="72191"/>
                </a:lnTo>
                <a:lnTo>
                  <a:pt x="839502" y="82598"/>
                </a:lnTo>
                <a:lnTo>
                  <a:pt x="732537" y="92330"/>
                </a:lnTo>
                <a:lnTo>
                  <a:pt x="616446" y="101049"/>
                </a:lnTo>
                <a:lnTo>
                  <a:pt x="488189" y="108418"/>
                </a:lnTo>
                <a:lnTo>
                  <a:pt x="344723" y="114100"/>
                </a:lnTo>
                <a:lnTo>
                  <a:pt x="183007" y="117756"/>
                </a:lnTo>
                <a:lnTo>
                  <a:pt x="0" y="119050"/>
                </a:lnTo>
                <a:close/>
              </a:path>
            </a:pathLst>
          </a:custGeom>
          <a:solidFill>
            <a:srgbClr val="ED7D31">
              <a:alpha val="45000"/>
            </a:srgbClr>
          </a:solidFill>
          <a:ln w="4974">
            <a:solidFill>
              <a:srgbClr val="ED7D31"/>
            </a:solidFill>
          </a:ln>
        </p:spPr>
      </p:sp>
      <p:sp>
        <p:nvSpPr>
          <p:cNvPr id="12" name="Shape 2"/>
          <p:cNvSpPr/>
          <p:nvPr/>
        </p:nvSpPr>
        <p:spPr>
          <a:xfrm>
            <a:off x="1007428" y="1507641"/>
            <a:ext cx="3253105" cy="2553635"/>
          </a:xfrm>
          <a:custGeom>
            <a:avLst/>
            <a:gdLst/>
            <a:ahLst/>
            <a:cxnLst/>
            <a:rect l="0" t="0" r="0" b="0"/>
            <a:pathLst>
              <a:path w="2076450" h="1629980">
                <a:moveTo>
                  <a:pt x="0" y="827154"/>
                </a:moveTo>
                <a:lnTo>
                  <a:pt x="183007" y="817864"/>
                </a:lnTo>
                <a:lnTo>
                  <a:pt x="344723" y="791612"/>
                </a:lnTo>
                <a:lnTo>
                  <a:pt x="488189" y="750820"/>
                </a:lnTo>
                <a:lnTo>
                  <a:pt x="616446" y="697911"/>
                </a:lnTo>
                <a:lnTo>
                  <a:pt x="732537" y="635309"/>
                </a:lnTo>
                <a:lnTo>
                  <a:pt x="839502" y="565437"/>
                </a:lnTo>
                <a:lnTo>
                  <a:pt x="940384" y="490719"/>
                </a:lnTo>
                <a:lnTo>
                  <a:pt x="1038225" y="413577"/>
                </a:lnTo>
                <a:lnTo>
                  <a:pt x="1136066" y="336435"/>
                </a:lnTo>
                <a:lnTo>
                  <a:pt x="1236948" y="261717"/>
                </a:lnTo>
                <a:lnTo>
                  <a:pt x="1343913" y="191845"/>
                </a:lnTo>
                <a:lnTo>
                  <a:pt x="1460004" y="129243"/>
                </a:lnTo>
                <a:lnTo>
                  <a:pt x="1588261" y="76334"/>
                </a:lnTo>
                <a:lnTo>
                  <a:pt x="1731727" y="35542"/>
                </a:lnTo>
                <a:lnTo>
                  <a:pt x="1893443" y="9290"/>
                </a:lnTo>
                <a:lnTo>
                  <a:pt x="2076450" y="0"/>
                </a:lnTo>
                <a:lnTo>
                  <a:pt x="2076450" y="802827"/>
                </a:lnTo>
                <a:lnTo>
                  <a:pt x="1893443" y="812116"/>
                </a:lnTo>
                <a:lnTo>
                  <a:pt x="1731727" y="838368"/>
                </a:lnTo>
                <a:lnTo>
                  <a:pt x="1588261" y="879161"/>
                </a:lnTo>
                <a:lnTo>
                  <a:pt x="1460004" y="932069"/>
                </a:lnTo>
                <a:lnTo>
                  <a:pt x="1343913" y="994671"/>
                </a:lnTo>
                <a:lnTo>
                  <a:pt x="1236948" y="1064543"/>
                </a:lnTo>
                <a:lnTo>
                  <a:pt x="1136066" y="1139261"/>
                </a:lnTo>
                <a:lnTo>
                  <a:pt x="1038225" y="1216403"/>
                </a:lnTo>
                <a:lnTo>
                  <a:pt x="940384" y="1293545"/>
                </a:lnTo>
                <a:lnTo>
                  <a:pt x="839502" y="1368263"/>
                </a:lnTo>
                <a:lnTo>
                  <a:pt x="732537" y="1438135"/>
                </a:lnTo>
                <a:lnTo>
                  <a:pt x="616446" y="1500737"/>
                </a:lnTo>
                <a:lnTo>
                  <a:pt x="488189" y="1553646"/>
                </a:lnTo>
                <a:lnTo>
                  <a:pt x="344723" y="1594438"/>
                </a:lnTo>
                <a:lnTo>
                  <a:pt x="183007" y="1620690"/>
                </a:lnTo>
                <a:lnTo>
                  <a:pt x="0" y="1629980"/>
                </a:lnTo>
                <a:close/>
              </a:path>
            </a:pathLst>
          </a:custGeom>
          <a:solidFill>
            <a:srgbClr val="4472C4">
              <a:alpha val="45000"/>
            </a:srgbClr>
          </a:solidFill>
          <a:ln w="4974">
            <a:solidFill>
              <a:srgbClr val="4472C4"/>
            </a:solidFill>
          </a:ln>
        </p:spPr>
      </p:sp>
      <p:sp>
        <p:nvSpPr>
          <p:cNvPr id="13" name="Shape 3"/>
          <p:cNvSpPr/>
          <p:nvPr/>
        </p:nvSpPr>
        <p:spPr>
          <a:xfrm>
            <a:off x="4469448" y="1513662"/>
            <a:ext cx="3253105" cy="552206"/>
          </a:xfrm>
          <a:custGeom>
            <a:avLst/>
            <a:gdLst/>
            <a:ahLst/>
            <a:cxnLst/>
            <a:rect l="0" t="0" r="0" b="0"/>
            <a:pathLst>
              <a:path w="2076450" h="352472">
                <a:moveTo>
                  <a:pt x="0" y="0"/>
                </a:moveTo>
                <a:lnTo>
                  <a:pt x="183007" y="2017"/>
                </a:lnTo>
                <a:lnTo>
                  <a:pt x="344723" y="7716"/>
                </a:lnTo>
                <a:lnTo>
                  <a:pt x="488189" y="16572"/>
                </a:lnTo>
                <a:lnTo>
                  <a:pt x="616446" y="28058"/>
                </a:lnTo>
                <a:lnTo>
                  <a:pt x="732537" y="41649"/>
                </a:lnTo>
                <a:lnTo>
                  <a:pt x="839502" y="56818"/>
                </a:lnTo>
                <a:lnTo>
                  <a:pt x="940384" y="73039"/>
                </a:lnTo>
                <a:lnTo>
                  <a:pt x="1038225" y="89787"/>
                </a:lnTo>
                <a:lnTo>
                  <a:pt x="1136066" y="106534"/>
                </a:lnTo>
                <a:lnTo>
                  <a:pt x="1236948" y="122755"/>
                </a:lnTo>
                <a:lnTo>
                  <a:pt x="1343913" y="137924"/>
                </a:lnTo>
                <a:lnTo>
                  <a:pt x="1460004" y="151515"/>
                </a:lnTo>
                <a:lnTo>
                  <a:pt x="1588261" y="163001"/>
                </a:lnTo>
                <a:lnTo>
                  <a:pt x="1731727" y="171857"/>
                </a:lnTo>
                <a:lnTo>
                  <a:pt x="1893443" y="177556"/>
                </a:lnTo>
                <a:lnTo>
                  <a:pt x="2076450" y="179573"/>
                </a:lnTo>
                <a:lnTo>
                  <a:pt x="2076450" y="352472"/>
                </a:lnTo>
                <a:lnTo>
                  <a:pt x="1893443" y="350455"/>
                </a:lnTo>
                <a:lnTo>
                  <a:pt x="1731727" y="344756"/>
                </a:lnTo>
                <a:lnTo>
                  <a:pt x="1588261" y="335900"/>
                </a:lnTo>
                <a:lnTo>
                  <a:pt x="1460004" y="324414"/>
                </a:lnTo>
                <a:lnTo>
                  <a:pt x="1343913" y="310823"/>
                </a:lnTo>
                <a:lnTo>
                  <a:pt x="1236948" y="295654"/>
                </a:lnTo>
                <a:lnTo>
                  <a:pt x="1136066" y="279433"/>
                </a:lnTo>
                <a:lnTo>
                  <a:pt x="1038225" y="262686"/>
                </a:lnTo>
                <a:lnTo>
                  <a:pt x="940384" y="245938"/>
                </a:lnTo>
                <a:lnTo>
                  <a:pt x="839502" y="229717"/>
                </a:lnTo>
                <a:lnTo>
                  <a:pt x="732537" y="214548"/>
                </a:lnTo>
                <a:lnTo>
                  <a:pt x="616446" y="200957"/>
                </a:lnTo>
                <a:lnTo>
                  <a:pt x="488189" y="189471"/>
                </a:lnTo>
                <a:lnTo>
                  <a:pt x="344723" y="180615"/>
                </a:lnTo>
                <a:lnTo>
                  <a:pt x="183007" y="174916"/>
                </a:lnTo>
                <a:lnTo>
                  <a:pt x="0" y="172899"/>
                </a:lnTo>
                <a:close/>
              </a:path>
            </a:pathLst>
          </a:custGeom>
          <a:solidFill>
            <a:srgbClr val="ED7D31">
              <a:alpha val="45000"/>
            </a:srgbClr>
          </a:solidFill>
          <a:ln w="4974">
            <a:solidFill>
              <a:srgbClr val="ED7D31"/>
            </a:solidFill>
          </a:ln>
        </p:spPr>
      </p:sp>
      <p:sp>
        <p:nvSpPr>
          <p:cNvPr id="14" name="Shape 4"/>
          <p:cNvSpPr/>
          <p:nvPr/>
        </p:nvSpPr>
        <p:spPr>
          <a:xfrm>
            <a:off x="4469448" y="2065868"/>
            <a:ext cx="3253105" cy="3855991"/>
          </a:xfrm>
          <a:custGeom>
            <a:avLst/>
            <a:gdLst/>
            <a:ahLst/>
            <a:cxnLst/>
            <a:rect l="0" t="0" r="0" b="0"/>
            <a:pathLst>
              <a:path w="2076450" h="2461271">
                <a:moveTo>
                  <a:pt x="0" y="1974853"/>
                </a:moveTo>
                <a:lnTo>
                  <a:pt x="183007" y="1952675"/>
                </a:lnTo>
                <a:lnTo>
                  <a:pt x="344723" y="1889996"/>
                </a:lnTo>
                <a:lnTo>
                  <a:pt x="488189" y="1792603"/>
                </a:lnTo>
                <a:lnTo>
                  <a:pt x="616446" y="1666282"/>
                </a:lnTo>
                <a:lnTo>
                  <a:pt x="732537" y="1516818"/>
                </a:lnTo>
                <a:lnTo>
                  <a:pt x="839502" y="1349997"/>
                </a:lnTo>
                <a:lnTo>
                  <a:pt x="940384" y="1171605"/>
                </a:lnTo>
                <a:lnTo>
                  <a:pt x="1038225" y="987427"/>
                </a:lnTo>
                <a:lnTo>
                  <a:pt x="1136066" y="803248"/>
                </a:lnTo>
                <a:lnTo>
                  <a:pt x="1236948" y="624856"/>
                </a:lnTo>
                <a:lnTo>
                  <a:pt x="1343913" y="458035"/>
                </a:lnTo>
                <a:lnTo>
                  <a:pt x="1460004" y="308571"/>
                </a:lnTo>
                <a:lnTo>
                  <a:pt x="1588261" y="182250"/>
                </a:lnTo>
                <a:lnTo>
                  <a:pt x="1731727" y="84857"/>
                </a:lnTo>
                <a:lnTo>
                  <a:pt x="1893443" y="22179"/>
                </a:lnTo>
                <a:lnTo>
                  <a:pt x="2076450" y="0"/>
                </a:lnTo>
                <a:lnTo>
                  <a:pt x="2076450" y="486418"/>
                </a:lnTo>
                <a:lnTo>
                  <a:pt x="1893443" y="508596"/>
                </a:lnTo>
                <a:lnTo>
                  <a:pt x="1731727" y="571275"/>
                </a:lnTo>
                <a:lnTo>
                  <a:pt x="1588261" y="668667"/>
                </a:lnTo>
                <a:lnTo>
                  <a:pt x="1460004" y="794988"/>
                </a:lnTo>
                <a:lnTo>
                  <a:pt x="1343913" y="944452"/>
                </a:lnTo>
                <a:lnTo>
                  <a:pt x="1236948" y="1111273"/>
                </a:lnTo>
                <a:lnTo>
                  <a:pt x="1136066" y="1289666"/>
                </a:lnTo>
                <a:lnTo>
                  <a:pt x="1038225" y="1473844"/>
                </a:lnTo>
                <a:lnTo>
                  <a:pt x="940384" y="1658022"/>
                </a:lnTo>
                <a:lnTo>
                  <a:pt x="839502" y="1836415"/>
                </a:lnTo>
                <a:lnTo>
                  <a:pt x="732537" y="2003236"/>
                </a:lnTo>
                <a:lnTo>
                  <a:pt x="616446" y="2152700"/>
                </a:lnTo>
                <a:lnTo>
                  <a:pt x="488189" y="2279021"/>
                </a:lnTo>
                <a:lnTo>
                  <a:pt x="344723" y="2376414"/>
                </a:lnTo>
                <a:lnTo>
                  <a:pt x="183007" y="2439092"/>
                </a:lnTo>
                <a:lnTo>
                  <a:pt x="0" y="2461271"/>
                </a:lnTo>
                <a:close/>
              </a:path>
            </a:pathLst>
          </a:custGeom>
          <a:solidFill>
            <a:srgbClr val="2E8B8B">
              <a:alpha val="45000"/>
            </a:srgbClr>
          </a:solidFill>
          <a:ln w="4974">
            <a:solidFill>
              <a:srgbClr val="2E8B8B"/>
            </a:solidFill>
          </a:ln>
        </p:spPr>
      </p:sp>
      <p:sp>
        <p:nvSpPr>
          <p:cNvPr id="15" name="Shape 5"/>
          <p:cNvSpPr/>
          <p:nvPr/>
        </p:nvSpPr>
        <p:spPr>
          <a:xfrm>
            <a:off x="4469448" y="1784537"/>
            <a:ext cx="6715125" cy="1143187"/>
          </a:xfrm>
          <a:custGeom>
            <a:avLst/>
            <a:gdLst/>
            <a:ahLst/>
            <a:cxnLst/>
            <a:rect l="0" t="0" r="0" b="0"/>
            <a:pathLst>
              <a:path w="4286250" h="729694">
                <a:moveTo>
                  <a:pt x="0" y="0"/>
                </a:moveTo>
                <a:lnTo>
                  <a:pt x="377768" y="7472"/>
                </a:lnTo>
                <a:lnTo>
                  <a:pt x="711584" y="28588"/>
                </a:lnTo>
                <a:lnTo>
                  <a:pt x="1007729" y="61400"/>
                </a:lnTo>
                <a:lnTo>
                  <a:pt x="1272480" y="103958"/>
                </a:lnTo>
                <a:lnTo>
                  <a:pt x="1512117" y="154312"/>
                </a:lnTo>
                <a:lnTo>
                  <a:pt x="1732917" y="210514"/>
                </a:lnTo>
                <a:lnTo>
                  <a:pt x="1941161" y="270615"/>
                </a:lnTo>
                <a:lnTo>
                  <a:pt x="2143125" y="332664"/>
                </a:lnTo>
                <a:lnTo>
                  <a:pt x="2345089" y="394714"/>
                </a:lnTo>
                <a:lnTo>
                  <a:pt x="2553333" y="454814"/>
                </a:lnTo>
                <a:lnTo>
                  <a:pt x="2774133" y="511016"/>
                </a:lnTo>
                <a:lnTo>
                  <a:pt x="3013770" y="561371"/>
                </a:lnTo>
                <a:lnTo>
                  <a:pt x="3278521" y="603928"/>
                </a:lnTo>
                <a:lnTo>
                  <a:pt x="3574666" y="636740"/>
                </a:lnTo>
                <a:lnTo>
                  <a:pt x="3908482" y="657856"/>
                </a:lnTo>
                <a:lnTo>
                  <a:pt x="4286250" y="665328"/>
                </a:lnTo>
                <a:lnTo>
                  <a:pt x="4286250" y="729694"/>
                </a:lnTo>
                <a:lnTo>
                  <a:pt x="3908482" y="722222"/>
                </a:lnTo>
                <a:lnTo>
                  <a:pt x="3574666" y="701106"/>
                </a:lnTo>
                <a:lnTo>
                  <a:pt x="3278521" y="668294"/>
                </a:lnTo>
                <a:lnTo>
                  <a:pt x="3013770" y="625736"/>
                </a:lnTo>
                <a:lnTo>
                  <a:pt x="2774133" y="575382"/>
                </a:lnTo>
                <a:lnTo>
                  <a:pt x="2553333" y="519180"/>
                </a:lnTo>
                <a:lnTo>
                  <a:pt x="2345089" y="459079"/>
                </a:lnTo>
                <a:lnTo>
                  <a:pt x="2143125" y="397030"/>
                </a:lnTo>
                <a:lnTo>
                  <a:pt x="1941161" y="334980"/>
                </a:lnTo>
                <a:lnTo>
                  <a:pt x="1732917" y="274880"/>
                </a:lnTo>
                <a:lnTo>
                  <a:pt x="1512117" y="218678"/>
                </a:lnTo>
                <a:lnTo>
                  <a:pt x="1272480" y="168323"/>
                </a:lnTo>
                <a:lnTo>
                  <a:pt x="1007729" y="125766"/>
                </a:lnTo>
                <a:lnTo>
                  <a:pt x="711584" y="92954"/>
                </a:lnTo>
                <a:lnTo>
                  <a:pt x="377768" y="71838"/>
                </a:lnTo>
                <a:lnTo>
                  <a:pt x="0" y="64366"/>
                </a:lnTo>
                <a:close/>
              </a:path>
            </a:pathLst>
          </a:custGeom>
          <a:solidFill>
            <a:srgbClr val="ED7D31">
              <a:alpha val="45000"/>
            </a:srgbClr>
          </a:solidFill>
          <a:ln w="4974">
            <a:solidFill>
              <a:srgbClr val="ED7D31"/>
            </a:solidFill>
          </a:ln>
        </p:spPr>
      </p:sp>
      <p:sp>
        <p:nvSpPr>
          <p:cNvPr id="16" name="Shape 6"/>
          <p:cNvSpPr/>
          <p:nvPr/>
        </p:nvSpPr>
        <p:spPr>
          <a:xfrm>
            <a:off x="4469448" y="1885377"/>
            <a:ext cx="3253105" cy="4216973"/>
          </a:xfrm>
          <a:custGeom>
            <a:avLst/>
            <a:gdLst/>
            <a:ahLst/>
            <a:cxnLst/>
            <a:rect l="0" t="0" r="0" b="0"/>
            <a:pathLst>
              <a:path w="2076450" h="2691685">
                <a:moveTo>
                  <a:pt x="0" y="0"/>
                </a:moveTo>
                <a:lnTo>
                  <a:pt x="183007" y="9965"/>
                </a:lnTo>
                <a:lnTo>
                  <a:pt x="344723" y="38129"/>
                </a:lnTo>
                <a:lnTo>
                  <a:pt x="488189" y="81891"/>
                </a:lnTo>
                <a:lnTo>
                  <a:pt x="616446" y="138652"/>
                </a:lnTo>
                <a:lnTo>
                  <a:pt x="732537" y="205812"/>
                </a:lnTo>
                <a:lnTo>
                  <a:pt x="839502" y="280771"/>
                </a:lnTo>
                <a:lnTo>
                  <a:pt x="940384" y="360929"/>
                </a:lnTo>
                <a:lnTo>
                  <a:pt x="1038225" y="443687"/>
                </a:lnTo>
                <a:lnTo>
                  <a:pt x="1136066" y="526445"/>
                </a:lnTo>
                <a:lnTo>
                  <a:pt x="1236948" y="606604"/>
                </a:lnTo>
                <a:lnTo>
                  <a:pt x="1343913" y="681563"/>
                </a:lnTo>
                <a:lnTo>
                  <a:pt x="1460004" y="748722"/>
                </a:lnTo>
                <a:lnTo>
                  <a:pt x="1588261" y="805483"/>
                </a:lnTo>
                <a:lnTo>
                  <a:pt x="1731727" y="849245"/>
                </a:lnTo>
                <a:lnTo>
                  <a:pt x="1893443" y="877409"/>
                </a:lnTo>
                <a:lnTo>
                  <a:pt x="2076450" y="887375"/>
                </a:lnTo>
                <a:lnTo>
                  <a:pt x="2076450" y="2691685"/>
                </a:lnTo>
                <a:lnTo>
                  <a:pt x="1893443" y="2681719"/>
                </a:lnTo>
                <a:lnTo>
                  <a:pt x="1731727" y="2653556"/>
                </a:lnTo>
                <a:lnTo>
                  <a:pt x="1588261" y="2609793"/>
                </a:lnTo>
                <a:lnTo>
                  <a:pt x="1460004" y="2553033"/>
                </a:lnTo>
                <a:lnTo>
                  <a:pt x="1343913" y="2485873"/>
                </a:lnTo>
                <a:lnTo>
                  <a:pt x="1236948" y="2410914"/>
                </a:lnTo>
                <a:lnTo>
                  <a:pt x="1136066" y="2330756"/>
                </a:lnTo>
                <a:lnTo>
                  <a:pt x="1038225" y="2247998"/>
                </a:lnTo>
                <a:lnTo>
                  <a:pt x="940384" y="2165239"/>
                </a:lnTo>
                <a:lnTo>
                  <a:pt x="839502" y="2085081"/>
                </a:lnTo>
                <a:lnTo>
                  <a:pt x="732537" y="2010122"/>
                </a:lnTo>
                <a:lnTo>
                  <a:pt x="616446" y="1942962"/>
                </a:lnTo>
                <a:lnTo>
                  <a:pt x="488189" y="1886202"/>
                </a:lnTo>
                <a:lnTo>
                  <a:pt x="344723" y="1842439"/>
                </a:lnTo>
                <a:lnTo>
                  <a:pt x="183007" y="1814276"/>
                </a:lnTo>
                <a:lnTo>
                  <a:pt x="0" y="1804310"/>
                </a:lnTo>
                <a:close/>
              </a:path>
            </a:pathLst>
          </a:custGeom>
          <a:solidFill>
            <a:srgbClr val="ED7D31">
              <a:alpha val="45000"/>
            </a:srgbClr>
          </a:solidFill>
          <a:ln w="4974">
            <a:solidFill>
              <a:srgbClr val="ED7D31"/>
            </a:solidFill>
          </a:ln>
        </p:spPr>
      </p:sp>
      <p:sp>
        <p:nvSpPr>
          <p:cNvPr id="17" name="Shape 7"/>
          <p:cNvSpPr/>
          <p:nvPr/>
        </p:nvSpPr>
        <p:spPr>
          <a:xfrm>
            <a:off x="7931468" y="3275598"/>
            <a:ext cx="3253105" cy="1327018"/>
          </a:xfrm>
          <a:custGeom>
            <a:avLst/>
            <a:gdLst/>
            <a:ahLst/>
            <a:cxnLst/>
            <a:rect l="0" t="0" r="0" b="0"/>
            <a:pathLst>
              <a:path w="2076450" h="847033">
                <a:moveTo>
                  <a:pt x="0" y="0"/>
                </a:moveTo>
                <a:lnTo>
                  <a:pt x="183007" y="3766"/>
                </a:lnTo>
                <a:lnTo>
                  <a:pt x="344723" y="14408"/>
                </a:lnTo>
                <a:lnTo>
                  <a:pt x="488189" y="30945"/>
                </a:lnTo>
                <a:lnTo>
                  <a:pt x="616446" y="52394"/>
                </a:lnTo>
                <a:lnTo>
                  <a:pt x="732537" y="77773"/>
                </a:lnTo>
                <a:lnTo>
                  <a:pt x="839502" y="106099"/>
                </a:lnTo>
                <a:lnTo>
                  <a:pt x="940384" y="136390"/>
                </a:lnTo>
                <a:lnTo>
                  <a:pt x="1038225" y="167663"/>
                </a:lnTo>
                <a:lnTo>
                  <a:pt x="1136066" y="198936"/>
                </a:lnTo>
                <a:lnTo>
                  <a:pt x="1236948" y="229227"/>
                </a:lnTo>
                <a:lnTo>
                  <a:pt x="1343913" y="257552"/>
                </a:lnTo>
                <a:lnTo>
                  <a:pt x="1460004" y="282931"/>
                </a:lnTo>
                <a:lnTo>
                  <a:pt x="1588261" y="304380"/>
                </a:lnTo>
                <a:lnTo>
                  <a:pt x="1731727" y="320917"/>
                </a:lnTo>
                <a:lnTo>
                  <a:pt x="1893443" y="331560"/>
                </a:lnTo>
                <a:lnTo>
                  <a:pt x="2076450" y="335326"/>
                </a:lnTo>
                <a:lnTo>
                  <a:pt x="2076450" y="847033"/>
                </a:lnTo>
                <a:lnTo>
                  <a:pt x="1893443" y="843267"/>
                </a:lnTo>
                <a:lnTo>
                  <a:pt x="1731727" y="832624"/>
                </a:lnTo>
                <a:lnTo>
                  <a:pt x="1588261" y="816087"/>
                </a:lnTo>
                <a:lnTo>
                  <a:pt x="1460004" y="794638"/>
                </a:lnTo>
                <a:lnTo>
                  <a:pt x="1343913" y="769259"/>
                </a:lnTo>
                <a:lnTo>
                  <a:pt x="1236948" y="740933"/>
                </a:lnTo>
                <a:lnTo>
                  <a:pt x="1136066" y="710643"/>
                </a:lnTo>
                <a:lnTo>
                  <a:pt x="1038225" y="679370"/>
                </a:lnTo>
                <a:lnTo>
                  <a:pt x="940384" y="648096"/>
                </a:lnTo>
                <a:lnTo>
                  <a:pt x="839502" y="617806"/>
                </a:lnTo>
                <a:lnTo>
                  <a:pt x="732537" y="589480"/>
                </a:lnTo>
                <a:lnTo>
                  <a:pt x="616446" y="564101"/>
                </a:lnTo>
                <a:lnTo>
                  <a:pt x="488189" y="542652"/>
                </a:lnTo>
                <a:lnTo>
                  <a:pt x="344723" y="526115"/>
                </a:lnTo>
                <a:lnTo>
                  <a:pt x="183007" y="515472"/>
                </a:lnTo>
                <a:lnTo>
                  <a:pt x="0" y="511706"/>
                </a:lnTo>
                <a:close/>
              </a:path>
            </a:pathLst>
          </a:custGeom>
          <a:solidFill>
            <a:srgbClr val="7030A0">
              <a:alpha val="45000"/>
            </a:srgbClr>
          </a:solidFill>
          <a:ln w="4974">
            <a:solidFill>
              <a:srgbClr val="7030A0"/>
            </a:solidFill>
          </a:ln>
        </p:spPr>
      </p:sp>
      <p:sp>
        <p:nvSpPr>
          <p:cNvPr id="18" name="Shape 8"/>
          <p:cNvSpPr/>
          <p:nvPr/>
        </p:nvSpPr>
        <p:spPr>
          <a:xfrm>
            <a:off x="7931468" y="1794993"/>
            <a:ext cx="3253105" cy="2005949"/>
          </a:xfrm>
          <a:custGeom>
            <a:avLst/>
            <a:gdLst/>
            <a:ahLst/>
            <a:cxnLst/>
            <a:rect l="0" t="0" r="0" b="0"/>
            <a:pathLst>
              <a:path w="2076450" h="1280393">
                <a:moveTo>
                  <a:pt x="0" y="0"/>
                </a:moveTo>
                <a:lnTo>
                  <a:pt x="183007" y="11474"/>
                </a:lnTo>
                <a:lnTo>
                  <a:pt x="344723" y="43899"/>
                </a:lnTo>
                <a:lnTo>
                  <a:pt x="488189" y="94283"/>
                </a:lnTo>
                <a:lnTo>
                  <a:pt x="616446" y="159632"/>
                </a:lnTo>
                <a:lnTo>
                  <a:pt x="732537" y="236953"/>
                </a:lnTo>
                <a:lnTo>
                  <a:pt x="839502" y="323254"/>
                </a:lnTo>
                <a:lnTo>
                  <a:pt x="940384" y="415541"/>
                </a:lnTo>
                <a:lnTo>
                  <a:pt x="1038225" y="510822"/>
                </a:lnTo>
                <a:lnTo>
                  <a:pt x="1136066" y="606102"/>
                </a:lnTo>
                <a:lnTo>
                  <a:pt x="1236948" y="698389"/>
                </a:lnTo>
                <a:lnTo>
                  <a:pt x="1343913" y="784690"/>
                </a:lnTo>
                <a:lnTo>
                  <a:pt x="1460004" y="862011"/>
                </a:lnTo>
                <a:lnTo>
                  <a:pt x="1588261" y="927361"/>
                </a:lnTo>
                <a:lnTo>
                  <a:pt x="1731727" y="977744"/>
                </a:lnTo>
                <a:lnTo>
                  <a:pt x="1893443" y="1010170"/>
                </a:lnTo>
                <a:lnTo>
                  <a:pt x="2076450" y="1021643"/>
                </a:lnTo>
                <a:lnTo>
                  <a:pt x="2076450" y="1280393"/>
                </a:lnTo>
                <a:lnTo>
                  <a:pt x="1893443" y="1268919"/>
                </a:lnTo>
                <a:lnTo>
                  <a:pt x="1731727" y="1236494"/>
                </a:lnTo>
                <a:lnTo>
                  <a:pt x="1588261" y="1186110"/>
                </a:lnTo>
                <a:lnTo>
                  <a:pt x="1460004" y="1120761"/>
                </a:lnTo>
                <a:lnTo>
                  <a:pt x="1343913" y="1043440"/>
                </a:lnTo>
                <a:lnTo>
                  <a:pt x="1236948" y="957139"/>
                </a:lnTo>
                <a:lnTo>
                  <a:pt x="1136066" y="864852"/>
                </a:lnTo>
                <a:lnTo>
                  <a:pt x="1038225" y="769571"/>
                </a:lnTo>
                <a:lnTo>
                  <a:pt x="940384" y="674291"/>
                </a:lnTo>
                <a:lnTo>
                  <a:pt x="839502" y="582004"/>
                </a:lnTo>
                <a:lnTo>
                  <a:pt x="732537" y="495703"/>
                </a:lnTo>
                <a:lnTo>
                  <a:pt x="616446" y="418382"/>
                </a:lnTo>
                <a:lnTo>
                  <a:pt x="488189" y="353032"/>
                </a:lnTo>
                <a:lnTo>
                  <a:pt x="344723" y="302649"/>
                </a:lnTo>
                <a:lnTo>
                  <a:pt x="183007" y="270224"/>
                </a:lnTo>
                <a:lnTo>
                  <a:pt x="0" y="258750"/>
                </a:lnTo>
                <a:close/>
              </a:path>
            </a:pathLst>
          </a:custGeom>
          <a:solidFill>
            <a:srgbClr val="FFC000">
              <a:alpha val="45000"/>
            </a:srgbClr>
          </a:solidFill>
          <a:ln w="4974">
            <a:solidFill>
              <a:srgbClr val="FFC000"/>
            </a:solidFill>
          </a:ln>
        </p:spPr>
      </p:sp>
      <p:sp>
        <p:nvSpPr>
          <p:cNvPr id="19" name="Shape 9"/>
          <p:cNvSpPr/>
          <p:nvPr/>
        </p:nvSpPr>
        <p:spPr>
          <a:xfrm>
            <a:off x="7931468" y="1327150"/>
            <a:ext cx="3253105" cy="2068417"/>
          </a:xfrm>
          <a:custGeom>
            <a:avLst/>
            <a:gdLst/>
            <a:ahLst/>
            <a:cxnLst/>
            <a:rect l="0" t="0" r="0" b="0"/>
            <a:pathLst>
              <a:path w="2076450" h="1320266">
                <a:moveTo>
                  <a:pt x="0" y="0"/>
                </a:moveTo>
                <a:lnTo>
                  <a:pt x="183007" y="14683"/>
                </a:lnTo>
                <a:lnTo>
                  <a:pt x="344723" y="56177"/>
                </a:lnTo>
                <a:lnTo>
                  <a:pt x="488189" y="120653"/>
                </a:lnTo>
                <a:lnTo>
                  <a:pt x="616446" y="204280"/>
                </a:lnTo>
                <a:lnTo>
                  <a:pt x="732537" y="303228"/>
                </a:lnTo>
                <a:lnTo>
                  <a:pt x="839502" y="413667"/>
                </a:lnTo>
                <a:lnTo>
                  <a:pt x="940384" y="531767"/>
                </a:lnTo>
                <a:lnTo>
                  <a:pt x="1038225" y="653696"/>
                </a:lnTo>
                <a:lnTo>
                  <a:pt x="1136066" y="775626"/>
                </a:lnTo>
                <a:lnTo>
                  <a:pt x="1236948" y="893726"/>
                </a:lnTo>
                <a:lnTo>
                  <a:pt x="1343913" y="1004165"/>
                </a:lnTo>
                <a:lnTo>
                  <a:pt x="1460004" y="1103113"/>
                </a:lnTo>
                <a:lnTo>
                  <a:pt x="1588261" y="1186740"/>
                </a:lnTo>
                <a:lnTo>
                  <a:pt x="1731727" y="1251216"/>
                </a:lnTo>
                <a:lnTo>
                  <a:pt x="1893443" y="1292710"/>
                </a:lnTo>
                <a:lnTo>
                  <a:pt x="2076450" y="1307393"/>
                </a:lnTo>
                <a:lnTo>
                  <a:pt x="2076450" y="1320266"/>
                </a:lnTo>
                <a:lnTo>
                  <a:pt x="1893443" y="1305583"/>
                </a:lnTo>
                <a:lnTo>
                  <a:pt x="1731727" y="1264089"/>
                </a:lnTo>
                <a:lnTo>
                  <a:pt x="1588261" y="1199613"/>
                </a:lnTo>
                <a:lnTo>
                  <a:pt x="1460004" y="1115986"/>
                </a:lnTo>
                <a:lnTo>
                  <a:pt x="1343913" y="1017038"/>
                </a:lnTo>
                <a:lnTo>
                  <a:pt x="1236948" y="906599"/>
                </a:lnTo>
                <a:lnTo>
                  <a:pt x="1136066" y="788499"/>
                </a:lnTo>
                <a:lnTo>
                  <a:pt x="1038225" y="666570"/>
                </a:lnTo>
                <a:lnTo>
                  <a:pt x="940384" y="544640"/>
                </a:lnTo>
                <a:lnTo>
                  <a:pt x="839502" y="426540"/>
                </a:lnTo>
                <a:lnTo>
                  <a:pt x="732537" y="316101"/>
                </a:lnTo>
                <a:lnTo>
                  <a:pt x="616446" y="217153"/>
                </a:lnTo>
                <a:lnTo>
                  <a:pt x="488189" y="133526"/>
                </a:lnTo>
                <a:lnTo>
                  <a:pt x="344723" y="69050"/>
                </a:lnTo>
                <a:lnTo>
                  <a:pt x="183007" y="27556"/>
                </a:lnTo>
                <a:lnTo>
                  <a:pt x="0" y="12873"/>
                </a:lnTo>
                <a:close/>
              </a:path>
            </a:pathLst>
          </a:custGeom>
          <a:solidFill>
            <a:srgbClr val="70AD47">
              <a:alpha val="45000"/>
            </a:srgbClr>
          </a:solidFill>
          <a:ln w="4974">
            <a:solidFill>
              <a:srgbClr val="70AD47"/>
            </a:solidFill>
          </a:ln>
        </p:spPr>
      </p:sp>
      <p:sp>
        <p:nvSpPr>
          <p:cNvPr id="20" name="Shape 10"/>
          <p:cNvSpPr/>
          <p:nvPr/>
        </p:nvSpPr>
        <p:spPr>
          <a:xfrm>
            <a:off x="1007428" y="4508951"/>
            <a:ext cx="3253105" cy="767888"/>
          </a:xfrm>
          <a:custGeom>
            <a:avLst/>
            <a:gdLst/>
            <a:ahLst/>
            <a:cxnLst/>
            <a:rect l="0" t="0" r="0" b="0"/>
            <a:pathLst>
              <a:path w="2076450" h="490141">
                <a:moveTo>
                  <a:pt x="0" y="0"/>
                </a:moveTo>
                <a:lnTo>
                  <a:pt x="183007" y="4665"/>
                </a:lnTo>
                <a:lnTo>
                  <a:pt x="344723" y="17851"/>
                </a:lnTo>
                <a:lnTo>
                  <a:pt x="488189" y="38338"/>
                </a:lnTo>
                <a:lnTo>
                  <a:pt x="616446" y="64912"/>
                </a:lnTo>
                <a:lnTo>
                  <a:pt x="732537" y="96354"/>
                </a:lnTo>
                <a:lnTo>
                  <a:pt x="839502" y="131447"/>
                </a:lnTo>
                <a:lnTo>
                  <a:pt x="940384" y="168974"/>
                </a:lnTo>
                <a:lnTo>
                  <a:pt x="1038225" y="207719"/>
                </a:lnTo>
                <a:lnTo>
                  <a:pt x="1136066" y="246463"/>
                </a:lnTo>
                <a:lnTo>
                  <a:pt x="1236948" y="283991"/>
                </a:lnTo>
                <a:lnTo>
                  <a:pt x="1343913" y="319084"/>
                </a:lnTo>
                <a:lnTo>
                  <a:pt x="1460004" y="350526"/>
                </a:lnTo>
                <a:lnTo>
                  <a:pt x="1588261" y="377099"/>
                </a:lnTo>
                <a:lnTo>
                  <a:pt x="1731727" y="397587"/>
                </a:lnTo>
                <a:lnTo>
                  <a:pt x="1893443" y="410772"/>
                </a:lnTo>
                <a:lnTo>
                  <a:pt x="2076450" y="415438"/>
                </a:lnTo>
                <a:lnTo>
                  <a:pt x="2076450" y="490141"/>
                </a:lnTo>
                <a:lnTo>
                  <a:pt x="1893443" y="485475"/>
                </a:lnTo>
                <a:lnTo>
                  <a:pt x="1731727" y="472290"/>
                </a:lnTo>
                <a:lnTo>
                  <a:pt x="1588261" y="451802"/>
                </a:lnTo>
                <a:lnTo>
                  <a:pt x="1460004" y="425229"/>
                </a:lnTo>
                <a:lnTo>
                  <a:pt x="1343913" y="393787"/>
                </a:lnTo>
                <a:lnTo>
                  <a:pt x="1236948" y="358693"/>
                </a:lnTo>
                <a:lnTo>
                  <a:pt x="1136066" y="321166"/>
                </a:lnTo>
                <a:lnTo>
                  <a:pt x="1038225" y="282422"/>
                </a:lnTo>
                <a:lnTo>
                  <a:pt x="940384" y="243677"/>
                </a:lnTo>
                <a:lnTo>
                  <a:pt x="839502" y="206150"/>
                </a:lnTo>
                <a:lnTo>
                  <a:pt x="732537" y="171057"/>
                </a:lnTo>
                <a:lnTo>
                  <a:pt x="616446" y="139615"/>
                </a:lnTo>
                <a:lnTo>
                  <a:pt x="488189" y="113041"/>
                </a:lnTo>
                <a:lnTo>
                  <a:pt x="344723" y="92553"/>
                </a:lnTo>
                <a:lnTo>
                  <a:pt x="183007" y="79368"/>
                </a:lnTo>
                <a:lnTo>
                  <a:pt x="0" y="74702"/>
                </a:lnTo>
                <a:close/>
              </a:path>
            </a:pathLst>
          </a:custGeom>
          <a:solidFill>
            <a:srgbClr val="C00000">
              <a:alpha val="45000"/>
            </a:srgbClr>
          </a:solidFill>
          <a:ln w="4974">
            <a:solidFill>
              <a:srgbClr val="C00000"/>
            </a:solidFill>
          </a:ln>
        </p:spPr>
      </p:sp>
      <p:sp>
        <p:nvSpPr>
          <p:cNvPr id="21" name="Box 11"/>
          <p:cNvSpPr/>
          <p:nvPr/>
        </p:nvSpPr>
        <p:spPr>
          <a:xfrm>
            <a:off x="798513" y="2803516"/>
            <a:ext cx="208915" cy="1257761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22" name="Box 12"/>
          <p:cNvSpPr/>
          <p:nvPr/>
        </p:nvSpPr>
        <p:spPr>
          <a:xfrm>
            <a:off x="4260533" y="1507641"/>
            <a:ext cx="208915" cy="3204488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23" name="Box 13"/>
          <p:cNvSpPr/>
          <p:nvPr/>
        </p:nvSpPr>
        <p:spPr>
          <a:xfrm>
            <a:off x="7722553" y="1327150"/>
            <a:ext cx="208915" cy="20168"/>
          </a:xfrm>
          <a:prstGeom prst="rect">
            <a:avLst/>
          </a:prstGeom>
          <a:solidFill>
            <a:srgbClr val="70AD47"/>
          </a:solidFill>
          <a:ln>
            <a:noFill/>
          </a:ln>
        </p:spPr>
      </p:sp>
      <p:sp>
        <p:nvSpPr>
          <p:cNvPr id="24" name="Box 14"/>
          <p:cNvSpPr/>
          <p:nvPr/>
        </p:nvSpPr>
        <p:spPr>
          <a:xfrm>
            <a:off x="7722553" y="1794993"/>
            <a:ext cx="208915" cy="1032930"/>
          </a:xfrm>
          <a:prstGeom prst="rect">
            <a:avLst/>
          </a:prstGeom>
          <a:solidFill>
            <a:srgbClr val="FFC000"/>
          </a:solidFill>
          <a:ln>
            <a:noFill/>
          </a:ln>
        </p:spPr>
      </p:sp>
      <p:sp>
        <p:nvSpPr>
          <p:cNvPr id="25" name="Box 15"/>
          <p:cNvSpPr/>
          <p:nvPr/>
        </p:nvSpPr>
        <p:spPr>
          <a:xfrm>
            <a:off x="7722553" y="3275598"/>
            <a:ext cx="208915" cy="2826752"/>
          </a:xfrm>
          <a:prstGeom prst="rect">
            <a:avLst/>
          </a:prstGeom>
          <a:solidFill>
            <a:srgbClr val="7030A0"/>
          </a:solidFill>
          <a:ln>
            <a:noFill/>
          </a:ln>
        </p:spPr>
      </p:sp>
      <p:sp>
        <p:nvSpPr>
          <p:cNvPr id="26" name="Box 16"/>
          <p:cNvSpPr/>
          <p:nvPr/>
        </p:nvSpPr>
        <p:spPr>
          <a:xfrm>
            <a:off x="11184573" y="2826884"/>
            <a:ext cx="208915" cy="100840"/>
          </a:xfrm>
          <a:prstGeom prst="rect">
            <a:avLst/>
          </a:prstGeom>
          <a:solidFill>
            <a:srgbClr val="5B9BD5"/>
          </a:solidFill>
          <a:ln>
            <a:noFill/>
          </a:ln>
        </p:spPr>
      </p:sp>
      <p:sp>
        <p:nvSpPr>
          <p:cNvPr id="27" name="Box 17"/>
          <p:cNvSpPr/>
          <p:nvPr/>
        </p:nvSpPr>
        <p:spPr>
          <a:xfrm>
            <a:off x="798513" y="4508951"/>
            <a:ext cx="208915" cy="117035"/>
          </a:xfrm>
          <a:prstGeom prst="rect">
            <a:avLst/>
          </a:prstGeom>
          <a:solidFill>
            <a:srgbClr val="C00000"/>
          </a:solidFill>
          <a:ln>
            <a:noFill/>
          </a:ln>
        </p:spPr>
      </p:sp>
      <p:sp>
        <p:nvSpPr>
          <p:cNvPr id="28" name="Box 18"/>
          <p:cNvSpPr/>
          <p:nvPr/>
        </p:nvSpPr>
        <p:spPr>
          <a:xfrm>
            <a:off x="4260533" y="5159804"/>
            <a:ext cx="208915" cy="762055"/>
          </a:xfrm>
          <a:prstGeom prst="rect">
            <a:avLst/>
          </a:prstGeom>
          <a:solidFill>
            <a:srgbClr val="2E8B8B"/>
          </a:solidFill>
          <a:ln>
            <a:noFill/>
          </a:ln>
        </p:spPr>
      </p:sp>
      <p:sp>
        <p:nvSpPr>
          <p:cNvPr id="29" name="Box 19"/>
          <p:cNvSpPr/>
          <p:nvPr/>
        </p:nvSpPr>
        <p:spPr>
          <a:xfrm>
            <a:off x="11184573" y="3375399"/>
            <a:ext cx="208915" cy="1227217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30" name="Box 20"/>
          <p:cNvSpPr/>
          <p:nvPr/>
        </p:nvSpPr>
        <p:spPr>
          <a:xfrm>
            <a:off x="1067118" y="3208558"/>
            <a:ext cx="2298065" cy="447675"/>
          </a:xfrm>
          <a:prstGeom prst="rect">
            <a:avLst/>
          </a:prstGeom>
          <a:noFill/>
          <a:ln>
            <a:noFill/>
          </a:ln>
        </p:spPr>
        <p:txBody>
          <a:bodyPr wrap="none" lIns="29845" tIns="0" rIns="29845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Agricultural 'waste'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124.73</a:t>
            </a:r>
          </a:p>
        </p:txBody>
      </p:sp>
      <p:sp>
        <p:nvSpPr>
          <p:cNvPr id="31" name="Box 21"/>
          <p:cNvSpPr/>
          <p:nvPr/>
        </p:nvSpPr>
        <p:spPr>
          <a:xfrm>
            <a:off x="4529138" y="2886048"/>
            <a:ext cx="1701165" cy="447675"/>
          </a:xfrm>
          <a:prstGeom prst="rect">
            <a:avLst/>
          </a:prstGeom>
          <a:noFill/>
          <a:ln>
            <a:noFill/>
          </a:ln>
        </p:spPr>
        <p:txBody>
          <a:bodyPr wrap="none" lIns="29845" tIns="0" rIns="29845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Bio-conversion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317.78</a:t>
            </a:r>
          </a:p>
        </p:txBody>
      </p:sp>
      <p:sp>
        <p:nvSpPr>
          <p:cNvPr id="32" name="Box 22"/>
          <p:cNvSpPr/>
          <p:nvPr/>
        </p:nvSpPr>
        <p:spPr>
          <a:xfrm>
            <a:off x="6812280" y="1113397"/>
            <a:ext cx="850583" cy="447675"/>
          </a:xfrm>
          <a:prstGeom prst="rect">
            <a:avLst/>
          </a:prstGeom>
          <a:noFill/>
          <a:ln>
            <a:noFill/>
          </a:ln>
        </p:spPr>
        <p:txBody>
          <a:bodyPr wrap="none" lIns="29845" tIns="0" rIns="29845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Liquid</a:t>
            </a:r>
          </a:p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2</a:t>
            </a:r>
          </a:p>
        </p:txBody>
      </p:sp>
      <p:sp>
        <p:nvSpPr>
          <p:cNvPr id="33" name="Box 23"/>
          <p:cNvSpPr/>
          <p:nvPr/>
        </p:nvSpPr>
        <p:spPr>
          <a:xfrm>
            <a:off x="6857048" y="2087619"/>
            <a:ext cx="805815" cy="447675"/>
          </a:xfrm>
          <a:prstGeom prst="rect">
            <a:avLst/>
          </a:prstGeom>
          <a:noFill/>
          <a:ln>
            <a:noFill/>
          </a:ln>
        </p:spPr>
        <p:txBody>
          <a:bodyPr wrap="none" lIns="29845" tIns="0" rIns="29845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Solid</a:t>
            </a:r>
          </a:p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102.43</a:t>
            </a:r>
          </a:p>
        </p:txBody>
      </p:sp>
      <p:sp>
        <p:nvSpPr>
          <p:cNvPr id="34" name="Box 24"/>
          <p:cNvSpPr/>
          <p:nvPr/>
        </p:nvSpPr>
        <p:spPr>
          <a:xfrm>
            <a:off x="6857048" y="4465136"/>
            <a:ext cx="805815" cy="447675"/>
          </a:xfrm>
          <a:prstGeom prst="rect">
            <a:avLst/>
          </a:prstGeom>
          <a:noFill/>
          <a:ln>
            <a:noFill/>
          </a:ln>
        </p:spPr>
        <p:txBody>
          <a:bodyPr wrap="none" lIns="29845" tIns="0" rIns="29845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Gas</a:t>
            </a:r>
          </a:p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280.32</a:t>
            </a:r>
          </a:p>
        </p:txBody>
      </p:sp>
      <p:sp>
        <p:nvSpPr>
          <p:cNvPr id="35" name="Box 25"/>
          <p:cNvSpPr/>
          <p:nvPr/>
        </p:nvSpPr>
        <p:spPr>
          <a:xfrm>
            <a:off x="10274300" y="2653467"/>
            <a:ext cx="850583" cy="447675"/>
          </a:xfrm>
          <a:prstGeom prst="rect">
            <a:avLst/>
          </a:prstGeom>
          <a:noFill/>
          <a:ln>
            <a:noFill/>
          </a:ln>
        </p:spPr>
        <p:txBody>
          <a:bodyPr wrap="none" lIns="29845" tIns="0" rIns="29845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Losses</a:t>
            </a:r>
          </a:p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10</a:t>
            </a:r>
          </a:p>
        </p:txBody>
      </p:sp>
      <p:sp>
        <p:nvSpPr>
          <p:cNvPr id="36" name="Box 26"/>
          <p:cNvSpPr/>
          <p:nvPr/>
        </p:nvSpPr>
        <p:spPr>
          <a:xfrm>
            <a:off x="1067118" y="4343630"/>
            <a:ext cx="1432560" cy="447675"/>
          </a:xfrm>
          <a:prstGeom prst="rect">
            <a:avLst/>
          </a:prstGeom>
          <a:noFill/>
          <a:ln>
            <a:noFill/>
          </a:ln>
        </p:spPr>
        <p:txBody>
          <a:bodyPr wrap="none" lIns="29845" tIns="0" rIns="29845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Coal imports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11.61</a:t>
            </a:r>
          </a:p>
        </p:txBody>
      </p:sp>
      <p:sp>
        <p:nvSpPr>
          <p:cNvPr id="37" name="Box 27"/>
          <p:cNvSpPr/>
          <p:nvPr/>
        </p:nvSpPr>
        <p:spPr>
          <a:xfrm>
            <a:off x="4529138" y="5316994"/>
            <a:ext cx="716280" cy="447675"/>
          </a:xfrm>
          <a:prstGeom prst="rect">
            <a:avLst/>
          </a:prstGeom>
          <a:noFill/>
          <a:ln>
            <a:noFill/>
          </a:ln>
        </p:spPr>
        <p:txBody>
          <a:bodyPr wrap="none" lIns="29845" tIns="0" rIns="29845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Coal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75.57</a:t>
            </a:r>
          </a:p>
        </p:txBody>
      </p:sp>
      <p:sp>
        <p:nvSpPr>
          <p:cNvPr id="38" name="Box 28"/>
          <p:cNvSpPr/>
          <p:nvPr/>
        </p:nvSpPr>
        <p:spPr>
          <a:xfrm>
            <a:off x="10169843" y="3765170"/>
            <a:ext cx="955040" cy="447675"/>
          </a:xfrm>
          <a:prstGeom prst="rect">
            <a:avLst/>
          </a:prstGeom>
          <a:noFill/>
          <a:ln>
            <a:noFill/>
          </a:ln>
        </p:spPr>
        <p:txBody>
          <a:bodyPr wrap="none" lIns="29845" tIns="0" rIns="29845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Heating</a:t>
            </a:r>
          </a:p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121.7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self-loop</a:t>
            </a:r>
          </a:p>
        </p:txBody>
      </p:sp>
      <p:sp>
        <p:nvSpPr>
          <p:cNvPr id="12" name="Depart" descr="A"/>
          <p:cNvSpPr/>
          <p:nvPr/>
        </p:nvSpPr>
        <p:spPr>
          <a:xfrm>
            <a:off x="4939254" y="1028700"/>
            <a:ext cx="1685584" cy="1046513"/>
          </a:xfrm>
          <a:prstGeom prst="rect">
            <a:avLst/>
          </a:prstGeom>
          <a:solidFill>
            <a:srgbClr val="FFF9C4"/>
          </a:solidFill>
          <a:ln w="18605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3954" tIns="66977" rIns="133954" bIns="6697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758" dirty="0">
                <a:solidFill>
                  <a:srgbClr val="000000"/>
                </a:solidFill>
              </a:rPr>
              <a:t>Depart</a:t>
            </a:r>
          </a:p>
        </p:txBody>
      </p:sp>
      <p:sp>
        <p:nvSpPr>
          <p:cNvPr id="13" name="En cours" descr="B"/>
          <p:cNvSpPr/>
          <p:nvPr/>
        </p:nvSpPr>
        <p:spPr>
          <a:xfrm>
            <a:off x="4788556" y="3191494"/>
            <a:ext cx="1986979" cy="1046513"/>
          </a:xfrm>
          <a:prstGeom prst="rect">
            <a:avLst/>
          </a:prstGeom>
          <a:solidFill>
            <a:srgbClr val="BBDEFB"/>
          </a:solidFill>
          <a:ln w="18605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3954" tIns="66977" rIns="133954" bIns="6697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758" dirty="0">
                <a:solidFill>
                  <a:srgbClr val="000000"/>
                </a:solidFill>
              </a:rPr>
              <a:t>En cours</a:t>
            </a:r>
          </a:p>
        </p:txBody>
      </p:sp>
      <p:sp>
        <p:nvSpPr>
          <p:cNvPr id="14" name="Fin" descr="C"/>
          <p:cNvSpPr/>
          <p:nvPr/>
        </p:nvSpPr>
        <p:spPr>
          <a:xfrm>
            <a:off x="5240650" y="5354287"/>
            <a:ext cx="1082792" cy="1046513"/>
          </a:xfrm>
          <a:prstGeom prst="rect">
            <a:avLst/>
          </a:prstGeom>
          <a:solidFill>
            <a:srgbClr val="C8E6C9"/>
          </a:solidFill>
          <a:ln w="18605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3954" tIns="66977" rIns="133954" bIns="6697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758" dirty="0">
                <a:solidFill>
                  <a:srgbClr val="000000"/>
                </a:solidFill>
              </a:rPr>
              <a:t>Fin</a:t>
            </a:r>
          </a:p>
        </p:txBody>
      </p:sp>
      <p:cxnSp>
        <p:nvCxnSpPr>
          <p:cNvPr id="15" name="A--B"/>
          <p:cNvCxnSpPr>
            <a:stCxn id="12" idx="2"/>
            <a:endCxn id="13" idx="0"/>
          </p:cNvCxnSpPr>
          <p:nvPr/>
        </p:nvCxnSpPr>
        <p:spPr>
          <a:xfrm>
            <a:off x="5782046" y="2075213"/>
            <a:ext cx="0" cy="1116281"/>
          </a:xfrm>
          <a:prstGeom prst="line">
            <a:avLst/>
          </a:prstGeom>
          <a:ln w="18605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B--B"/>
          <p:cNvSpPr/>
          <p:nvPr/>
        </p:nvSpPr>
        <p:spPr>
          <a:xfrm>
            <a:off x="6775536" y="3191494"/>
            <a:ext cx="627908" cy="1046513"/>
          </a:xfrm>
          <a:custGeom>
            <a:avLst/>
            <a:gdLst/>
            <a:ahLst/>
            <a:cxnLst/>
            <a:rect l="0" t="0" r="0" b="0"/>
            <a:pathLst>
              <a:path w="428625" h="714375">
                <a:moveTo>
                  <a:pt x="0" y="105886"/>
                </a:moveTo>
                <a:lnTo>
                  <a:pt x="285750" y="0"/>
                </a:lnTo>
                <a:lnTo>
                  <a:pt x="357187" y="0"/>
                </a:lnTo>
                <a:lnTo>
                  <a:pt x="428625" y="357188"/>
                </a:lnTo>
                <a:lnTo>
                  <a:pt x="357187" y="714375"/>
                </a:lnTo>
                <a:lnTo>
                  <a:pt x="285750" y="714375"/>
                </a:lnTo>
                <a:lnTo>
                  <a:pt x="0" y="608489"/>
                </a:lnTo>
              </a:path>
            </a:pathLst>
          </a:custGeom>
          <a:ln w="18605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17" name="EdgeLabel"/>
          <p:cNvSpPr txBox="1"/>
          <p:nvPr/>
        </p:nvSpPr>
        <p:spPr>
          <a:xfrm>
            <a:off x="6889955" y="3547309"/>
            <a:ext cx="1026978" cy="3348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55814" tIns="0" rIns="55814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72" dirty="0">
                <a:solidFill>
                  <a:srgbClr val="000000"/>
                </a:solidFill>
              </a:rPr>
              <a:t>retry</a:t>
            </a:r>
          </a:p>
        </p:txBody>
      </p:sp>
      <p:cxnSp>
        <p:nvCxnSpPr>
          <p:cNvPr id="18" name="B--C"/>
          <p:cNvCxnSpPr>
            <a:stCxn id="13" idx="2"/>
            <a:endCxn id="14" idx="0"/>
          </p:cNvCxnSpPr>
          <p:nvPr/>
        </p:nvCxnSpPr>
        <p:spPr>
          <a:xfrm>
            <a:off x="5782046" y="4238006"/>
            <a:ext cx="0" cy="1116281"/>
          </a:xfrm>
          <a:prstGeom prst="line">
            <a:avLst/>
          </a:prstGeom>
          <a:ln w="18605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sequence</a:t>
            </a:r>
          </a:p>
        </p:txBody>
      </p:sp>
      <p:sp>
        <p:nvSpPr>
          <p:cNvPr id="80" name="Participant U"/>
          <p:cNvSpPr/>
          <p:nvPr/>
        </p:nvSpPr>
        <p:spPr>
          <a:xfrm>
            <a:off x="3548228" y="1305256"/>
            <a:ext cx="622251" cy="235073"/>
          </a:xfrm>
          <a:prstGeom prst="rect">
            <a:avLst/>
          </a:prstGeom>
          <a:solidFill>
            <a:srgbClr val="DDEBF7"/>
          </a:solidFill>
          <a:ln w="9525">
            <a:solidFill>
              <a:srgbClr val="5B9BD5"/>
            </a:solidFill>
          </a:ln>
        </p:spPr>
      </p:sp>
      <p:sp>
        <p:nvSpPr>
          <p:cNvPr id="82" name="Participant U"/>
          <p:cNvSpPr/>
          <p:nvPr/>
        </p:nvSpPr>
        <p:spPr>
          <a:xfrm>
            <a:off x="3548228" y="6027449"/>
            <a:ext cx="622251" cy="235073"/>
          </a:xfrm>
          <a:prstGeom prst="rect">
            <a:avLst/>
          </a:prstGeom>
          <a:solidFill>
            <a:srgbClr val="DDEBF7"/>
          </a:solidFill>
          <a:ln w="9525">
            <a:solidFill>
              <a:srgbClr val="5B9BD5"/>
            </a:solidFill>
          </a:ln>
        </p:spPr>
      </p:sp>
      <p:sp>
        <p:nvSpPr>
          <p:cNvPr id="85" name="Participant W"/>
          <p:cNvSpPr/>
          <p:nvPr/>
        </p:nvSpPr>
        <p:spPr>
          <a:xfrm>
            <a:off x="4516174" y="1305256"/>
            <a:ext cx="622251" cy="235073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87" name="Participant W"/>
          <p:cNvSpPr/>
          <p:nvPr/>
        </p:nvSpPr>
        <p:spPr>
          <a:xfrm>
            <a:off x="4516174" y="6027449"/>
            <a:ext cx="622251" cy="235073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90" name="Participant API"/>
          <p:cNvSpPr/>
          <p:nvPr/>
        </p:nvSpPr>
        <p:spPr>
          <a:xfrm>
            <a:off x="5622398" y="1305256"/>
            <a:ext cx="622251" cy="235073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92" name="Participant API"/>
          <p:cNvSpPr/>
          <p:nvPr/>
        </p:nvSpPr>
        <p:spPr>
          <a:xfrm>
            <a:off x="5622398" y="6027449"/>
            <a:ext cx="622251" cy="235073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95" name="Participant DB"/>
          <p:cNvSpPr/>
          <p:nvPr/>
        </p:nvSpPr>
        <p:spPr>
          <a:xfrm>
            <a:off x="6590344" y="1305256"/>
            <a:ext cx="622251" cy="235073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97" name="Participant DB"/>
          <p:cNvSpPr/>
          <p:nvPr/>
        </p:nvSpPr>
        <p:spPr>
          <a:xfrm>
            <a:off x="6590344" y="6027449"/>
            <a:ext cx="622251" cy="235073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100" name="Participant M"/>
          <p:cNvSpPr/>
          <p:nvPr/>
        </p:nvSpPr>
        <p:spPr>
          <a:xfrm>
            <a:off x="7558290" y="5211609"/>
            <a:ext cx="622251" cy="235073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40" name="Block loop"/>
          <p:cNvSpPr/>
          <p:nvPr/>
        </p:nvSpPr>
        <p:spPr>
          <a:xfrm>
            <a:off x="4578399" y="3137439"/>
            <a:ext cx="1604025" cy="421748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sp>
        <p:nvSpPr>
          <p:cNvPr id="41" name="Box 31"/>
          <p:cNvSpPr/>
          <p:nvPr/>
        </p:nvSpPr>
        <p:spPr>
          <a:xfrm>
            <a:off x="4578399" y="3137439"/>
            <a:ext cx="276556" cy="110622"/>
          </a:xfrm>
          <a:prstGeom prst="rect">
            <a:avLst/>
          </a:prstGeom>
          <a:solidFill>
            <a:srgbClr val="E6E6E6"/>
          </a:solidFill>
          <a:ln w="6914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00" dirty="0">
                <a:solidFill>
                  <a:srgbClr val="333333"/>
                </a:solidFill>
              </a:rPr>
              <a:t>loop</a:t>
            </a:r>
          </a:p>
        </p:txBody>
      </p:sp>
      <p:sp>
        <p:nvSpPr>
          <p:cNvPr id="42" name="Box 32"/>
          <p:cNvSpPr/>
          <p:nvPr/>
        </p:nvSpPr>
        <p:spPr>
          <a:xfrm>
            <a:off x="4896438" y="3137439"/>
            <a:ext cx="1244502" cy="110622"/>
          </a:xfrm>
          <a:prstGeom prst="rect">
            <a:avLst/>
          </a:prstGeom>
          <a:noFill/>
          <a:ln>
            <a:noFill/>
          </a:ln>
        </p:spPr>
        <p:txBody>
          <a:bodyPr wrap="none" lIns="13828" tIns="0" rIns="1382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333333"/>
                </a:solidFill>
              </a:rPr>
              <a:t>[Every minute]</a:t>
            </a:r>
          </a:p>
        </p:txBody>
      </p:sp>
      <p:sp>
        <p:nvSpPr>
          <p:cNvPr id="58" name="Block alt"/>
          <p:cNvSpPr/>
          <p:nvPr/>
        </p:nvSpPr>
        <p:spPr>
          <a:xfrm>
            <a:off x="4578399" y="3655982"/>
            <a:ext cx="1604025" cy="1209932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sp>
        <p:nvSpPr>
          <p:cNvPr id="59" name="Box 49"/>
          <p:cNvSpPr/>
          <p:nvPr/>
        </p:nvSpPr>
        <p:spPr>
          <a:xfrm>
            <a:off x="4578399" y="3655982"/>
            <a:ext cx="235073" cy="110622"/>
          </a:xfrm>
          <a:prstGeom prst="rect">
            <a:avLst/>
          </a:prstGeom>
          <a:solidFill>
            <a:srgbClr val="E6E6E6"/>
          </a:solidFill>
          <a:ln w="6914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00" dirty="0">
                <a:solidFill>
                  <a:srgbClr val="333333"/>
                </a:solidFill>
              </a:rPr>
              <a:t>alt</a:t>
            </a:r>
          </a:p>
        </p:txBody>
      </p:sp>
      <p:sp>
        <p:nvSpPr>
          <p:cNvPr id="60" name="Box 50"/>
          <p:cNvSpPr/>
          <p:nvPr/>
        </p:nvSpPr>
        <p:spPr>
          <a:xfrm>
            <a:off x="4854955" y="3655982"/>
            <a:ext cx="1285985" cy="110622"/>
          </a:xfrm>
          <a:prstGeom prst="rect">
            <a:avLst/>
          </a:prstGeom>
          <a:noFill/>
          <a:ln>
            <a:noFill/>
          </a:ln>
        </p:spPr>
        <p:txBody>
          <a:bodyPr wrap="none" lIns="13828" tIns="0" rIns="1382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333333"/>
                </a:solidFill>
              </a:rPr>
              <a:t>[paid]</a:t>
            </a:r>
          </a:p>
        </p:txBody>
      </p:sp>
      <p:cxnSp>
        <p:nvCxnSpPr>
          <p:cNvPr id="61" name="Connector 51"/>
          <p:cNvCxnSpPr/>
          <p:nvPr/>
        </p:nvCxnSpPr>
        <p:spPr>
          <a:xfrm>
            <a:off x="4578399" y="4091558"/>
            <a:ext cx="1604025" cy="1"/>
          </a:xfrm>
          <a:prstGeom prst="line">
            <a:avLst/>
          </a:prstGeom>
          <a:ln w="6914">
            <a:solidFill>
              <a:srgbClr val="7F7F7F"/>
            </a:solidFill>
            <a:prstDash val="dash"/>
          </a:ln>
        </p:spPr>
      </p:cxnSp>
      <p:sp>
        <p:nvSpPr>
          <p:cNvPr id="62" name="Box 52"/>
          <p:cNvSpPr/>
          <p:nvPr/>
        </p:nvSpPr>
        <p:spPr>
          <a:xfrm>
            <a:off x="4619882" y="4105385"/>
            <a:ext cx="1521058" cy="96795"/>
          </a:xfrm>
          <a:prstGeom prst="rect">
            <a:avLst/>
          </a:prstGeom>
          <a:noFill/>
          <a:ln>
            <a:noFill/>
          </a:ln>
        </p:spPr>
        <p:txBody>
          <a:bodyPr wrap="none" lIns="13828" tIns="0" rIns="1382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333333"/>
                </a:solidFill>
              </a:rPr>
              <a:t>[failed]</a:t>
            </a:r>
          </a:p>
        </p:txBody>
      </p:sp>
      <p:cxnSp>
        <p:nvCxnSpPr>
          <p:cNvPr id="84" name="Connector 74"/>
          <p:cNvCxnSpPr/>
          <p:nvPr/>
        </p:nvCxnSpPr>
        <p:spPr>
          <a:xfrm>
            <a:off x="3859353" y="1540329"/>
            <a:ext cx="1" cy="4487120"/>
          </a:xfrm>
          <a:prstGeom prst="line">
            <a:avLst/>
          </a:prstGeom>
          <a:ln w="6914">
            <a:solidFill>
              <a:srgbClr val="999999"/>
            </a:solidFill>
            <a:prstDash val="dash"/>
          </a:ln>
        </p:spPr>
      </p:cxnSp>
      <p:cxnSp>
        <p:nvCxnSpPr>
          <p:cNvPr id="89" name="Connector 79"/>
          <p:cNvCxnSpPr/>
          <p:nvPr/>
        </p:nvCxnSpPr>
        <p:spPr>
          <a:xfrm>
            <a:off x="4827299" y="1540329"/>
            <a:ext cx="1" cy="4487120"/>
          </a:xfrm>
          <a:prstGeom prst="line">
            <a:avLst/>
          </a:prstGeom>
          <a:ln w="6914">
            <a:solidFill>
              <a:srgbClr val="999999"/>
            </a:solidFill>
            <a:prstDash val="dash"/>
          </a:ln>
        </p:spPr>
      </p:cxnSp>
      <p:cxnSp>
        <p:nvCxnSpPr>
          <p:cNvPr id="94" name="Connector 84"/>
          <p:cNvCxnSpPr/>
          <p:nvPr/>
        </p:nvCxnSpPr>
        <p:spPr>
          <a:xfrm>
            <a:off x="5933523" y="1540329"/>
            <a:ext cx="1" cy="4487120"/>
          </a:xfrm>
          <a:prstGeom prst="line">
            <a:avLst/>
          </a:prstGeom>
          <a:ln w="6914">
            <a:solidFill>
              <a:srgbClr val="999999"/>
            </a:solidFill>
            <a:prstDash val="dash"/>
          </a:ln>
        </p:spPr>
      </p:cxnSp>
      <p:cxnSp>
        <p:nvCxnSpPr>
          <p:cNvPr id="99" name="Connector 89"/>
          <p:cNvCxnSpPr/>
          <p:nvPr/>
        </p:nvCxnSpPr>
        <p:spPr>
          <a:xfrm>
            <a:off x="6901469" y="1540329"/>
            <a:ext cx="1" cy="4487120"/>
          </a:xfrm>
          <a:prstGeom prst="line">
            <a:avLst/>
          </a:prstGeom>
          <a:ln w="6914">
            <a:solidFill>
              <a:srgbClr val="999999"/>
            </a:solidFill>
            <a:prstDash val="dash"/>
          </a:ln>
        </p:spPr>
      </p:cxnSp>
      <p:cxnSp>
        <p:nvCxnSpPr>
          <p:cNvPr id="102" name="Connector 92"/>
          <p:cNvCxnSpPr/>
          <p:nvPr/>
        </p:nvCxnSpPr>
        <p:spPr>
          <a:xfrm>
            <a:off x="7869415" y="5446682"/>
            <a:ext cx="1" cy="200503"/>
          </a:xfrm>
          <a:prstGeom prst="line">
            <a:avLst/>
          </a:prstGeom>
          <a:ln w="6914">
            <a:solidFill>
              <a:srgbClr val="999999"/>
            </a:solidFill>
            <a:prstDash val="dash"/>
          </a:ln>
        </p:spPr>
      </p:cxnSp>
      <p:sp>
        <p:nvSpPr>
          <p:cNvPr id="47" name="Activation"/>
          <p:cNvSpPr/>
          <p:nvPr/>
        </p:nvSpPr>
        <p:spPr>
          <a:xfrm>
            <a:off x="5898954" y="2190235"/>
            <a:ext cx="69139" cy="1790700"/>
          </a:xfrm>
          <a:prstGeom prst="rect">
            <a:avLst/>
          </a:prstGeom>
          <a:solidFill>
            <a:srgbClr val="F2F2F2"/>
          </a:solidFill>
          <a:ln w="9525">
            <a:solidFill>
              <a:srgbClr val="333333"/>
            </a:solidFill>
          </a:ln>
        </p:spPr>
      </p:sp>
      <p:sp>
        <p:nvSpPr>
          <p:cNvPr id="79" name="Activation"/>
          <p:cNvSpPr/>
          <p:nvPr/>
        </p:nvSpPr>
        <p:spPr>
          <a:xfrm>
            <a:off x="4792730" y="1851454"/>
            <a:ext cx="69139" cy="4037717"/>
          </a:xfrm>
          <a:prstGeom prst="rect">
            <a:avLst/>
          </a:prstGeom>
          <a:solidFill>
            <a:srgbClr val="F2F2F2"/>
          </a:solidFill>
          <a:ln w="9525">
            <a:solidFill>
              <a:srgbClr val="333333"/>
            </a:solidFill>
          </a:ln>
        </p:spPr>
      </p:sp>
      <p:sp>
        <p:nvSpPr>
          <p:cNvPr id="34" name="Note"/>
          <p:cNvSpPr/>
          <p:nvPr/>
        </p:nvSpPr>
        <p:spPr>
          <a:xfrm>
            <a:off x="5864384" y="2916195"/>
            <a:ext cx="1106224" cy="152106"/>
          </a:xfrm>
          <a:prstGeom prst="rect">
            <a:avLst/>
          </a:prstGeom>
          <a:solidFill>
            <a:srgbClr val="FFF2A8"/>
          </a:solidFill>
          <a:ln w="9525">
            <a:solidFill>
              <a:srgbClr val="BFA900"/>
            </a:solidFill>
          </a:ln>
        </p:spPr>
      </p:sp>
      <p:sp>
        <p:nvSpPr>
          <p:cNvPr id="35" name="Box 25"/>
          <p:cNvSpPr/>
          <p:nvPr/>
        </p:nvSpPr>
        <p:spPr>
          <a:xfrm>
            <a:off x="5905868" y="2950764"/>
            <a:ext cx="1023257" cy="82967"/>
          </a:xfrm>
          <a:prstGeom prst="rect">
            <a:avLst/>
          </a:prstGeom>
          <a:noFill/>
          <a:ln>
            <a:noFill/>
          </a:ln>
        </p:spPr>
        <p:txBody>
          <a:bodyPr wrap="none" lIns="13828" tIns="0" rIns="1382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333333"/>
                </a:solidFill>
              </a:rPr>
              <a:t>Retried 3 times</a:t>
            </a:r>
          </a:p>
        </p:txBody>
      </p:sp>
      <p:sp>
        <p:nvSpPr>
          <p:cNvPr id="63" name="Note"/>
          <p:cNvSpPr/>
          <p:nvPr/>
        </p:nvSpPr>
        <p:spPr>
          <a:xfrm>
            <a:off x="4896438" y="4962709"/>
            <a:ext cx="898807" cy="152106"/>
          </a:xfrm>
          <a:prstGeom prst="rect">
            <a:avLst/>
          </a:prstGeom>
          <a:solidFill>
            <a:srgbClr val="FFF2A8"/>
          </a:solidFill>
          <a:ln w="9525">
            <a:solidFill>
              <a:srgbClr val="BFA900"/>
            </a:solidFill>
          </a:ln>
        </p:spPr>
      </p:sp>
      <p:sp>
        <p:nvSpPr>
          <p:cNvPr id="64" name="Box 54"/>
          <p:cNvSpPr/>
          <p:nvPr/>
        </p:nvSpPr>
        <p:spPr>
          <a:xfrm>
            <a:off x="4937922" y="4997278"/>
            <a:ext cx="815840" cy="82967"/>
          </a:xfrm>
          <a:prstGeom prst="rect">
            <a:avLst/>
          </a:prstGeom>
          <a:noFill/>
          <a:ln>
            <a:noFill/>
          </a:ln>
        </p:spPr>
        <p:txBody>
          <a:bodyPr wrap="none" lIns="13828" tIns="0" rIns="1382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333333"/>
                </a:solidFill>
              </a:rPr>
              <a:t>done</a:t>
            </a:r>
          </a:p>
        </p:txBody>
      </p:sp>
      <p:sp>
        <p:nvSpPr>
          <p:cNvPr id="11" name="Box 1"/>
          <p:cNvSpPr/>
          <p:nvPr/>
        </p:nvSpPr>
        <p:spPr>
          <a:xfrm>
            <a:off x="3409950" y="1070183"/>
            <a:ext cx="4908869" cy="1244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850" dirty="0">
                <a:solidFill>
                  <a:srgbClr val="333333"/>
                </a:solidFill>
              </a:rPr>
              <a:t>Checkout</a:t>
            </a:r>
          </a:p>
        </p:txBody>
      </p:sp>
      <p:cxnSp>
        <p:nvCxnSpPr>
          <p:cNvPr id="12" name="Connector 2"/>
          <p:cNvCxnSpPr/>
          <p:nvPr/>
        </p:nvCxnSpPr>
        <p:spPr>
          <a:xfrm>
            <a:off x="3859353" y="1851454"/>
            <a:ext cx="933377" cy="1"/>
          </a:xfrm>
          <a:prstGeom prst="line">
            <a:avLst/>
          </a:prstGeom>
          <a:ln w="6914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13" name="Box 3"/>
          <p:cNvSpPr/>
          <p:nvPr/>
        </p:nvSpPr>
        <p:spPr>
          <a:xfrm>
            <a:off x="3887009" y="1706262"/>
            <a:ext cx="878065" cy="898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Place order</a:t>
            </a:r>
          </a:p>
        </p:txBody>
      </p:sp>
      <p:sp>
        <p:nvSpPr>
          <p:cNvPr id="14" name="Shape 4"/>
          <p:cNvSpPr/>
          <p:nvPr/>
        </p:nvSpPr>
        <p:spPr>
          <a:xfrm>
            <a:off x="3880095" y="1803057"/>
            <a:ext cx="96795" cy="96795"/>
          </a:xfrm>
          <a:prstGeom prst="ellipse">
            <a:avLst/>
          </a:prstGeom>
          <a:solidFill>
            <a:srgbClr val="333333"/>
          </a:solidFill>
          <a:ln>
            <a:noFill/>
          </a:ln>
        </p:spPr>
      </p:sp>
      <p:sp>
        <p:nvSpPr>
          <p:cNvPr id="15" name="Box 5"/>
          <p:cNvSpPr/>
          <p:nvPr/>
        </p:nvSpPr>
        <p:spPr>
          <a:xfrm>
            <a:off x="3880095" y="1803057"/>
            <a:ext cx="96795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450" dirty="0">
                <a:solidFill>
                  <a:srgbClr val="FFFFFF"/>
                </a:solidFill>
              </a:rPr>
              <a:t>1</a:t>
            </a:r>
          </a:p>
        </p:txBody>
      </p:sp>
      <p:cxnSp>
        <p:nvCxnSpPr>
          <p:cNvPr id="16" name="Connector 6"/>
          <p:cNvCxnSpPr/>
          <p:nvPr/>
        </p:nvCxnSpPr>
        <p:spPr>
          <a:xfrm>
            <a:off x="4861869" y="2093441"/>
            <a:ext cx="1071654" cy="1"/>
          </a:xfrm>
          <a:prstGeom prst="line">
            <a:avLst/>
          </a:prstGeom>
          <a:ln w="6914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17" name="Box 7"/>
          <p:cNvSpPr/>
          <p:nvPr/>
        </p:nvSpPr>
        <p:spPr>
          <a:xfrm>
            <a:off x="4889525" y="1948249"/>
            <a:ext cx="1016343" cy="898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POST /orders</a:t>
            </a:r>
          </a:p>
        </p:txBody>
      </p:sp>
      <p:sp>
        <p:nvSpPr>
          <p:cNvPr id="18" name="Shape 8"/>
          <p:cNvSpPr/>
          <p:nvPr/>
        </p:nvSpPr>
        <p:spPr>
          <a:xfrm>
            <a:off x="4882611" y="2045043"/>
            <a:ext cx="96795" cy="96795"/>
          </a:xfrm>
          <a:prstGeom prst="ellipse">
            <a:avLst/>
          </a:prstGeom>
          <a:solidFill>
            <a:srgbClr val="333333"/>
          </a:solidFill>
          <a:ln>
            <a:noFill/>
          </a:ln>
        </p:spPr>
      </p:sp>
      <p:sp>
        <p:nvSpPr>
          <p:cNvPr id="19" name="Box 9"/>
          <p:cNvSpPr/>
          <p:nvPr/>
        </p:nvSpPr>
        <p:spPr>
          <a:xfrm>
            <a:off x="4882611" y="2045043"/>
            <a:ext cx="96795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450" dirty="0">
                <a:solidFill>
                  <a:srgbClr val="FFFFFF"/>
                </a:solidFill>
              </a:rPr>
              <a:t>2</a:t>
            </a:r>
          </a:p>
        </p:txBody>
      </p:sp>
      <p:cxnSp>
        <p:nvCxnSpPr>
          <p:cNvPr id="20" name="Connector 10"/>
          <p:cNvCxnSpPr/>
          <p:nvPr/>
        </p:nvCxnSpPr>
        <p:spPr>
          <a:xfrm>
            <a:off x="5968093" y="2335427"/>
            <a:ext cx="933376" cy="1"/>
          </a:xfrm>
          <a:prstGeom prst="line">
            <a:avLst/>
          </a:prstGeom>
          <a:ln w="6914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21" name="Box 11"/>
          <p:cNvSpPr/>
          <p:nvPr/>
        </p:nvSpPr>
        <p:spPr>
          <a:xfrm>
            <a:off x="5995748" y="2190235"/>
            <a:ext cx="878065" cy="898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INSERT order</a:t>
            </a:r>
          </a:p>
        </p:txBody>
      </p:sp>
      <p:sp>
        <p:nvSpPr>
          <p:cNvPr id="22" name="Shape 12"/>
          <p:cNvSpPr/>
          <p:nvPr/>
        </p:nvSpPr>
        <p:spPr>
          <a:xfrm>
            <a:off x="5988835" y="2287030"/>
            <a:ext cx="96795" cy="96795"/>
          </a:xfrm>
          <a:prstGeom prst="ellipse">
            <a:avLst/>
          </a:prstGeom>
          <a:solidFill>
            <a:srgbClr val="333333"/>
          </a:solidFill>
          <a:ln>
            <a:noFill/>
          </a:ln>
        </p:spPr>
      </p:sp>
      <p:sp>
        <p:nvSpPr>
          <p:cNvPr id="23" name="Box 13"/>
          <p:cNvSpPr/>
          <p:nvPr/>
        </p:nvSpPr>
        <p:spPr>
          <a:xfrm>
            <a:off x="5988835" y="2287030"/>
            <a:ext cx="96795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450" dirty="0">
                <a:solidFill>
                  <a:srgbClr val="FFFFFF"/>
                </a:solidFill>
              </a:rPr>
              <a:t>3</a:t>
            </a:r>
          </a:p>
        </p:txBody>
      </p:sp>
      <p:cxnSp>
        <p:nvCxnSpPr>
          <p:cNvPr id="24" name="Connector 14"/>
          <p:cNvCxnSpPr/>
          <p:nvPr/>
        </p:nvCxnSpPr>
        <p:spPr>
          <a:xfrm flipH="1">
            <a:off x="5968093" y="2577414"/>
            <a:ext cx="933376" cy="1"/>
          </a:xfrm>
          <a:prstGeom prst="line">
            <a:avLst/>
          </a:prstGeom>
          <a:ln w="6914">
            <a:solidFill>
              <a:srgbClr val="595959"/>
            </a:solidFill>
            <a:prstDash val="dash"/>
            <a:tailEnd type="triangle" w="lg" len="lg"/>
          </a:ln>
        </p:spPr>
      </p:cxnSp>
      <p:sp>
        <p:nvSpPr>
          <p:cNvPr id="25" name="Box 15"/>
          <p:cNvSpPr/>
          <p:nvPr/>
        </p:nvSpPr>
        <p:spPr>
          <a:xfrm>
            <a:off x="5995748" y="2432222"/>
            <a:ext cx="878065" cy="898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ok</a:t>
            </a:r>
          </a:p>
        </p:txBody>
      </p:sp>
      <p:sp>
        <p:nvSpPr>
          <p:cNvPr id="26" name="Shape 16"/>
          <p:cNvSpPr/>
          <p:nvPr/>
        </p:nvSpPr>
        <p:spPr>
          <a:xfrm>
            <a:off x="6783933" y="2529016"/>
            <a:ext cx="96795" cy="96795"/>
          </a:xfrm>
          <a:prstGeom prst="ellipse">
            <a:avLst/>
          </a:prstGeom>
          <a:solidFill>
            <a:srgbClr val="333333"/>
          </a:solidFill>
          <a:ln>
            <a:noFill/>
          </a:ln>
        </p:spPr>
      </p:sp>
      <p:sp>
        <p:nvSpPr>
          <p:cNvPr id="27" name="Box 17"/>
          <p:cNvSpPr/>
          <p:nvPr/>
        </p:nvSpPr>
        <p:spPr>
          <a:xfrm>
            <a:off x="6783933" y="2529016"/>
            <a:ext cx="96795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450" dirty="0">
                <a:solidFill>
                  <a:srgbClr val="FFFFFF"/>
                </a:solidFill>
              </a:rPr>
              <a:t>4</a:t>
            </a:r>
          </a:p>
        </p:txBody>
      </p:sp>
      <p:cxnSp>
        <p:nvCxnSpPr>
          <p:cNvPr id="28" name="Connector 18"/>
          <p:cNvCxnSpPr/>
          <p:nvPr/>
        </p:nvCxnSpPr>
        <p:spPr>
          <a:xfrm flipH="1">
            <a:off x="4861869" y="2819400"/>
            <a:ext cx="1037085" cy="1"/>
          </a:xfrm>
          <a:prstGeom prst="line">
            <a:avLst/>
          </a:prstGeom>
          <a:ln w="6914">
            <a:solidFill>
              <a:srgbClr val="595959"/>
            </a:solidFill>
            <a:prstDash val="solid"/>
          </a:ln>
        </p:spPr>
      </p:cxnSp>
      <p:cxnSp>
        <p:nvCxnSpPr>
          <p:cNvPr id="29" name="Connector 19"/>
          <p:cNvCxnSpPr/>
          <p:nvPr/>
        </p:nvCxnSpPr>
        <p:spPr>
          <a:xfrm>
            <a:off x="4868783" y="2791744"/>
            <a:ext cx="55311" cy="55312"/>
          </a:xfrm>
          <a:prstGeom prst="line">
            <a:avLst/>
          </a:prstGeom>
          <a:ln w="6914">
            <a:solidFill>
              <a:srgbClr val="333333"/>
            </a:solidFill>
            <a:prstDash val="solid"/>
          </a:ln>
        </p:spPr>
      </p:cxnSp>
      <p:cxnSp>
        <p:nvCxnSpPr>
          <p:cNvPr id="30" name="Connector 20"/>
          <p:cNvCxnSpPr/>
          <p:nvPr/>
        </p:nvCxnSpPr>
        <p:spPr>
          <a:xfrm flipV="1">
            <a:off x="4868783" y="2791744"/>
            <a:ext cx="55311" cy="55312"/>
          </a:xfrm>
          <a:prstGeom prst="line">
            <a:avLst/>
          </a:prstGeom>
          <a:ln w="6914">
            <a:solidFill>
              <a:srgbClr val="333333"/>
            </a:solidFill>
            <a:prstDash val="solid"/>
          </a:ln>
        </p:spPr>
      </p:cxnSp>
      <p:sp>
        <p:nvSpPr>
          <p:cNvPr id="31" name="Box 21"/>
          <p:cNvSpPr/>
          <p:nvPr/>
        </p:nvSpPr>
        <p:spPr>
          <a:xfrm>
            <a:off x="4889525" y="2674208"/>
            <a:ext cx="981774" cy="898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Payment declined</a:t>
            </a:r>
          </a:p>
        </p:txBody>
      </p:sp>
      <p:sp>
        <p:nvSpPr>
          <p:cNvPr id="32" name="Shape 22"/>
          <p:cNvSpPr/>
          <p:nvPr/>
        </p:nvSpPr>
        <p:spPr>
          <a:xfrm>
            <a:off x="5781418" y="2771003"/>
            <a:ext cx="96795" cy="96795"/>
          </a:xfrm>
          <a:prstGeom prst="ellipse">
            <a:avLst/>
          </a:prstGeom>
          <a:solidFill>
            <a:srgbClr val="333333"/>
          </a:solidFill>
          <a:ln>
            <a:noFill/>
          </a:ln>
        </p:spPr>
      </p:sp>
      <p:sp>
        <p:nvSpPr>
          <p:cNvPr id="33" name="Box 23"/>
          <p:cNvSpPr/>
          <p:nvPr/>
        </p:nvSpPr>
        <p:spPr>
          <a:xfrm>
            <a:off x="5781418" y="2771003"/>
            <a:ext cx="96795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450" dirty="0">
                <a:solidFill>
                  <a:srgbClr val="FFFFFF"/>
                </a:solidFill>
              </a:rPr>
              <a:t>5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861869" y="3462393"/>
            <a:ext cx="1037085" cy="1"/>
          </a:xfrm>
          <a:prstGeom prst="line">
            <a:avLst/>
          </a:prstGeom>
          <a:ln w="6914">
            <a:solidFill>
              <a:srgbClr val="595959"/>
            </a:solidFill>
            <a:prstDash val="solid"/>
            <a:tailEnd type="triangle" w="sm" len="sm"/>
          </a:ln>
        </p:spPr>
      </p:cxnSp>
      <p:sp>
        <p:nvSpPr>
          <p:cNvPr id="37" name="Box 27"/>
          <p:cNvSpPr/>
          <p:nvPr/>
        </p:nvSpPr>
        <p:spPr>
          <a:xfrm>
            <a:off x="4889525" y="3317201"/>
            <a:ext cx="981774" cy="898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poll status</a:t>
            </a:r>
          </a:p>
        </p:txBody>
      </p:sp>
      <p:sp>
        <p:nvSpPr>
          <p:cNvPr id="38" name="Shape 28"/>
          <p:cNvSpPr/>
          <p:nvPr/>
        </p:nvSpPr>
        <p:spPr>
          <a:xfrm>
            <a:off x="4882611" y="3413995"/>
            <a:ext cx="96795" cy="96795"/>
          </a:xfrm>
          <a:prstGeom prst="ellipse">
            <a:avLst/>
          </a:prstGeom>
          <a:solidFill>
            <a:srgbClr val="333333"/>
          </a:solidFill>
          <a:ln>
            <a:noFill/>
          </a:ln>
        </p:spPr>
      </p:sp>
      <p:sp>
        <p:nvSpPr>
          <p:cNvPr id="39" name="Box 29"/>
          <p:cNvSpPr/>
          <p:nvPr/>
        </p:nvSpPr>
        <p:spPr>
          <a:xfrm>
            <a:off x="4882611" y="3413995"/>
            <a:ext cx="96795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450" dirty="0">
                <a:solidFill>
                  <a:srgbClr val="FFFFFF"/>
                </a:solidFill>
              </a:rPr>
              <a:t>6</a:t>
            </a:r>
          </a:p>
        </p:txBody>
      </p:sp>
      <p:cxnSp>
        <p:nvCxnSpPr>
          <p:cNvPr id="43" name="Connector 33"/>
          <p:cNvCxnSpPr/>
          <p:nvPr/>
        </p:nvCxnSpPr>
        <p:spPr>
          <a:xfrm flipH="1">
            <a:off x="4861869" y="3980935"/>
            <a:ext cx="1037085" cy="1"/>
          </a:xfrm>
          <a:prstGeom prst="line">
            <a:avLst/>
          </a:prstGeom>
          <a:ln w="6914">
            <a:solidFill>
              <a:srgbClr val="595959"/>
            </a:solidFill>
            <a:prstDash val="dash"/>
            <a:tailEnd type="triangle" w="lg" len="lg"/>
          </a:ln>
        </p:spPr>
      </p:cxnSp>
      <p:sp>
        <p:nvSpPr>
          <p:cNvPr id="44" name="Box 34"/>
          <p:cNvSpPr/>
          <p:nvPr/>
        </p:nvSpPr>
        <p:spPr>
          <a:xfrm>
            <a:off x="4889525" y="3835743"/>
            <a:ext cx="981774" cy="898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200 OK</a:t>
            </a:r>
          </a:p>
        </p:txBody>
      </p:sp>
      <p:sp>
        <p:nvSpPr>
          <p:cNvPr id="45" name="Shape 35"/>
          <p:cNvSpPr/>
          <p:nvPr/>
        </p:nvSpPr>
        <p:spPr>
          <a:xfrm>
            <a:off x="5781418" y="3932538"/>
            <a:ext cx="96795" cy="96795"/>
          </a:xfrm>
          <a:prstGeom prst="ellipse">
            <a:avLst/>
          </a:prstGeom>
          <a:solidFill>
            <a:srgbClr val="333333"/>
          </a:solidFill>
          <a:ln>
            <a:noFill/>
          </a:ln>
        </p:spPr>
      </p:sp>
      <p:sp>
        <p:nvSpPr>
          <p:cNvPr id="46" name="Box 36"/>
          <p:cNvSpPr/>
          <p:nvPr/>
        </p:nvSpPr>
        <p:spPr>
          <a:xfrm>
            <a:off x="5781418" y="3932538"/>
            <a:ext cx="96795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450" dirty="0">
                <a:solidFill>
                  <a:srgbClr val="FFFFFF"/>
                </a:solidFill>
              </a:rPr>
              <a:t>7</a:t>
            </a:r>
          </a:p>
        </p:txBody>
      </p:sp>
      <p:cxnSp>
        <p:nvCxnSpPr>
          <p:cNvPr id="48" name="Connector 38"/>
          <p:cNvCxnSpPr/>
          <p:nvPr/>
        </p:nvCxnSpPr>
        <p:spPr>
          <a:xfrm flipH="1">
            <a:off x="4861869" y="4388855"/>
            <a:ext cx="1071654" cy="1"/>
          </a:xfrm>
          <a:prstGeom prst="line">
            <a:avLst/>
          </a:prstGeom>
          <a:ln w="6914">
            <a:solidFill>
              <a:srgbClr val="595959"/>
            </a:solidFill>
            <a:prstDash val="dash"/>
            <a:tailEnd type="triangle" w="sm" len="sm"/>
          </a:ln>
        </p:spPr>
      </p:cxnSp>
      <p:sp>
        <p:nvSpPr>
          <p:cNvPr id="49" name="Box 39"/>
          <p:cNvSpPr/>
          <p:nvPr/>
        </p:nvSpPr>
        <p:spPr>
          <a:xfrm>
            <a:off x="4889525" y="4243663"/>
            <a:ext cx="1016343" cy="898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402</a:t>
            </a:r>
          </a:p>
        </p:txBody>
      </p:sp>
      <p:sp>
        <p:nvSpPr>
          <p:cNvPr id="50" name="Shape 40"/>
          <p:cNvSpPr/>
          <p:nvPr/>
        </p:nvSpPr>
        <p:spPr>
          <a:xfrm>
            <a:off x="5815987" y="4340458"/>
            <a:ext cx="96795" cy="96795"/>
          </a:xfrm>
          <a:prstGeom prst="ellipse">
            <a:avLst/>
          </a:prstGeom>
          <a:solidFill>
            <a:srgbClr val="333333"/>
          </a:solidFill>
          <a:ln>
            <a:noFill/>
          </a:ln>
        </p:spPr>
      </p:sp>
      <p:sp>
        <p:nvSpPr>
          <p:cNvPr id="51" name="Box 41"/>
          <p:cNvSpPr/>
          <p:nvPr/>
        </p:nvSpPr>
        <p:spPr>
          <a:xfrm>
            <a:off x="5815987" y="4340458"/>
            <a:ext cx="96795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450" dirty="0">
                <a:solidFill>
                  <a:srgbClr val="FFFFFF"/>
                </a:solidFill>
              </a:rPr>
              <a:t>8</a:t>
            </a:r>
          </a:p>
        </p:txBody>
      </p:sp>
      <p:cxnSp>
        <p:nvCxnSpPr>
          <p:cNvPr id="52" name="Connector 42"/>
          <p:cNvCxnSpPr/>
          <p:nvPr/>
        </p:nvCxnSpPr>
        <p:spPr>
          <a:xfrm>
            <a:off x="5933523" y="4630842"/>
            <a:ext cx="207417" cy="1"/>
          </a:xfrm>
          <a:prstGeom prst="line">
            <a:avLst/>
          </a:prstGeom>
          <a:ln w="6914">
            <a:solidFill>
              <a:srgbClr val="595959"/>
            </a:solidFill>
            <a:prstDash val="solid"/>
          </a:ln>
        </p:spPr>
      </p:cxnSp>
      <p:cxnSp>
        <p:nvCxnSpPr>
          <p:cNvPr id="53" name="Connector 43"/>
          <p:cNvCxnSpPr/>
          <p:nvPr/>
        </p:nvCxnSpPr>
        <p:spPr>
          <a:xfrm>
            <a:off x="6140940" y="4630842"/>
            <a:ext cx="1" cy="138278"/>
          </a:xfrm>
          <a:prstGeom prst="line">
            <a:avLst/>
          </a:prstGeom>
          <a:ln w="6914">
            <a:solidFill>
              <a:srgbClr val="595959"/>
            </a:solidFill>
            <a:prstDash val="solid"/>
          </a:ln>
        </p:spPr>
      </p:cxnSp>
      <p:cxnSp>
        <p:nvCxnSpPr>
          <p:cNvPr id="54" name="Connector 44"/>
          <p:cNvCxnSpPr/>
          <p:nvPr/>
        </p:nvCxnSpPr>
        <p:spPr>
          <a:xfrm flipH="1">
            <a:off x="5933523" y="4769120"/>
            <a:ext cx="207417" cy="1"/>
          </a:xfrm>
          <a:prstGeom prst="line">
            <a:avLst/>
          </a:prstGeom>
          <a:ln w="6914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55" name="Box 45"/>
          <p:cNvSpPr/>
          <p:nvPr/>
        </p:nvSpPr>
        <p:spPr>
          <a:xfrm>
            <a:off x="6182424" y="4485650"/>
            <a:ext cx="506789" cy="89881"/>
          </a:xfrm>
          <a:prstGeom prst="rect">
            <a:avLst/>
          </a:prstGeom>
          <a:noFill/>
          <a:ln>
            <a:noFill/>
          </a:ln>
        </p:spPr>
        <p:txBody>
          <a:bodyPr wrap="none" lIns="13828" tIns="0" rIns="1382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log failure</a:t>
            </a:r>
          </a:p>
        </p:txBody>
      </p:sp>
      <p:sp>
        <p:nvSpPr>
          <p:cNvPr id="56" name="Shape 46"/>
          <p:cNvSpPr/>
          <p:nvPr/>
        </p:nvSpPr>
        <p:spPr>
          <a:xfrm>
            <a:off x="5940437" y="4582444"/>
            <a:ext cx="96795" cy="96795"/>
          </a:xfrm>
          <a:prstGeom prst="ellipse">
            <a:avLst/>
          </a:prstGeom>
          <a:solidFill>
            <a:srgbClr val="333333"/>
          </a:solidFill>
          <a:ln>
            <a:noFill/>
          </a:ln>
        </p:spPr>
      </p:sp>
      <p:sp>
        <p:nvSpPr>
          <p:cNvPr id="57" name="Box 47"/>
          <p:cNvSpPr/>
          <p:nvPr/>
        </p:nvSpPr>
        <p:spPr>
          <a:xfrm>
            <a:off x="5940437" y="4582444"/>
            <a:ext cx="96795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450" dirty="0">
                <a:solidFill>
                  <a:srgbClr val="FFFFFF"/>
                </a:solidFill>
              </a:rPr>
              <a:t>9</a:t>
            </a:r>
          </a:p>
        </p:txBody>
      </p:sp>
      <p:cxnSp>
        <p:nvCxnSpPr>
          <p:cNvPr id="65" name="Connector 55"/>
          <p:cNvCxnSpPr/>
          <p:nvPr/>
        </p:nvCxnSpPr>
        <p:spPr>
          <a:xfrm>
            <a:off x="4861869" y="5329146"/>
            <a:ext cx="2696421" cy="1"/>
          </a:xfrm>
          <a:prstGeom prst="line">
            <a:avLst/>
          </a:prstGeom>
          <a:ln w="6914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66" name="Box 56"/>
          <p:cNvSpPr/>
          <p:nvPr/>
        </p:nvSpPr>
        <p:spPr>
          <a:xfrm>
            <a:off x="4889525" y="5183954"/>
            <a:ext cx="2641110" cy="898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send receipt</a:t>
            </a:r>
          </a:p>
        </p:txBody>
      </p:sp>
      <p:sp>
        <p:nvSpPr>
          <p:cNvPr id="67" name="Shape 57"/>
          <p:cNvSpPr/>
          <p:nvPr/>
        </p:nvSpPr>
        <p:spPr>
          <a:xfrm>
            <a:off x="4882611" y="5280748"/>
            <a:ext cx="96795" cy="96795"/>
          </a:xfrm>
          <a:prstGeom prst="ellipse">
            <a:avLst/>
          </a:prstGeom>
          <a:solidFill>
            <a:srgbClr val="333333"/>
          </a:solidFill>
          <a:ln>
            <a:noFill/>
          </a:ln>
        </p:spPr>
      </p:sp>
      <p:sp>
        <p:nvSpPr>
          <p:cNvPr id="68" name="Box 58"/>
          <p:cNvSpPr/>
          <p:nvPr/>
        </p:nvSpPr>
        <p:spPr>
          <a:xfrm>
            <a:off x="4882611" y="5280748"/>
            <a:ext cx="96795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450" dirty="0">
                <a:solidFill>
                  <a:srgbClr val="FFFFFF"/>
                </a:solidFill>
              </a:rPr>
              <a:t>10</a:t>
            </a:r>
          </a:p>
        </p:txBody>
      </p:sp>
      <p:cxnSp>
        <p:nvCxnSpPr>
          <p:cNvPr id="69" name="Connector 59"/>
          <p:cNvCxnSpPr/>
          <p:nvPr/>
        </p:nvCxnSpPr>
        <p:spPr>
          <a:xfrm flipH="1">
            <a:off x="4861869" y="5647185"/>
            <a:ext cx="3007546" cy="1"/>
          </a:xfrm>
          <a:prstGeom prst="line">
            <a:avLst/>
          </a:prstGeom>
          <a:ln w="6914">
            <a:solidFill>
              <a:srgbClr val="595959"/>
            </a:solidFill>
            <a:prstDash val="dash"/>
            <a:tailEnd type="triangle" w="lg" len="lg"/>
          </a:ln>
        </p:spPr>
      </p:cxnSp>
      <p:sp>
        <p:nvSpPr>
          <p:cNvPr id="70" name="Box 60"/>
          <p:cNvSpPr/>
          <p:nvPr/>
        </p:nvSpPr>
        <p:spPr>
          <a:xfrm>
            <a:off x="4889525" y="5501993"/>
            <a:ext cx="2952235" cy="898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sent</a:t>
            </a:r>
          </a:p>
        </p:txBody>
      </p:sp>
      <p:sp>
        <p:nvSpPr>
          <p:cNvPr id="71" name="Shape 61"/>
          <p:cNvSpPr/>
          <p:nvPr/>
        </p:nvSpPr>
        <p:spPr>
          <a:xfrm>
            <a:off x="7751879" y="5598788"/>
            <a:ext cx="96795" cy="96795"/>
          </a:xfrm>
          <a:prstGeom prst="ellipse">
            <a:avLst/>
          </a:prstGeom>
          <a:solidFill>
            <a:srgbClr val="333333"/>
          </a:solidFill>
          <a:ln>
            <a:noFill/>
          </a:ln>
        </p:spPr>
      </p:sp>
      <p:sp>
        <p:nvSpPr>
          <p:cNvPr id="72" name="Box 62"/>
          <p:cNvSpPr/>
          <p:nvPr/>
        </p:nvSpPr>
        <p:spPr>
          <a:xfrm>
            <a:off x="7751879" y="5598788"/>
            <a:ext cx="96795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450" dirty="0">
                <a:solidFill>
                  <a:srgbClr val="FFFFFF"/>
                </a:solidFill>
              </a:rPr>
              <a:t>11</a:t>
            </a:r>
          </a:p>
        </p:txBody>
      </p:sp>
      <p:cxnSp>
        <p:nvCxnSpPr>
          <p:cNvPr id="73" name="Connector 63"/>
          <p:cNvCxnSpPr/>
          <p:nvPr/>
        </p:nvCxnSpPr>
        <p:spPr>
          <a:xfrm>
            <a:off x="7821018" y="5598788"/>
            <a:ext cx="96795" cy="96794"/>
          </a:xfrm>
          <a:prstGeom prst="line">
            <a:avLst/>
          </a:prstGeom>
          <a:ln w="6914">
            <a:solidFill>
              <a:srgbClr val="333333"/>
            </a:solidFill>
            <a:prstDash val="solid"/>
          </a:ln>
        </p:spPr>
      </p:cxnSp>
      <p:cxnSp>
        <p:nvCxnSpPr>
          <p:cNvPr id="74" name="Connector 64"/>
          <p:cNvCxnSpPr/>
          <p:nvPr/>
        </p:nvCxnSpPr>
        <p:spPr>
          <a:xfrm flipV="1">
            <a:off x="7821018" y="5598788"/>
            <a:ext cx="96795" cy="96794"/>
          </a:xfrm>
          <a:prstGeom prst="line">
            <a:avLst/>
          </a:prstGeom>
          <a:ln w="6914">
            <a:solidFill>
              <a:srgbClr val="333333"/>
            </a:solidFill>
            <a:prstDash val="solid"/>
          </a:ln>
        </p:spPr>
      </p:cxnSp>
      <p:cxnSp>
        <p:nvCxnSpPr>
          <p:cNvPr id="75" name="Connector 65"/>
          <p:cNvCxnSpPr/>
          <p:nvPr/>
        </p:nvCxnSpPr>
        <p:spPr>
          <a:xfrm flipH="1">
            <a:off x="3859353" y="5889171"/>
            <a:ext cx="933377" cy="1"/>
          </a:xfrm>
          <a:prstGeom prst="line">
            <a:avLst/>
          </a:prstGeom>
          <a:ln w="6914">
            <a:solidFill>
              <a:srgbClr val="595959"/>
            </a:solidFill>
            <a:prstDash val="dash"/>
            <a:tailEnd type="triangle" w="lg" len="lg"/>
          </a:ln>
        </p:spPr>
      </p:cxnSp>
      <p:sp>
        <p:nvSpPr>
          <p:cNvPr id="76" name="Box 66"/>
          <p:cNvSpPr/>
          <p:nvPr/>
        </p:nvSpPr>
        <p:spPr>
          <a:xfrm>
            <a:off x="3887009" y="5743980"/>
            <a:ext cx="878065" cy="898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Confirmation</a:t>
            </a:r>
          </a:p>
        </p:txBody>
      </p:sp>
      <p:sp>
        <p:nvSpPr>
          <p:cNvPr id="77" name="Shape 67"/>
          <p:cNvSpPr/>
          <p:nvPr/>
        </p:nvSpPr>
        <p:spPr>
          <a:xfrm>
            <a:off x="4675194" y="5840774"/>
            <a:ext cx="96795" cy="96795"/>
          </a:xfrm>
          <a:prstGeom prst="ellipse">
            <a:avLst/>
          </a:prstGeom>
          <a:solidFill>
            <a:srgbClr val="333333"/>
          </a:solidFill>
          <a:ln>
            <a:noFill/>
          </a:ln>
        </p:spPr>
      </p:sp>
      <p:sp>
        <p:nvSpPr>
          <p:cNvPr id="78" name="Box 68"/>
          <p:cNvSpPr/>
          <p:nvPr/>
        </p:nvSpPr>
        <p:spPr>
          <a:xfrm>
            <a:off x="4675194" y="5840774"/>
            <a:ext cx="96795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450" dirty="0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81" name="Box 71"/>
          <p:cNvSpPr/>
          <p:nvPr/>
        </p:nvSpPr>
        <p:spPr>
          <a:xfrm>
            <a:off x="3548228" y="1374395"/>
            <a:ext cx="622251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User</a:t>
            </a:r>
          </a:p>
        </p:txBody>
      </p:sp>
      <p:sp>
        <p:nvSpPr>
          <p:cNvPr id="83" name="Box 73"/>
          <p:cNvSpPr/>
          <p:nvPr/>
        </p:nvSpPr>
        <p:spPr>
          <a:xfrm>
            <a:off x="3548228" y="6096588"/>
            <a:ext cx="622251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User</a:t>
            </a:r>
          </a:p>
        </p:txBody>
      </p:sp>
      <p:sp>
        <p:nvSpPr>
          <p:cNvPr id="86" name="Box 76"/>
          <p:cNvSpPr/>
          <p:nvPr/>
        </p:nvSpPr>
        <p:spPr>
          <a:xfrm>
            <a:off x="4516174" y="1374395"/>
            <a:ext cx="622251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Web App</a:t>
            </a:r>
          </a:p>
        </p:txBody>
      </p:sp>
      <p:sp>
        <p:nvSpPr>
          <p:cNvPr id="88" name="Box 78"/>
          <p:cNvSpPr/>
          <p:nvPr/>
        </p:nvSpPr>
        <p:spPr>
          <a:xfrm>
            <a:off x="4516174" y="6096588"/>
            <a:ext cx="622251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Web App</a:t>
            </a:r>
          </a:p>
        </p:txBody>
      </p:sp>
      <p:sp>
        <p:nvSpPr>
          <p:cNvPr id="91" name="Box 81"/>
          <p:cNvSpPr/>
          <p:nvPr/>
        </p:nvSpPr>
        <p:spPr>
          <a:xfrm>
            <a:off x="5622398" y="1374395"/>
            <a:ext cx="622251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API</a:t>
            </a:r>
          </a:p>
        </p:txBody>
      </p:sp>
      <p:sp>
        <p:nvSpPr>
          <p:cNvPr id="93" name="Box 83"/>
          <p:cNvSpPr/>
          <p:nvPr/>
        </p:nvSpPr>
        <p:spPr>
          <a:xfrm>
            <a:off x="5622398" y="6096588"/>
            <a:ext cx="622251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API</a:t>
            </a:r>
          </a:p>
        </p:txBody>
      </p:sp>
      <p:sp>
        <p:nvSpPr>
          <p:cNvPr id="96" name="Box 86"/>
          <p:cNvSpPr/>
          <p:nvPr/>
        </p:nvSpPr>
        <p:spPr>
          <a:xfrm>
            <a:off x="6590344" y="1374395"/>
            <a:ext cx="622251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Database</a:t>
            </a:r>
          </a:p>
        </p:txBody>
      </p:sp>
      <p:sp>
        <p:nvSpPr>
          <p:cNvPr id="98" name="Box 88"/>
          <p:cNvSpPr/>
          <p:nvPr/>
        </p:nvSpPr>
        <p:spPr>
          <a:xfrm>
            <a:off x="6590344" y="6096588"/>
            <a:ext cx="622251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Database</a:t>
            </a:r>
          </a:p>
        </p:txBody>
      </p:sp>
      <p:sp>
        <p:nvSpPr>
          <p:cNvPr id="101" name="Box 91"/>
          <p:cNvSpPr/>
          <p:nvPr/>
        </p:nvSpPr>
        <p:spPr>
          <a:xfrm>
            <a:off x="7558290" y="5280748"/>
            <a:ext cx="622251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Mailer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shapes-generic</a:t>
            </a:r>
          </a:p>
        </p:txBody>
      </p:sp>
      <p:sp>
        <p:nvSpPr>
          <p:cNvPr id="12" name="Document" descr="A1"/>
          <p:cNvSpPr/>
          <p:nvPr/>
        </p:nvSpPr>
        <p:spPr>
          <a:xfrm>
            <a:off x="3505623" y="1028700"/>
            <a:ext cx="283981" cy="142370"/>
          </a:xfrm>
          <a:prstGeom prst="flowChartDocument">
            <a:avLst/>
          </a:prstGeom>
          <a:solidFill>
            <a:srgbClr val="BBDEFB"/>
          </a:solidFill>
          <a:ln w="3175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23" tIns="9112" rIns="18223" bIns="91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Document</a:t>
            </a:r>
          </a:p>
        </p:txBody>
      </p:sp>
      <p:sp>
        <p:nvSpPr>
          <p:cNvPr id="13" name="Carte" descr="A2"/>
          <p:cNvSpPr/>
          <p:nvPr/>
        </p:nvSpPr>
        <p:spPr>
          <a:xfrm>
            <a:off x="3546625" y="1322932"/>
            <a:ext cx="201976" cy="142370"/>
          </a:xfrm>
          <a:prstGeom prst="flowChartPunchedCard">
            <a:avLst/>
          </a:prstGeom>
          <a:solidFill>
            <a:srgbClr val="C8E6C9"/>
          </a:solidFill>
          <a:ln w="3175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23" tIns="9112" rIns="18223" bIns="91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Carte</a:t>
            </a:r>
          </a:p>
        </p:txBody>
      </p:sp>
      <p:sp>
        <p:nvSpPr>
          <p:cNvPr id="14" name="Delai" descr="A3"/>
          <p:cNvSpPr/>
          <p:nvPr/>
        </p:nvSpPr>
        <p:spPr>
          <a:xfrm>
            <a:off x="3546625" y="1617163"/>
            <a:ext cx="201976" cy="142370"/>
          </a:xfrm>
          <a:prstGeom prst="flowChartDelay">
            <a:avLst/>
          </a:prstGeom>
          <a:solidFill>
            <a:srgbClr val="FFE0B2"/>
          </a:solidFill>
          <a:ln w="3175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23" tIns="9112" rIns="18223" bIns="91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Delai</a:t>
            </a:r>
          </a:p>
        </p:txBody>
      </p:sp>
      <p:sp>
        <p:nvSpPr>
          <p:cNvPr id="15" name="Extraction" descr="A4"/>
          <p:cNvSpPr/>
          <p:nvPr/>
        </p:nvSpPr>
        <p:spPr>
          <a:xfrm>
            <a:off x="3478288" y="1911395"/>
            <a:ext cx="338651" cy="142370"/>
          </a:xfrm>
          <a:prstGeom prst="flowChartExtract">
            <a:avLst/>
          </a:prstGeom>
          <a:solidFill>
            <a:srgbClr val="E1BEE7"/>
          </a:solidFill>
          <a:ln w="3175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23" tIns="9112" rIns="18223" bIns="91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Extraction</a:t>
            </a:r>
          </a:p>
        </p:txBody>
      </p:sp>
      <p:sp>
        <p:nvSpPr>
          <p:cNvPr id="16" name="Fichier manuel" descr="A5"/>
          <p:cNvSpPr/>
          <p:nvPr/>
        </p:nvSpPr>
        <p:spPr>
          <a:xfrm flipV="1">
            <a:off x="3519290" y="2205627"/>
            <a:ext cx="256646" cy="199318"/>
          </a:xfrm>
          <a:prstGeom prst="flowChartExtract">
            <a:avLst/>
          </a:prstGeom>
          <a:solidFill>
            <a:srgbClr val="FFCDD2"/>
          </a:solidFill>
          <a:ln w="3175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23" tIns="9112" rIns="18223" bIns="91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Fichier manuel</a:t>
            </a:r>
          </a:p>
        </p:txBody>
      </p:sp>
      <p:sp>
        <p:nvSpPr>
          <p:cNvPr id="17" name="Stockage interne" descr="A6"/>
          <p:cNvSpPr/>
          <p:nvPr/>
        </p:nvSpPr>
        <p:spPr>
          <a:xfrm>
            <a:off x="3505623" y="2556806"/>
            <a:ext cx="283981" cy="199318"/>
          </a:xfrm>
          <a:prstGeom prst="flowChartInternalStorage">
            <a:avLst/>
          </a:prstGeom>
          <a:solidFill>
            <a:srgbClr val="FFF9C4"/>
          </a:solidFill>
          <a:ln w="3175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23" tIns="9112" rIns="18223" bIns="91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Stockage interne</a:t>
            </a:r>
          </a:p>
        </p:txBody>
      </p:sp>
      <p:sp>
        <p:nvSpPr>
          <p:cNvPr id="18" name="Collationnement" descr="A7"/>
          <p:cNvSpPr/>
          <p:nvPr/>
        </p:nvSpPr>
        <p:spPr>
          <a:xfrm>
            <a:off x="3409950" y="2907986"/>
            <a:ext cx="475326" cy="142370"/>
          </a:xfrm>
          <a:prstGeom prst="flowChartCollate">
            <a:avLst/>
          </a:prstGeom>
          <a:solidFill>
            <a:srgbClr val="BBDEFB"/>
          </a:solidFill>
          <a:ln w="3175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23" tIns="9112" rIns="18223" bIns="91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Collationnement</a:t>
            </a:r>
          </a:p>
        </p:txBody>
      </p:sp>
      <p:sp>
        <p:nvSpPr>
          <p:cNvPr id="19" name="Affichage" descr="A8"/>
          <p:cNvSpPr/>
          <p:nvPr/>
        </p:nvSpPr>
        <p:spPr>
          <a:xfrm>
            <a:off x="3491955" y="3202217"/>
            <a:ext cx="311316" cy="142370"/>
          </a:xfrm>
          <a:prstGeom prst="flowChartDisplay">
            <a:avLst/>
          </a:prstGeom>
          <a:solidFill>
            <a:srgbClr val="C8E6C9"/>
          </a:solidFill>
          <a:ln w="3175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23" tIns="9112" rIns="18223" bIns="91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Affichage</a:t>
            </a:r>
          </a:p>
        </p:txBody>
      </p:sp>
      <p:sp>
        <p:nvSpPr>
          <p:cNvPr id="20" name="Liaison" descr="A9"/>
          <p:cNvSpPr/>
          <p:nvPr/>
        </p:nvSpPr>
        <p:spPr>
          <a:xfrm>
            <a:off x="3519290" y="3496449"/>
            <a:ext cx="256646" cy="142370"/>
          </a:xfrm>
          <a:prstGeom prst="lightningBolt">
            <a:avLst/>
          </a:prstGeom>
          <a:solidFill>
            <a:srgbClr val="FFE0B2"/>
          </a:solidFill>
          <a:ln w="3175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23" tIns="9112" rIns="18223" bIns="91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Liaison</a:t>
            </a:r>
          </a:p>
        </p:txBody>
      </p:sp>
      <p:sp>
        <p:nvSpPr>
          <p:cNvPr id="21" name="Commentaire" descr="A10"/>
          <p:cNvSpPr/>
          <p:nvPr/>
        </p:nvSpPr>
        <p:spPr>
          <a:xfrm>
            <a:off x="3464620" y="3790681"/>
            <a:ext cx="365986" cy="142370"/>
          </a:xfrm>
          <a:prstGeom prst="leftBrace">
            <a:avLst/>
          </a:prstGeom>
          <a:solidFill>
            <a:srgbClr val="E1BEE7"/>
          </a:solidFill>
          <a:ln w="3175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23" tIns="9112" rIns="18223" bIns="91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Commentaire</a:t>
            </a:r>
          </a:p>
        </p:txBody>
      </p:sp>
      <p:sp>
        <p:nvSpPr>
          <p:cNvPr id="22" name="Double accolade" descr="A11"/>
          <p:cNvSpPr/>
          <p:nvPr/>
        </p:nvSpPr>
        <p:spPr>
          <a:xfrm>
            <a:off x="3507901" y="4084912"/>
            <a:ext cx="279425" cy="199318"/>
          </a:xfrm>
          <a:prstGeom prst="bracePair">
            <a:avLst/>
          </a:prstGeom>
          <a:solidFill>
            <a:srgbClr val="FFCDD2"/>
          </a:solidFill>
          <a:ln w="3175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23" tIns="9112" rIns="18223" bIns="91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Double accolade</a:t>
            </a:r>
          </a:p>
        </p:txBody>
      </p:sp>
      <p:sp>
        <p:nvSpPr>
          <p:cNvPr id="23" name="Resume" descr="A12"/>
          <p:cNvSpPr/>
          <p:nvPr/>
        </p:nvSpPr>
        <p:spPr>
          <a:xfrm>
            <a:off x="3532958" y="4436092"/>
            <a:ext cx="229311" cy="142370"/>
          </a:xfrm>
          <a:prstGeom prst="flowChartOr">
            <a:avLst/>
          </a:prstGeom>
          <a:solidFill>
            <a:srgbClr val="FFF9C4"/>
          </a:solidFill>
          <a:ln w="3175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23" tIns="9112" rIns="18223" bIns="91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Resume</a:t>
            </a:r>
          </a:p>
        </p:txBody>
      </p:sp>
      <p:sp>
        <p:nvSpPr>
          <p:cNvPr id="24" name="Jonction" descr="A13"/>
          <p:cNvSpPr/>
          <p:nvPr/>
        </p:nvSpPr>
        <p:spPr>
          <a:xfrm>
            <a:off x="3505623" y="4730324"/>
            <a:ext cx="283981" cy="142370"/>
          </a:xfrm>
          <a:prstGeom prst="flowChartSummingJunction">
            <a:avLst/>
          </a:prstGeom>
          <a:solidFill>
            <a:srgbClr val="BBDEFB"/>
          </a:solidFill>
          <a:ln w="3175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23" tIns="9112" rIns="18223" bIns="91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Jonction</a:t>
            </a:r>
          </a:p>
        </p:txBody>
      </p:sp>
      <p:sp>
        <p:nvSpPr>
          <p:cNvPr id="25" name="Bande papier" descr="A14"/>
          <p:cNvSpPr/>
          <p:nvPr/>
        </p:nvSpPr>
        <p:spPr>
          <a:xfrm>
            <a:off x="3457786" y="5024555"/>
            <a:ext cx="379654" cy="142370"/>
          </a:xfrm>
          <a:prstGeom prst="flowChartPunchedTape">
            <a:avLst/>
          </a:prstGeom>
          <a:solidFill>
            <a:srgbClr val="C8E6C9"/>
          </a:solidFill>
          <a:ln w="3175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23" tIns="9112" rIns="18223" bIns="91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Bande papier</a:t>
            </a:r>
          </a:p>
        </p:txBody>
      </p:sp>
      <p:sp>
        <p:nvSpPr>
          <p:cNvPr id="26" name="Acces direct" descr="A15"/>
          <p:cNvSpPr/>
          <p:nvPr/>
        </p:nvSpPr>
        <p:spPr>
          <a:xfrm>
            <a:off x="3457786" y="5318787"/>
            <a:ext cx="379654" cy="142370"/>
          </a:xfrm>
          <a:prstGeom prst="flowChartMagneticDisk">
            <a:avLst/>
          </a:prstGeom>
          <a:solidFill>
            <a:srgbClr val="FFE0B2"/>
          </a:solidFill>
          <a:ln w="3175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23" tIns="9112" rIns="18223" bIns="91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Acces direct</a:t>
            </a:r>
          </a:p>
        </p:txBody>
      </p:sp>
      <p:sp>
        <p:nvSpPr>
          <p:cNvPr id="27" name="Disque" descr="A16"/>
          <p:cNvSpPr/>
          <p:nvPr/>
        </p:nvSpPr>
        <p:spPr>
          <a:xfrm>
            <a:off x="3532958" y="5613019"/>
            <a:ext cx="229311" cy="142370"/>
          </a:xfrm>
          <a:prstGeom prst="flowChartMagneticDrum">
            <a:avLst/>
          </a:prstGeom>
          <a:solidFill>
            <a:srgbClr val="E1BEE7"/>
          </a:solidFill>
          <a:ln w="3175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23" tIns="9112" rIns="18223" bIns="91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Disque</a:t>
            </a:r>
          </a:p>
        </p:txBody>
      </p:sp>
      <p:sp>
        <p:nvSpPr>
          <p:cNvPr id="28" name="Saisie manuelle" descr="A17"/>
          <p:cNvSpPr/>
          <p:nvPr/>
        </p:nvSpPr>
        <p:spPr>
          <a:xfrm>
            <a:off x="3507901" y="5907250"/>
            <a:ext cx="279425" cy="199318"/>
          </a:xfrm>
          <a:prstGeom prst="flowChartManualInput">
            <a:avLst/>
          </a:prstGeom>
          <a:solidFill>
            <a:srgbClr val="FFCDD2"/>
          </a:solidFill>
          <a:ln w="3175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23" tIns="9112" rIns="18223" bIns="91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Saisie manuelle</a:t>
            </a:r>
          </a:p>
        </p:txBody>
      </p:sp>
      <p:sp>
        <p:nvSpPr>
          <p:cNvPr id="29" name="Evenement" descr="A18"/>
          <p:cNvSpPr/>
          <p:nvPr/>
        </p:nvSpPr>
        <p:spPr>
          <a:xfrm>
            <a:off x="3491955" y="6258430"/>
            <a:ext cx="311316" cy="142370"/>
          </a:xfrm>
          <a:prstGeom prst="roundRect">
            <a:avLst/>
          </a:prstGeom>
          <a:solidFill>
            <a:srgbClr val="FFF9C4"/>
          </a:solidFill>
          <a:ln w="3175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23" tIns="9112" rIns="18223" bIns="91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Evenement</a:t>
            </a:r>
          </a:p>
        </p:txBody>
      </p:sp>
      <p:cxnSp>
        <p:nvCxnSpPr>
          <p:cNvPr id="30" name="A1--A2"/>
          <p:cNvCxnSpPr>
            <a:stCxn id="12" idx="2"/>
            <a:endCxn id="13" idx="0"/>
          </p:cNvCxnSpPr>
          <p:nvPr/>
        </p:nvCxnSpPr>
        <p:spPr>
          <a:xfrm>
            <a:off x="3647613" y="1171070"/>
            <a:ext cx="0" cy="151862"/>
          </a:xfrm>
          <a:prstGeom prst="line">
            <a:avLst/>
          </a:prstGeom>
          <a:ln w="3175" cap="flat" cmpd="sng" algn="ctr">
            <a:solidFill>
              <a:srgbClr val="2F5496"/>
            </a:solidFill>
            <a:prstDash val="solid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A2--A3"/>
          <p:cNvCxnSpPr>
            <a:stCxn id="13" idx="2"/>
            <a:endCxn id="14" idx="0"/>
          </p:cNvCxnSpPr>
          <p:nvPr/>
        </p:nvCxnSpPr>
        <p:spPr>
          <a:xfrm>
            <a:off x="3647613" y="1465302"/>
            <a:ext cx="0" cy="151861"/>
          </a:xfrm>
          <a:prstGeom prst="line">
            <a:avLst/>
          </a:prstGeom>
          <a:ln w="3175" cap="flat" cmpd="sng" algn="ctr">
            <a:solidFill>
              <a:srgbClr val="2F5496"/>
            </a:solidFill>
            <a:prstDash val="solid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A3--A4"/>
          <p:cNvCxnSpPr>
            <a:stCxn id="14" idx="2"/>
            <a:endCxn id="15" idx="0"/>
          </p:cNvCxnSpPr>
          <p:nvPr/>
        </p:nvCxnSpPr>
        <p:spPr>
          <a:xfrm>
            <a:off x="3647613" y="1759533"/>
            <a:ext cx="0" cy="151862"/>
          </a:xfrm>
          <a:prstGeom prst="line">
            <a:avLst/>
          </a:prstGeom>
          <a:ln w="3175" cap="flat" cmpd="sng" algn="ctr">
            <a:solidFill>
              <a:srgbClr val="2F5496"/>
            </a:solidFill>
            <a:prstDash val="solid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A4--A5"/>
          <p:cNvCxnSpPr>
            <a:stCxn id="15" idx="2"/>
            <a:endCxn id="16" idx="0"/>
          </p:cNvCxnSpPr>
          <p:nvPr/>
        </p:nvCxnSpPr>
        <p:spPr>
          <a:xfrm>
            <a:off x="3647613" y="2053765"/>
            <a:ext cx="0" cy="151862"/>
          </a:xfrm>
          <a:prstGeom prst="line">
            <a:avLst/>
          </a:prstGeom>
          <a:ln w="3175" cap="flat" cmpd="sng" algn="ctr">
            <a:solidFill>
              <a:srgbClr val="2F5496"/>
            </a:solidFill>
            <a:prstDash val="solid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A5--A6"/>
          <p:cNvCxnSpPr>
            <a:stCxn id="16" idx="2"/>
            <a:endCxn id="17" idx="0"/>
          </p:cNvCxnSpPr>
          <p:nvPr/>
        </p:nvCxnSpPr>
        <p:spPr>
          <a:xfrm>
            <a:off x="3647613" y="2404945"/>
            <a:ext cx="0" cy="151861"/>
          </a:xfrm>
          <a:prstGeom prst="line">
            <a:avLst/>
          </a:prstGeom>
          <a:ln w="3175" cap="flat" cmpd="sng" algn="ctr">
            <a:solidFill>
              <a:srgbClr val="2F5496"/>
            </a:solidFill>
            <a:prstDash val="solid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A6--A7"/>
          <p:cNvCxnSpPr>
            <a:stCxn id="17" idx="2"/>
            <a:endCxn id="18" idx="0"/>
          </p:cNvCxnSpPr>
          <p:nvPr/>
        </p:nvCxnSpPr>
        <p:spPr>
          <a:xfrm>
            <a:off x="3647613" y="2756124"/>
            <a:ext cx="0" cy="151862"/>
          </a:xfrm>
          <a:prstGeom prst="line">
            <a:avLst/>
          </a:prstGeom>
          <a:ln w="3175" cap="flat" cmpd="sng" algn="ctr">
            <a:solidFill>
              <a:srgbClr val="2F5496"/>
            </a:solidFill>
            <a:prstDash val="solid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A7--A8"/>
          <p:cNvCxnSpPr>
            <a:stCxn id="18" idx="2"/>
            <a:endCxn id="19" idx="0"/>
          </p:cNvCxnSpPr>
          <p:nvPr/>
        </p:nvCxnSpPr>
        <p:spPr>
          <a:xfrm>
            <a:off x="3647613" y="3050356"/>
            <a:ext cx="0" cy="151861"/>
          </a:xfrm>
          <a:prstGeom prst="line">
            <a:avLst/>
          </a:prstGeom>
          <a:ln w="3175" cap="flat" cmpd="sng" algn="ctr">
            <a:solidFill>
              <a:srgbClr val="2F5496"/>
            </a:solidFill>
            <a:prstDash val="solid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A8--A9"/>
          <p:cNvCxnSpPr>
            <a:stCxn id="19" idx="2"/>
            <a:endCxn id="20" idx="0"/>
          </p:cNvCxnSpPr>
          <p:nvPr/>
        </p:nvCxnSpPr>
        <p:spPr>
          <a:xfrm>
            <a:off x="3647613" y="3344588"/>
            <a:ext cx="0" cy="151861"/>
          </a:xfrm>
          <a:prstGeom prst="line">
            <a:avLst/>
          </a:prstGeom>
          <a:ln w="3175" cap="flat" cmpd="sng" algn="ctr">
            <a:solidFill>
              <a:srgbClr val="2F5496"/>
            </a:solidFill>
            <a:prstDash val="solid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A9--A10"/>
          <p:cNvCxnSpPr>
            <a:stCxn id="20" idx="2"/>
            <a:endCxn id="21" idx="0"/>
          </p:cNvCxnSpPr>
          <p:nvPr/>
        </p:nvCxnSpPr>
        <p:spPr>
          <a:xfrm>
            <a:off x="3647613" y="3638819"/>
            <a:ext cx="0" cy="151862"/>
          </a:xfrm>
          <a:prstGeom prst="line">
            <a:avLst/>
          </a:prstGeom>
          <a:ln w="3175" cap="flat" cmpd="sng" algn="ctr">
            <a:solidFill>
              <a:srgbClr val="2F5496"/>
            </a:solidFill>
            <a:prstDash val="solid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A10--A11"/>
          <p:cNvCxnSpPr>
            <a:stCxn id="21" idx="2"/>
            <a:endCxn id="22" idx="0"/>
          </p:cNvCxnSpPr>
          <p:nvPr/>
        </p:nvCxnSpPr>
        <p:spPr>
          <a:xfrm>
            <a:off x="3647613" y="3933051"/>
            <a:ext cx="0" cy="151861"/>
          </a:xfrm>
          <a:prstGeom prst="line">
            <a:avLst/>
          </a:prstGeom>
          <a:ln w="3175" cap="flat" cmpd="sng" algn="ctr">
            <a:solidFill>
              <a:srgbClr val="2F5496"/>
            </a:solidFill>
            <a:prstDash val="solid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A11--A12"/>
          <p:cNvCxnSpPr>
            <a:stCxn id="22" idx="2"/>
            <a:endCxn id="23" idx="0"/>
          </p:cNvCxnSpPr>
          <p:nvPr/>
        </p:nvCxnSpPr>
        <p:spPr>
          <a:xfrm>
            <a:off x="3647613" y="4284231"/>
            <a:ext cx="0" cy="151861"/>
          </a:xfrm>
          <a:prstGeom prst="line">
            <a:avLst/>
          </a:prstGeom>
          <a:ln w="3175" cap="flat" cmpd="sng" algn="ctr">
            <a:solidFill>
              <a:srgbClr val="2F5496"/>
            </a:solidFill>
            <a:prstDash val="solid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A12--A13"/>
          <p:cNvCxnSpPr>
            <a:stCxn id="23" idx="2"/>
            <a:endCxn id="24" idx="0"/>
          </p:cNvCxnSpPr>
          <p:nvPr/>
        </p:nvCxnSpPr>
        <p:spPr>
          <a:xfrm>
            <a:off x="3647613" y="4578462"/>
            <a:ext cx="0" cy="151862"/>
          </a:xfrm>
          <a:prstGeom prst="line">
            <a:avLst/>
          </a:prstGeom>
          <a:ln w="3175" cap="flat" cmpd="sng" algn="ctr">
            <a:solidFill>
              <a:srgbClr val="2F5496"/>
            </a:solidFill>
            <a:prstDash val="solid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A13--A14"/>
          <p:cNvCxnSpPr>
            <a:stCxn id="24" idx="2"/>
            <a:endCxn id="25" idx="0"/>
          </p:cNvCxnSpPr>
          <p:nvPr/>
        </p:nvCxnSpPr>
        <p:spPr>
          <a:xfrm>
            <a:off x="3647613" y="4872694"/>
            <a:ext cx="0" cy="151861"/>
          </a:xfrm>
          <a:prstGeom prst="line">
            <a:avLst/>
          </a:prstGeom>
          <a:ln w="3175" cap="flat" cmpd="sng" algn="ctr">
            <a:solidFill>
              <a:srgbClr val="2F5496"/>
            </a:solidFill>
            <a:prstDash val="solid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A14--A15"/>
          <p:cNvCxnSpPr>
            <a:stCxn id="25" idx="2"/>
            <a:endCxn id="26" idx="0"/>
          </p:cNvCxnSpPr>
          <p:nvPr/>
        </p:nvCxnSpPr>
        <p:spPr>
          <a:xfrm>
            <a:off x="3647613" y="5166925"/>
            <a:ext cx="0" cy="151862"/>
          </a:xfrm>
          <a:prstGeom prst="line">
            <a:avLst/>
          </a:prstGeom>
          <a:ln w="3175" cap="flat" cmpd="sng" algn="ctr">
            <a:solidFill>
              <a:srgbClr val="2F5496"/>
            </a:solidFill>
            <a:prstDash val="solid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A15--A16"/>
          <p:cNvCxnSpPr>
            <a:stCxn id="26" idx="2"/>
            <a:endCxn id="27" idx="0"/>
          </p:cNvCxnSpPr>
          <p:nvPr/>
        </p:nvCxnSpPr>
        <p:spPr>
          <a:xfrm>
            <a:off x="3647613" y="5461157"/>
            <a:ext cx="0" cy="151862"/>
          </a:xfrm>
          <a:prstGeom prst="line">
            <a:avLst/>
          </a:prstGeom>
          <a:ln w="3175" cap="flat" cmpd="sng" algn="ctr">
            <a:solidFill>
              <a:srgbClr val="2F5496"/>
            </a:solidFill>
            <a:prstDash val="solid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A16--A17"/>
          <p:cNvCxnSpPr>
            <a:stCxn id="27" idx="2"/>
            <a:endCxn id="28" idx="0"/>
          </p:cNvCxnSpPr>
          <p:nvPr/>
        </p:nvCxnSpPr>
        <p:spPr>
          <a:xfrm>
            <a:off x="3647613" y="5755389"/>
            <a:ext cx="0" cy="151861"/>
          </a:xfrm>
          <a:prstGeom prst="line">
            <a:avLst/>
          </a:prstGeom>
          <a:ln w="3175" cap="flat" cmpd="sng" algn="ctr">
            <a:solidFill>
              <a:srgbClr val="2F5496"/>
            </a:solidFill>
            <a:prstDash val="solid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A17--A18"/>
          <p:cNvCxnSpPr>
            <a:stCxn id="28" idx="2"/>
            <a:endCxn id="29" idx="0"/>
          </p:cNvCxnSpPr>
          <p:nvPr/>
        </p:nvCxnSpPr>
        <p:spPr>
          <a:xfrm>
            <a:off x="3647613" y="6106568"/>
            <a:ext cx="0" cy="151862"/>
          </a:xfrm>
          <a:prstGeom prst="line">
            <a:avLst/>
          </a:prstGeom>
          <a:ln w="3175" cap="flat" cmpd="sng" algn="ctr">
            <a:solidFill>
              <a:srgbClr val="2F5496"/>
            </a:solidFill>
            <a:prstDash val="solid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shapes</a:t>
            </a:r>
          </a:p>
        </p:txBody>
      </p:sp>
      <p:sp>
        <p:nvSpPr>
          <p:cNvPr id="12" name="Rectangle" descr="R"/>
          <p:cNvSpPr/>
          <p:nvPr/>
        </p:nvSpPr>
        <p:spPr>
          <a:xfrm>
            <a:off x="3620053" y="1028700"/>
            <a:ext cx="395966" cy="181082"/>
          </a:xfrm>
          <a:prstGeom prst="rect">
            <a:avLst/>
          </a:prstGeom>
          <a:solidFill>
            <a:srgbClr val="C8E6C9"/>
          </a:solidFill>
          <a:ln w="3219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3178" tIns="11589" rIns="23178" bIns="1158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000000"/>
                </a:solidFill>
              </a:rPr>
              <a:t>Rectangle</a:t>
            </a:r>
          </a:p>
        </p:txBody>
      </p:sp>
      <p:sp>
        <p:nvSpPr>
          <p:cNvPr id="13" name="Arrondi" descr="RR"/>
          <p:cNvSpPr/>
          <p:nvPr/>
        </p:nvSpPr>
        <p:spPr>
          <a:xfrm>
            <a:off x="3654821" y="1402936"/>
            <a:ext cx="326431" cy="181082"/>
          </a:xfrm>
          <a:prstGeom prst="roundRect">
            <a:avLst/>
          </a:prstGeom>
          <a:solidFill>
            <a:srgbClr val="FFE0B2"/>
          </a:solidFill>
          <a:ln w="3219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3178" tIns="11589" rIns="23178" bIns="1158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000000"/>
                </a:solidFill>
              </a:rPr>
              <a:t>Arrondi</a:t>
            </a:r>
          </a:p>
        </p:txBody>
      </p:sp>
      <p:sp>
        <p:nvSpPr>
          <p:cNvPr id="14" name="Stade" descr="ST"/>
          <p:cNvSpPr/>
          <p:nvPr/>
        </p:nvSpPr>
        <p:spPr>
          <a:xfrm>
            <a:off x="3689589" y="1777172"/>
            <a:ext cx="256895" cy="181082"/>
          </a:xfrm>
          <a:prstGeom prst="roundRect">
            <a:avLst/>
          </a:prstGeom>
          <a:solidFill>
            <a:srgbClr val="E1BEE7"/>
          </a:solidFill>
          <a:ln w="3219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3178" tIns="11589" rIns="23178" bIns="1158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000000"/>
                </a:solidFill>
              </a:rPr>
              <a:t>Stade</a:t>
            </a:r>
          </a:p>
        </p:txBody>
      </p:sp>
      <p:sp>
        <p:nvSpPr>
          <p:cNvPr id="15" name="Losange" descr="DI"/>
          <p:cNvSpPr/>
          <p:nvPr/>
        </p:nvSpPr>
        <p:spPr>
          <a:xfrm>
            <a:off x="3491606" y="2151409"/>
            <a:ext cx="652861" cy="362164"/>
          </a:xfrm>
          <a:prstGeom prst="diamond">
            <a:avLst/>
          </a:prstGeom>
          <a:solidFill>
            <a:srgbClr val="FFCDD2"/>
          </a:solidFill>
          <a:ln w="3219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3178" tIns="11589" rIns="23178" bIns="1158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000000"/>
                </a:solidFill>
              </a:rPr>
              <a:t>Losange</a:t>
            </a:r>
          </a:p>
        </p:txBody>
      </p:sp>
      <p:sp>
        <p:nvSpPr>
          <p:cNvPr id="16" name="Cylindre" descr="CY"/>
          <p:cNvSpPr/>
          <p:nvPr/>
        </p:nvSpPr>
        <p:spPr>
          <a:xfrm>
            <a:off x="3637437" y="2706727"/>
            <a:ext cx="361198" cy="181082"/>
          </a:xfrm>
          <a:prstGeom prst="can">
            <a:avLst/>
          </a:prstGeom>
          <a:solidFill>
            <a:srgbClr val="FFF9C4"/>
          </a:solidFill>
          <a:ln w="3219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3178" tIns="11589" rIns="23178" bIns="1158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000000"/>
                </a:solidFill>
              </a:rPr>
              <a:t>Cylindre</a:t>
            </a:r>
          </a:p>
        </p:txBody>
      </p:sp>
      <p:sp>
        <p:nvSpPr>
          <p:cNvPr id="17" name="Ellipse" descr="EL"/>
          <p:cNvSpPr/>
          <p:nvPr/>
        </p:nvSpPr>
        <p:spPr>
          <a:xfrm>
            <a:off x="3654821" y="3080963"/>
            <a:ext cx="326431" cy="181082"/>
          </a:xfrm>
          <a:prstGeom prst="ellipse">
            <a:avLst/>
          </a:prstGeom>
          <a:solidFill>
            <a:srgbClr val="BBDEFB"/>
          </a:solidFill>
          <a:ln w="3219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3178" tIns="11589" rIns="23178" bIns="1158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000000"/>
                </a:solidFill>
              </a:rPr>
              <a:t>Ellipse</a:t>
            </a:r>
          </a:p>
        </p:txBody>
      </p:sp>
      <p:sp>
        <p:nvSpPr>
          <p:cNvPr id="18" name="Hexagone" descr="HX"/>
          <p:cNvSpPr/>
          <p:nvPr/>
        </p:nvSpPr>
        <p:spPr>
          <a:xfrm>
            <a:off x="3574228" y="3455199"/>
            <a:ext cx="487618" cy="181082"/>
          </a:xfrm>
          <a:prstGeom prst="hexagon">
            <a:avLst/>
          </a:prstGeom>
          <a:solidFill>
            <a:srgbClr val="C8E6C9"/>
          </a:solidFill>
          <a:ln w="3219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3178" tIns="11589" rIns="23178" bIns="1158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000000"/>
                </a:solidFill>
              </a:rPr>
              <a:t>Hexagone</a:t>
            </a:r>
          </a:p>
        </p:txBody>
      </p:sp>
      <p:sp>
        <p:nvSpPr>
          <p:cNvPr id="19" name="Parallelogramme" descr="PA"/>
          <p:cNvSpPr/>
          <p:nvPr/>
        </p:nvSpPr>
        <p:spPr>
          <a:xfrm>
            <a:off x="3409950" y="3829435"/>
            <a:ext cx="816173" cy="181082"/>
          </a:xfrm>
          <a:prstGeom prst="parallelogram">
            <a:avLst/>
          </a:prstGeom>
          <a:solidFill>
            <a:srgbClr val="FFE0B2"/>
          </a:solidFill>
          <a:ln w="3219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3178" tIns="11589" rIns="23178" bIns="1158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000000"/>
                </a:solidFill>
              </a:rPr>
              <a:t>Parallelogramme</a:t>
            </a:r>
          </a:p>
        </p:txBody>
      </p:sp>
      <p:sp>
        <p:nvSpPr>
          <p:cNvPr id="20" name="Parallelogramme miroir" descr="PB"/>
          <p:cNvSpPr/>
          <p:nvPr/>
        </p:nvSpPr>
        <p:spPr>
          <a:xfrm flipH="1">
            <a:off x="3409950" y="4203671"/>
            <a:ext cx="816173" cy="253515"/>
          </a:xfrm>
          <a:prstGeom prst="parallelogram">
            <a:avLst/>
          </a:prstGeom>
          <a:solidFill>
            <a:srgbClr val="E1BEE7"/>
          </a:solidFill>
          <a:ln w="3219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3178" tIns="11589" rIns="23178" bIns="1158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000000"/>
                </a:solidFill>
              </a:rPr>
              <a:t>Parallelogramme miroir</a:t>
            </a:r>
          </a:p>
        </p:txBody>
      </p:sp>
      <p:sp>
        <p:nvSpPr>
          <p:cNvPr id="21" name="Trapeze" descr="TA"/>
          <p:cNvSpPr/>
          <p:nvPr/>
        </p:nvSpPr>
        <p:spPr>
          <a:xfrm>
            <a:off x="3597696" y="4650340"/>
            <a:ext cx="440681" cy="181082"/>
          </a:xfrm>
          <a:prstGeom prst="trapezoid">
            <a:avLst/>
          </a:prstGeom>
          <a:solidFill>
            <a:srgbClr val="FFCDD2"/>
          </a:solidFill>
          <a:ln w="3219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3178" tIns="11589" rIns="23178" bIns="1158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000000"/>
                </a:solidFill>
              </a:rPr>
              <a:t>Trapeze</a:t>
            </a:r>
          </a:p>
        </p:txBody>
      </p:sp>
      <p:sp>
        <p:nvSpPr>
          <p:cNvPr id="22" name="Trapeze miroir" descr="TB"/>
          <p:cNvSpPr/>
          <p:nvPr/>
        </p:nvSpPr>
        <p:spPr>
          <a:xfrm flipV="1">
            <a:off x="3597696" y="5024577"/>
            <a:ext cx="440681" cy="253515"/>
          </a:xfrm>
          <a:prstGeom prst="trapezoid">
            <a:avLst/>
          </a:prstGeom>
          <a:solidFill>
            <a:srgbClr val="FFF9C4"/>
          </a:solidFill>
          <a:ln w="3219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3178" tIns="11589" rIns="23178" bIns="1158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000000"/>
                </a:solidFill>
              </a:rPr>
              <a:t>Trapeze miroir</a:t>
            </a:r>
          </a:p>
        </p:txBody>
      </p:sp>
      <p:sp>
        <p:nvSpPr>
          <p:cNvPr id="23" name="Sous-routine" descr="SR"/>
          <p:cNvSpPr/>
          <p:nvPr/>
        </p:nvSpPr>
        <p:spPr>
          <a:xfrm>
            <a:off x="3567902" y="5471246"/>
            <a:ext cx="500269" cy="181082"/>
          </a:xfrm>
          <a:prstGeom prst="flowChartPredefinedProcess">
            <a:avLst/>
          </a:prstGeom>
          <a:solidFill>
            <a:srgbClr val="BBDEFB"/>
          </a:solidFill>
          <a:ln w="3219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3178" tIns="11589" rIns="23178" bIns="1158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000000"/>
                </a:solidFill>
              </a:rPr>
              <a:t>Sous-routine</a:t>
            </a:r>
          </a:p>
        </p:txBody>
      </p:sp>
      <p:sp>
        <p:nvSpPr>
          <p:cNvPr id="24" name="Double cercle" descr="DC"/>
          <p:cNvSpPr/>
          <p:nvPr/>
        </p:nvSpPr>
        <p:spPr>
          <a:xfrm>
            <a:off x="3559210" y="5845482"/>
            <a:ext cx="517653" cy="181082"/>
          </a:xfrm>
          <a:prstGeom prst="ellipse">
            <a:avLst/>
          </a:prstGeom>
          <a:solidFill>
            <a:srgbClr val="C8E6C9"/>
          </a:solidFill>
          <a:ln w="3219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3178" tIns="11589" rIns="23178" bIns="1158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000000"/>
                </a:solidFill>
              </a:rPr>
              <a:t>Double cercle</a:t>
            </a:r>
          </a:p>
        </p:txBody>
      </p:sp>
      <p:sp>
        <p:nvSpPr>
          <p:cNvPr id="25" name="Asymetrique" descr="AS"/>
          <p:cNvSpPr/>
          <p:nvPr/>
        </p:nvSpPr>
        <p:spPr>
          <a:xfrm>
            <a:off x="3585286" y="6219718"/>
            <a:ext cx="465502" cy="181082"/>
          </a:xfrm>
          <a:prstGeom prst="homePlate">
            <a:avLst/>
          </a:prstGeom>
          <a:solidFill>
            <a:srgbClr val="FFE0B2"/>
          </a:solidFill>
          <a:ln w="3219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3178" tIns="11589" rIns="23178" bIns="1158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000000"/>
                </a:solidFill>
              </a:rPr>
              <a:t>Asymetrique</a:t>
            </a:r>
          </a:p>
        </p:txBody>
      </p:sp>
      <p:cxnSp>
        <p:nvCxnSpPr>
          <p:cNvPr id="26" name="R--RR"/>
          <p:cNvCxnSpPr>
            <a:stCxn id="12" idx="2"/>
            <a:endCxn id="13" idx="0"/>
          </p:cNvCxnSpPr>
          <p:nvPr/>
        </p:nvCxnSpPr>
        <p:spPr>
          <a:xfrm>
            <a:off x="3818036" y="1209782"/>
            <a:ext cx="0" cy="193154"/>
          </a:xfrm>
          <a:prstGeom prst="line">
            <a:avLst/>
          </a:prstGeom>
          <a:ln w="321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RR--ST"/>
          <p:cNvCxnSpPr>
            <a:stCxn id="13" idx="2"/>
            <a:endCxn id="14" idx="0"/>
          </p:cNvCxnSpPr>
          <p:nvPr/>
        </p:nvCxnSpPr>
        <p:spPr>
          <a:xfrm>
            <a:off x="3818036" y="1584018"/>
            <a:ext cx="0" cy="193154"/>
          </a:xfrm>
          <a:prstGeom prst="line">
            <a:avLst/>
          </a:prstGeom>
          <a:ln w="321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--DI"/>
          <p:cNvCxnSpPr>
            <a:stCxn id="14" idx="2"/>
            <a:endCxn id="15" idx="0"/>
          </p:cNvCxnSpPr>
          <p:nvPr/>
        </p:nvCxnSpPr>
        <p:spPr>
          <a:xfrm>
            <a:off x="3818036" y="1958254"/>
            <a:ext cx="0" cy="193155"/>
          </a:xfrm>
          <a:prstGeom prst="line">
            <a:avLst/>
          </a:prstGeom>
          <a:ln w="321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DI--CY"/>
          <p:cNvCxnSpPr>
            <a:stCxn id="15" idx="2"/>
            <a:endCxn id="16" idx="0"/>
          </p:cNvCxnSpPr>
          <p:nvPr/>
        </p:nvCxnSpPr>
        <p:spPr>
          <a:xfrm>
            <a:off x="3818036" y="2513573"/>
            <a:ext cx="0" cy="193154"/>
          </a:xfrm>
          <a:prstGeom prst="line">
            <a:avLst/>
          </a:prstGeom>
          <a:ln w="321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Y--EL"/>
          <p:cNvCxnSpPr>
            <a:stCxn id="16" idx="2"/>
            <a:endCxn id="17" idx="0"/>
          </p:cNvCxnSpPr>
          <p:nvPr/>
        </p:nvCxnSpPr>
        <p:spPr>
          <a:xfrm>
            <a:off x="3818036" y="2887809"/>
            <a:ext cx="0" cy="193154"/>
          </a:xfrm>
          <a:prstGeom prst="line">
            <a:avLst/>
          </a:prstGeom>
          <a:ln w="321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EL--HX"/>
          <p:cNvCxnSpPr>
            <a:stCxn id="17" idx="2"/>
            <a:endCxn id="18" idx="0"/>
          </p:cNvCxnSpPr>
          <p:nvPr/>
        </p:nvCxnSpPr>
        <p:spPr>
          <a:xfrm>
            <a:off x="3818036" y="3262045"/>
            <a:ext cx="0" cy="193154"/>
          </a:xfrm>
          <a:prstGeom prst="line">
            <a:avLst/>
          </a:prstGeom>
          <a:ln w="321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HX--PA"/>
          <p:cNvCxnSpPr>
            <a:stCxn id="18" idx="2"/>
            <a:endCxn id="19" idx="0"/>
          </p:cNvCxnSpPr>
          <p:nvPr/>
        </p:nvCxnSpPr>
        <p:spPr>
          <a:xfrm>
            <a:off x="3818036" y="3636281"/>
            <a:ext cx="0" cy="193154"/>
          </a:xfrm>
          <a:prstGeom prst="line">
            <a:avLst/>
          </a:prstGeom>
          <a:ln w="321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PA--PB"/>
          <p:cNvCxnSpPr>
            <a:stCxn id="19" idx="2"/>
            <a:endCxn id="20" idx="0"/>
          </p:cNvCxnSpPr>
          <p:nvPr/>
        </p:nvCxnSpPr>
        <p:spPr>
          <a:xfrm>
            <a:off x="3818036" y="4010517"/>
            <a:ext cx="0" cy="193154"/>
          </a:xfrm>
          <a:prstGeom prst="line">
            <a:avLst/>
          </a:prstGeom>
          <a:ln w="321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PB--TA"/>
          <p:cNvCxnSpPr>
            <a:stCxn id="20" idx="2"/>
            <a:endCxn id="21" idx="0"/>
          </p:cNvCxnSpPr>
          <p:nvPr/>
        </p:nvCxnSpPr>
        <p:spPr>
          <a:xfrm>
            <a:off x="3818036" y="4457186"/>
            <a:ext cx="0" cy="193154"/>
          </a:xfrm>
          <a:prstGeom prst="line">
            <a:avLst/>
          </a:prstGeom>
          <a:ln w="321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TA--TB"/>
          <p:cNvCxnSpPr>
            <a:stCxn id="21" idx="2"/>
            <a:endCxn id="22" idx="0"/>
          </p:cNvCxnSpPr>
          <p:nvPr/>
        </p:nvCxnSpPr>
        <p:spPr>
          <a:xfrm>
            <a:off x="3818036" y="4831422"/>
            <a:ext cx="0" cy="193155"/>
          </a:xfrm>
          <a:prstGeom prst="line">
            <a:avLst/>
          </a:prstGeom>
          <a:ln w="321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TB--SR"/>
          <p:cNvCxnSpPr>
            <a:stCxn id="22" idx="2"/>
            <a:endCxn id="23" idx="0"/>
          </p:cNvCxnSpPr>
          <p:nvPr/>
        </p:nvCxnSpPr>
        <p:spPr>
          <a:xfrm>
            <a:off x="3818036" y="5278091"/>
            <a:ext cx="0" cy="193155"/>
          </a:xfrm>
          <a:prstGeom prst="line">
            <a:avLst/>
          </a:prstGeom>
          <a:ln w="321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R--DC"/>
          <p:cNvCxnSpPr>
            <a:stCxn id="23" idx="2"/>
            <a:endCxn id="24" idx="0"/>
          </p:cNvCxnSpPr>
          <p:nvPr/>
        </p:nvCxnSpPr>
        <p:spPr>
          <a:xfrm>
            <a:off x="3818036" y="5652328"/>
            <a:ext cx="0" cy="193154"/>
          </a:xfrm>
          <a:prstGeom prst="line">
            <a:avLst/>
          </a:prstGeom>
          <a:ln w="321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DC--AS"/>
          <p:cNvCxnSpPr>
            <a:stCxn id="24" idx="2"/>
            <a:endCxn id="25" idx="0"/>
          </p:cNvCxnSpPr>
          <p:nvPr/>
        </p:nvCxnSpPr>
        <p:spPr>
          <a:xfrm>
            <a:off x="3818036" y="6026564"/>
            <a:ext cx="0" cy="193154"/>
          </a:xfrm>
          <a:prstGeom prst="line">
            <a:avLst/>
          </a:prstGeom>
          <a:ln w="321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state-diagram</a:t>
            </a:r>
          </a:p>
        </p:txBody>
      </p:sp>
      <p:cxnSp>
        <p:nvCxnSpPr>
          <p:cNvPr id="11" name="Connector 1"/>
          <p:cNvCxnSpPr/>
          <p:nvPr/>
        </p:nvCxnSpPr>
        <p:spPr>
          <a:xfrm>
            <a:off x="6239746" y="1532334"/>
            <a:ext cx="1" cy="719478"/>
          </a:xfrm>
          <a:prstGeom prst="line">
            <a:avLst/>
          </a:prstGeom>
          <a:ln w="11991">
            <a:solidFill>
              <a:srgbClr val="2F5496"/>
            </a:solidFill>
            <a:prstDash val="solid"/>
            <a:tailEnd type="triangle" w="sm" len="sm"/>
          </a:ln>
        </p:spPr>
      </p:cxnSp>
      <p:cxnSp>
        <p:nvCxnSpPr>
          <p:cNvPr id="12" name="Connector 2"/>
          <p:cNvCxnSpPr/>
          <p:nvPr/>
        </p:nvCxnSpPr>
        <p:spPr>
          <a:xfrm flipH="1">
            <a:off x="5166562" y="2683499"/>
            <a:ext cx="825526" cy="719478"/>
          </a:xfrm>
          <a:prstGeom prst="line">
            <a:avLst/>
          </a:prstGeom>
          <a:ln w="11991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13" name="Text 3"/>
          <p:cNvSpPr txBox="1"/>
          <p:nvPr/>
        </p:nvSpPr>
        <p:spPr>
          <a:xfrm>
            <a:off x="5363482" y="2923325"/>
            <a:ext cx="431687" cy="23982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07" dirty="0">
                <a:solidFill>
                  <a:srgbClr val="000000"/>
                </a:solidFill>
              </a:rPr>
              <a:t>fetch</a:t>
            </a:r>
          </a:p>
        </p:txBody>
      </p:sp>
      <p:cxnSp>
        <p:nvCxnSpPr>
          <p:cNvPr id="14" name="Connector 4"/>
          <p:cNvCxnSpPr/>
          <p:nvPr/>
        </p:nvCxnSpPr>
        <p:spPr>
          <a:xfrm>
            <a:off x="4918904" y="3834663"/>
            <a:ext cx="1" cy="719478"/>
          </a:xfrm>
          <a:prstGeom prst="line">
            <a:avLst/>
          </a:prstGeom>
          <a:ln w="11991">
            <a:solidFill>
              <a:srgbClr val="2F5496"/>
            </a:solidFill>
            <a:prstDash val="solid"/>
            <a:tailEnd type="triangle" w="sm" len="sm"/>
          </a:ln>
        </p:spPr>
      </p:cxnSp>
      <p:cxnSp>
        <p:nvCxnSpPr>
          <p:cNvPr id="15" name="Connector 5"/>
          <p:cNvCxnSpPr/>
          <p:nvPr/>
        </p:nvCxnSpPr>
        <p:spPr>
          <a:xfrm>
            <a:off x="5060152" y="4961845"/>
            <a:ext cx="498523" cy="719478"/>
          </a:xfrm>
          <a:prstGeom prst="line">
            <a:avLst/>
          </a:prstGeom>
          <a:ln w="11991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16" name="Text 6"/>
          <p:cNvSpPr txBox="1"/>
          <p:nvPr/>
        </p:nvSpPr>
        <p:spPr>
          <a:xfrm>
            <a:off x="5179908" y="5201671"/>
            <a:ext cx="259012" cy="23982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07" dirty="0">
                <a:solidFill>
                  <a:srgbClr val="000000"/>
                </a:solidFill>
              </a:rPr>
              <a:t>ok</a:t>
            </a:r>
          </a:p>
        </p:txBody>
      </p:sp>
      <p:cxnSp>
        <p:nvCxnSpPr>
          <p:cNvPr id="17" name="Connector 7"/>
          <p:cNvCxnSpPr/>
          <p:nvPr/>
        </p:nvCxnSpPr>
        <p:spPr>
          <a:xfrm>
            <a:off x="5122756" y="4856310"/>
            <a:ext cx="1738438" cy="838439"/>
          </a:xfrm>
          <a:prstGeom prst="line">
            <a:avLst/>
          </a:prstGeom>
          <a:ln w="11991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18" name="Text 8"/>
          <p:cNvSpPr txBox="1"/>
          <p:nvPr/>
        </p:nvSpPr>
        <p:spPr>
          <a:xfrm>
            <a:off x="5804912" y="5155616"/>
            <a:ext cx="374128" cy="23982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07" dirty="0">
                <a:solidFill>
                  <a:srgbClr val="000000"/>
                </a:solidFill>
              </a:rPr>
              <a:t>fail</a:t>
            </a:r>
          </a:p>
        </p:txBody>
      </p:sp>
      <p:cxnSp>
        <p:nvCxnSpPr>
          <p:cNvPr id="19" name="Connector 9"/>
          <p:cNvCxnSpPr/>
          <p:nvPr/>
        </p:nvCxnSpPr>
        <p:spPr>
          <a:xfrm flipV="1">
            <a:off x="5741683" y="2683499"/>
            <a:ext cx="464610" cy="2997824"/>
          </a:xfrm>
          <a:prstGeom prst="line">
            <a:avLst/>
          </a:prstGeom>
          <a:ln w="11991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20" name="Text 10"/>
          <p:cNvSpPr txBox="1"/>
          <p:nvPr/>
        </p:nvSpPr>
        <p:spPr>
          <a:xfrm>
            <a:off x="5758145" y="4062498"/>
            <a:ext cx="431687" cy="23982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07" dirty="0">
                <a:solidFill>
                  <a:srgbClr val="000000"/>
                </a:solidFill>
              </a:rPr>
              <a:t>reset</a:t>
            </a:r>
          </a:p>
        </p:txBody>
      </p:sp>
      <p:cxnSp>
        <p:nvCxnSpPr>
          <p:cNvPr id="21" name="Connector 11"/>
          <p:cNvCxnSpPr/>
          <p:nvPr/>
        </p:nvCxnSpPr>
        <p:spPr>
          <a:xfrm flipH="1" flipV="1">
            <a:off x="6305272" y="2683499"/>
            <a:ext cx="910092" cy="2997824"/>
          </a:xfrm>
          <a:prstGeom prst="line">
            <a:avLst/>
          </a:prstGeom>
          <a:ln w="11991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22" name="Text 12"/>
          <p:cNvSpPr txBox="1"/>
          <p:nvPr/>
        </p:nvSpPr>
        <p:spPr>
          <a:xfrm>
            <a:off x="6544474" y="4062498"/>
            <a:ext cx="431687" cy="23982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07" dirty="0">
                <a:solidFill>
                  <a:srgbClr val="000000"/>
                </a:solidFill>
              </a:rPr>
              <a:t>retry</a:t>
            </a:r>
          </a:p>
        </p:txBody>
      </p:sp>
      <p:cxnSp>
        <p:nvCxnSpPr>
          <p:cNvPr id="23" name="Connector 13"/>
          <p:cNvCxnSpPr/>
          <p:nvPr/>
        </p:nvCxnSpPr>
        <p:spPr>
          <a:xfrm flipH="1">
            <a:off x="6016845" y="2683499"/>
            <a:ext cx="174561" cy="779434"/>
          </a:xfrm>
          <a:prstGeom prst="line">
            <a:avLst/>
          </a:prstGeom>
          <a:ln w="11991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24" name="Shape 14"/>
          <p:cNvSpPr/>
          <p:nvPr/>
        </p:nvSpPr>
        <p:spPr>
          <a:xfrm>
            <a:off x="6131824" y="1316491"/>
            <a:ext cx="215843" cy="215843"/>
          </a:xfrm>
          <a:prstGeom prst="ellipse">
            <a:avLst/>
          </a:prstGeom>
          <a:solidFill>
            <a:srgbClr val="000000"/>
          </a:solidFill>
          <a:ln>
            <a:noFill/>
          </a:ln>
        </p:spPr>
      </p:sp>
      <p:sp>
        <p:nvSpPr>
          <p:cNvPr id="25" name="Idle"/>
          <p:cNvSpPr/>
          <p:nvPr/>
        </p:nvSpPr>
        <p:spPr>
          <a:xfrm>
            <a:off x="5820050" y="2251812"/>
            <a:ext cx="839391" cy="431687"/>
          </a:xfrm>
          <a:prstGeom prst="roundRect">
            <a:avLst/>
          </a:prstGeom>
          <a:solidFill>
            <a:srgbClr val="D9E2F3"/>
          </a:solidFill>
          <a:ln w="11991">
            <a:solidFill>
              <a:srgbClr val="2F5496"/>
            </a:solidFill>
          </a:ln>
        </p:spPr>
      </p:sp>
      <p:sp>
        <p:nvSpPr>
          <p:cNvPr id="26" name="Text 16"/>
          <p:cNvSpPr txBox="1"/>
          <p:nvPr/>
        </p:nvSpPr>
        <p:spPr>
          <a:xfrm>
            <a:off x="5820050" y="2251812"/>
            <a:ext cx="839391" cy="43168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33" dirty="0">
                <a:solidFill>
                  <a:srgbClr val="000000"/>
                </a:solidFill>
              </a:rPr>
              <a:t>Idle</a:t>
            </a:r>
          </a:p>
        </p:txBody>
      </p:sp>
      <p:sp>
        <p:nvSpPr>
          <p:cNvPr id="27" name="Loading"/>
          <p:cNvSpPr/>
          <p:nvPr/>
        </p:nvSpPr>
        <p:spPr>
          <a:xfrm>
            <a:off x="4491415" y="3402976"/>
            <a:ext cx="854980" cy="431687"/>
          </a:xfrm>
          <a:prstGeom prst="roundRect">
            <a:avLst/>
          </a:prstGeom>
          <a:solidFill>
            <a:srgbClr val="D9E2F3"/>
          </a:solidFill>
          <a:ln w="11991">
            <a:solidFill>
              <a:srgbClr val="2F5496"/>
            </a:solidFill>
          </a:ln>
        </p:spPr>
      </p:sp>
      <p:sp>
        <p:nvSpPr>
          <p:cNvPr id="28" name="Text 18"/>
          <p:cNvSpPr txBox="1"/>
          <p:nvPr/>
        </p:nvSpPr>
        <p:spPr>
          <a:xfrm>
            <a:off x="4491415" y="3402976"/>
            <a:ext cx="854980" cy="43168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33" dirty="0">
                <a:solidFill>
                  <a:srgbClr val="000000"/>
                </a:solidFill>
              </a:rPr>
              <a:t>Loading</a:t>
            </a:r>
          </a:p>
        </p:txBody>
      </p:sp>
      <p:sp>
        <p:nvSpPr>
          <p:cNvPr id="29" name="Shape 19"/>
          <p:cNvSpPr/>
          <p:nvPr/>
        </p:nvSpPr>
        <p:spPr>
          <a:xfrm>
            <a:off x="4715052" y="4554141"/>
            <a:ext cx="407704" cy="407704"/>
          </a:xfrm>
          <a:prstGeom prst="diamond">
            <a:avLst/>
          </a:prstGeom>
          <a:solidFill>
            <a:srgbClr val="D9E2F3"/>
          </a:solidFill>
          <a:ln w="11991">
            <a:solidFill>
              <a:srgbClr val="2F5496"/>
            </a:solidFill>
          </a:ln>
        </p:spPr>
      </p:sp>
      <p:sp>
        <p:nvSpPr>
          <p:cNvPr id="30" name="Success"/>
          <p:cNvSpPr/>
          <p:nvPr/>
        </p:nvSpPr>
        <p:spPr>
          <a:xfrm>
            <a:off x="5280742" y="5681322"/>
            <a:ext cx="854980" cy="431687"/>
          </a:xfrm>
          <a:prstGeom prst="roundRect">
            <a:avLst/>
          </a:prstGeom>
          <a:solidFill>
            <a:srgbClr val="D9E2F3"/>
          </a:solidFill>
          <a:ln w="11991">
            <a:solidFill>
              <a:srgbClr val="2F5496"/>
            </a:solidFill>
          </a:ln>
        </p:spPr>
      </p:sp>
      <p:sp>
        <p:nvSpPr>
          <p:cNvPr id="31" name="Text 21"/>
          <p:cNvSpPr txBox="1"/>
          <p:nvPr/>
        </p:nvSpPr>
        <p:spPr>
          <a:xfrm>
            <a:off x="5280742" y="5681322"/>
            <a:ext cx="854980" cy="43168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33" dirty="0">
                <a:solidFill>
                  <a:srgbClr val="000000"/>
                </a:solidFill>
              </a:rPr>
              <a:t>Success</a:t>
            </a:r>
          </a:p>
        </p:txBody>
      </p:sp>
      <p:sp>
        <p:nvSpPr>
          <p:cNvPr id="32" name="Error"/>
          <p:cNvSpPr/>
          <p:nvPr/>
        </p:nvSpPr>
        <p:spPr>
          <a:xfrm>
            <a:off x="6861194" y="5681322"/>
            <a:ext cx="839391" cy="431687"/>
          </a:xfrm>
          <a:prstGeom prst="roundRect">
            <a:avLst/>
          </a:prstGeom>
          <a:solidFill>
            <a:srgbClr val="D9E2F3"/>
          </a:solidFill>
          <a:ln w="11991">
            <a:solidFill>
              <a:srgbClr val="2F5496"/>
            </a:solidFill>
          </a:ln>
        </p:spPr>
      </p:sp>
      <p:sp>
        <p:nvSpPr>
          <p:cNvPr id="33" name="Text 23"/>
          <p:cNvSpPr txBox="1"/>
          <p:nvPr/>
        </p:nvSpPr>
        <p:spPr>
          <a:xfrm>
            <a:off x="6861194" y="5681322"/>
            <a:ext cx="839391" cy="43168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33" dirty="0">
                <a:solidFill>
                  <a:srgbClr val="000000"/>
                </a:solidFill>
              </a:rPr>
              <a:t>Error</a:t>
            </a:r>
          </a:p>
        </p:txBody>
      </p:sp>
      <p:sp>
        <p:nvSpPr>
          <p:cNvPr id="34" name="Shape 24"/>
          <p:cNvSpPr/>
          <p:nvPr/>
        </p:nvSpPr>
        <p:spPr>
          <a:xfrm>
            <a:off x="5826047" y="3462933"/>
            <a:ext cx="311774" cy="311774"/>
          </a:xfrm>
          <a:prstGeom prst="ellipse">
            <a:avLst/>
          </a:prstGeom>
          <a:solidFill>
            <a:srgbClr val="FFFFFF"/>
          </a:solidFill>
          <a:ln w="11991">
            <a:solidFill>
              <a:srgbClr val="000000"/>
            </a:solidFill>
          </a:ln>
        </p:spPr>
      </p:sp>
      <p:sp>
        <p:nvSpPr>
          <p:cNvPr id="35" name="Shape 25"/>
          <p:cNvSpPr/>
          <p:nvPr/>
        </p:nvSpPr>
        <p:spPr>
          <a:xfrm>
            <a:off x="5913343" y="3550229"/>
            <a:ext cx="137180" cy="13718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subgraph</a:t>
            </a:r>
          </a:p>
        </p:txBody>
      </p:sp>
      <p:sp>
        <p:nvSpPr>
          <p:cNvPr id="17" name="Groupe externe (container)"/>
          <p:cNvSpPr/>
          <p:nvPr/>
        </p:nvSpPr>
        <p:spPr>
          <a:xfrm>
            <a:off x="3500427" y="1028700"/>
            <a:ext cx="1080703" cy="2098575"/>
          </a:xfrm>
          <a:prstGeom prst="rect">
            <a:avLst/>
          </a:prstGeom>
          <a:solidFill>
            <a:srgbClr val="E8E8E8">
              <a:alpha val="40000"/>
            </a:srgbClr>
          </a:solidFill>
          <a:ln w="9525">
            <a:solidFill>
              <a:srgbClr val="999999"/>
            </a:solidFill>
            <a:prstDash val="dash"/>
          </a:ln>
        </p:spPr>
      </p:sp>
      <p:sp>
        <p:nvSpPr>
          <p:cNvPr id="18" name="Groupe externe"/>
          <p:cNvSpPr/>
          <p:nvPr/>
        </p:nvSpPr>
        <p:spPr>
          <a:xfrm>
            <a:off x="3500427" y="1028700"/>
            <a:ext cx="1080703" cy="150796"/>
          </a:xfrm>
          <a:prstGeom prst="rect">
            <a:avLst/>
          </a:prstGeom>
          <a:noFill/>
          <a:ln w="0">
            <a:noFill/>
          </a:ln>
        </p:spPr>
        <p:txBody>
          <a:bodyPr lIns="60318" tIns="30159" rIns="60318" bIns="30159" anchor="ctr" anchorCtr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Groupe externe</a:t>
            </a:r>
          </a:p>
        </p:txBody>
      </p:sp>
      <p:sp>
        <p:nvSpPr>
          <p:cNvPr id="19" name="Groupe interne (container)"/>
          <p:cNvSpPr/>
          <p:nvPr/>
        </p:nvSpPr>
        <p:spPr>
          <a:xfrm>
            <a:off x="3409950" y="3629927"/>
            <a:ext cx="1261658" cy="2098575"/>
          </a:xfrm>
          <a:prstGeom prst="rect">
            <a:avLst/>
          </a:prstGeom>
          <a:solidFill>
            <a:srgbClr val="E8E8E8">
              <a:alpha val="40000"/>
            </a:srgbClr>
          </a:solidFill>
          <a:ln w="9525">
            <a:solidFill>
              <a:srgbClr val="999999"/>
            </a:solidFill>
            <a:prstDash val="dash"/>
          </a:ln>
        </p:spPr>
      </p:sp>
      <p:sp>
        <p:nvSpPr>
          <p:cNvPr id="20" name="Groupe interne"/>
          <p:cNvSpPr/>
          <p:nvPr/>
        </p:nvSpPr>
        <p:spPr>
          <a:xfrm>
            <a:off x="3409950" y="3629927"/>
            <a:ext cx="1261658" cy="150796"/>
          </a:xfrm>
          <a:prstGeom prst="rect">
            <a:avLst/>
          </a:prstGeom>
          <a:noFill/>
          <a:ln w="0">
            <a:noFill/>
          </a:ln>
        </p:spPr>
        <p:txBody>
          <a:bodyPr lIns="60318" tIns="30159" rIns="60318" bIns="30159" anchor="ctr" anchorCtr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Groupe interne</a:t>
            </a:r>
          </a:p>
        </p:txBody>
      </p:sp>
      <p:sp>
        <p:nvSpPr>
          <p:cNvPr id="12" name="Un" descr="A"/>
          <p:cNvSpPr/>
          <p:nvPr/>
        </p:nvSpPr>
        <p:spPr>
          <a:xfrm>
            <a:off x="3820869" y="1430822"/>
            <a:ext cx="439821" cy="471237"/>
          </a:xfrm>
          <a:prstGeom prst="rect">
            <a:avLst/>
          </a:prstGeom>
          <a:solidFill>
            <a:srgbClr val="FFE0B2"/>
          </a:solidFill>
          <a:ln w="8378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0318" tIns="30159" rIns="60318" bIns="301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Un</a:t>
            </a:r>
          </a:p>
        </p:txBody>
      </p:sp>
      <p:sp>
        <p:nvSpPr>
          <p:cNvPr id="13" name="Deux" descr="B"/>
          <p:cNvSpPr/>
          <p:nvPr/>
        </p:nvSpPr>
        <p:spPr>
          <a:xfrm>
            <a:off x="3751754" y="2404712"/>
            <a:ext cx="578051" cy="471237"/>
          </a:xfrm>
          <a:prstGeom prst="rect">
            <a:avLst/>
          </a:prstGeom>
          <a:solidFill>
            <a:srgbClr val="E1BEE7"/>
          </a:solidFill>
          <a:ln w="8378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0318" tIns="30159" rIns="60318" bIns="301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Deux</a:t>
            </a:r>
          </a:p>
        </p:txBody>
      </p:sp>
      <p:sp>
        <p:nvSpPr>
          <p:cNvPr id="14" name="Trois" descr="C"/>
          <p:cNvSpPr/>
          <p:nvPr/>
        </p:nvSpPr>
        <p:spPr>
          <a:xfrm>
            <a:off x="3706515" y="4032049"/>
            <a:ext cx="668528" cy="471237"/>
          </a:xfrm>
          <a:prstGeom prst="rect">
            <a:avLst/>
          </a:prstGeom>
          <a:solidFill>
            <a:srgbClr val="FFCDD2"/>
          </a:solidFill>
          <a:ln w="8378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0318" tIns="30159" rIns="60318" bIns="301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Trois</a:t>
            </a:r>
          </a:p>
        </p:txBody>
      </p:sp>
      <p:sp>
        <p:nvSpPr>
          <p:cNvPr id="15" name="Quatre" descr="D"/>
          <p:cNvSpPr/>
          <p:nvPr/>
        </p:nvSpPr>
        <p:spPr>
          <a:xfrm>
            <a:off x="3661276" y="5005939"/>
            <a:ext cx="759005" cy="471237"/>
          </a:xfrm>
          <a:prstGeom prst="rect">
            <a:avLst/>
          </a:prstGeom>
          <a:solidFill>
            <a:srgbClr val="FFF9C4"/>
          </a:solidFill>
          <a:ln w="8378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0318" tIns="30159" rIns="60318" bIns="301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Quatre</a:t>
            </a:r>
          </a:p>
        </p:txBody>
      </p:sp>
      <p:sp>
        <p:nvSpPr>
          <p:cNvPr id="16" name="Cinq" descr="E"/>
          <p:cNvSpPr/>
          <p:nvPr/>
        </p:nvSpPr>
        <p:spPr>
          <a:xfrm>
            <a:off x="3751754" y="5929563"/>
            <a:ext cx="578051" cy="471237"/>
          </a:xfrm>
          <a:prstGeom prst="rect">
            <a:avLst/>
          </a:prstGeom>
          <a:solidFill>
            <a:srgbClr val="BBDEFB"/>
          </a:solidFill>
          <a:ln w="8378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0318" tIns="30159" rIns="60318" bIns="301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Cinq</a:t>
            </a:r>
          </a:p>
        </p:txBody>
      </p:sp>
      <p:cxnSp>
        <p:nvCxnSpPr>
          <p:cNvPr id="21" name="A--B"/>
          <p:cNvCxnSpPr>
            <a:stCxn id="12" idx="2"/>
            <a:endCxn id="13" idx="0"/>
          </p:cNvCxnSpPr>
          <p:nvPr/>
        </p:nvCxnSpPr>
        <p:spPr>
          <a:xfrm>
            <a:off x="4040779" y="1902059"/>
            <a:ext cx="0" cy="502653"/>
          </a:xfrm>
          <a:prstGeom prst="line">
            <a:avLst/>
          </a:prstGeom>
          <a:ln w="837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--D"/>
          <p:cNvCxnSpPr>
            <a:stCxn id="14" idx="2"/>
            <a:endCxn id="15" idx="0"/>
          </p:cNvCxnSpPr>
          <p:nvPr/>
        </p:nvCxnSpPr>
        <p:spPr>
          <a:xfrm>
            <a:off x="4040779" y="4503286"/>
            <a:ext cx="0" cy="502653"/>
          </a:xfrm>
          <a:prstGeom prst="line">
            <a:avLst/>
          </a:prstGeom>
          <a:ln w="837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B--C"/>
          <p:cNvCxnSpPr>
            <a:stCxn id="13" idx="2"/>
            <a:endCxn id="14" idx="0"/>
          </p:cNvCxnSpPr>
          <p:nvPr/>
        </p:nvCxnSpPr>
        <p:spPr>
          <a:xfrm>
            <a:off x="4040779" y="2875948"/>
            <a:ext cx="0" cy="1156101"/>
          </a:xfrm>
          <a:prstGeom prst="line">
            <a:avLst/>
          </a:prstGeom>
          <a:ln w="837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D--E"/>
          <p:cNvCxnSpPr>
            <a:stCxn id="15" idx="2"/>
            <a:endCxn id="16" idx="0"/>
          </p:cNvCxnSpPr>
          <p:nvPr/>
        </p:nvCxnSpPr>
        <p:spPr>
          <a:xfrm>
            <a:off x="4040779" y="5477176"/>
            <a:ext cx="0" cy="452387"/>
          </a:xfrm>
          <a:prstGeom prst="line">
            <a:avLst/>
          </a:prstGeom>
          <a:ln w="837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swimlane</a:t>
            </a:r>
          </a:p>
        </p:txBody>
      </p:sp>
      <p:sp>
        <p:nvSpPr>
          <p:cNvPr id="17" name="Customer (container)"/>
          <p:cNvSpPr/>
          <p:nvPr/>
        </p:nvSpPr>
        <p:spPr>
          <a:xfrm>
            <a:off x="457200" y="2217816"/>
            <a:ext cx="11277600" cy="1249190"/>
          </a:xfrm>
          <a:prstGeom prst="rect">
            <a:avLst/>
          </a:prstGeom>
          <a:solidFill>
            <a:srgbClr val="E8E8E8">
              <a:alpha val="40000"/>
            </a:srgbClr>
          </a:solidFill>
          <a:ln w="9525">
            <a:solidFill>
              <a:srgbClr val="999999"/>
            </a:solidFill>
            <a:prstDash val="dash"/>
          </a:ln>
        </p:spPr>
      </p:sp>
      <p:sp>
        <p:nvSpPr>
          <p:cNvPr id="18" name="Customer"/>
          <p:cNvSpPr/>
          <p:nvPr/>
        </p:nvSpPr>
        <p:spPr>
          <a:xfrm>
            <a:off x="457200" y="2217816"/>
            <a:ext cx="11277600" cy="167489"/>
          </a:xfrm>
          <a:prstGeom prst="rect">
            <a:avLst/>
          </a:prstGeom>
          <a:noFill/>
          <a:ln w="0">
            <a:noFill/>
          </a:ln>
        </p:spPr>
        <p:txBody>
          <a:bodyPr lIns="66996" tIns="33498" rIns="66996" bIns="33498" anchor="ctr" anchorCtr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Customer</a:t>
            </a:r>
          </a:p>
        </p:txBody>
      </p:sp>
      <p:sp>
        <p:nvSpPr>
          <p:cNvPr id="19" name="Store (container)"/>
          <p:cNvSpPr/>
          <p:nvPr/>
        </p:nvSpPr>
        <p:spPr>
          <a:xfrm>
            <a:off x="2589895" y="3439091"/>
            <a:ext cx="4499874" cy="1772593"/>
          </a:xfrm>
          <a:prstGeom prst="rect">
            <a:avLst/>
          </a:prstGeom>
          <a:solidFill>
            <a:srgbClr val="E8E8E8">
              <a:alpha val="40000"/>
            </a:srgbClr>
          </a:solidFill>
          <a:ln w="9525">
            <a:solidFill>
              <a:srgbClr val="999999"/>
            </a:solidFill>
            <a:prstDash val="dash"/>
          </a:ln>
        </p:spPr>
      </p:sp>
      <p:sp>
        <p:nvSpPr>
          <p:cNvPr id="20" name="Store"/>
          <p:cNvSpPr/>
          <p:nvPr/>
        </p:nvSpPr>
        <p:spPr>
          <a:xfrm>
            <a:off x="2589895" y="3439091"/>
            <a:ext cx="4499874" cy="167489"/>
          </a:xfrm>
          <a:prstGeom prst="rect">
            <a:avLst/>
          </a:prstGeom>
          <a:noFill/>
          <a:ln w="0">
            <a:noFill/>
          </a:ln>
        </p:spPr>
        <p:txBody>
          <a:bodyPr lIns="66996" tIns="33498" rIns="66996" bIns="33498" anchor="ctr" anchorCtr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Store</a:t>
            </a:r>
          </a:p>
        </p:txBody>
      </p:sp>
      <p:sp>
        <p:nvSpPr>
          <p:cNvPr id="21" name="Carrier (container)"/>
          <p:cNvSpPr/>
          <p:nvPr/>
        </p:nvSpPr>
        <p:spPr>
          <a:xfrm>
            <a:off x="7648066" y="3700792"/>
            <a:ext cx="1954040" cy="1249190"/>
          </a:xfrm>
          <a:prstGeom prst="rect">
            <a:avLst/>
          </a:prstGeom>
          <a:solidFill>
            <a:srgbClr val="E8E8E8">
              <a:alpha val="40000"/>
            </a:srgbClr>
          </a:solidFill>
          <a:ln w="9525">
            <a:solidFill>
              <a:srgbClr val="999999"/>
            </a:solidFill>
            <a:prstDash val="dash"/>
          </a:ln>
        </p:spPr>
      </p:sp>
      <p:sp>
        <p:nvSpPr>
          <p:cNvPr id="22" name="Carrier"/>
          <p:cNvSpPr/>
          <p:nvPr/>
        </p:nvSpPr>
        <p:spPr>
          <a:xfrm>
            <a:off x="7648066" y="3700792"/>
            <a:ext cx="1954040" cy="167489"/>
          </a:xfrm>
          <a:prstGeom prst="rect">
            <a:avLst/>
          </a:prstGeom>
          <a:noFill/>
          <a:ln w="0">
            <a:noFill/>
          </a:ln>
        </p:spPr>
        <p:txBody>
          <a:bodyPr lIns="66996" tIns="33498" rIns="66996" bIns="33498" anchor="ctr" anchorCtr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Carrier</a:t>
            </a:r>
          </a:p>
        </p:txBody>
      </p:sp>
      <p:sp>
        <p:nvSpPr>
          <p:cNvPr id="12" name="Place order" descr="Order"/>
          <p:cNvSpPr/>
          <p:nvPr/>
        </p:nvSpPr>
        <p:spPr>
          <a:xfrm>
            <a:off x="736349" y="2664454"/>
            <a:ext cx="1295249" cy="523403"/>
          </a:xfrm>
          <a:prstGeom prst="rect">
            <a:avLst/>
          </a:prstGeom>
          <a:solidFill>
            <a:srgbClr val="E1BEE7"/>
          </a:solidFill>
          <a:ln w="9305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6996" tIns="33498" rIns="66996" bIns="3349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Place order</a:t>
            </a:r>
          </a:p>
        </p:txBody>
      </p:sp>
      <p:sp>
        <p:nvSpPr>
          <p:cNvPr id="13" name="Pay invoice" descr="Pay"/>
          <p:cNvSpPr/>
          <p:nvPr/>
        </p:nvSpPr>
        <p:spPr>
          <a:xfrm>
            <a:off x="10160402" y="2664454"/>
            <a:ext cx="1295249" cy="523403"/>
          </a:xfrm>
          <a:prstGeom prst="roundRect">
            <a:avLst/>
          </a:prstGeom>
          <a:solidFill>
            <a:srgbClr val="FFCDD2"/>
          </a:solidFill>
          <a:ln w="9305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6996" tIns="33498" rIns="66996" bIns="3349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Pay invoice</a:t>
            </a:r>
          </a:p>
        </p:txBody>
      </p:sp>
      <p:sp>
        <p:nvSpPr>
          <p:cNvPr id="14" name="Pack items" descr="Pack"/>
          <p:cNvSpPr/>
          <p:nvPr/>
        </p:nvSpPr>
        <p:spPr>
          <a:xfrm>
            <a:off x="5615865" y="4147430"/>
            <a:ext cx="1194756" cy="523403"/>
          </a:xfrm>
          <a:prstGeom prst="rect">
            <a:avLst/>
          </a:prstGeom>
          <a:solidFill>
            <a:srgbClr val="FFF9C4"/>
          </a:solidFill>
          <a:ln w="9305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6996" tIns="33498" rIns="66996" bIns="3349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Pack items</a:t>
            </a:r>
          </a:p>
        </p:txBody>
      </p:sp>
      <p:sp>
        <p:nvSpPr>
          <p:cNvPr id="15" name="In stock?" descr="Decision"/>
          <p:cNvSpPr/>
          <p:nvPr/>
        </p:nvSpPr>
        <p:spPr>
          <a:xfrm>
            <a:off x="2869043" y="3885728"/>
            <a:ext cx="2188524" cy="1046807"/>
          </a:xfrm>
          <a:prstGeom prst="diamond">
            <a:avLst/>
          </a:prstGeom>
          <a:solidFill>
            <a:srgbClr val="BBDEFB"/>
          </a:solidFill>
          <a:ln w="9305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6996" tIns="33498" rIns="66996" bIns="3349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In stock?</a:t>
            </a:r>
          </a:p>
        </p:txBody>
      </p:sp>
      <p:sp>
        <p:nvSpPr>
          <p:cNvPr id="16" name="Ship package" descr="Ship"/>
          <p:cNvSpPr/>
          <p:nvPr/>
        </p:nvSpPr>
        <p:spPr>
          <a:xfrm>
            <a:off x="7927214" y="4147430"/>
            <a:ext cx="1395743" cy="523403"/>
          </a:xfrm>
          <a:prstGeom prst="roundRect">
            <a:avLst/>
          </a:prstGeom>
          <a:solidFill>
            <a:srgbClr val="C8E6C9"/>
          </a:solidFill>
          <a:ln w="9305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6996" tIns="33498" rIns="66996" bIns="3349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Ship package</a:t>
            </a:r>
          </a:p>
        </p:txBody>
      </p:sp>
      <p:cxnSp>
        <p:nvCxnSpPr>
          <p:cNvPr id="23" name="Order--Decision"/>
          <p:cNvCxnSpPr>
            <a:stCxn id="12" idx="3"/>
            <a:endCxn id="15" idx="1"/>
          </p:cNvCxnSpPr>
          <p:nvPr/>
        </p:nvCxnSpPr>
        <p:spPr>
          <a:xfrm>
            <a:off x="2031598" y="2926155"/>
            <a:ext cx="837445" cy="1482977"/>
          </a:xfrm>
          <a:prstGeom prst="line">
            <a:avLst/>
          </a:prstGeom>
          <a:ln w="9305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Decision--Pack"/>
          <p:cNvCxnSpPr>
            <a:stCxn id="15" idx="3"/>
            <a:endCxn id="14" idx="1"/>
          </p:cNvCxnSpPr>
          <p:nvPr/>
        </p:nvCxnSpPr>
        <p:spPr>
          <a:xfrm>
            <a:off x="5057568" y="4409132"/>
            <a:ext cx="558297" cy="0"/>
          </a:xfrm>
          <a:prstGeom prst="line">
            <a:avLst/>
          </a:prstGeom>
          <a:ln w="9305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EdgeLabel"/>
          <p:cNvSpPr txBox="1"/>
          <p:nvPr/>
        </p:nvSpPr>
        <p:spPr>
          <a:xfrm>
            <a:off x="5153595" y="4325387"/>
            <a:ext cx="366243" cy="16748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27915" tIns="0" rIns="27915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000000"/>
                </a:solidFill>
              </a:rPr>
              <a:t>Yes</a:t>
            </a:r>
          </a:p>
        </p:txBody>
      </p:sp>
      <p:cxnSp>
        <p:nvCxnSpPr>
          <p:cNvPr id="26" name="Decision--Order"/>
          <p:cNvCxnSpPr>
            <a:stCxn id="15" idx="1"/>
            <a:endCxn id="12" idx="3"/>
          </p:cNvCxnSpPr>
          <p:nvPr/>
        </p:nvCxnSpPr>
        <p:spPr>
          <a:xfrm flipH="1" flipV="1">
            <a:off x="2031598" y="2926155"/>
            <a:ext cx="837445" cy="1482977"/>
          </a:xfrm>
          <a:prstGeom prst="line">
            <a:avLst/>
          </a:prstGeom>
          <a:ln w="9305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EdgeLabel"/>
          <p:cNvSpPr txBox="1"/>
          <p:nvPr/>
        </p:nvSpPr>
        <p:spPr>
          <a:xfrm>
            <a:off x="2296789" y="3583899"/>
            <a:ext cx="307063" cy="16748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27915" tIns="0" rIns="27915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000000"/>
                </a:solidFill>
              </a:rPr>
              <a:t>No</a:t>
            </a:r>
          </a:p>
        </p:txBody>
      </p:sp>
      <p:cxnSp>
        <p:nvCxnSpPr>
          <p:cNvPr id="28" name="Pack--Ship"/>
          <p:cNvCxnSpPr>
            <a:stCxn id="14" idx="3"/>
            <a:endCxn id="16" idx="1"/>
          </p:cNvCxnSpPr>
          <p:nvPr/>
        </p:nvCxnSpPr>
        <p:spPr>
          <a:xfrm>
            <a:off x="6810620" y="4409132"/>
            <a:ext cx="1116594" cy="0"/>
          </a:xfrm>
          <a:prstGeom prst="line">
            <a:avLst/>
          </a:prstGeom>
          <a:ln w="9305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hip--Pay"/>
          <p:cNvCxnSpPr>
            <a:stCxn id="16" idx="3"/>
            <a:endCxn id="13" idx="1"/>
          </p:cNvCxnSpPr>
          <p:nvPr/>
        </p:nvCxnSpPr>
        <p:spPr>
          <a:xfrm flipV="1">
            <a:off x="9322957" y="2926155"/>
            <a:ext cx="837445" cy="1482977"/>
          </a:xfrm>
          <a:prstGeom prst="line">
            <a:avLst/>
          </a:prstGeom>
          <a:ln w="9305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timeline</a:t>
            </a:r>
          </a:p>
        </p:txBody>
      </p:sp>
      <p:sp>
        <p:nvSpPr>
          <p:cNvPr id="11" name="Box 1"/>
          <p:cNvSpPr/>
          <p:nvPr/>
        </p:nvSpPr>
        <p:spPr>
          <a:xfrm>
            <a:off x="1925256" y="1198703"/>
            <a:ext cx="8341489" cy="4986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309" dirty="0">
                <a:solidFill>
                  <a:srgbClr val="000000"/>
                </a:solidFill>
              </a:rPr>
              <a:t>England's History Timeline</a:t>
            </a:r>
          </a:p>
        </p:txBody>
      </p:sp>
      <p:sp>
        <p:nvSpPr>
          <p:cNvPr id="12" name="Box 2"/>
          <p:cNvSpPr/>
          <p:nvPr/>
        </p:nvSpPr>
        <p:spPr>
          <a:xfrm>
            <a:off x="2265262" y="1867382"/>
            <a:ext cx="3762737" cy="385341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309" dirty="0">
                <a:solidFill>
                  <a:srgbClr val="FFFFFF"/>
                </a:solidFill>
              </a:rPr>
              <a:t>Stone Age</a:t>
            </a:r>
          </a:p>
        </p:txBody>
      </p:sp>
      <p:sp>
        <p:nvSpPr>
          <p:cNvPr id="13" name="Box 3"/>
          <p:cNvSpPr/>
          <p:nvPr/>
        </p:nvSpPr>
        <p:spPr>
          <a:xfrm>
            <a:off x="6164001" y="1867382"/>
            <a:ext cx="3762737" cy="38534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309" dirty="0">
                <a:solidFill>
                  <a:srgbClr val="FFFFFF"/>
                </a:solidFill>
              </a:rPr>
              <a:t>Bronze Age</a:t>
            </a:r>
          </a:p>
        </p:txBody>
      </p:sp>
      <p:sp>
        <p:nvSpPr>
          <p:cNvPr id="14" name="Box 4"/>
          <p:cNvSpPr/>
          <p:nvPr/>
        </p:nvSpPr>
        <p:spPr>
          <a:xfrm>
            <a:off x="2265262" y="2343391"/>
            <a:ext cx="1813367" cy="419341"/>
          </a:xfrm>
          <a:prstGeom prst="rect">
            <a:avLst/>
          </a:prstGeom>
          <a:solidFill>
            <a:srgbClr val="6087CD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309" dirty="0">
                <a:solidFill>
                  <a:srgbClr val="000000"/>
                </a:solidFill>
              </a:rPr>
              <a:t>7600 BC</a:t>
            </a:r>
          </a:p>
        </p:txBody>
      </p:sp>
      <p:sp>
        <p:nvSpPr>
          <p:cNvPr id="15" name="Box 5"/>
          <p:cNvSpPr/>
          <p:nvPr/>
        </p:nvSpPr>
        <p:spPr>
          <a:xfrm>
            <a:off x="4214632" y="2343391"/>
            <a:ext cx="1813367" cy="419341"/>
          </a:xfrm>
          <a:prstGeom prst="rect">
            <a:avLst/>
          </a:prstGeom>
          <a:solidFill>
            <a:srgbClr val="6087CD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309" dirty="0">
                <a:solidFill>
                  <a:srgbClr val="000000"/>
                </a:solidFill>
              </a:rPr>
              <a:t>6000 BC</a:t>
            </a:r>
          </a:p>
        </p:txBody>
      </p:sp>
      <p:sp>
        <p:nvSpPr>
          <p:cNvPr id="16" name="Box 6"/>
          <p:cNvSpPr/>
          <p:nvPr/>
        </p:nvSpPr>
        <p:spPr>
          <a:xfrm>
            <a:off x="6164001" y="2343391"/>
            <a:ext cx="1813367" cy="419341"/>
          </a:xfrm>
          <a:prstGeom prst="rect">
            <a:avLst/>
          </a:prstGeom>
          <a:solidFill>
            <a:srgbClr val="F09150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309" dirty="0">
                <a:solidFill>
                  <a:srgbClr val="000000"/>
                </a:solidFill>
              </a:rPr>
              <a:t>2300 BC</a:t>
            </a:r>
          </a:p>
        </p:txBody>
      </p:sp>
      <p:sp>
        <p:nvSpPr>
          <p:cNvPr id="17" name="Box 7"/>
          <p:cNvSpPr/>
          <p:nvPr/>
        </p:nvSpPr>
        <p:spPr>
          <a:xfrm>
            <a:off x="8113371" y="2343391"/>
            <a:ext cx="1813367" cy="419341"/>
          </a:xfrm>
          <a:prstGeom prst="rect">
            <a:avLst/>
          </a:prstGeom>
          <a:solidFill>
            <a:srgbClr val="F09150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309" dirty="0">
                <a:solidFill>
                  <a:srgbClr val="000000"/>
                </a:solidFill>
              </a:rPr>
              <a:t>2200 BC</a:t>
            </a:r>
          </a:p>
        </p:txBody>
      </p:sp>
      <p:sp>
        <p:nvSpPr>
          <p:cNvPr id="18" name="Box 8"/>
          <p:cNvSpPr/>
          <p:nvPr/>
        </p:nvSpPr>
        <p:spPr>
          <a:xfrm>
            <a:off x="2265262" y="2762732"/>
            <a:ext cx="7661476" cy="68001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9" name="Box 9"/>
          <p:cNvSpPr/>
          <p:nvPr/>
        </p:nvSpPr>
        <p:spPr>
          <a:xfrm>
            <a:off x="2265262" y="2921402"/>
            <a:ext cx="1813367" cy="997352"/>
          </a:xfrm>
          <a:prstGeom prst="rect">
            <a:avLst/>
          </a:prstGeom>
          <a:solidFill>
            <a:srgbClr val="D0DCF0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Britain's oldest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known house was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built in Orkney,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Scotland</a:t>
            </a:r>
          </a:p>
        </p:txBody>
      </p:sp>
      <p:sp>
        <p:nvSpPr>
          <p:cNvPr id="20" name="Box 10"/>
          <p:cNvSpPr/>
          <p:nvPr/>
        </p:nvSpPr>
        <p:spPr>
          <a:xfrm>
            <a:off x="4214632" y="2921402"/>
            <a:ext cx="1813367" cy="1382692"/>
          </a:xfrm>
          <a:prstGeom prst="rect">
            <a:avLst/>
          </a:prstGeom>
          <a:solidFill>
            <a:srgbClr val="D0DCF0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Sea levels rise and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Britain becomes an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island.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The people who live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here are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hunter-gatherers.</a:t>
            </a:r>
          </a:p>
        </p:txBody>
      </p:sp>
      <p:sp>
        <p:nvSpPr>
          <p:cNvPr id="21" name="Box 11"/>
          <p:cNvSpPr/>
          <p:nvPr/>
        </p:nvSpPr>
        <p:spPr>
          <a:xfrm>
            <a:off x="6164001" y="2921402"/>
            <a:ext cx="1813367" cy="1190022"/>
          </a:xfrm>
          <a:prstGeom prst="rect">
            <a:avLst/>
          </a:prstGeom>
          <a:solidFill>
            <a:srgbClr val="FBDFCC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People arrive from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Europe and settle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in Britain.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They bring farming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and metalworking.</a:t>
            </a:r>
          </a:p>
        </p:txBody>
      </p:sp>
      <p:sp>
        <p:nvSpPr>
          <p:cNvPr id="22" name="Box 12"/>
          <p:cNvSpPr/>
          <p:nvPr/>
        </p:nvSpPr>
        <p:spPr>
          <a:xfrm>
            <a:off x="6164001" y="4202092"/>
            <a:ext cx="1813367" cy="997352"/>
          </a:xfrm>
          <a:prstGeom prst="rect">
            <a:avLst/>
          </a:prstGeom>
          <a:solidFill>
            <a:srgbClr val="FBDFCC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New styles of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pottery and ways of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burying the dead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appear.</a:t>
            </a:r>
          </a:p>
        </p:txBody>
      </p:sp>
      <p:sp>
        <p:nvSpPr>
          <p:cNvPr id="23" name="Box 13"/>
          <p:cNvSpPr/>
          <p:nvPr/>
        </p:nvSpPr>
        <p:spPr>
          <a:xfrm>
            <a:off x="8113371" y="2921402"/>
            <a:ext cx="1813367" cy="1575363"/>
          </a:xfrm>
          <a:prstGeom prst="rect">
            <a:avLst/>
          </a:prstGeom>
          <a:solidFill>
            <a:srgbClr val="FBDFCC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The last major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building works are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completed at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Stonehenge.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People now bury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their dead in stone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circles.</a:t>
            </a:r>
          </a:p>
        </p:txBody>
      </p:sp>
      <p:sp>
        <p:nvSpPr>
          <p:cNvPr id="24" name="Box 14"/>
          <p:cNvSpPr/>
          <p:nvPr/>
        </p:nvSpPr>
        <p:spPr>
          <a:xfrm>
            <a:off x="8113371" y="4587433"/>
            <a:ext cx="1813367" cy="1382692"/>
          </a:xfrm>
          <a:prstGeom prst="rect">
            <a:avLst/>
          </a:prstGeom>
          <a:solidFill>
            <a:srgbClr val="FBDFCC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The first metal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objects are made in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Britain.Some other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nice things happen.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it is a good time to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be alive.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tree-view</a:t>
            </a:r>
          </a:p>
        </p:txBody>
      </p:sp>
      <p:sp>
        <p:nvSpPr>
          <p:cNvPr id="11" name="Box 1"/>
          <p:cNvSpPr/>
          <p:nvPr/>
        </p:nvSpPr>
        <p:spPr>
          <a:xfrm>
            <a:off x="4157862" y="1768570"/>
            <a:ext cx="32168" cy="3216826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" name="Box 2"/>
          <p:cNvSpPr/>
          <p:nvPr/>
        </p:nvSpPr>
        <p:spPr>
          <a:xfrm>
            <a:off x="3997021" y="1446887"/>
            <a:ext cx="1544077" cy="353851"/>
          </a:xfrm>
          <a:prstGeom prst="rect">
            <a:avLst/>
          </a:prstGeom>
          <a:noFill/>
          <a:ln>
            <a:noFill/>
          </a:ln>
        </p:spPr>
        <p:txBody>
          <a:bodyPr wrap="none" lIns="32168" tIns="0" rIns="3216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2026" dirty="0">
                <a:solidFill>
                  <a:srgbClr val="000000"/>
                </a:solidFill>
              </a:rPr>
              <a:t>packages/</a:t>
            </a:r>
          </a:p>
        </p:txBody>
      </p:sp>
      <p:sp>
        <p:nvSpPr>
          <p:cNvPr id="13" name="Box 3"/>
          <p:cNvSpPr/>
          <p:nvPr/>
        </p:nvSpPr>
        <p:spPr>
          <a:xfrm>
            <a:off x="4157862" y="2025916"/>
            <a:ext cx="193010" cy="32168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4" name="Box 4"/>
          <p:cNvSpPr/>
          <p:nvPr/>
        </p:nvSpPr>
        <p:spPr>
          <a:xfrm>
            <a:off x="4576050" y="2186757"/>
            <a:ext cx="32168" cy="1962264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5" name="Box 5"/>
          <p:cNvSpPr/>
          <p:nvPr/>
        </p:nvSpPr>
        <p:spPr>
          <a:xfrm>
            <a:off x="4415208" y="1865075"/>
            <a:ext cx="997216" cy="353851"/>
          </a:xfrm>
          <a:prstGeom prst="rect">
            <a:avLst/>
          </a:prstGeom>
          <a:noFill/>
          <a:ln>
            <a:noFill/>
          </a:ln>
        </p:spPr>
        <p:txBody>
          <a:bodyPr wrap="none" lIns="32168" tIns="0" rIns="3216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2026" dirty="0">
                <a:solidFill>
                  <a:srgbClr val="000000"/>
                </a:solidFill>
              </a:rPr>
              <a:t>core/</a:t>
            </a:r>
          </a:p>
        </p:txBody>
      </p:sp>
      <p:sp>
        <p:nvSpPr>
          <p:cNvPr id="16" name="Box 6"/>
          <p:cNvSpPr/>
          <p:nvPr/>
        </p:nvSpPr>
        <p:spPr>
          <a:xfrm>
            <a:off x="5412424" y="1865075"/>
            <a:ext cx="1334983" cy="353851"/>
          </a:xfrm>
          <a:prstGeom prst="rect">
            <a:avLst/>
          </a:prstGeom>
          <a:noFill/>
          <a:ln>
            <a:noFill/>
          </a:ln>
        </p:spPr>
        <p:txBody>
          <a:bodyPr wrap="none" lIns="32168" tIns="0" rIns="3216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i="1" sz="2026" dirty="0">
                <a:solidFill>
                  <a:srgbClr val="595959"/>
                </a:solidFill>
              </a:rPr>
              <a:t>the moat</a:t>
            </a:r>
          </a:p>
        </p:txBody>
      </p:sp>
      <p:sp>
        <p:nvSpPr>
          <p:cNvPr id="17" name="Box 7"/>
          <p:cNvSpPr/>
          <p:nvPr/>
        </p:nvSpPr>
        <p:spPr>
          <a:xfrm>
            <a:off x="4576050" y="2444104"/>
            <a:ext cx="193010" cy="32168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8" name="Box 8"/>
          <p:cNvSpPr/>
          <p:nvPr/>
        </p:nvSpPr>
        <p:spPr>
          <a:xfrm>
            <a:off x="4994237" y="2604945"/>
            <a:ext cx="32168" cy="1125889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9" name="Box 9"/>
          <p:cNvSpPr/>
          <p:nvPr/>
        </p:nvSpPr>
        <p:spPr>
          <a:xfrm>
            <a:off x="4833396" y="2283262"/>
            <a:ext cx="868543" cy="353851"/>
          </a:xfrm>
          <a:prstGeom prst="rect">
            <a:avLst/>
          </a:prstGeom>
          <a:noFill/>
          <a:ln>
            <a:noFill/>
          </a:ln>
        </p:spPr>
        <p:txBody>
          <a:bodyPr wrap="none" lIns="32168" tIns="0" rIns="3216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2026" dirty="0">
                <a:solidFill>
                  <a:srgbClr val="000000"/>
                </a:solidFill>
              </a:rPr>
              <a:t>src/</a:t>
            </a:r>
          </a:p>
        </p:txBody>
      </p:sp>
      <p:sp>
        <p:nvSpPr>
          <p:cNvPr id="20" name="Box 10"/>
          <p:cNvSpPr/>
          <p:nvPr/>
        </p:nvSpPr>
        <p:spPr>
          <a:xfrm>
            <a:off x="4994237" y="2862291"/>
            <a:ext cx="193010" cy="32168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1" name="Box 11"/>
          <p:cNvSpPr/>
          <p:nvPr/>
        </p:nvSpPr>
        <p:spPr>
          <a:xfrm>
            <a:off x="5251583" y="2701450"/>
            <a:ext cx="1270646" cy="353851"/>
          </a:xfrm>
          <a:prstGeom prst="rect">
            <a:avLst/>
          </a:prstGeom>
          <a:noFill/>
          <a:ln>
            <a:noFill/>
          </a:ln>
        </p:spPr>
        <p:txBody>
          <a:bodyPr wrap="none" lIns="32168" tIns="0" rIns="3216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2026" dirty="0">
                <a:solidFill>
                  <a:srgbClr val="000000"/>
                </a:solidFill>
              </a:rPr>
              <a:t>parser/</a:t>
            </a:r>
          </a:p>
        </p:txBody>
      </p:sp>
      <p:sp>
        <p:nvSpPr>
          <p:cNvPr id="22" name="Box 12"/>
          <p:cNvSpPr/>
          <p:nvPr/>
        </p:nvSpPr>
        <p:spPr>
          <a:xfrm>
            <a:off x="4994237" y="3280478"/>
            <a:ext cx="193010" cy="32168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3" name="Box 13"/>
          <p:cNvSpPr/>
          <p:nvPr/>
        </p:nvSpPr>
        <p:spPr>
          <a:xfrm>
            <a:off x="5251583" y="3119637"/>
            <a:ext cx="1817507" cy="353851"/>
          </a:xfrm>
          <a:prstGeom prst="rect">
            <a:avLst/>
          </a:prstGeom>
          <a:noFill/>
          <a:ln>
            <a:noFill/>
          </a:ln>
        </p:spPr>
        <p:txBody>
          <a:bodyPr wrap="none" lIns="32168" tIns="0" rIns="3216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2026" dirty="0">
                <a:solidFill>
                  <a:srgbClr val="000000"/>
                </a:solidFill>
              </a:rPr>
              <a:t>translator/</a:t>
            </a:r>
          </a:p>
        </p:txBody>
      </p:sp>
      <p:sp>
        <p:nvSpPr>
          <p:cNvPr id="24" name="Box 14"/>
          <p:cNvSpPr/>
          <p:nvPr/>
        </p:nvSpPr>
        <p:spPr>
          <a:xfrm>
            <a:off x="4994237" y="3698666"/>
            <a:ext cx="193010" cy="32168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5" name="Box 15"/>
          <p:cNvSpPr/>
          <p:nvPr/>
        </p:nvSpPr>
        <p:spPr>
          <a:xfrm>
            <a:off x="5251583" y="3537825"/>
            <a:ext cx="1415404" cy="353851"/>
          </a:xfrm>
          <a:prstGeom prst="rect">
            <a:avLst/>
          </a:prstGeom>
          <a:solidFill>
            <a:srgbClr val="FFF2CC"/>
          </a:solidFill>
          <a:ln w="16084">
            <a:solidFill>
              <a:srgbClr val="BF9000"/>
            </a:solidFill>
          </a:ln>
        </p:spPr>
        <p:txBody>
          <a:bodyPr wrap="none" lIns="32168" tIns="0" rIns="3216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2026" dirty="0">
                <a:solidFill>
                  <a:srgbClr val="000000"/>
                </a:solidFill>
              </a:rPr>
              <a:t>index.ts</a:t>
            </a:r>
          </a:p>
        </p:txBody>
      </p:sp>
      <p:sp>
        <p:nvSpPr>
          <p:cNvPr id="26" name="Box 16"/>
          <p:cNvSpPr/>
          <p:nvPr/>
        </p:nvSpPr>
        <p:spPr>
          <a:xfrm>
            <a:off x="4576050" y="4116853"/>
            <a:ext cx="193010" cy="32168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7" name="Box 17"/>
          <p:cNvSpPr/>
          <p:nvPr/>
        </p:nvSpPr>
        <p:spPr>
          <a:xfrm>
            <a:off x="4833396" y="3956012"/>
            <a:ext cx="1946180" cy="353851"/>
          </a:xfrm>
          <a:prstGeom prst="rect">
            <a:avLst/>
          </a:prstGeom>
          <a:noFill/>
          <a:ln>
            <a:noFill/>
          </a:ln>
        </p:spPr>
        <p:txBody>
          <a:bodyPr wrap="none" lIns="32168" tIns="0" rIns="3216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2026" dirty="0">
                <a:solidFill>
                  <a:srgbClr val="000000"/>
                </a:solidFill>
              </a:rPr>
              <a:t>package.json</a:t>
            </a:r>
          </a:p>
        </p:txBody>
      </p:sp>
      <p:sp>
        <p:nvSpPr>
          <p:cNvPr id="28" name="Box 18"/>
          <p:cNvSpPr/>
          <p:nvPr/>
        </p:nvSpPr>
        <p:spPr>
          <a:xfrm>
            <a:off x="4157862" y="4535041"/>
            <a:ext cx="193010" cy="32168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" name="Box 19"/>
          <p:cNvSpPr/>
          <p:nvPr/>
        </p:nvSpPr>
        <p:spPr>
          <a:xfrm>
            <a:off x="4415208" y="4374199"/>
            <a:ext cx="868543" cy="353851"/>
          </a:xfrm>
          <a:prstGeom prst="rect">
            <a:avLst/>
          </a:prstGeom>
          <a:noFill/>
          <a:ln>
            <a:noFill/>
          </a:ln>
        </p:spPr>
        <p:txBody>
          <a:bodyPr wrap="none" lIns="32168" tIns="0" rIns="3216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2026" dirty="0">
                <a:solidFill>
                  <a:srgbClr val="000000"/>
                </a:solidFill>
              </a:rPr>
              <a:t>cli/</a:t>
            </a:r>
          </a:p>
        </p:txBody>
      </p:sp>
      <p:sp>
        <p:nvSpPr>
          <p:cNvPr id="30" name="Box 20"/>
          <p:cNvSpPr/>
          <p:nvPr/>
        </p:nvSpPr>
        <p:spPr>
          <a:xfrm>
            <a:off x="4157862" y="4953228"/>
            <a:ext cx="193010" cy="32168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31" name="Box 21"/>
          <p:cNvSpPr/>
          <p:nvPr/>
        </p:nvSpPr>
        <p:spPr>
          <a:xfrm>
            <a:off x="4415208" y="4792387"/>
            <a:ext cx="2283947" cy="353851"/>
          </a:xfrm>
          <a:prstGeom prst="rect">
            <a:avLst/>
          </a:prstGeom>
          <a:noFill/>
          <a:ln>
            <a:noFill/>
          </a:ln>
        </p:spPr>
        <p:txBody>
          <a:bodyPr wrap="none" lIns="32168" tIns="0" rIns="3216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2026" dirty="0">
                <a:solidFill>
                  <a:srgbClr val="000000"/>
                </a:solidFill>
              </a:rPr>
              <a:t>README file.md</a:t>
            </a:r>
          </a:p>
        </p:txBody>
      </p:sp>
      <p:sp>
        <p:nvSpPr>
          <p:cNvPr id="32" name="Box 22"/>
          <p:cNvSpPr/>
          <p:nvPr/>
        </p:nvSpPr>
        <p:spPr>
          <a:xfrm>
            <a:off x="6699155" y="4792387"/>
            <a:ext cx="1753170" cy="353851"/>
          </a:xfrm>
          <a:prstGeom prst="rect">
            <a:avLst/>
          </a:prstGeom>
          <a:noFill/>
          <a:ln>
            <a:noFill/>
          </a:ln>
        </p:spPr>
        <p:txBody>
          <a:bodyPr wrap="none" lIns="32168" tIns="0" rIns="3216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i="1" sz="2026" dirty="0">
                <a:solidFill>
                  <a:srgbClr val="595959"/>
                </a:solidFill>
              </a:rPr>
              <a:t>quick start</a:t>
            </a:r>
          </a:p>
        </p:txBody>
      </p:sp>
      <p:sp>
        <p:nvSpPr>
          <p:cNvPr id="33" name="Box 23"/>
          <p:cNvSpPr/>
          <p:nvPr/>
        </p:nvSpPr>
        <p:spPr>
          <a:xfrm>
            <a:off x="4157862" y="5532257"/>
            <a:ext cx="32168" cy="289514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34" name="Box 24"/>
          <p:cNvSpPr/>
          <p:nvPr/>
        </p:nvSpPr>
        <p:spPr>
          <a:xfrm>
            <a:off x="3997021" y="5210574"/>
            <a:ext cx="997216" cy="353851"/>
          </a:xfrm>
          <a:prstGeom prst="rect">
            <a:avLst/>
          </a:prstGeom>
          <a:noFill/>
          <a:ln>
            <a:noFill/>
          </a:ln>
        </p:spPr>
        <p:txBody>
          <a:bodyPr wrap="none" lIns="32168" tIns="0" rIns="3216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2026" dirty="0">
                <a:solidFill>
                  <a:srgbClr val="000000"/>
                </a:solidFill>
              </a:rPr>
              <a:t>docs/</a:t>
            </a:r>
          </a:p>
        </p:txBody>
      </p:sp>
      <p:sp>
        <p:nvSpPr>
          <p:cNvPr id="35" name="Box 25"/>
          <p:cNvSpPr/>
          <p:nvPr/>
        </p:nvSpPr>
        <p:spPr>
          <a:xfrm>
            <a:off x="4157862" y="5789603"/>
            <a:ext cx="193010" cy="32168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36" name="Box 26"/>
          <p:cNvSpPr/>
          <p:nvPr/>
        </p:nvSpPr>
        <p:spPr>
          <a:xfrm>
            <a:off x="4415208" y="5628762"/>
            <a:ext cx="1141973" cy="353851"/>
          </a:xfrm>
          <a:prstGeom prst="rect">
            <a:avLst/>
          </a:prstGeom>
          <a:noFill/>
          <a:ln>
            <a:noFill/>
          </a:ln>
        </p:spPr>
        <p:txBody>
          <a:bodyPr wrap="none" lIns="32168" tIns="0" rIns="3216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2026" dirty="0">
                <a:solidFill>
                  <a:srgbClr val="000000"/>
                </a:solidFill>
              </a:rPr>
              <a:t>specs/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tree</a:t>
            </a:r>
          </a:p>
        </p:txBody>
      </p:sp>
      <p:sp>
        <p:nvSpPr>
          <p:cNvPr id="12" name="Racine" descr="Racine"/>
          <p:cNvSpPr/>
          <p:nvPr/>
        </p:nvSpPr>
        <p:spPr>
          <a:xfrm>
            <a:off x="4150737" y="1344730"/>
            <a:ext cx="1487264" cy="923384"/>
          </a:xfrm>
          <a:prstGeom prst="rect">
            <a:avLst/>
          </a:prstGeom>
          <a:solidFill>
            <a:srgbClr val="FFCDD2"/>
          </a:solidFill>
          <a:ln w="16416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8193" tIns="59097" rIns="118193" bIns="5909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51" dirty="0">
                <a:solidFill>
                  <a:srgbClr val="000000"/>
                </a:solidFill>
              </a:rPr>
              <a:t>Racine</a:t>
            </a:r>
          </a:p>
        </p:txBody>
      </p:sp>
      <p:sp>
        <p:nvSpPr>
          <p:cNvPr id="13" name="Noeud L1" descr="N1"/>
          <p:cNvSpPr/>
          <p:nvPr/>
        </p:nvSpPr>
        <p:spPr>
          <a:xfrm>
            <a:off x="1602689" y="3253058"/>
            <a:ext cx="1776838" cy="923384"/>
          </a:xfrm>
          <a:prstGeom prst="rect">
            <a:avLst/>
          </a:prstGeom>
          <a:solidFill>
            <a:srgbClr val="FFF9C4"/>
          </a:solidFill>
          <a:ln w="16416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8193" tIns="59097" rIns="118193" bIns="5909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51" dirty="0">
                <a:solidFill>
                  <a:srgbClr val="000000"/>
                </a:solidFill>
              </a:rPr>
              <a:t>Noeud L1</a:t>
            </a:r>
          </a:p>
        </p:txBody>
      </p:sp>
      <p:sp>
        <p:nvSpPr>
          <p:cNvPr id="14" name="Feuille" descr="N1a"/>
          <p:cNvSpPr/>
          <p:nvPr/>
        </p:nvSpPr>
        <p:spPr>
          <a:xfrm>
            <a:off x="457200" y="5161385"/>
            <a:ext cx="1664554" cy="923384"/>
          </a:xfrm>
          <a:prstGeom prst="rect">
            <a:avLst/>
          </a:prstGeom>
          <a:solidFill>
            <a:srgbClr val="BBDEFB"/>
          </a:solidFill>
          <a:ln w="16416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8193" tIns="59097" rIns="118193" bIns="5909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51" dirty="0">
                <a:solidFill>
                  <a:srgbClr val="000000"/>
                </a:solidFill>
              </a:rPr>
              <a:t>Feuille</a:t>
            </a:r>
          </a:p>
        </p:txBody>
      </p:sp>
      <p:sp>
        <p:nvSpPr>
          <p:cNvPr id="15" name="Feuille" descr="N1b"/>
          <p:cNvSpPr/>
          <p:nvPr/>
        </p:nvSpPr>
        <p:spPr>
          <a:xfrm>
            <a:off x="2860461" y="5161385"/>
            <a:ext cx="1664554" cy="923384"/>
          </a:xfrm>
          <a:prstGeom prst="rect">
            <a:avLst/>
          </a:prstGeom>
          <a:solidFill>
            <a:srgbClr val="C8E6C9"/>
          </a:solidFill>
          <a:ln w="16416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8193" tIns="59097" rIns="118193" bIns="5909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51" dirty="0">
                <a:solidFill>
                  <a:srgbClr val="000000"/>
                </a:solidFill>
              </a:rPr>
              <a:t>Feuille</a:t>
            </a:r>
          </a:p>
        </p:txBody>
      </p:sp>
      <p:sp>
        <p:nvSpPr>
          <p:cNvPr id="16" name="Noeud L1 bis" descr="N2"/>
          <p:cNvSpPr/>
          <p:nvPr/>
        </p:nvSpPr>
        <p:spPr>
          <a:xfrm>
            <a:off x="7300586" y="3253058"/>
            <a:ext cx="2397352" cy="923384"/>
          </a:xfrm>
          <a:prstGeom prst="rect">
            <a:avLst/>
          </a:prstGeom>
          <a:solidFill>
            <a:srgbClr val="FFE0B2"/>
          </a:solidFill>
          <a:ln w="16416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8193" tIns="59097" rIns="118193" bIns="5909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51" dirty="0">
                <a:solidFill>
                  <a:srgbClr val="000000"/>
                </a:solidFill>
              </a:rPr>
              <a:t>Noeud L1 bis</a:t>
            </a:r>
          </a:p>
        </p:txBody>
      </p:sp>
      <p:sp>
        <p:nvSpPr>
          <p:cNvPr id="17" name="Feuille" descr="N2a"/>
          <p:cNvSpPr/>
          <p:nvPr/>
        </p:nvSpPr>
        <p:spPr>
          <a:xfrm>
            <a:off x="5263723" y="5161385"/>
            <a:ext cx="1664554" cy="923384"/>
          </a:xfrm>
          <a:prstGeom prst="rect">
            <a:avLst/>
          </a:prstGeom>
          <a:solidFill>
            <a:srgbClr val="E1BEE7"/>
          </a:solidFill>
          <a:ln w="16416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8193" tIns="59097" rIns="118193" bIns="5909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51" dirty="0">
                <a:solidFill>
                  <a:srgbClr val="000000"/>
                </a:solidFill>
              </a:rPr>
              <a:t>Feuille</a:t>
            </a:r>
          </a:p>
        </p:txBody>
      </p:sp>
      <p:sp>
        <p:nvSpPr>
          <p:cNvPr id="18" name="Feuille" descr="N2b"/>
          <p:cNvSpPr/>
          <p:nvPr/>
        </p:nvSpPr>
        <p:spPr>
          <a:xfrm>
            <a:off x="7666984" y="5161385"/>
            <a:ext cx="1664554" cy="923384"/>
          </a:xfrm>
          <a:prstGeom prst="rect">
            <a:avLst/>
          </a:prstGeom>
          <a:solidFill>
            <a:srgbClr val="FFCDD2"/>
          </a:solidFill>
          <a:ln w="16416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8193" tIns="59097" rIns="118193" bIns="5909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51" dirty="0">
                <a:solidFill>
                  <a:srgbClr val="000000"/>
                </a:solidFill>
              </a:rPr>
              <a:t>Feuille</a:t>
            </a:r>
          </a:p>
        </p:txBody>
      </p:sp>
      <p:sp>
        <p:nvSpPr>
          <p:cNvPr id="19" name="Feuille" descr="N2c"/>
          <p:cNvSpPr/>
          <p:nvPr/>
        </p:nvSpPr>
        <p:spPr>
          <a:xfrm>
            <a:off x="10070246" y="5161385"/>
            <a:ext cx="1664554" cy="923384"/>
          </a:xfrm>
          <a:prstGeom prst="rect">
            <a:avLst/>
          </a:prstGeom>
          <a:solidFill>
            <a:srgbClr val="FFF9C4"/>
          </a:solidFill>
          <a:ln w="16416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8193" tIns="59097" rIns="118193" bIns="5909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51" dirty="0">
                <a:solidFill>
                  <a:srgbClr val="000000"/>
                </a:solidFill>
              </a:rPr>
              <a:t>Feuille</a:t>
            </a:r>
          </a:p>
        </p:txBody>
      </p:sp>
      <p:cxnSp>
        <p:nvCxnSpPr>
          <p:cNvPr id="20" name="Racine--N1"/>
          <p:cNvCxnSpPr>
            <a:stCxn id="12" idx="1"/>
            <a:endCxn id="13" idx="3"/>
          </p:cNvCxnSpPr>
          <p:nvPr/>
        </p:nvCxnSpPr>
        <p:spPr>
          <a:xfrm flipH="1">
            <a:off x="3379527" y="1806423"/>
            <a:ext cx="771211" cy="1908328"/>
          </a:xfrm>
          <a:prstGeom prst="line">
            <a:avLst/>
          </a:prstGeom>
          <a:ln w="1641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N1--N1a"/>
          <p:cNvCxnSpPr>
            <a:stCxn id="13" idx="2"/>
            <a:endCxn id="14" idx="0"/>
          </p:cNvCxnSpPr>
          <p:nvPr/>
        </p:nvCxnSpPr>
        <p:spPr>
          <a:xfrm flipH="1">
            <a:off x="1289477" y="4176442"/>
            <a:ext cx="1201631" cy="984943"/>
          </a:xfrm>
          <a:prstGeom prst="line">
            <a:avLst/>
          </a:prstGeom>
          <a:ln w="1641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N1--N1b"/>
          <p:cNvCxnSpPr>
            <a:stCxn id="13" idx="2"/>
            <a:endCxn id="15" idx="0"/>
          </p:cNvCxnSpPr>
          <p:nvPr/>
        </p:nvCxnSpPr>
        <p:spPr>
          <a:xfrm>
            <a:off x="2491108" y="4176442"/>
            <a:ext cx="1201631" cy="984943"/>
          </a:xfrm>
          <a:prstGeom prst="line">
            <a:avLst/>
          </a:prstGeom>
          <a:ln w="1641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Racine--N2"/>
          <p:cNvCxnSpPr>
            <a:stCxn id="12" idx="3"/>
            <a:endCxn id="16" idx="1"/>
          </p:cNvCxnSpPr>
          <p:nvPr/>
        </p:nvCxnSpPr>
        <p:spPr>
          <a:xfrm>
            <a:off x="5638001" y="1806423"/>
            <a:ext cx="1662584" cy="1908328"/>
          </a:xfrm>
          <a:prstGeom prst="line">
            <a:avLst/>
          </a:prstGeom>
          <a:ln w="1641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N2--N2a"/>
          <p:cNvCxnSpPr>
            <a:stCxn id="16" idx="1"/>
            <a:endCxn id="17" idx="3"/>
          </p:cNvCxnSpPr>
          <p:nvPr/>
        </p:nvCxnSpPr>
        <p:spPr>
          <a:xfrm flipH="1">
            <a:off x="6928277" y="3714751"/>
            <a:ext cx="372309" cy="1908328"/>
          </a:xfrm>
          <a:prstGeom prst="line">
            <a:avLst/>
          </a:prstGeom>
          <a:ln w="1641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N2--N2b"/>
          <p:cNvCxnSpPr>
            <a:stCxn id="16" idx="2"/>
            <a:endCxn id="18" idx="0"/>
          </p:cNvCxnSpPr>
          <p:nvPr/>
        </p:nvCxnSpPr>
        <p:spPr>
          <a:xfrm>
            <a:off x="8499261" y="4176442"/>
            <a:ext cx="0" cy="984943"/>
          </a:xfrm>
          <a:prstGeom prst="line">
            <a:avLst/>
          </a:prstGeom>
          <a:ln w="1641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N2--N2c"/>
          <p:cNvCxnSpPr>
            <a:stCxn id="16" idx="3"/>
            <a:endCxn id="19" idx="1"/>
          </p:cNvCxnSpPr>
          <p:nvPr/>
        </p:nvCxnSpPr>
        <p:spPr>
          <a:xfrm>
            <a:off x="9697937" y="3714751"/>
            <a:ext cx="372309" cy="1908328"/>
          </a:xfrm>
          <a:prstGeom prst="line">
            <a:avLst/>
          </a:prstGeom>
          <a:ln w="1641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treemap</a:t>
            </a:r>
          </a:p>
        </p:txBody>
      </p:sp>
      <p:sp>
        <p:nvSpPr>
          <p:cNvPr id="11" name="Box 1"/>
          <p:cNvSpPr/>
          <p:nvPr/>
        </p:nvSpPr>
        <p:spPr>
          <a:xfrm>
            <a:off x="2207623" y="1233351"/>
            <a:ext cx="5956663" cy="4962797"/>
          </a:xfrm>
          <a:prstGeom prst="rect">
            <a:avLst/>
          </a:prstGeom>
          <a:solidFill>
            <a:srgbClr val="ABC0E4"/>
          </a:solidFill>
          <a:ln w="12791">
            <a:solidFill>
              <a:srgbClr val="FFFFFF"/>
            </a:solidFill>
          </a:ln>
        </p:spPr>
      </p:sp>
      <p:sp>
        <p:nvSpPr>
          <p:cNvPr id="12" name="Box 2"/>
          <p:cNvSpPr/>
          <p:nvPr/>
        </p:nvSpPr>
        <p:spPr>
          <a:xfrm>
            <a:off x="2207623" y="1233351"/>
            <a:ext cx="5956663" cy="281396"/>
          </a:xfrm>
          <a:prstGeom prst="rect">
            <a:avLst/>
          </a:prstGeom>
          <a:solidFill>
            <a:srgbClr val="698ED0"/>
          </a:solidFill>
          <a:ln w="12791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343" dirty="0">
                <a:solidFill>
                  <a:srgbClr val="FFFFFF"/>
                </a:solidFill>
              </a:rPr>
              <a:t>Products</a:t>
            </a:r>
          </a:p>
        </p:txBody>
      </p:sp>
      <p:sp>
        <p:nvSpPr>
          <p:cNvPr id="13" name="Box 3"/>
          <p:cNvSpPr/>
          <p:nvPr/>
        </p:nvSpPr>
        <p:spPr>
          <a:xfrm>
            <a:off x="2258786" y="1565910"/>
            <a:ext cx="3252409" cy="4579076"/>
          </a:xfrm>
          <a:prstGeom prst="rect">
            <a:avLst/>
          </a:prstGeom>
          <a:solidFill>
            <a:srgbClr val="C1D0EC"/>
          </a:solidFill>
          <a:ln w="12791">
            <a:solidFill>
              <a:srgbClr val="FFFFFF"/>
            </a:solidFill>
          </a:ln>
        </p:spPr>
      </p:sp>
      <p:sp>
        <p:nvSpPr>
          <p:cNvPr id="14" name="Box 4"/>
          <p:cNvSpPr/>
          <p:nvPr/>
        </p:nvSpPr>
        <p:spPr>
          <a:xfrm>
            <a:off x="2258786" y="1565910"/>
            <a:ext cx="3252409" cy="281396"/>
          </a:xfrm>
          <a:prstGeom prst="rect">
            <a:avLst/>
          </a:prstGeom>
          <a:solidFill>
            <a:srgbClr val="85A3D9"/>
          </a:solidFill>
          <a:ln w="12791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343" dirty="0">
                <a:solidFill>
                  <a:srgbClr val="000000"/>
                </a:solidFill>
              </a:rPr>
              <a:t>Electronics</a:t>
            </a:r>
          </a:p>
        </p:txBody>
      </p:sp>
      <p:sp>
        <p:nvSpPr>
          <p:cNvPr id="15" name="Box 5"/>
          <p:cNvSpPr/>
          <p:nvPr/>
        </p:nvSpPr>
        <p:spPr>
          <a:xfrm>
            <a:off x="2309949" y="1898469"/>
            <a:ext cx="3150084" cy="2097677"/>
          </a:xfrm>
          <a:prstGeom prst="rect">
            <a:avLst/>
          </a:prstGeom>
          <a:solidFill>
            <a:srgbClr val="BECEEA"/>
          </a:solidFill>
          <a:ln w="12791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43" dirty="0">
                <a:solidFill>
                  <a:srgbClr val="000000"/>
                </a:solidFill>
              </a:rPr>
              <a:t>Phones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43" dirty="0">
                <a:solidFill>
                  <a:srgbClr val="000000"/>
                </a:solidFill>
              </a:rPr>
              <a:t>50</a:t>
            </a:r>
          </a:p>
        </p:txBody>
      </p:sp>
      <p:sp>
        <p:nvSpPr>
          <p:cNvPr id="16" name="Box 6"/>
          <p:cNvSpPr/>
          <p:nvPr/>
        </p:nvSpPr>
        <p:spPr>
          <a:xfrm>
            <a:off x="2309949" y="3996146"/>
            <a:ext cx="1890050" cy="2097677"/>
          </a:xfrm>
          <a:prstGeom prst="rect">
            <a:avLst/>
          </a:prstGeom>
          <a:solidFill>
            <a:srgbClr val="BECEEA"/>
          </a:solidFill>
          <a:ln w="12791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43" dirty="0">
                <a:solidFill>
                  <a:srgbClr val="000000"/>
                </a:solidFill>
              </a:rPr>
              <a:t>Computers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43" dirty="0">
                <a:solidFill>
                  <a:srgbClr val="000000"/>
                </a:solidFill>
              </a:rPr>
              <a:t>30</a:t>
            </a:r>
          </a:p>
        </p:txBody>
      </p:sp>
      <p:sp>
        <p:nvSpPr>
          <p:cNvPr id="17" name="Box 7"/>
          <p:cNvSpPr/>
          <p:nvPr/>
        </p:nvSpPr>
        <p:spPr>
          <a:xfrm>
            <a:off x="4199999" y="3996146"/>
            <a:ext cx="1260034" cy="2097677"/>
          </a:xfrm>
          <a:prstGeom prst="rect">
            <a:avLst/>
          </a:prstGeom>
          <a:solidFill>
            <a:srgbClr val="BECEEA"/>
          </a:solidFill>
          <a:ln w="12791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43" dirty="0">
                <a:solidFill>
                  <a:srgbClr val="000000"/>
                </a:solidFill>
              </a:rPr>
              <a:t>Accessories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43" dirty="0">
                <a:solidFill>
                  <a:srgbClr val="000000"/>
                </a:solidFill>
              </a:rPr>
              <a:t>20</a:t>
            </a:r>
          </a:p>
        </p:txBody>
      </p:sp>
      <p:sp>
        <p:nvSpPr>
          <p:cNvPr id="18" name="Box 8"/>
          <p:cNvSpPr/>
          <p:nvPr/>
        </p:nvSpPr>
        <p:spPr>
          <a:xfrm>
            <a:off x="5511195" y="1565910"/>
            <a:ext cx="2601928" cy="4579076"/>
          </a:xfrm>
          <a:prstGeom prst="rect">
            <a:avLst/>
          </a:prstGeom>
          <a:solidFill>
            <a:srgbClr val="C1D0EC"/>
          </a:solidFill>
          <a:ln w="12791">
            <a:solidFill>
              <a:srgbClr val="FFFFFF"/>
            </a:solidFill>
          </a:ln>
        </p:spPr>
      </p:sp>
      <p:sp>
        <p:nvSpPr>
          <p:cNvPr id="19" name="Box 9"/>
          <p:cNvSpPr/>
          <p:nvPr/>
        </p:nvSpPr>
        <p:spPr>
          <a:xfrm>
            <a:off x="5511195" y="1565910"/>
            <a:ext cx="2601928" cy="281396"/>
          </a:xfrm>
          <a:prstGeom prst="rect">
            <a:avLst/>
          </a:prstGeom>
          <a:solidFill>
            <a:srgbClr val="85A3D9"/>
          </a:solidFill>
          <a:ln w="12791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343" dirty="0">
                <a:solidFill>
                  <a:srgbClr val="000000"/>
                </a:solidFill>
              </a:rPr>
              <a:t>Clothing</a:t>
            </a:r>
          </a:p>
        </p:txBody>
      </p:sp>
      <p:sp>
        <p:nvSpPr>
          <p:cNvPr id="20" name="Box 10"/>
          <p:cNvSpPr/>
          <p:nvPr/>
        </p:nvSpPr>
        <p:spPr>
          <a:xfrm>
            <a:off x="5562358" y="1898469"/>
            <a:ext cx="2499602" cy="2097677"/>
          </a:xfrm>
          <a:prstGeom prst="rect">
            <a:avLst/>
          </a:prstGeom>
          <a:solidFill>
            <a:srgbClr val="BECEEA"/>
          </a:solidFill>
          <a:ln w="12791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43" dirty="0">
                <a:solidFill>
                  <a:srgbClr val="000000"/>
                </a:solidFill>
              </a:rPr>
              <a:t>Men's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43" dirty="0">
                <a:solidFill>
                  <a:srgbClr val="000000"/>
                </a:solidFill>
              </a:rPr>
              <a:t>40</a:t>
            </a:r>
          </a:p>
        </p:txBody>
      </p:sp>
      <p:sp>
        <p:nvSpPr>
          <p:cNvPr id="21" name="Box 11"/>
          <p:cNvSpPr/>
          <p:nvPr/>
        </p:nvSpPr>
        <p:spPr>
          <a:xfrm>
            <a:off x="5562358" y="3996146"/>
            <a:ext cx="2499602" cy="2097677"/>
          </a:xfrm>
          <a:prstGeom prst="rect">
            <a:avLst/>
          </a:prstGeom>
          <a:solidFill>
            <a:srgbClr val="FF9966"/>
          </a:solidFill>
          <a:ln w="12791">
            <a:solidFill>
              <a:srgbClr val="333333"/>
            </a:solidFill>
          </a:ln>
        </p:spPr>
      </p:sp>
      <p:sp>
        <p:nvSpPr>
          <p:cNvPr id="22" name="Box 12"/>
          <p:cNvSpPr/>
          <p:nvPr/>
        </p:nvSpPr>
        <p:spPr>
          <a:xfrm>
            <a:off x="5562358" y="3996146"/>
            <a:ext cx="2499602" cy="281396"/>
          </a:xfrm>
          <a:prstGeom prst="rect">
            <a:avLst/>
          </a:prstGeom>
          <a:solidFill>
            <a:srgbClr val="FF9966"/>
          </a:solidFill>
          <a:ln w="12791">
            <a:solidFill>
              <a:srgbClr val="333333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343" dirty="0">
                <a:solidFill>
                  <a:srgbClr val="000000"/>
                </a:solidFill>
              </a:rPr>
              <a:t>Women's</a:t>
            </a:r>
          </a:p>
        </p:txBody>
      </p:sp>
      <p:sp>
        <p:nvSpPr>
          <p:cNvPr id="23" name="Box 13"/>
          <p:cNvSpPr/>
          <p:nvPr/>
        </p:nvSpPr>
        <p:spPr>
          <a:xfrm>
            <a:off x="5613521" y="4328704"/>
            <a:ext cx="1498298" cy="1713956"/>
          </a:xfrm>
          <a:prstGeom prst="rect">
            <a:avLst/>
          </a:prstGeom>
          <a:solidFill>
            <a:srgbClr val="DAE3F3"/>
          </a:solidFill>
          <a:ln w="12791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43" dirty="0">
                <a:solidFill>
                  <a:srgbClr val="000000"/>
                </a:solidFill>
              </a:rPr>
              <a:t>Dresses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43" dirty="0">
                <a:solidFill>
                  <a:srgbClr val="000000"/>
                </a:solidFill>
              </a:rPr>
              <a:t>25</a:t>
            </a:r>
          </a:p>
        </p:txBody>
      </p:sp>
      <p:sp>
        <p:nvSpPr>
          <p:cNvPr id="24" name="Box 14"/>
          <p:cNvSpPr/>
          <p:nvPr/>
        </p:nvSpPr>
        <p:spPr>
          <a:xfrm>
            <a:off x="7111819" y="4328704"/>
            <a:ext cx="898978" cy="1713956"/>
          </a:xfrm>
          <a:prstGeom prst="rect">
            <a:avLst/>
          </a:prstGeom>
          <a:solidFill>
            <a:srgbClr val="DAE3F3"/>
          </a:solidFill>
          <a:ln w="12791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43" dirty="0">
                <a:solidFill>
                  <a:srgbClr val="000000"/>
                </a:solidFill>
              </a:rPr>
              <a:t>Tops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43" dirty="0">
                <a:solidFill>
                  <a:srgbClr val="000000"/>
                </a:solidFill>
              </a:rPr>
              <a:t>15</a:t>
            </a:r>
          </a:p>
        </p:txBody>
      </p:sp>
      <p:sp>
        <p:nvSpPr>
          <p:cNvPr id="25" name="Box 15"/>
          <p:cNvSpPr/>
          <p:nvPr/>
        </p:nvSpPr>
        <p:spPr>
          <a:xfrm>
            <a:off x="8164286" y="1233351"/>
            <a:ext cx="1820091" cy="4962797"/>
          </a:xfrm>
          <a:prstGeom prst="rect">
            <a:avLst/>
          </a:prstGeom>
          <a:solidFill>
            <a:srgbClr val="F7C5A2"/>
          </a:solidFill>
          <a:ln w="12791">
            <a:solidFill>
              <a:srgbClr val="FFFFFF"/>
            </a:solidFill>
          </a:ln>
        </p:spPr>
      </p:sp>
      <p:sp>
        <p:nvSpPr>
          <p:cNvPr id="26" name="Box 16"/>
          <p:cNvSpPr/>
          <p:nvPr/>
        </p:nvSpPr>
        <p:spPr>
          <a:xfrm>
            <a:off x="8164286" y="1233351"/>
            <a:ext cx="1820091" cy="281396"/>
          </a:xfrm>
          <a:prstGeom prst="rect">
            <a:avLst/>
          </a:prstGeom>
          <a:solidFill>
            <a:srgbClr val="F1975A"/>
          </a:solidFill>
          <a:ln w="12791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343" dirty="0">
                <a:solidFill>
                  <a:srgbClr val="FFFFFF"/>
                </a:solidFill>
              </a:rPr>
              <a:t>Services</a:t>
            </a:r>
          </a:p>
        </p:txBody>
      </p:sp>
      <p:sp>
        <p:nvSpPr>
          <p:cNvPr id="27" name="Box 17"/>
          <p:cNvSpPr/>
          <p:nvPr/>
        </p:nvSpPr>
        <p:spPr>
          <a:xfrm>
            <a:off x="8215449" y="1565910"/>
            <a:ext cx="1717765" cy="2913957"/>
          </a:xfrm>
          <a:prstGeom prst="rect">
            <a:avLst/>
          </a:prstGeom>
          <a:solidFill>
            <a:srgbClr val="F6BE98"/>
          </a:solidFill>
          <a:ln w="12791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43" dirty="0">
                <a:solidFill>
                  <a:srgbClr val="000000"/>
                </a:solidFill>
              </a:rPr>
              <a:t>Support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43" dirty="0">
                <a:solidFill>
                  <a:srgbClr val="000000"/>
                </a:solidFill>
              </a:rPr>
              <a:t>35</a:t>
            </a:r>
          </a:p>
        </p:txBody>
      </p:sp>
      <p:sp>
        <p:nvSpPr>
          <p:cNvPr id="28" name="Box 18"/>
          <p:cNvSpPr/>
          <p:nvPr/>
        </p:nvSpPr>
        <p:spPr>
          <a:xfrm>
            <a:off x="8215449" y="4479867"/>
            <a:ext cx="1030659" cy="1665119"/>
          </a:xfrm>
          <a:prstGeom prst="rect">
            <a:avLst/>
          </a:prstGeom>
          <a:solidFill>
            <a:srgbClr val="F6BE98"/>
          </a:solidFill>
          <a:ln w="12791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43" dirty="0">
                <a:solidFill>
                  <a:srgbClr val="000000"/>
                </a:solidFill>
              </a:rPr>
              <a:t>Consulting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43" dirty="0">
                <a:solidFill>
                  <a:srgbClr val="000000"/>
                </a:solidFill>
              </a:rPr>
              <a:t>12</a:t>
            </a:r>
          </a:p>
        </p:txBody>
      </p:sp>
      <p:sp>
        <p:nvSpPr>
          <p:cNvPr id="29" name="Box 19"/>
          <p:cNvSpPr/>
          <p:nvPr/>
        </p:nvSpPr>
        <p:spPr>
          <a:xfrm>
            <a:off x="9246108" y="4479867"/>
            <a:ext cx="687106" cy="1665119"/>
          </a:xfrm>
          <a:prstGeom prst="rect">
            <a:avLst/>
          </a:prstGeom>
          <a:solidFill>
            <a:srgbClr val="F6BE98"/>
          </a:solidFill>
          <a:ln w="12791">
            <a:solidFill>
              <a:srgbClr val="FFFFFF"/>
            </a:solidFill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74" dirty="0">
                <a:solidFill>
                  <a:srgbClr val="000000"/>
                </a:solidFill>
              </a:rPr>
              <a:t>Training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74" dirty="0">
                <a:solidFill>
                  <a:srgbClr val="000000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venn</a:t>
            </a:r>
          </a:p>
        </p:txBody>
      </p:sp>
      <p:sp>
        <p:nvSpPr>
          <p:cNvPr id="11" name="Text 1"/>
          <p:cNvSpPr txBox="1"/>
          <p:nvPr/>
        </p:nvSpPr>
        <p:spPr>
          <a:xfrm>
            <a:off x="3510798" y="1028700"/>
            <a:ext cx="5170404" cy="4266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425" dirty="0">
                <a:solidFill>
                  <a:srgbClr val="000000"/>
                </a:solidFill>
              </a:rPr>
              <a:t>Skills coverage</a:t>
            </a:r>
          </a:p>
        </p:txBody>
      </p:sp>
      <p:sp>
        <p:nvSpPr>
          <p:cNvPr id="12" name="Set 2"/>
          <p:cNvSpPr/>
          <p:nvPr/>
        </p:nvSpPr>
        <p:spPr>
          <a:xfrm>
            <a:off x="4835399" y="1940212"/>
            <a:ext cx="2521202" cy="2521202"/>
          </a:xfrm>
          <a:prstGeom prst="ellipse">
            <a:avLst/>
          </a:prstGeom>
          <a:solidFill>
            <a:srgbClr val="BBDEFB">
              <a:alpha val="60000"/>
            </a:srgbClr>
          </a:solidFill>
          <a:ln w="19394">
            <a:solidFill>
              <a:srgbClr val="BBDEFB"/>
            </a:solidFill>
          </a:ln>
        </p:spPr>
      </p:sp>
      <p:sp>
        <p:nvSpPr>
          <p:cNvPr id="13" name="Set 3"/>
          <p:cNvSpPr/>
          <p:nvPr/>
        </p:nvSpPr>
        <p:spPr>
          <a:xfrm>
            <a:off x="3995645" y="3394751"/>
            <a:ext cx="2521202" cy="2521202"/>
          </a:xfrm>
          <a:prstGeom prst="ellipse">
            <a:avLst/>
          </a:prstGeom>
          <a:solidFill>
            <a:srgbClr val="C8E6C9">
              <a:alpha val="60000"/>
            </a:srgbClr>
          </a:solidFill>
          <a:ln w="19394">
            <a:solidFill>
              <a:srgbClr val="C8E6C9"/>
            </a:solidFill>
          </a:ln>
        </p:spPr>
      </p:sp>
      <p:sp>
        <p:nvSpPr>
          <p:cNvPr id="14" name="Set 4"/>
          <p:cNvSpPr/>
          <p:nvPr/>
        </p:nvSpPr>
        <p:spPr>
          <a:xfrm>
            <a:off x="5675153" y="3394751"/>
            <a:ext cx="2521202" cy="2521202"/>
          </a:xfrm>
          <a:prstGeom prst="ellipse">
            <a:avLst/>
          </a:prstGeom>
          <a:solidFill>
            <a:srgbClr val="FFE0B2">
              <a:alpha val="60000"/>
            </a:srgbClr>
          </a:solidFill>
          <a:ln w="19394">
            <a:solidFill>
              <a:srgbClr val="FFE0B2"/>
            </a:solidFill>
          </a:ln>
        </p:spPr>
      </p:sp>
      <p:sp>
        <p:nvSpPr>
          <p:cNvPr id="15" name="Text 5"/>
          <p:cNvSpPr txBox="1"/>
          <p:nvPr/>
        </p:nvSpPr>
        <p:spPr>
          <a:xfrm>
            <a:off x="5824001" y="2420210"/>
            <a:ext cx="543998" cy="17454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865" dirty="0">
                <a:solidFill>
                  <a:srgbClr val="000000"/>
                </a:solidFill>
              </a:rPr>
              <a:t>Design</a:t>
            </a:r>
          </a:p>
        </p:txBody>
      </p:sp>
      <p:sp>
        <p:nvSpPr>
          <p:cNvPr id="16" name="Text 6"/>
          <p:cNvSpPr txBox="1"/>
          <p:nvPr/>
        </p:nvSpPr>
        <p:spPr>
          <a:xfrm>
            <a:off x="4459445" y="4914753"/>
            <a:ext cx="392726" cy="17454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865" dirty="0">
                <a:solidFill>
                  <a:srgbClr val="000000"/>
                </a:solidFill>
              </a:rPr>
              <a:t>Code</a:t>
            </a:r>
          </a:p>
        </p:txBody>
      </p:sp>
      <p:sp>
        <p:nvSpPr>
          <p:cNvPr id="17" name="Text 7"/>
          <p:cNvSpPr txBox="1"/>
          <p:nvPr/>
        </p:nvSpPr>
        <p:spPr>
          <a:xfrm>
            <a:off x="7226375" y="4914753"/>
            <a:ext cx="619634" cy="17454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865" dirty="0">
                <a:solidFill>
                  <a:srgbClr val="000000"/>
                </a:solidFill>
              </a:rPr>
              <a:t>Writing</a:t>
            </a:r>
          </a:p>
        </p:txBody>
      </p:sp>
      <p:sp>
        <p:nvSpPr>
          <p:cNvPr id="18" name="Text 8"/>
          <p:cNvSpPr txBox="1"/>
          <p:nvPr/>
        </p:nvSpPr>
        <p:spPr>
          <a:xfrm>
            <a:off x="4968774" y="3692928"/>
            <a:ext cx="868845" cy="1551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64" dirty="0">
                <a:solidFill>
                  <a:srgbClr val="000000"/>
                </a:solidFill>
              </a:rPr>
              <a:t>Design+Code</a:t>
            </a:r>
          </a:p>
        </p:txBody>
      </p:sp>
      <p:sp>
        <p:nvSpPr>
          <p:cNvPr id="19" name="Text 9"/>
          <p:cNvSpPr txBox="1"/>
          <p:nvPr/>
        </p:nvSpPr>
        <p:spPr>
          <a:xfrm>
            <a:off x="5626669" y="4892928"/>
            <a:ext cx="938663" cy="1551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64" dirty="0">
                <a:solidFill>
                  <a:srgbClr val="000000"/>
                </a:solidFill>
              </a:rPr>
              <a:t>Code+Writing</a:t>
            </a:r>
          </a:p>
        </p:txBody>
      </p:sp>
      <p:sp>
        <p:nvSpPr>
          <p:cNvPr id="20" name="Text 10"/>
          <p:cNvSpPr txBox="1"/>
          <p:nvPr/>
        </p:nvSpPr>
        <p:spPr>
          <a:xfrm>
            <a:off x="6249654" y="3692928"/>
            <a:ext cx="1078299" cy="1551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64" dirty="0">
                <a:solidFill>
                  <a:srgbClr val="000000"/>
                </a:solidFill>
              </a:rPr>
              <a:t>Design+Writing</a:t>
            </a:r>
          </a:p>
        </p:txBody>
      </p:sp>
      <p:sp>
        <p:nvSpPr>
          <p:cNvPr id="21" name="Text 11"/>
          <p:cNvSpPr txBox="1"/>
          <p:nvPr/>
        </p:nvSpPr>
        <p:spPr>
          <a:xfrm>
            <a:off x="5754668" y="4092930"/>
            <a:ext cx="682664" cy="1551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64" dirty="0">
                <a:solidFill>
                  <a:srgbClr val="000000"/>
                </a:solidFill>
              </a:rPr>
              <a:t>All three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wardley</a:t>
            </a:r>
          </a:p>
        </p:txBody>
      </p:sp>
      <p:sp>
        <p:nvSpPr>
          <p:cNvPr id="11" name="Box 1"/>
          <p:cNvSpPr/>
          <p:nvPr/>
        </p:nvSpPr>
        <p:spPr>
          <a:xfrm>
            <a:off x="1899047" y="1079063"/>
            <a:ext cx="8393906" cy="12590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950" dirty="0">
                <a:solidFill>
                  <a:srgbClr val="000000"/>
                </a:solidFill>
              </a:rPr>
              <a:t>Tea Shop</a:t>
            </a:r>
          </a:p>
        </p:txBody>
      </p:sp>
      <p:cxnSp>
        <p:nvCxnSpPr>
          <p:cNvPr id="12" name="Connector 2"/>
          <p:cNvCxnSpPr/>
          <p:nvPr/>
        </p:nvCxnSpPr>
        <p:spPr>
          <a:xfrm>
            <a:off x="2301955" y="5997893"/>
            <a:ext cx="7588091" cy="1"/>
          </a:xfrm>
          <a:prstGeom prst="line">
            <a:avLst/>
          </a:prstGeom>
          <a:ln w="8394">
            <a:solidFill>
              <a:srgbClr val="000000"/>
            </a:solidFill>
            <a:prstDash val="solid"/>
          </a:ln>
        </p:spPr>
      </p:cxnSp>
      <p:cxnSp>
        <p:nvCxnSpPr>
          <p:cNvPr id="13" name="Connector 3"/>
          <p:cNvCxnSpPr/>
          <p:nvPr/>
        </p:nvCxnSpPr>
        <p:spPr>
          <a:xfrm>
            <a:off x="2301955" y="1532334"/>
            <a:ext cx="1" cy="4465559"/>
          </a:xfrm>
          <a:prstGeom prst="line">
            <a:avLst/>
          </a:prstGeom>
          <a:ln w="8394">
            <a:solidFill>
              <a:srgbClr val="000000"/>
            </a:solidFill>
            <a:prstDash val="solid"/>
          </a:ln>
        </p:spPr>
      </p:cxnSp>
      <p:sp>
        <p:nvSpPr>
          <p:cNvPr id="14" name="Box 4"/>
          <p:cNvSpPr/>
          <p:nvPr/>
        </p:nvSpPr>
        <p:spPr>
          <a:xfrm>
            <a:off x="2301955" y="1330881"/>
            <a:ext cx="1007269" cy="125909"/>
          </a:xfrm>
          <a:prstGeom prst="rect">
            <a:avLst/>
          </a:prstGeom>
          <a:noFill/>
          <a:ln>
            <a:noFill/>
          </a:ln>
        </p:spPr>
        <p:txBody>
          <a:bodyPr wrap="none" lIns="16788" tIns="0" rIns="1678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900" dirty="0">
                <a:solidFill>
                  <a:srgbClr val="000000"/>
                </a:solidFill>
              </a:rPr>
              <a:t>Visibility</a:t>
            </a:r>
          </a:p>
        </p:txBody>
      </p:sp>
      <p:sp>
        <p:nvSpPr>
          <p:cNvPr id="15" name="Box 5"/>
          <p:cNvSpPr/>
          <p:nvPr/>
        </p:nvSpPr>
        <p:spPr>
          <a:xfrm>
            <a:off x="2301955" y="6199346"/>
            <a:ext cx="7588091" cy="12590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900" dirty="0">
                <a:solidFill>
                  <a:srgbClr val="000000"/>
                </a:solidFill>
              </a:rPr>
              <a:t>Evolution</a:t>
            </a:r>
          </a:p>
        </p:txBody>
      </p:sp>
      <p:sp>
        <p:nvSpPr>
          <p:cNvPr id="16" name="Box 6"/>
          <p:cNvSpPr/>
          <p:nvPr/>
        </p:nvSpPr>
        <p:spPr>
          <a:xfrm>
            <a:off x="2301955" y="6031468"/>
            <a:ext cx="1897023" cy="12590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Genesis</a:t>
            </a:r>
          </a:p>
        </p:txBody>
      </p:sp>
      <p:cxnSp>
        <p:nvCxnSpPr>
          <p:cNvPr id="17" name="Connector 7"/>
          <p:cNvCxnSpPr/>
          <p:nvPr/>
        </p:nvCxnSpPr>
        <p:spPr>
          <a:xfrm>
            <a:off x="4198977" y="1532334"/>
            <a:ext cx="1" cy="4465559"/>
          </a:xfrm>
          <a:prstGeom prst="line">
            <a:avLst/>
          </a:prstGeom>
          <a:ln w="8394">
            <a:solidFill>
              <a:srgbClr val="808080"/>
            </a:solidFill>
            <a:prstDash val="dash"/>
          </a:ln>
        </p:spPr>
      </p:cxnSp>
      <p:sp>
        <p:nvSpPr>
          <p:cNvPr id="18" name="Box 8"/>
          <p:cNvSpPr/>
          <p:nvPr/>
        </p:nvSpPr>
        <p:spPr>
          <a:xfrm>
            <a:off x="4198977" y="6031468"/>
            <a:ext cx="1897023" cy="12590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Custom Built</a:t>
            </a:r>
          </a:p>
        </p:txBody>
      </p:sp>
      <p:cxnSp>
        <p:nvCxnSpPr>
          <p:cNvPr id="19" name="Connector 9"/>
          <p:cNvCxnSpPr/>
          <p:nvPr/>
        </p:nvCxnSpPr>
        <p:spPr>
          <a:xfrm>
            <a:off x="6096000" y="1532334"/>
            <a:ext cx="1" cy="4465559"/>
          </a:xfrm>
          <a:prstGeom prst="line">
            <a:avLst/>
          </a:prstGeom>
          <a:ln w="8394">
            <a:solidFill>
              <a:srgbClr val="808080"/>
            </a:solidFill>
            <a:prstDash val="dash"/>
          </a:ln>
        </p:spPr>
      </p:cxnSp>
      <p:sp>
        <p:nvSpPr>
          <p:cNvPr id="20" name="Box 10"/>
          <p:cNvSpPr/>
          <p:nvPr/>
        </p:nvSpPr>
        <p:spPr>
          <a:xfrm>
            <a:off x="6096000" y="6031468"/>
            <a:ext cx="1897023" cy="12590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Product</a:t>
            </a:r>
          </a:p>
        </p:txBody>
      </p:sp>
      <p:cxnSp>
        <p:nvCxnSpPr>
          <p:cNvPr id="21" name="Connector 11"/>
          <p:cNvCxnSpPr/>
          <p:nvPr/>
        </p:nvCxnSpPr>
        <p:spPr>
          <a:xfrm>
            <a:off x="7993023" y="1532334"/>
            <a:ext cx="1" cy="4465559"/>
          </a:xfrm>
          <a:prstGeom prst="line">
            <a:avLst/>
          </a:prstGeom>
          <a:ln w="8394">
            <a:solidFill>
              <a:srgbClr val="808080"/>
            </a:solidFill>
            <a:prstDash val="dash"/>
          </a:ln>
        </p:spPr>
      </p:cxnSp>
      <p:sp>
        <p:nvSpPr>
          <p:cNvPr id="22" name="Box 12"/>
          <p:cNvSpPr/>
          <p:nvPr/>
        </p:nvSpPr>
        <p:spPr>
          <a:xfrm>
            <a:off x="7993023" y="6031468"/>
            <a:ext cx="1897023" cy="12590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Commodity</a:t>
            </a:r>
          </a:p>
        </p:txBody>
      </p:sp>
      <p:sp>
        <p:nvSpPr>
          <p:cNvPr id="23" name="Pipeline"/>
          <p:cNvSpPr/>
          <p:nvPr/>
        </p:nvSpPr>
        <p:spPr>
          <a:xfrm>
            <a:off x="5666568" y="3976976"/>
            <a:ext cx="1617674" cy="201454"/>
          </a:xfrm>
          <a:prstGeom prst="roundRect">
            <a:avLst/>
          </a:prstGeom>
          <a:noFill/>
          <a:ln w="9525">
            <a:solidFill>
              <a:srgbClr val="000000"/>
            </a:solidFill>
          </a:ln>
        </p:spPr>
      </p:sp>
      <p:cxnSp>
        <p:nvCxnSpPr>
          <p:cNvPr id="24" name="Connector 14"/>
          <p:cNvCxnSpPr/>
          <p:nvPr/>
        </p:nvCxnSpPr>
        <p:spPr>
          <a:xfrm>
            <a:off x="5792476" y="4077703"/>
            <a:ext cx="1365857" cy="1"/>
          </a:xfrm>
          <a:prstGeom prst="line">
            <a:avLst/>
          </a:prstGeom>
          <a:ln w="8394">
            <a:solidFill>
              <a:srgbClr val="000000"/>
            </a:solidFill>
            <a:prstDash val="dash"/>
          </a:ln>
        </p:spPr>
      </p:cxnSp>
      <p:cxnSp>
        <p:nvCxnSpPr>
          <p:cNvPr id="25" name="Connector 15"/>
          <p:cNvCxnSpPr/>
          <p:nvPr/>
        </p:nvCxnSpPr>
        <p:spPr>
          <a:xfrm flipH="1">
            <a:off x="6941154" y="1804877"/>
            <a:ext cx="130834" cy="615960"/>
          </a:xfrm>
          <a:prstGeom prst="line">
            <a:avLst/>
          </a:prstGeom>
          <a:ln w="8394">
            <a:solidFill>
              <a:srgbClr val="000000"/>
            </a:solidFill>
            <a:prstDash val="solid"/>
          </a:ln>
        </p:spPr>
      </p:cxnSp>
      <p:cxnSp>
        <p:nvCxnSpPr>
          <p:cNvPr id="26" name="Connector 16"/>
          <p:cNvCxnSpPr/>
          <p:nvPr/>
        </p:nvCxnSpPr>
        <p:spPr>
          <a:xfrm flipH="1">
            <a:off x="6974747" y="1780014"/>
            <a:ext cx="1201862" cy="665685"/>
          </a:xfrm>
          <a:prstGeom prst="line">
            <a:avLst/>
          </a:prstGeom>
          <a:ln w="8394">
            <a:solidFill>
              <a:srgbClr val="000000"/>
            </a:solidFill>
            <a:prstDash val="solid"/>
          </a:ln>
        </p:spPr>
      </p:cxnSp>
      <p:cxnSp>
        <p:nvCxnSpPr>
          <p:cNvPr id="27" name="Connector 17"/>
          <p:cNvCxnSpPr/>
          <p:nvPr/>
        </p:nvCxnSpPr>
        <p:spPr>
          <a:xfrm>
            <a:off x="6980001" y="2480344"/>
            <a:ext cx="1191354" cy="247449"/>
          </a:xfrm>
          <a:prstGeom prst="line">
            <a:avLst/>
          </a:prstGeom>
          <a:ln w="8394">
            <a:solidFill>
              <a:srgbClr val="000000"/>
            </a:solidFill>
            <a:prstDash val="solid"/>
          </a:ln>
        </p:spPr>
      </p:cxnSp>
      <p:cxnSp>
        <p:nvCxnSpPr>
          <p:cNvPr id="28" name="Connector 18"/>
          <p:cNvCxnSpPr/>
          <p:nvPr/>
        </p:nvCxnSpPr>
        <p:spPr>
          <a:xfrm>
            <a:off x="6976256" y="2491554"/>
            <a:ext cx="1426486" cy="671585"/>
          </a:xfrm>
          <a:prstGeom prst="line">
            <a:avLst/>
          </a:prstGeom>
          <a:ln w="8394">
            <a:solidFill>
              <a:srgbClr val="000000"/>
            </a:solidFill>
            <a:prstDash val="solid"/>
          </a:ln>
        </p:spPr>
      </p:cxnSp>
      <p:cxnSp>
        <p:nvCxnSpPr>
          <p:cNvPr id="29" name="Connector 19"/>
          <p:cNvCxnSpPr/>
          <p:nvPr/>
        </p:nvCxnSpPr>
        <p:spPr>
          <a:xfrm>
            <a:off x="6969324" y="2502411"/>
            <a:ext cx="1364469" cy="1141082"/>
          </a:xfrm>
          <a:prstGeom prst="line">
            <a:avLst/>
          </a:prstGeom>
          <a:ln w="8394">
            <a:solidFill>
              <a:srgbClr val="000000"/>
            </a:solidFill>
            <a:prstDash val="solid"/>
          </a:ln>
        </p:spPr>
      </p:cxnSp>
      <p:cxnSp>
        <p:nvCxnSpPr>
          <p:cNvPr id="30" name="Connector 20"/>
          <p:cNvCxnSpPr/>
          <p:nvPr/>
        </p:nvCxnSpPr>
        <p:spPr>
          <a:xfrm>
            <a:off x="8384308" y="3724744"/>
            <a:ext cx="128001" cy="527294"/>
          </a:xfrm>
          <a:prstGeom prst="line">
            <a:avLst/>
          </a:prstGeom>
          <a:ln w="8394">
            <a:solidFill>
              <a:srgbClr val="000000"/>
            </a:solidFill>
            <a:prstDash val="solid"/>
          </a:ln>
        </p:spPr>
      </p:cxnSp>
      <p:cxnSp>
        <p:nvCxnSpPr>
          <p:cNvPr id="31" name="Connector 21"/>
          <p:cNvCxnSpPr/>
          <p:nvPr/>
        </p:nvCxnSpPr>
        <p:spPr>
          <a:xfrm flipH="1">
            <a:off x="6531672" y="3683355"/>
            <a:ext cx="1790962" cy="271656"/>
          </a:xfrm>
          <a:prstGeom prst="line">
            <a:avLst/>
          </a:prstGeom>
          <a:ln w="8394">
            <a:solidFill>
              <a:srgbClr val="000000"/>
            </a:solidFill>
            <a:prstDash val="solid"/>
          </a:ln>
        </p:spPr>
      </p:cxnSp>
      <p:sp>
        <p:nvSpPr>
          <p:cNvPr id="32" name="Box 22"/>
          <p:cNvSpPr/>
          <p:nvPr/>
        </p:nvSpPr>
        <p:spPr>
          <a:xfrm>
            <a:off x="7277020" y="3843906"/>
            <a:ext cx="318968" cy="12590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00" dirty="0">
                <a:solidFill>
                  <a:srgbClr val="000000"/>
                </a:solidFill>
              </a:rPr>
              <a:t>boils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6508562" y="4009799"/>
            <a:ext cx="1075714" cy="1500605"/>
          </a:xfrm>
          <a:prstGeom prst="line">
            <a:avLst/>
          </a:prstGeom>
          <a:ln w="8394">
            <a:solidFill>
              <a:srgbClr val="000000"/>
            </a:solidFill>
            <a:prstDash val="dash"/>
          </a:ln>
        </p:spPr>
      </p:cxnSp>
      <p:cxnSp>
        <p:nvCxnSpPr>
          <p:cNvPr id="34" name="Connector 24"/>
          <p:cNvCxnSpPr/>
          <p:nvPr/>
        </p:nvCxnSpPr>
        <p:spPr>
          <a:xfrm>
            <a:off x="3868596" y="4669765"/>
            <a:ext cx="3695999" cy="870032"/>
          </a:xfrm>
          <a:prstGeom prst="line">
            <a:avLst/>
          </a:prstGeom>
          <a:ln w="8394">
            <a:solidFill>
              <a:srgbClr val="000000"/>
            </a:solidFill>
            <a:prstDash val="solid"/>
          </a:ln>
        </p:spPr>
      </p:cxnSp>
      <p:cxnSp>
        <p:nvCxnSpPr>
          <p:cNvPr id="35" name="Connector 25"/>
          <p:cNvCxnSpPr/>
          <p:nvPr/>
        </p:nvCxnSpPr>
        <p:spPr>
          <a:xfrm>
            <a:off x="8451724" y="3234838"/>
            <a:ext cx="69050" cy="1015895"/>
          </a:xfrm>
          <a:prstGeom prst="line">
            <a:avLst/>
          </a:prstGeom>
          <a:ln w="8394">
            <a:solidFill>
              <a:srgbClr val="000000"/>
            </a:solidFill>
            <a:prstDash val="solid"/>
            <a:headEnd type="triangle" w="sm" len="sm"/>
            <a:tailEnd type="triangle" w="sm" len="sm"/>
          </a:ln>
        </p:spPr>
      </p:cxnSp>
      <p:cxnSp>
        <p:nvCxnSpPr>
          <p:cNvPr id="36" name="Connector 26"/>
          <p:cNvCxnSpPr/>
          <p:nvPr/>
        </p:nvCxnSpPr>
        <p:spPr>
          <a:xfrm>
            <a:off x="6525768" y="3963545"/>
            <a:ext cx="480803" cy="1"/>
          </a:xfrm>
          <a:prstGeom prst="line">
            <a:avLst/>
          </a:prstGeom>
          <a:ln w="8394">
            <a:solidFill>
              <a:srgbClr val="DC3545"/>
            </a:solidFill>
            <a:prstDash val="dash"/>
            <a:tailEnd type="triangle" w="sm" len="sm"/>
          </a:ln>
        </p:spPr>
      </p:cxnSp>
      <p:sp>
        <p:nvSpPr>
          <p:cNvPr id="37" name="Shape 27"/>
          <p:cNvSpPr/>
          <p:nvPr/>
        </p:nvSpPr>
        <p:spPr>
          <a:xfrm>
            <a:off x="7032089" y="1705249"/>
            <a:ext cx="100727" cy="100727"/>
          </a:xfrm>
          <a:prstGeom prst="ellipse">
            <a:avLst/>
          </a:prstGeom>
          <a:solidFill>
            <a:srgbClr val="000000"/>
          </a:solidFill>
          <a:ln w="9525">
            <a:solidFill>
              <a:srgbClr val="000000"/>
            </a:solidFill>
          </a:ln>
        </p:spPr>
      </p:sp>
      <p:sp>
        <p:nvSpPr>
          <p:cNvPr id="38" name="Box 28"/>
          <p:cNvSpPr/>
          <p:nvPr/>
        </p:nvSpPr>
        <p:spPr>
          <a:xfrm>
            <a:off x="7183179" y="1587734"/>
            <a:ext cx="612755" cy="125909"/>
          </a:xfrm>
          <a:prstGeom prst="rect">
            <a:avLst/>
          </a:prstGeom>
          <a:noFill/>
          <a:ln>
            <a:noFill/>
          </a:ln>
        </p:spPr>
        <p:txBody>
          <a:bodyPr wrap="none" lIns="16788" tIns="0" rIns="1678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800" dirty="0">
                <a:solidFill>
                  <a:srgbClr val="000000"/>
                </a:solidFill>
              </a:rPr>
              <a:t>Business</a:t>
            </a:r>
          </a:p>
        </p:txBody>
      </p:sp>
      <p:sp>
        <p:nvSpPr>
          <p:cNvPr id="39" name="Shape 29"/>
          <p:cNvSpPr/>
          <p:nvPr/>
        </p:nvSpPr>
        <p:spPr>
          <a:xfrm>
            <a:off x="8170302" y="1705249"/>
            <a:ext cx="100727" cy="100727"/>
          </a:xfrm>
          <a:prstGeom prst="ellipse">
            <a:avLst/>
          </a:prstGeom>
          <a:solidFill>
            <a:srgbClr val="000000"/>
          </a:solidFill>
          <a:ln w="9525">
            <a:solidFill>
              <a:srgbClr val="000000"/>
            </a:solidFill>
          </a:ln>
        </p:spPr>
      </p:sp>
      <p:sp>
        <p:nvSpPr>
          <p:cNvPr id="40" name="Box 30"/>
          <p:cNvSpPr/>
          <p:nvPr/>
        </p:nvSpPr>
        <p:spPr>
          <a:xfrm>
            <a:off x="8321393" y="1587734"/>
            <a:ext cx="478453" cy="125909"/>
          </a:xfrm>
          <a:prstGeom prst="rect">
            <a:avLst/>
          </a:prstGeom>
          <a:noFill/>
          <a:ln>
            <a:noFill/>
          </a:ln>
        </p:spPr>
        <p:txBody>
          <a:bodyPr wrap="none" lIns="16788" tIns="0" rIns="1678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800" dirty="0">
                <a:solidFill>
                  <a:srgbClr val="000000"/>
                </a:solidFill>
              </a:rPr>
              <a:t>Public</a:t>
            </a:r>
          </a:p>
        </p:txBody>
      </p:sp>
      <p:sp>
        <p:nvSpPr>
          <p:cNvPr id="41" name="Shape 31"/>
          <p:cNvSpPr/>
          <p:nvPr/>
        </p:nvSpPr>
        <p:spPr>
          <a:xfrm>
            <a:off x="6880327" y="2419738"/>
            <a:ext cx="100727" cy="100727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42" name="Box 32"/>
          <p:cNvSpPr/>
          <p:nvPr/>
        </p:nvSpPr>
        <p:spPr>
          <a:xfrm>
            <a:off x="6317935" y="2486889"/>
            <a:ext cx="587573" cy="125909"/>
          </a:xfrm>
          <a:prstGeom prst="rect">
            <a:avLst/>
          </a:prstGeom>
          <a:noFill/>
          <a:ln>
            <a:noFill/>
          </a:ln>
        </p:spPr>
        <p:txBody>
          <a:bodyPr wrap="none" lIns="16788" tIns="0" rIns="1678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Cup of Tea</a:t>
            </a:r>
          </a:p>
        </p:txBody>
      </p:sp>
      <p:sp>
        <p:nvSpPr>
          <p:cNvPr id="43" name="Shape 33"/>
          <p:cNvSpPr/>
          <p:nvPr/>
        </p:nvSpPr>
        <p:spPr>
          <a:xfrm>
            <a:off x="8170302" y="2687672"/>
            <a:ext cx="100727" cy="100727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44" name="Box 34"/>
          <p:cNvSpPr/>
          <p:nvPr/>
        </p:nvSpPr>
        <p:spPr>
          <a:xfrm>
            <a:off x="8321393" y="2670884"/>
            <a:ext cx="243423" cy="125909"/>
          </a:xfrm>
          <a:prstGeom prst="rect">
            <a:avLst/>
          </a:prstGeom>
          <a:noFill/>
          <a:ln>
            <a:noFill/>
          </a:ln>
        </p:spPr>
        <p:txBody>
          <a:bodyPr wrap="none" lIns="16788" tIns="0" rIns="1678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Cup</a:t>
            </a:r>
          </a:p>
        </p:txBody>
      </p:sp>
      <p:sp>
        <p:nvSpPr>
          <p:cNvPr id="45" name="Shape 35"/>
          <p:cNvSpPr/>
          <p:nvPr/>
        </p:nvSpPr>
        <p:spPr>
          <a:xfrm>
            <a:off x="8397945" y="3134227"/>
            <a:ext cx="100727" cy="100727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46" name="Box 36"/>
          <p:cNvSpPr/>
          <p:nvPr/>
        </p:nvSpPr>
        <p:spPr>
          <a:xfrm>
            <a:off x="8549035" y="3117440"/>
            <a:ext cx="243423" cy="125909"/>
          </a:xfrm>
          <a:prstGeom prst="rect">
            <a:avLst/>
          </a:prstGeom>
          <a:noFill/>
          <a:ln>
            <a:noFill/>
          </a:ln>
        </p:spPr>
        <p:txBody>
          <a:bodyPr wrap="none" lIns="16788" tIns="0" rIns="1678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Tea</a:t>
            </a:r>
          </a:p>
        </p:txBody>
      </p:sp>
      <p:sp>
        <p:nvSpPr>
          <p:cNvPr id="47" name="Shape 37"/>
          <p:cNvSpPr/>
          <p:nvPr/>
        </p:nvSpPr>
        <p:spPr>
          <a:xfrm>
            <a:off x="8322064" y="3625439"/>
            <a:ext cx="100727" cy="100727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48" name="Box 38"/>
          <p:cNvSpPr/>
          <p:nvPr/>
        </p:nvSpPr>
        <p:spPr>
          <a:xfrm>
            <a:off x="8473154" y="3608651"/>
            <a:ext cx="562392" cy="125909"/>
          </a:xfrm>
          <a:prstGeom prst="rect">
            <a:avLst/>
          </a:prstGeom>
          <a:noFill/>
          <a:ln>
            <a:noFill/>
          </a:ln>
        </p:spPr>
        <p:txBody>
          <a:bodyPr wrap="none" lIns="16788" tIns="0" rIns="1678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Hot Water</a:t>
            </a:r>
          </a:p>
        </p:txBody>
      </p:sp>
      <p:sp>
        <p:nvSpPr>
          <p:cNvPr id="49" name="Shape 39"/>
          <p:cNvSpPr/>
          <p:nvPr/>
        </p:nvSpPr>
        <p:spPr>
          <a:xfrm>
            <a:off x="8458717" y="4235508"/>
            <a:ext cx="130945" cy="130945"/>
          </a:xfrm>
          <a:prstGeom prst="diamond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50" name="Box 40"/>
          <p:cNvSpPr/>
          <p:nvPr/>
        </p:nvSpPr>
        <p:spPr>
          <a:xfrm>
            <a:off x="8624916" y="4233829"/>
            <a:ext cx="360938" cy="125909"/>
          </a:xfrm>
          <a:prstGeom prst="rect">
            <a:avLst/>
          </a:prstGeom>
          <a:noFill/>
          <a:ln>
            <a:noFill/>
          </a:ln>
        </p:spPr>
        <p:txBody>
          <a:bodyPr wrap="none" lIns="16788" tIns="0" rIns="1678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Water</a:t>
            </a:r>
          </a:p>
        </p:txBody>
      </p:sp>
      <p:sp>
        <p:nvSpPr>
          <p:cNvPr id="51" name="Pipeline parent"/>
          <p:cNvSpPr/>
          <p:nvPr/>
        </p:nvSpPr>
        <p:spPr>
          <a:xfrm>
            <a:off x="6435114" y="3923255"/>
            <a:ext cx="80582" cy="80582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cxnSp>
        <p:nvCxnSpPr>
          <p:cNvPr id="52" name="Connector 42"/>
          <p:cNvCxnSpPr/>
          <p:nvPr/>
        </p:nvCxnSpPr>
        <p:spPr>
          <a:xfrm>
            <a:off x="6559344" y="3913182"/>
            <a:ext cx="1" cy="100727"/>
          </a:xfrm>
          <a:prstGeom prst="line">
            <a:avLst/>
          </a:prstGeom>
          <a:ln w="8394">
            <a:solidFill>
              <a:srgbClr val="000000"/>
            </a:solidFill>
            <a:prstDash val="solid"/>
          </a:ln>
        </p:spPr>
      </p:cxnSp>
      <p:sp>
        <p:nvSpPr>
          <p:cNvPr id="53" name="Box 43"/>
          <p:cNvSpPr/>
          <p:nvPr/>
        </p:nvSpPr>
        <p:spPr>
          <a:xfrm>
            <a:off x="6576132" y="3896394"/>
            <a:ext cx="411301" cy="125909"/>
          </a:xfrm>
          <a:prstGeom prst="rect">
            <a:avLst/>
          </a:prstGeom>
          <a:noFill/>
          <a:ln>
            <a:noFill/>
          </a:ln>
        </p:spPr>
        <p:txBody>
          <a:bodyPr wrap="none" lIns="16788" tIns="0" rIns="1678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Kettle</a:t>
            </a:r>
          </a:p>
        </p:txBody>
      </p:sp>
      <p:sp>
        <p:nvSpPr>
          <p:cNvPr id="54" name="Shape 44"/>
          <p:cNvSpPr/>
          <p:nvPr/>
        </p:nvSpPr>
        <p:spPr>
          <a:xfrm>
            <a:off x="3754100" y="4592753"/>
            <a:ext cx="130945" cy="115836"/>
          </a:xfrm>
          <a:custGeom>
            <a:avLst/>
            <a:gdLst/>
            <a:ahLst/>
            <a:cxnLst/>
            <a:rect l="0" t="0" r="0" b="0"/>
            <a:pathLst>
              <a:path w="130945" h="115836">
                <a:moveTo>
                  <a:pt x="65473" y="0"/>
                </a:moveTo>
                <a:lnTo>
                  <a:pt x="130945" y="115836"/>
                </a:lnTo>
                <a:lnTo>
                  <a:pt x="0" y="115836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 w="8394">
            <a:solidFill>
              <a:srgbClr val="000000"/>
            </a:solidFill>
          </a:ln>
        </p:spPr>
      </p:sp>
      <p:sp>
        <p:nvSpPr>
          <p:cNvPr id="55" name="Box 45"/>
          <p:cNvSpPr/>
          <p:nvPr/>
        </p:nvSpPr>
        <p:spPr>
          <a:xfrm>
            <a:off x="3920300" y="4591074"/>
            <a:ext cx="411301" cy="125909"/>
          </a:xfrm>
          <a:prstGeom prst="rect">
            <a:avLst/>
          </a:prstGeom>
          <a:noFill/>
          <a:ln>
            <a:noFill/>
          </a:ln>
        </p:spPr>
        <p:txBody>
          <a:bodyPr wrap="none" lIns="16788" tIns="0" rIns="1678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Boiler</a:t>
            </a:r>
          </a:p>
        </p:txBody>
      </p:sp>
      <p:sp>
        <p:nvSpPr>
          <p:cNvPr id="56" name="Outsource"/>
          <p:cNvSpPr/>
          <p:nvPr/>
        </p:nvSpPr>
        <p:spPr>
          <a:xfrm>
            <a:off x="7563255" y="5500973"/>
            <a:ext cx="100727" cy="100727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57" name="Box 47"/>
          <p:cNvSpPr/>
          <p:nvPr/>
        </p:nvSpPr>
        <p:spPr>
          <a:xfrm>
            <a:off x="7714345" y="5484185"/>
            <a:ext cx="360938" cy="125909"/>
          </a:xfrm>
          <a:prstGeom prst="rect">
            <a:avLst/>
          </a:prstGeom>
          <a:noFill/>
          <a:ln>
            <a:noFill/>
          </a:ln>
        </p:spPr>
        <p:txBody>
          <a:bodyPr wrap="none" lIns="16788" tIns="0" rIns="1678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Power</a:t>
            </a:r>
          </a:p>
        </p:txBody>
      </p:sp>
      <p:sp>
        <p:nvSpPr>
          <p:cNvPr id="58" name="Shape 48"/>
          <p:cNvSpPr/>
          <p:nvPr/>
        </p:nvSpPr>
        <p:spPr>
          <a:xfrm>
            <a:off x="7107969" y="4027339"/>
            <a:ext cx="100727" cy="100727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59" name="Box 49"/>
          <p:cNvSpPr/>
          <p:nvPr/>
        </p:nvSpPr>
        <p:spPr>
          <a:xfrm>
            <a:off x="7259060" y="4010551"/>
            <a:ext cx="889754" cy="125909"/>
          </a:xfrm>
          <a:prstGeom prst="rect">
            <a:avLst/>
          </a:prstGeom>
          <a:noFill/>
          <a:ln>
            <a:noFill/>
          </a:ln>
        </p:spPr>
        <p:txBody>
          <a:bodyPr wrap="none" lIns="16788" tIns="0" rIns="1678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Electric Kettle</a:t>
            </a:r>
          </a:p>
        </p:txBody>
      </p:sp>
      <p:sp>
        <p:nvSpPr>
          <p:cNvPr id="60" name="Shape 50"/>
          <p:cNvSpPr/>
          <p:nvPr/>
        </p:nvSpPr>
        <p:spPr>
          <a:xfrm>
            <a:off x="5742113" y="4027339"/>
            <a:ext cx="100727" cy="100727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61" name="Box 51"/>
          <p:cNvSpPr/>
          <p:nvPr/>
        </p:nvSpPr>
        <p:spPr>
          <a:xfrm>
            <a:off x="5893203" y="4010551"/>
            <a:ext cx="612755" cy="125909"/>
          </a:xfrm>
          <a:prstGeom prst="rect">
            <a:avLst/>
          </a:prstGeom>
          <a:noFill/>
          <a:ln>
            <a:noFill/>
          </a:ln>
        </p:spPr>
        <p:txBody>
          <a:bodyPr wrap="none" lIns="16788" tIns="0" rIns="1678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Gas Kettle</a:t>
            </a:r>
          </a:p>
        </p:txBody>
      </p:sp>
      <p:sp>
        <p:nvSpPr>
          <p:cNvPr id="62" name="Box 52"/>
          <p:cNvSpPr/>
          <p:nvPr/>
        </p:nvSpPr>
        <p:spPr>
          <a:xfrm>
            <a:off x="5716596" y="5618152"/>
            <a:ext cx="2753201" cy="125909"/>
          </a:xfrm>
          <a:prstGeom prst="rect">
            <a:avLst/>
          </a:prstGeom>
          <a:noFill/>
          <a:ln>
            <a:noFill/>
          </a:ln>
        </p:spPr>
        <p:txBody>
          <a:bodyPr wrap="none" lIns="16788" tIns="0" rIns="1678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i="1" sz="800" dirty="0">
                <a:solidFill>
                  <a:srgbClr val="595959"/>
                </a:solidFill>
              </a:rPr>
              <a:t>Standardising power allows Kettles to evolve faster</a:t>
            </a:r>
          </a:p>
        </p:txBody>
      </p:sp>
      <p:cxnSp>
        <p:nvCxnSpPr>
          <p:cNvPr id="63" name="Connector 53"/>
          <p:cNvCxnSpPr/>
          <p:nvPr/>
        </p:nvCxnSpPr>
        <p:spPr>
          <a:xfrm>
            <a:off x="4393716" y="3229246"/>
            <a:ext cx="369332" cy="1"/>
          </a:xfrm>
          <a:prstGeom prst="line">
            <a:avLst/>
          </a:prstGeom>
          <a:ln w="8394">
            <a:solidFill>
              <a:srgbClr val="DC3545"/>
            </a:solidFill>
            <a:prstDash val="solid"/>
            <a:tailEnd type="triangle" w="sm" len="sm"/>
          </a:ln>
        </p:spPr>
      </p:cxnSp>
      <p:sp>
        <p:nvSpPr>
          <p:cNvPr id="64" name="Box 54"/>
          <p:cNvSpPr/>
          <p:nvPr/>
        </p:nvSpPr>
        <p:spPr>
          <a:xfrm>
            <a:off x="4242626" y="3279610"/>
            <a:ext cx="671513" cy="12590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00" dirty="0">
                <a:solidFill>
                  <a:srgbClr val="000000"/>
                </a:solidFill>
              </a:rPr>
              <a:t>Open Source</a:t>
            </a:r>
          </a:p>
        </p:txBody>
      </p:sp>
      <p:sp>
        <p:nvSpPr>
          <p:cNvPr id="65" name="Shape 55"/>
          <p:cNvSpPr/>
          <p:nvPr/>
        </p:nvSpPr>
        <p:spPr>
          <a:xfrm>
            <a:off x="4511231" y="5037630"/>
            <a:ext cx="134303" cy="134303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66" name="Box 56"/>
          <p:cNvSpPr/>
          <p:nvPr/>
        </p:nvSpPr>
        <p:spPr>
          <a:xfrm>
            <a:off x="4511231" y="5037630"/>
            <a:ext cx="134303" cy="12590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700" dirty="0">
                <a:solidFill>
                  <a:srgbClr val="000000"/>
                </a:solidFill>
              </a:rPr>
              <a:t>1</a:t>
            </a:r>
          </a:p>
        </p:txBody>
      </p:sp>
      <p:sp>
        <p:nvSpPr>
          <p:cNvPr id="67" name="Annotations"/>
          <p:cNvSpPr/>
          <p:nvPr/>
        </p:nvSpPr>
        <p:spPr>
          <a:xfrm>
            <a:off x="2453716" y="5462026"/>
            <a:ext cx="1309449" cy="19306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68" name="Box 58"/>
          <p:cNvSpPr/>
          <p:nvPr/>
        </p:nvSpPr>
        <p:spPr>
          <a:xfrm>
            <a:off x="2487292" y="5495601"/>
            <a:ext cx="1242298" cy="125909"/>
          </a:xfrm>
          <a:prstGeom prst="rect">
            <a:avLst/>
          </a:prstGeom>
          <a:noFill/>
          <a:ln>
            <a:noFill/>
          </a:ln>
        </p:spPr>
        <p:txBody>
          <a:bodyPr wrap="none" lIns="16788" tIns="0" rIns="1678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1. Standardising power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xychart-horizontal</a:t>
            </a:r>
          </a:p>
        </p:txBody>
      </p:sp>
      <p:sp>
        <p:nvSpPr>
          <p:cNvPr id="11" name="Box 1"/>
          <p:cNvSpPr/>
          <p:nvPr/>
        </p:nvSpPr>
        <p:spPr>
          <a:xfrm>
            <a:off x="3556997" y="1146337"/>
            <a:ext cx="5078007" cy="3529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338" dirty="0">
                <a:solidFill>
                  <a:srgbClr val="000000"/>
                </a:solidFill>
              </a:rPr>
              <a:t>Team velocity</a:t>
            </a:r>
          </a:p>
        </p:txBody>
      </p:sp>
      <p:sp>
        <p:nvSpPr>
          <p:cNvPr id="12" name="Box 2"/>
          <p:cNvSpPr/>
          <p:nvPr/>
        </p:nvSpPr>
        <p:spPr>
          <a:xfrm>
            <a:off x="4086364" y="1558068"/>
            <a:ext cx="117637" cy="117637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13" name="Box 3"/>
          <p:cNvSpPr/>
          <p:nvPr/>
        </p:nvSpPr>
        <p:spPr>
          <a:xfrm>
            <a:off x="4243214" y="1499249"/>
            <a:ext cx="607792" cy="215668"/>
          </a:xfrm>
          <a:prstGeom prst="rect">
            <a:avLst/>
          </a:prstGeom>
          <a:noFill/>
          <a:ln>
            <a:noFill/>
          </a:ln>
        </p:spPr>
        <p:txBody>
          <a:bodyPr wrap="none" lIns="19606" tIns="0" rIns="1960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29" dirty="0">
                <a:solidFill>
                  <a:srgbClr val="000000"/>
                </a:solidFill>
              </a:rPr>
              <a:t>Planned</a:t>
            </a:r>
          </a:p>
        </p:txBody>
      </p:sp>
      <p:sp>
        <p:nvSpPr>
          <p:cNvPr id="14" name="Box 4"/>
          <p:cNvSpPr/>
          <p:nvPr/>
        </p:nvSpPr>
        <p:spPr>
          <a:xfrm>
            <a:off x="4988249" y="1558068"/>
            <a:ext cx="117637" cy="117637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15" name="Box 5"/>
          <p:cNvSpPr/>
          <p:nvPr/>
        </p:nvSpPr>
        <p:spPr>
          <a:xfrm>
            <a:off x="5145099" y="1499249"/>
            <a:ext cx="392124" cy="215668"/>
          </a:xfrm>
          <a:prstGeom prst="rect">
            <a:avLst/>
          </a:prstGeom>
          <a:noFill/>
          <a:ln>
            <a:noFill/>
          </a:ln>
        </p:spPr>
        <p:txBody>
          <a:bodyPr wrap="none" lIns="19606" tIns="0" rIns="1960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29" dirty="0">
                <a:solidFill>
                  <a:srgbClr val="000000"/>
                </a:solidFill>
              </a:rPr>
              <a:t>Done</a:t>
            </a:r>
          </a:p>
        </p:txBody>
      </p:sp>
      <p:sp>
        <p:nvSpPr>
          <p:cNvPr id="16" name="Box 6"/>
          <p:cNvSpPr/>
          <p:nvPr/>
        </p:nvSpPr>
        <p:spPr>
          <a:xfrm>
            <a:off x="4086364" y="1754130"/>
            <a:ext cx="4117303" cy="215668"/>
          </a:xfrm>
          <a:prstGeom prst="rect">
            <a:avLst/>
          </a:prstGeom>
          <a:noFill/>
          <a:ln>
            <a:noFill/>
          </a:ln>
        </p:spPr>
        <p:txBody>
          <a:bodyPr wrap="none" lIns="19606" tIns="0" rIns="1960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1029" dirty="0">
                <a:solidFill>
                  <a:srgbClr val="000000"/>
                </a:solidFill>
              </a:rPr>
              <a:t>Sprint</a:t>
            </a:r>
          </a:p>
        </p:txBody>
      </p:sp>
      <p:sp>
        <p:nvSpPr>
          <p:cNvPr id="17" name="Shape 7"/>
          <p:cNvSpPr/>
          <p:nvPr/>
        </p:nvSpPr>
        <p:spPr>
          <a:xfrm>
            <a:off x="4086364" y="2185466"/>
            <a:ext cx="1" cy="3529117"/>
          </a:xfrm>
          <a:custGeom>
            <a:avLst/>
            <a:gdLst/>
            <a:ahLst/>
            <a:cxnLst/>
            <a:rect l="0" t="0" r="0" b="0"/>
            <a:pathLst>
              <a:path w="1" h="3429000" fill="none">
                <a:moveTo>
                  <a:pt x="0" y="0"/>
                </a:moveTo>
                <a:lnTo>
                  <a:pt x="0" y="3429000"/>
                </a:lnTo>
              </a:path>
            </a:pathLst>
          </a:custGeom>
          <a:noFill/>
          <a:ln w="9803">
            <a:solidFill>
              <a:srgbClr val="D9D9D9"/>
            </a:solidFill>
          </a:ln>
        </p:spPr>
      </p:sp>
      <p:sp>
        <p:nvSpPr>
          <p:cNvPr id="18" name="Box 8"/>
          <p:cNvSpPr/>
          <p:nvPr/>
        </p:nvSpPr>
        <p:spPr>
          <a:xfrm>
            <a:off x="3792271" y="5753795"/>
            <a:ext cx="588186" cy="17645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29" dirty="0">
                <a:solidFill>
                  <a:srgbClr val="000000"/>
                </a:solidFill>
              </a:rPr>
              <a:t>0</a:t>
            </a:r>
          </a:p>
        </p:txBody>
      </p:sp>
      <p:sp>
        <p:nvSpPr>
          <p:cNvPr id="19" name="Shape 9"/>
          <p:cNvSpPr/>
          <p:nvPr/>
        </p:nvSpPr>
        <p:spPr>
          <a:xfrm>
            <a:off x="5115690" y="2185466"/>
            <a:ext cx="1" cy="3529117"/>
          </a:xfrm>
          <a:custGeom>
            <a:avLst/>
            <a:gdLst/>
            <a:ahLst/>
            <a:cxnLst/>
            <a:rect l="0" t="0" r="0" b="0"/>
            <a:pathLst>
              <a:path w="1" h="3429000" fill="none">
                <a:moveTo>
                  <a:pt x="0" y="0"/>
                </a:moveTo>
                <a:lnTo>
                  <a:pt x="0" y="3429000"/>
                </a:lnTo>
              </a:path>
            </a:pathLst>
          </a:custGeom>
          <a:noFill/>
          <a:ln w="9803">
            <a:solidFill>
              <a:srgbClr val="D9D9D9"/>
            </a:solidFill>
          </a:ln>
        </p:spPr>
      </p:sp>
      <p:sp>
        <p:nvSpPr>
          <p:cNvPr id="20" name="Box 10"/>
          <p:cNvSpPr/>
          <p:nvPr/>
        </p:nvSpPr>
        <p:spPr>
          <a:xfrm>
            <a:off x="4821597" y="5753795"/>
            <a:ext cx="588186" cy="17645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29" dirty="0">
                <a:solidFill>
                  <a:srgbClr val="000000"/>
                </a:solidFill>
              </a:rPr>
              <a:t>10</a:t>
            </a:r>
          </a:p>
        </p:txBody>
      </p:sp>
      <p:sp>
        <p:nvSpPr>
          <p:cNvPr id="21" name="Shape 11"/>
          <p:cNvSpPr/>
          <p:nvPr/>
        </p:nvSpPr>
        <p:spPr>
          <a:xfrm>
            <a:off x="6145016" y="2185466"/>
            <a:ext cx="1" cy="3529117"/>
          </a:xfrm>
          <a:custGeom>
            <a:avLst/>
            <a:gdLst/>
            <a:ahLst/>
            <a:cxnLst/>
            <a:rect l="0" t="0" r="0" b="0"/>
            <a:pathLst>
              <a:path w="1" h="3429000" fill="none">
                <a:moveTo>
                  <a:pt x="0" y="0"/>
                </a:moveTo>
                <a:lnTo>
                  <a:pt x="0" y="3429000"/>
                </a:lnTo>
              </a:path>
            </a:pathLst>
          </a:custGeom>
          <a:noFill/>
          <a:ln w="9803">
            <a:solidFill>
              <a:srgbClr val="D9D9D9"/>
            </a:solidFill>
          </a:ln>
        </p:spPr>
      </p:sp>
      <p:sp>
        <p:nvSpPr>
          <p:cNvPr id="22" name="Box 12"/>
          <p:cNvSpPr/>
          <p:nvPr/>
        </p:nvSpPr>
        <p:spPr>
          <a:xfrm>
            <a:off x="5850922" y="5753795"/>
            <a:ext cx="588186" cy="17645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29" dirty="0">
                <a:solidFill>
                  <a:srgbClr val="000000"/>
                </a:solidFill>
              </a:rPr>
              <a:t>20</a:t>
            </a:r>
          </a:p>
        </p:txBody>
      </p:sp>
      <p:sp>
        <p:nvSpPr>
          <p:cNvPr id="23" name="Shape 13"/>
          <p:cNvSpPr/>
          <p:nvPr/>
        </p:nvSpPr>
        <p:spPr>
          <a:xfrm>
            <a:off x="7174341" y="2185466"/>
            <a:ext cx="1" cy="3529117"/>
          </a:xfrm>
          <a:custGeom>
            <a:avLst/>
            <a:gdLst/>
            <a:ahLst/>
            <a:cxnLst/>
            <a:rect l="0" t="0" r="0" b="0"/>
            <a:pathLst>
              <a:path w="1" h="3429000" fill="none">
                <a:moveTo>
                  <a:pt x="0" y="0"/>
                </a:moveTo>
                <a:lnTo>
                  <a:pt x="0" y="3429000"/>
                </a:lnTo>
              </a:path>
            </a:pathLst>
          </a:custGeom>
          <a:noFill/>
          <a:ln w="9803">
            <a:solidFill>
              <a:srgbClr val="D9D9D9"/>
            </a:solidFill>
          </a:ln>
        </p:spPr>
      </p:sp>
      <p:sp>
        <p:nvSpPr>
          <p:cNvPr id="24" name="Box 14"/>
          <p:cNvSpPr/>
          <p:nvPr/>
        </p:nvSpPr>
        <p:spPr>
          <a:xfrm>
            <a:off x="6880248" y="5753795"/>
            <a:ext cx="588186" cy="17645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29" dirty="0">
                <a:solidFill>
                  <a:srgbClr val="000000"/>
                </a:solidFill>
              </a:rPr>
              <a:t>30</a:t>
            </a:r>
          </a:p>
        </p:txBody>
      </p:sp>
      <p:sp>
        <p:nvSpPr>
          <p:cNvPr id="25" name="Shape 15"/>
          <p:cNvSpPr/>
          <p:nvPr/>
        </p:nvSpPr>
        <p:spPr>
          <a:xfrm>
            <a:off x="8203667" y="2185466"/>
            <a:ext cx="1" cy="3529117"/>
          </a:xfrm>
          <a:custGeom>
            <a:avLst/>
            <a:gdLst/>
            <a:ahLst/>
            <a:cxnLst/>
            <a:rect l="0" t="0" r="0" b="0"/>
            <a:pathLst>
              <a:path w="1" h="3429000" fill="none">
                <a:moveTo>
                  <a:pt x="0" y="0"/>
                </a:moveTo>
                <a:lnTo>
                  <a:pt x="0" y="3429000"/>
                </a:lnTo>
              </a:path>
            </a:pathLst>
          </a:custGeom>
          <a:noFill/>
          <a:ln w="9803">
            <a:solidFill>
              <a:srgbClr val="D9D9D9"/>
            </a:solidFill>
          </a:ln>
        </p:spPr>
      </p:sp>
      <p:sp>
        <p:nvSpPr>
          <p:cNvPr id="26" name="Box 16"/>
          <p:cNvSpPr/>
          <p:nvPr/>
        </p:nvSpPr>
        <p:spPr>
          <a:xfrm>
            <a:off x="7909574" y="5753795"/>
            <a:ext cx="588186" cy="17645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29" dirty="0">
                <a:solidFill>
                  <a:srgbClr val="000000"/>
                </a:solidFill>
              </a:rPr>
              <a:t>40</a:t>
            </a:r>
          </a:p>
        </p:txBody>
      </p:sp>
      <p:sp>
        <p:nvSpPr>
          <p:cNvPr id="27" name="Box 17"/>
          <p:cNvSpPr/>
          <p:nvPr/>
        </p:nvSpPr>
        <p:spPr>
          <a:xfrm>
            <a:off x="3674634" y="2538378"/>
            <a:ext cx="333305" cy="176456"/>
          </a:xfrm>
          <a:prstGeom prst="rect">
            <a:avLst/>
          </a:prstGeom>
          <a:noFill/>
          <a:ln>
            <a:noFill/>
          </a:ln>
        </p:spPr>
        <p:txBody>
          <a:bodyPr wrap="none" lIns="19606" tIns="0" rIns="1960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029" dirty="0">
                <a:solidFill>
                  <a:srgbClr val="000000"/>
                </a:solidFill>
              </a:rPr>
              <a:t>S1</a:t>
            </a:r>
          </a:p>
        </p:txBody>
      </p:sp>
      <p:sp>
        <p:nvSpPr>
          <p:cNvPr id="28" name="Box 18"/>
          <p:cNvSpPr/>
          <p:nvPr/>
        </p:nvSpPr>
        <p:spPr>
          <a:xfrm>
            <a:off x="3674634" y="3420657"/>
            <a:ext cx="333305" cy="176456"/>
          </a:xfrm>
          <a:prstGeom prst="rect">
            <a:avLst/>
          </a:prstGeom>
          <a:noFill/>
          <a:ln>
            <a:noFill/>
          </a:ln>
        </p:spPr>
        <p:txBody>
          <a:bodyPr wrap="none" lIns="19606" tIns="0" rIns="1960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029" dirty="0">
                <a:solidFill>
                  <a:srgbClr val="000000"/>
                </a:solidFill>
              </a:rPr>
              <a:t>S2</a:t>
            </a:r>
          </a:p>
        </p:txBody>
      </p:sp>
      <p:sp>
        <p:nvSpPr>
          <p:cNvPr id="29" name="Box 19"/>
          <p:cNvSpPr/>
          <p:nvPr/>
        </p:nvSpPr>
        <p:spPr>
          <a:xfrm>
            <a:off x="3674634" y="4302936"/>
            <a:ext cx="333305" cy="176456"/>
          </a:xfrm>
          <a:prstGeom prst="rect">
            <a:avLst/>
          </a:prstGeom>
          <a:noFill/>
          <a:ln>
            <a:noFill/>
          </a:ln>
        </p:spPr>
        <p:txBody>
          <a:bodyPr wrap="none" lIns="19606" tIns="0" rIns="1960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029" dirty="0">
                <a:solidFill>
                  <a:srgbClr val="000000"/>
                </a:solidFill>
              </a:rPr>
              <a:t>S3</a:t>
            </a:r>
          </a:p>
        </p:txBody>
      </p:sp>
      <p:sp>
        <p:nvSpPr>
          <p:cNvPr id="30" name="Box 20"/>
          <p:cNvSpPr/>
          <p:nvPr/>
        </p:nvSpPr>
        <p:spPr>
          <a:xfrm>
            <a:off x="3674634" y="5185215"/>
            <a:ext cx="333305" cy="176456"/>
          </a:xfrm>
          <a:prstGeom prst="rect">
            <a:avLst/>
          </a:prstGeom>
          <a:noFill/>
          <a:ln>
            <a:noFill/>
          </a:ln>
        </p:spPr>
        <p:txBody>
          <a:bodyPr wrap="none" lIns="19606" tIns="0" rIns="1960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029" dirty="0">
                <a:solidFill>
                  <a:srgbClr val="000000"/>
                </a:solidFill>
              </a:rPr>
              <a:t>S4</a:t>
            </a:r>
          </a:p>
        </p:txBody>
      </p:sp>
      <p:sp>
        <p:nvSpPr>
          <p:cNvPr id="31" name="Box 21"/>
          <p:cNvSpPr/>
          <p:nvPr/>
        </p:nvSpPr>
        <p:spPr>
          <a:xfrm>
            <a:off x="4086364" y="2317808"/>
            <a:ext cx="3087977" cy="617595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32" name="Box 22"/>
          <p:cNvSpPr/>
          <p:nvPr/>
        </p:nvSpPr>
        <p:spPr>
          <a:xfrm>
            <a:off x="4086364" y="3200088"/>
            <a:ext cx="3293842" cy="617595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33" name="Box 23"/>
          <p:cNvSpPr/>
          <p:nvPr/>
        </p:nvSpPr>
        <p:spPr>
          <a:xfrm>
            <a:off x="4086364" y="4082367"/>
            <a:ext cx="2882112" cy="617595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34" name="Box 24"/>
          <p:cNvSpPr/>
          <p:nvPr/>
        </p:nvSpPr>
        <p:spPr>
          <a:xfrm>
            <a:off x="4086364" y="4964646"/>
            <a:ext cx="3602641" cy="617595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35" name="Shape 25"/>
          <p:cNvSpPr/>
          <p:nvPr/>
        </p:nvSpPr>
        <p:spPr>
          <a:xfrm>
            <a:off x="6659679" y="2626606"/>
            <a:ext cx="1132258" cy="2646838"/>
          </a:xfrm>
          <a:custGeom>
            <a:avLst/>
            <a:gdLst/>
            <a:ahLst/>
            <a:cxnLst/>
            <a:rect l="0" t="0" r="0" b="0"/>
            <a:pathLst>
              <a:path w="1100137" h="2571750" fill="none">
                <a:moveTo>
                  <a:pt x="0" y="0"/>
                </a:moveTo>
                <a:lnTo>
                  <a:pt x="600075" y="857250"/>
                </a:lnTo>
                <a:lnTo>
                  <a:pt x="200025" y="1714500"/>
                </a:lnTo>
                <a:lnTo>
                  <a:pt x="1100137" y="2571750"/>
                </a:lnTo>
              </a:path>
            </a:pathLst>
          </a:custGeom>
          <a:noFill/>
          <a:ln w="29409">
            <a:solidFill>
              <a:srgbClr val="ED7D31"/>
            </a:solidFill>
          </a:ln>
        </p:spPr>
      </p:sp>
      <p:sp>
        <p:nvSpPr>
          <p:cNvPr id="36" name="Box 26"/>
          <p:cNvSpPr/>
          <p:nvPr/>
        </p:nvSpPr>
        <p:spPr>
          <a:xfrm>
            <a:off x="6630270" y="2597196"/>
            <a:ext cx="58819" cy="58819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37" name="Box 27"/>
          <p:cNvSpPr/>
          <p:nvPr/>
        </p:nvSpPr>
        <p:spPr>
          <a:xfrm>
            <a:off x="6468518" y="2410937"/>
            <a:ext cx="382321" cy="1568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26" dirty="0">
                <a:solidFill>
                  <a:srgbClr val="404040"/>
                </a:solidFill>
              </a:rPr>
              <a:t>late</a:t>
            </a:r>
          </a:p>
        </p:txBody>
      </p:sp>
      <p:sp>
        <p:nvSpPr>
          <p:cNvPr id="38" name="Box 28"/>
          <p:cNvSpPr/>
          <p:nvPr/>
        </p:nvSpPr>
        <p:spPr>
          <a:xfrm>
            <a:off x="7247865" y="3479476"/>
            <a:ext cx="58819" cy="58819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39" name="Box 29"/>
          <p:cNvSpPr/>
          <p:nvPr/>
        </p:nvSpPr>
        <p:spPr>
          <a:xfrm>
            <a:off x="6836135" y="4361755"/>
            <a:ext cx="58819" cy="58819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40" name="Box 30"/>
          <p:cNvSpPr/>
          <p:nvPr/>
        </p:nvSpPr>
        <p:spPr>
          <a:xfrm>
            <a:off x="7762527" y="5244034"/>
            <a:ext cx="58819" cy="58819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41" name="Shape 31"/>
          <p:cNvSpPr/>
          <p:nvPr/>
        </p:nvSpPr>
        <p:spPr>
          <a:xfrm>
            <a:off x="4086364" y="2185466"/>
            <a:ext cx="1" cy="3529117"/>
          </a:xfrm>
          <a:custGeom>
            <a:avLst/>
            <a:gdLst/>
            <a:ahLst/>
            <a:cxnLst/>
            <a:rect l="0" t="0" r="0" b="0"/>
            <a:pathLst>
              <a:path w="1" h="3429000" fill="none">
                <a:moveTo>
                  <a:pt x="0" y="0"/>
                </a:moveTo>
                <a:lnTo>
                  <a:pt x="0" y="3429000"/>
                </a:lnTo>
              </a:path>
            </a:pathLst>
          </a:custGeom>
          <a:noFill/>
          <a:ln w="29409">
            <a:solidFill>
              <a:srgbClr val="595959"/>
            </a:solidFill>
          </a:ln>
        </p:spPr>
      </p:sp>
      <p:sp>
        <p:nvSpPr>
          <p:cNvPr id="42" name="Box 32"/>
          <p:cNvSpPr/>
          <p:nvPr/>
        </p:nvSpPr>
        <p:spPr>
          <a:xfrm>
            <a:off x="4086364" y="5949857"/>
            <a:ext cx="4117303" cy="21566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029" dirty="0">
                <a:solidFill>
                  <a:srgbClr val="000000"/>
                </a:solidFill>
              </a:rPr>
              <a:t>Points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xychart</a:t>
            </a:r>
          </a:p>
        </p:txBody>
      </p:sp>
      <p:sp>
        <p:nvSpPr>
          <p:cNvPr id="11" name="Box 1"/>
          <p:cNvSpPr/>
          <p:nvPr/>
        </p:nvSpPr>
        <p:spPr>
          <a:xfrm>
            <a:off x="1279424" y="1175212"/>
            <a:ext cx="9633152" cy="43953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66" dirty="0">
                <a:solidFill>
                  <a:srgbClr val="000000"/>
                </a:solidFill>
              </a:rPr>
              <a:t>Sales Revenue</a:t>
            </a:r>
          </a:p>
        </p:txBody>
      </p:sp>
      <p:sp>
        <p:nvSpPr>
          <p:cNvPr id="12" name="Box 2"/>
          <p:cNvSpPr/>
          <p:nvPr/>
        </p:nvSpPr>
        <p:spPr>
          <a:xfrm>
            <a:off x="2170704" y="1614747"/>
            <a:ext cx="8204662" cy="268605"/>
          </a:xfrm>
          <a:prstGeom prst="rect">
            <a:avLst/>
          </a:prstGeom>
          <a:noFill/>
          <a:ln>
            <a:noFill/>
          </a:ln>
        </p:spPr>
        <p:txBody>
          <a:bodyPr wrap="none" lIns="24419" tIns="0" rIns="24419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1282" dirty="0">
                <a:solidFill>
                  <a:srgbClr val="000000"/>
                </a:solidFill>
              </a:rPr>
              <a:t>Revenue (in $)</a:t>
            </a:r>
          </a:p>
        </p:txBody>
      </p:sp>
      <p:sp>
        <p:nvSpPr>
          <p:cNvPr id="13" name="Shape 3"/>
          <p:cNvSpPr/>
          <p:nvPr/>
        </p:nvSpPr>
        <p:spPr>
          <a:xfrm>
            <a:off x="2170704" y="5814753"/>
            <a:ext cx="8204662" cy="1"/>
          </a:xfrm>
          <a:custGeom>
            <a:avLst/>
            <a:gdLst/>
            <a:ahLst/>
            <a:cxnLst/>
            <a:rect l="0" t="0" r="0" b="0"/>
            <a:pathLst>
              <a:path w="6400800" h="1" fill="none">
                <a:moveTo>
                  <a:pt x="0" y="0"/>
                </a:moveTo>
                <a:lnTo>
                  <a:pt x="6400800" y="0"/>
                </a:lnTo>
              </a:path>
            </a:pathLst>
          </a:custGeom>
          <a:noFill/>
          <a:ln w="12209">
            <a:solidFill>
              <a:srgbClr val="D9D9D9"/>
            </a:solidFill>
          </a:ln>
        </p:spPr>
      </p:sp>
      <p:sp>
        <p:nvSpPr>
          <p:cNvPr id="14" name="Box 4"/>
          <p:cNvSpPr/>
          <p:nvPr/>
        </p:nvSpPr>
        <p:spPr>
          <a:xfrm>
            <a:off x="1340471" y="5704869"/>
            <a:ext cx="732559" cy="219768"/>
          </a:xfrm>
          <a:prstGeom prst="rect">
            <a:avLst/>
          </a:prstGeom>
          <a:noFill/>
          <a:ln>
            <a:noFill/>
          </a:ln>
        </p:spPr>
        <p:txBody>
          <a:bodyPr wrap="none" lIns="24419" tIns="0" rIns="24419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282" dirty="0">
                <a:solidFill>
                  <a:srgbClr val="000000"/>
                </a:solidFill>
              </a:rPr>
              <a:t>4000</a:t>
            </a:r>
          </a:p>
        </p:txBody>
      </p:sp>
      <p:sp>
        <p:nvSpPr>
          <p:cNvPr id="15" name="Shape 5"/>
          <p:cNvSpPr/>
          <p:nvPr/>
        </p:nvSpPr>
        <p:spPr>
          <a:xfrm>
            <a:off x="2170704" y="4768239"/>
            <a:ext cx="8204662" cy="1"/>
          </a:xfrm>
          <a:custGeom>
            <a:avLst/>
            <a:gdLst/>
            <a:ahLst/>
            <a:cxnLst/>
            <a:rect l="0" t="0" r="0" b="0"/>
            <a:pathLst>
              <a:path w="6400800" h="1" fill="none">
                <a:moveTo>
                  <a:pt x="0" y="0"/>
                </a:moveTo>
                <a:lnTo>
                  <a:pt x="6400800" y="0"/>
                </a:lnTo>
              </a:path>
            </a:pathLst>
          </a:custGeom>
          <a:noFill/>
          <a:ln w="12209">
            <a:solidFill>
              <a:srgbClr val="D9D9D9"/>
            </a:solidFill>
          </a:ln>
        </p:spPr>
      </p:sp>
      <p:sp>
        <p:nvSpPr>
          <p:cNvPr id="16" name="Box 6"/>
          <p:cNvSpPr/>
          <p:nvPr/>
        </p:nvSpPr>
        <p:spPr>
          <a:xfrm>
            <a:off x="1340471" y="4658355"/>
            <a:ext cx="732559" cy="219768"/>
          </a:xfrm>
          <a:prstGeom prst="rect">
            <a:avLst/>
          </a:prstGeom>
          <a:noFill/>
          <a:ln>
            <a:noFill/>
          </a:ln>
        </p:spPr>
        <p:txBody>
          <a:bodyPr wrap="none" lIns="24419" tIns="0" rIns="24419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282" dirty="0">
                <a:solidFill>
                  <a:srgbClr val="000000"/>
                </a:solidFill>
              </a:rPr>
              <a:t>6000</a:t>
            </a:r>
          </a:p>
        </p:txBody>
      </p:sp>
      <p:sp>
        <p:nvSpPr>
          <p:cNvPr id="17" name="Shape 7"/>
          <p:cNvSpPr/>
          <p:nvPr/>
        </p:nvSpPr>
        <p:spPr>
          <a:xfrm>
            <a:off x="2170704" y="3721727"/>
            <a:ext cx="8204662" cy="1"/>
          </a:xfrm>
          <a:custGeom>
            <a:avLst/>
            <a:gdLst/>
            <a:ahLst/>
            <a:cxnLst/>
            <a:rect l="0" t="0" r="0" b="0"/>
            <a:pathLst>
              <a:path w="6400800" h="1" fill="none">
                <a:moveTo>
                  <a:pt x="0" y="0"/>
                </a:moveTo>
                <a:lnTo>
                  <a:pt x="6400800" y="0"/>
                </a:lnTo>
              </a:path>
            </a:pathLst>
          </a:custGeom>
          <a:noFill/>
          <a:ln w="12209">
            <a:solidFill>
              <a:srgbClr val="D9D9D9"/>
            </a:solidFill>
          </a:ln>
        </p:spPr>
      </p:sp>
      <p:sp>
        <p:nvSpPr>
          <p:cNvPr id="18" name="Box 8"/>
          <p:cNvSpPr/>
          <p:nvPr/>
        </p:nvSpPr>
        <p:spPr>
          <a:xfrm>
            <a:off x="1340471" y="3611843"/>
            <a:ext cx="732559" cy="219768"/>
          </a:xfrm>
          <a:prstGeom prst="rect">
            <a:avLst/>
          </a:prstGeom>
          <a:noFill/>
          <a:ln>
            <a:noFill/>
          </a:ln>
        </p:spPr>
        <p:txBody>
          <a:bodyPr wrap="none" lIns="24419" tIns="0" rIns="24419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282" dirty="0">
                <a:solidFill>
                  <a:srgbClr val="000000"/>
                </a:solidFill>
              </a:rPr>
              <a:t>8000</a:t>
            </a:r>
          </a:p>
        </p:txBody>
      </p:sp>
      <p:sp>
        <p:nvSpPr>
          <p:cNvPr id="19" name="Shape 9"/>
          <p:cNvSpPr/>
          <p:nvPr/>
        </p:nvSpPr>
        <p:spPr>
          <a:xfrm>
            <a:off x="2170704" y="2675213"/>
            <a:ext cx="8204662" cy="1"/>
          </a:xfrm>
          <a:custGeom>
            <a:avLst/>
            <a:gdLst/>
            <a:ahLst/>
            <a:cxnLst/>
            <a:rect l="0" t="0" r="0" b="0"/>
            <a:pathLst>
              <a:path w="6400800" h="1" fill="none">
                <a:moveTo>
                  <a:pt x="0" y="0"/>
                </a:moveTo>
                <a:lnTo>
                  <a:pt x="6400800" y="0"/>
                </a:lnTo>
              </a:path>
            </a:pathLst>
          </a:custGeom>
          <a:noFill/>
          <a:ln w="12209">
            <a:solidFill>
              <a:srgbClr val="D9D9D9"/>
            </a:solidFill>
          </a:ln>
        </p:spPr>
      </p:sp>
      <p:sp>
        <p:nvSpPr>
          <p:cNvPr id="20" name="Box 10"/>
          <p:cNvSpPr/>
          <p:nvPr/>
        </p:nvSpPr>
        <p:spPr>
          <a:xfrm>
            <a:off x="1340471" y="2565330"/>
            <a:ext cx="732559" cy="219768"/>
          </a:xfrm>
          <a:prstGeom prst="rect">
            <a:avLst/>
          </a:prstGeom>
          <a:noFill/>
          <a:ln>
            <a:noFill/>
          </a:ln>
        </p:spPr>
        <p:txBody>
          <a:bodyPr wrap="none" lIns="24419" tIns="0" rIns="24419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282" dirty="0">
                <a:solidFill>
                  <a:srgbClr val="000000"/>
                </a:solidFill>
              </a:rPr>
              <a:t>10000</a:t>
            </a:r>
          </a:p>
        </p:txBody>
      </p:sp>
      <p:sp>
        <p:nvSpPr>
          <p:cNvPr id="21" name="Box 11"/>
          <p:cNvSpPr/>
          <p:nvPr/>
        </p:nvSpPr>
        <p:spPr>
          <a:xfrm>
            <a:off x="2170704" y="5863590"/>
            <a:ext cx="683722" cy="21976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82" dirty="0">
                <a:solidFill>
                  <a:srgbClr val="000000"/>
                </a:solidFill>
              </a:rPr>
              <a:t>jan</a:t>
            </a:r>
          </a:p>
        </p:txBody>
      </p:sp>
      <p:sp>
        <p:nvSpPr>
          <p:cNvPr id="22" name="Box 12"/>
          <p:cNvSpPr/>
          <p:nvPr/>
        </p:nvSpPr>
        <p:spPr>
          <a:xfrm>
            <a:off x="2854426" y="5863590"/>
            <a:ext cx="683722" cy="21976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82" dirty="0">
                <a:solidFill>
                  <a:srgbClr val="000000"/>
                </a:solidFill>
              </a:rPr>
              <a:t>feb</a:t>
            </a:r>
          </a:p>
        </p:txBody>
      </p:sp>
      <p:sp>
        <p:nvSpPr>
          <p:cNvPr id="23" name="Box 13"/>
          <p:cNvSpPr/>
          <p:nvPr/>
        </p:nvSpPr>
        <p:spPr>
          <a:xfrm>
            <a:off x="3538148" y="5863590"/>
            <a:ext cx="683722" cy="21976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82" dirty="0">
                <a:solidFill>
                  <a:srgbClr val="000000"/>
                </a:solidFill>
              </a:rPr>
              <a:t>mar</a:t>
            </a:r>
          </a:p>
        </p:txBody>
      </p:sp>
      <p:sp>
        <p:nvSpPr>
          <p:cNvPr id="24" name="Box 14"/>
          <p:cNvSpPr/>
          <p:nvPr/>
        </p:nvSpPr>
        <p:spPr>
          <a:xfrm>
            <a:off x="4221870" y="5863590"/>
            <a:ext cx="683722" cy="21976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82" dirty="0">
                <a:solidFill>
                  <a:srgbClr val="000000"/>
                </a:solidFill>
              </a:rPr>
              <a:t>apr</a:t>
            </a:r>
          </a:p>
        </p:txBody>
      </p:sp>
      <p:sp>
        <p:nvSpPr>
          <p:cNvPr id="25" name="Box 15"/>
          <p:cNvSpPr/>
          <p:nvPr/>
        </p:nvSpPr>
        <p:spPr>
          <a:xfrm>
            <a:off x="4905591" y="5863590"/>
            <a:ext cx="683722" cy="21976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82" dirty="0">
                <a:solidFill>
                  <a:srgbClr val="000000"/>
                </a:solidFill>
              </a:rPr>
              <a:t>may</a:t>
            </a:r>
          </a:p>
        </p:txBody>
      </p:sp>
      <p:sp>
        <p:nvSpPr>
          <p:cNvPr id="26" name="Box 16"/>
          <p:cNvSpPr/>
          <p:nvPr/>
        </p:nvSpPr>
        <p:spPr>
          <a:xfrm>
            <a:off x="5589313" y="5863590"/>
            <a:ext cx="683722" cy="21976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82" dirty="0">
                <a:solidFill>
                  <a:srgbClr val="000000"/>
                </a:solidFill>
              </a:rPr>
              <a:t>jun</a:t>
            </a:r>
          </a:p>
        </p:txBody>
      </p:sp>
      <p:sp>
        <p:nvSpPr>
          <p:cNvPr id="27" name="Box 17"/>
          <p:cNvSpPr/>
          <p:nvPr/>
        </p:nvSpPr>
        <p:spPr>
          <a:xfrm>
            <a:off x="6273035" y="5863590"/>
            <a:ext cx="683722" cy="21976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82" dirty="0">
                <a:solidFill>
                  <a:srgbClr val="000000"/>
                </a:solidFill>
              </a:rPr>
              <a:t>jul</a:t>
            </a:r>
          </a:p>
        </p:txBody>
      </p:sp>
      <p:sp>
        <p:nvSpPr>
          <p:cNvPr id="28" name="Box 18"/>
          <p:cNvSpPr/>
          <p:nvPr/>
        </p:nvSpPr>
        <p:spPr>
          <a:xfrm>
            <a:off x="6956757" y="5863590"/>
            <a:ext cx="683722" cy="21976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82" dirty="0">
                <a:solidFill>
                  <a:srgbClr val="000000"/>
                </a:solidFill>
              </a:rPr>
              <a:t>aug</a:t>
            </a:r>
          </a:p>
        </p:txBody>
      </p:sp>
      <p:sp>
        <p:nvSpPr>
          <p:cNvPr id="29" name="Box 19"/>
          <p:cNvSpPr/>
          <p:nvPr/>
        </p:nvSpPr>
        <p:spPr>
          <a:xfrm>
            <a:off x="7640479" y="5863590"/>
            <a:ext cx="683722" cy="21976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82" dirty="0">
                <a:solidFill>
                  <a:srgbClr val="000000"/>
                </a:solidFill>
              </a:rPr>
              <a:t>sep</a:t>
            </a:r>
          </a:p>
        </p:txBody>
      </p:sp>
      <p:sp>
        <p:nvSpPr>
          <p:cNvPr id="30" name="Box 20"/>
          <p:cNvSpPr/>
          <p:nvPr/>
        </p:nvSpPr>
        <p:spPr>
          <a:xfrm>
            <a:off x="8324201" y="5863590"/>
            <a:ext cx="683722" cy="21976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82" dirty="0">
                <a:solidFill>
                  <a:srgbClr val="000000"/>
                </a:solidFill>
              </a:rPr>
              <a:t>oct</a:t>
            </a:r>
          </a:p>
        </p:txBody>
      </p:sp>
      <p:sp>
        <p:nvSpPr>
          <p:cNvPr id="31" name="Box 21"/>
          <p:cNvSpPr/>
          <p:nvPr/>
        </p:nvSpPr>
        <p:spPr>
          <a:xfrm>
            <a:off x="9007922" y="5863590"/>
            <a:ext cx="683722" cy="21976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82" dirty="0">
                <a:solidFill>
                  <a:srgbClr val="000000"/>
                </a:solidFill>
              </a:rPr>
              <a:t>nov</a:t>
            </a:r>
          </a:p>
        </p:txBody>
      </p:sp>
      <p:sp>
        <p:nvSpPr>
          <p:cNvPr id="32" name="Box 22"/>
          <p:cNvSpPr/>
          <p:nvPr/>
        </p:nvSpPr>
        <p:spPr>
          <a:xfrm>
            <a:off x="9691644" y="5863590"/>
            <a:ext cx="683722" cy="21976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82" dirty="0">
                <a:solidFill>
                  <a:srgbClr val="000000"/>
                </a:solidFill>
              </a:rPr>
              <a:t>dec</a:t>
            </a:r>
          </a:p>
        </p:txBody>
      </p:sp>
      <p:sp>
        <p:nvSpPr>
          <p:cNvPr id="33" name="Box 23"/>
          <p:cNvSpPr/>
          <p:nvPr/>
        </p:nvSpPr>
        <p:spPr>
          <a:xfrm>
            <a:off x="2273262" y="5291497"/>
            <a:ext cx="478605" cy="523256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34" name="Box 24"/>
          <p:cNvSpPr/>
          <p:nvPr/>
        </p:nvSpPr>
        <p:spPr>
          <a:xfrm>
            <a:off x="2956984" y="4768239"/>
            <a:ext cx="478605" cy="1046514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35" name="Box 25"/>
          <p:cNvSpPr/>
          <p:nvPr/>
        </p:nvSpPr>
        <p:spPr>
          <a:xfrm>
            <a:off x="3640706" y="3983355"/>
            <a:ext cx="478605" cy="1831398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36" name="Box 26"/>
          <p:cNvSpPr/>
          <p:nvPr/>
        </p:nvSpPr>
        <p:spPr>
          <a:xfrm>
            <a:off x="4324428" y="3617075"/>
            <a:ext cx="478605" cy="2197677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37" name="Box 27"/>
          <p:cNvSpPr/>
          <p:nvPr/>
        </p:nvSpPr>
        <p:spPr>
          <a:xfrm>
            <a:off x="5008150" y="2936841"/>
            <a:ext cx="478605" cy="2877911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38" name="Box 28"/>
          <p:cNvSpPr/>
          <p:nvPr/>
        </p:nvSpPr>
        <p:spPr>
          <a:xfrm>
            <a:off x="5691872" y="2413585"/>
            <a:ext cx="478605" cy="3401167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39" name="Box 29"/>
          <p:cNvSpPr/>
          <p:nvPr/>
        </p:nvSpPr>
        <p:spPr>
          <a:xfrm>
            <a:off x="6375593" y="2151957"/>
            <a:ext cx="478605" cy="3662795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40" name="Box 30"/>
          <p:cNvSpPr/>
          <p:nvPr/>
        </p:nvSpPr>
        <p:spPr>
          <a:xfrm>
            <a:off x="7059315" y="2570562"/>
            <a:ext cx="478605" cy="3244191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41" name="Box 31"/>
          <p:cNvSpPr/>
          <p:nvPr/>
        </p:nvSpPr>
        <p:spPr>
          <a:xfrm>
            <a:off x="7743037" y="3093819"/>
            <a:ext cx="478605" cy="2720933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42" name="Box 32"/>
          <p:cNvSpPr/>
          <p:nvPr/>
        </p:nvSpPr>
        <p:spPr>
          <a:xfrm>
            <a:off x="8426759" y="3460099"/>
            <a:ext cx="478605" cy="2354654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43" name="Box 33"/>
          <p:cNvSpPr/>
          <p:nvPr/>
        </p:nvSpPr>
        <p:spPr>
          <a:xfrm>
            <a:off x="9110481" y="4244983"/>
            <a:ext cx="478605" cy="1569770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44" name="Box 34"/>
          <p:cNvSpPr/>
          <p:nvPr/>
        </p:nvSpPr>
        <p:spPr>
          <a:xfrm>
            <a:off x="9794202" y="4768239"/>
            <a:ext cx="478605" cy="1046514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45" name="Shape 35"/>
          <p:cNvSpPr/>
          <p:nvPr/>
        </p:nvSpPr>
        <p:spPr>
          <a:xfrm>
            <a:off x="2512565" y="2151957"/>
            <a:ext cx="7520940" cy="3139539"/>
          </a:xfrm>
          <a:custGeom>
            <a:avLst/>
            <a:gdLst/>
            <a:ahLst/>
            <a:cxnLst/>
            <a:rect l="0" t="0" r="0" b="0"/>
            <a:pathLst>
              <a:path w="5867400" h="2449286" fill="none">
                <a:moveTo>
                  <a:pt x="0" y="2449286"/>
                </a:moveTo>
                <a:lnTo>
                  <a:pt x="533400" y="2041071"/>
                </a:lnTo>
                <a:lnTo>
                  <a:pt x="1066800" y="1428750"/>
                </a:lnTo>
                <a:lnTo>
                  <a:pt x="1600200" y="1143000"/>
                </a:lnTo>
                <a:lnTo>
                  <a:pt x="2133600" y="612321"/>
                </a:lnTo>
                <a:lnTo>
                  <a:pt x="2667000" y="204107"/>
                </a:lnTo>
                <a:lnTo>
                  <a:pt x="3200400" y="0"/>
                </a:lnTo>
                <a:lnTo>
                  <a:pt x="3733800" y="326571"/>
                </a:lnTo>
                <a:lnTo>
                  <a:pt x="4267200" y="734786"/>
                </a:lnTo>
                <a:lnTo>
                  <a:pt x="4800600" y="1020536"/>
                </a:lnTo>
                <a:lnTo>
                  <a:pt x="5334000" y="1632857"/>
                </a:lnTo>
                <a:lnTo>
                  <a:pt x="5867400" y="2041071"/>
                </a:lnTo>
              </a:path>
            </a:pathLst>
          </a:custGeom>
          <a:noFill/>
          <a:ln w="36628">
            <a:solidFill>
              <a:srgbClr val="ED7D31"/>
            </a:solidFill>
          </a:ln>
        </p:spPr>
      </p:sp>
      <p:sp>
        <p:nvSpPr>
          <p:cNvPr id="46" name="Box 36"/>
          <p:cNvSpPr/>
          <p:nvPr/>
        </p:nvSpPr>
        <p:spPr>
          <a:xfrm>
            <a:off x="2475937" y="5254869"/>
            <a:ext cx="73256" cy="7325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47" name="Box 37"/>
          <p:cNvSpPr/>
          <p:nvPr/>
        </p:nvSpPr>
        <p:spPr>
          <a:xfrm>
            <a:off x="3159659" y="4731611"/>
            <a:ext cx="73256" cy="7325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48" name="Box 38"/>
          <p:cNvSpPr/>
          <p:nvPr/>
        </p:nvSpPr>
        <p:spPr>
          <a:xfrm>
            <a:off x="3843381" y="3946727"/>
            <a:ext cx="73256" cy="7325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49" name="Box 39"/>
          <p:cNvSpPr/>
          <p:nvPr/>
        </p:nvSpPr>
        <p:spPr>
          <a:xfrm>
            <a:off x="4527103" y="3580448"/>
            <a:ext cx="73256" cy="7325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50" name="Box 40"/>
          <p:cNvSpPr/>
          <p:nvPr/>
        </p:nvSpPr>
        <p:spPr>
          <a:xfrm>
            <a:off x="5210824" y="2900214"/>
            <a:ext cx="73256" cy="7325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51" name="Box 41"/>
          <p:cNvSpPr/>
          <p:nvPr/>
        </p:nvSpPr>
        <p:spPr>
          <a:xfrm>
            <a:off x="5894546" y="2376957"/>
            <a:ext cx="73256" cy="7325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52" name="Box 42"/>
          <p:cNvSpPr/>
          <p:nvPr/>
        </p:nvSpPr>
        <p:spPr>
          <a:xfrm>
            <a:off x="6578268" y="2115329"/>
            <a:ext cx="73256" cy="7325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53" name="Box 43"/>
          <p:cNvSpPr/>
          <p:nvPr/>
        </p:nvSpPr>
        <p:spPr>
          <a:xfrm>
            <a:off x="7261990" y="2533934"/>
            <a:ext cx="73256" cy="7325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54" name="Box 44"/>
          <p:cNvSpPr/>
          <p:nvPr/>
        </p:nvSpPr>
        <p:spPr>
          <a:xfrm>
            <a:off x="7945712" y="3057191"/>
            <a:ext cx="73256" cy="7325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55" name="Box 45"/>
          <p:cNvSpPr/>
          <p:nvPr/>
        </p:nvSpPr>
        <p:spPr>
          <a:xfrm>
            <a:off x="8629434" y="3423471"/>
            <a:ext cx="73256" cy="7325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56" name="Box 46"/>
          <p:cNvSpPr/>
          <p:nvPr/>
        </p:nvSpPr>
        <p:spPr>
          <a:xfrm>
            <a:off x="9313155" y="4208355"/>
            <a:ext cx="73256" cy="7325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57" name="Box 47"/>
          <p:cNvSpPr/>
          <p:nvPr/>
        </p:nvSpPr>
        <p:spPr>
          <a:xfrm>
            <a:off x="9996877" y="4731611"/>
            <a:ext cx="73256" cy="7325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58" name="Shape 48"/>
          <p:cNvSpPr/>
          <p:nvPr/>
        </p:nvSpPr>
        <p:spPr>
          <a:xfrm>
            <a:off x="2170704" y="5814753"/>
            <a:ext cx="8204662" cy="1"/>
          </a:xfrm>
          <a:custGeom>
            <a:avLst/>
            <a:gdLst/>
            <a:ahLst/>
            <a:cxnLst/>
            <a:rect l="0" t="0" r="0" b="0"/>
            <a:pathLst>
              <a:path w="6400800" h="1" fill="none">
                <a:moveTo>
                  <a:pt x="0" y="0"/>
                </a:moveTo>
                <a:lnTo>
                  <a:pt x="6400800" y="0"/>
                </a:lnTo>
              </a:path>
            </a:pathLst>
          </a:custGeom>
          <a:noFill/>
          <a:ln w="36628">
            <a:solidFill>
              <a:srgbClr val="595959"/>
            </a:solidFill>
          </a:ln>
        </p:spPr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zenuml</a:t>
            </a:r>
          </a:p>
        </p:txBody>
      </p:sp>
      <p:sp>
        <p:nvSpPr>
          <p:cNvPr id="53" name="Participant _starter"/>
          <p:cNvSpPr/>
          <p:nvPr/>
        </p:nvSpPr>
        <p:spPr>
          <a:xfrm>
            <a:off x="3544758" y="1298316"/>
            <a:ext cx="606636" cy="229174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55" name="Participant _starter"/>
          <p:cNvSpPr/>
          <p:nvPr/>
        </p:nvSpPr>
        <p:spPr>
          <a:xfrm>
            <a:off x="3544758" y="6036818"/>
            <a:ext cx="606636" cy="229174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58" name="Participant Client"/>
          <p:cNvSpPr/>
          <p:nvPr/>
        </p:nvSpPr>
        <p:spPr>
          <a:xfrm>
            <a:off x="4488414" y="1298316"/>
            <a:ext cx="606636" cy="229174"/>
          </a:xfrm>
          <a:prstGeom prst="rect">
            <a:avLst/>
          </a:prstGeom>
          <a:solidFill>
            <a:srgbClr val="DDEBF7"/>
          </a:solidFill>
          <a:ln w="9525">
            <a:solidFill>
              <a:srgbClr val="5B9BD5"/>
            </a:solidFill>
          </a:ln>
        </p:spPr>
      </p:sp>
      <p:sp>
        <p:nvSpPr>
          <p:cNvPr id="60" name="Participant Client"/>
          <p:cNvSpPr/>
          <p:nvPr/>
        </p:nvSpPr>
        <p:spPr>
          <a:xfrm>
            <a:off x="4488414" y="6036818"/>
            <a:ext cx="606636" cy="229174"/>
          </a:xfrm>
          <a:prstGeom prst="rect">
            <a:avLst/>
          </a:prstGeom>
          <a:solidFill>
            <a:srgbClr val="DDEBF7"/>
          </a:solidFill>
          <a:ln w="9525">
            <a:solidFill>
              <a:srgbClr val="5B9BD5"/>
            </a:solidFill>
          </a:ln>
        </p:spPr>
      </p:sp>
      <p:sp>
        <p:nvSpPr>
          <p:cNvPr id="63" name="Participant DB"/>
          <p:cNvSpPr/>
          <p:nvPr/>
        </p:nvSpPr>
        <p:spPr>
          <a:xfrm>
            <a:off x="5432070" y="1298316"/>
            <a:ext cx="606636" cy="229174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65" name="Participant DB"/>
          <p:cNvSpPr/>
          <p:nvPr/>
        </p:nvSpPr>
        <p:spPr>
          <a:xfrm>
            <a:off x="5432070" y="6036818"/>
            <a:ext cx="606636" cy="229174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68" name="Participant Booking"/>
          <p:cNvSpPr/>
          <p:nvPr/>
        </p:nvSpPr>
        <p:spPr>
          <a:xfrm>
            <a:off x="6268217" y="1298316"/>
            <a:ext cx="821655" cy="229174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70" name="Participant Booking"/>
          <p:cNvSpPr/>
          <p:nvPr/>
        </p:nvSpPr>
        <p:spPr>
          <a:xfrm>
            <a:off x="6268217" y="6036818"/>
            <a:ext cx="821655" cy="229174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73" name="Participant Mailer"/>
          <p:cNvSpPr/>
          <p:nvPr/>
        </p:nvSpPr>
        <p:spPr>
          <a:xfrm>
            <a:off x="7319383" y="3071042"/>
            <a:ext cx="606636" cy="229174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75" name="Participant Mailer"/>
          <p:cNvSpPr/>
          <p:nvPr/>
        </p:nvSpPr>
        <p:spPr>
          <a:xfrm>
            <a:off x="7319383" y="6036818"/>
            <a:ext cx="606636" cy="229174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27" name="Block alt"/>
          <p:cNvSpPr/>
          <p:nvPr/>
        </p:nvSpPr>
        <p:spPr>
          <a:xfrm>
            <a:off x="4549078" y="2397002"/>
            <a:ext cx="3316278" cy="1354821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sp>
        <p:nvSpPr>
          <p:cNvPr id="28" name="Box 18"/>
          <p:cNvSpPr/>
          <p:nvPr/>
        </p:nvSpPr>
        <p:spPr>
          <a:xfrm>
            <a:off x="4549078" y="2397002"/>
            <a:ext cx="229174" cy="107846"/>
          </a:xfrm>
          <a:prstGeom prst="rect">
            <a:avLst/>
          </a:prstGeom>
          <a:solidFill>
            <a:srgbClr val="E6E6E6"/>
          </a:solidFill>
          <a:ln w="6740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333333"/>
                </a:solidFill>
              </a:rPr>
              <a:t>alt</a:t>
            </a:r>
          </a:p>
        </p:txBody>
      </p:sp>
      <p:sp>
        <p:nvSpPr>
          <p:cNvPr id="29" name="Box 19"/>
          <p:cNvSpPr/>
          <p:nvPr/>
        </p:nvSpPr>
        <p:spPr>
          <a:xfrm>
            <a:off x="4818694" y="2397002"/>
            <a:ext cx="3006219" cy="107846"/>
          </a:xfrm>
          <a:prstGeom prst="rect">
            <a:avLst/>
          </a:prstGeom>
          <a:noFill/>
          <a:ln>
            <a:noFill/>
          </a:ln>
        </p:spPr>
        <p:txBody>
          <a:bodyPr wrap="none" lIns="13481" tIns="0" rIns="13481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333333"/>
                </a:solidFill>
              </a:rPr>
              <a:t>[available]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4549078" y="3367619"/>
            <a:ext cx="3316277" cy="1"/>
          </a:xfrm>
          <a:prstGeom prst="line">
            <a:avLst/>
          </a:prstGeom>
          <a:ln w="6740">
            <a:solidFill>
              <a:srgbClr val="7F7F7F"/>
            </a:solidFill>
            <a:prstDash val="dash"/>
          </a:ln>
        </p:spPr>
      </p:cxnSp>
      <p:sp>
        <p:nvSpPr>
          <p:cNvPr id="31" name="Box 21"/>
          <p:cNvSpPr/>
          <p:nvPr/>
        </p:nvSpPr>
        <p:spPr>
          <a:xfrm>
            <a:off x="4589520" y="3381100"/>
            <a:ext cx="3235393" cy="94366"/>
          </a:xfrm>
          <a:prstGeom prst="rect">
            <a:avLst/>
          </a:prstGeom>
          <a:noFill/>
          <a:ln>
            <a:noFill/>
          </a:ln>
        </p:spPr>
        <p:txBody>
          <a:bodyPr wrap="none" lIns="13481" tIns="0" rIns="13481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333333"/>
                </a:solidFill>
              </a:rPr>
              <a:t>[else]</a:t>
            </a:r>
          </a:p>
        </p:txBody>
      </p:sp>
      <p:sp>
        <p:nvSpPr>
          <p:cNvPr id="34" name="Block loop"/>
          <p:cNvSpPr/>
          <p:nvPr/>
        </p:nvSpPr>
        <p:spPr>
          <a:xfrm>
            <a:off x="5492734" y="3846188"/>
            <a:ext cx="1428965" cy="411164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sp>
        <p:nvSpPr>
          <p:cNvPr id="35" name="Box 25"/>
          <p:cNvSpPr/>
          <p:nvPr/>
        </p:nvSpPr>
        <p:spPr>
          <a:xfrm>
            <a:off x="5492734" y="3846188"/>
            <a:ext cx="269616" cy="107846"/>
          </a:xfrm>
          <a:prstGeom prst="rect">
            <a:avLst/>
          </a:prstGeom>
          <a:solidFill>
            <a:srgbClr val="E6E6E6"/>
          </a:solidFill>
          <a:ln w="6740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333333"/>
                </a:solidFill>
              </a:rPr>
              <a:t>loop</a:t>
            </a:r>
          </a:p>
        </p:txBody>
      </p:sp>
      <p:sp>
        <p:nvSpPr>
          <p:cNvPr id="36" name="Box 26"/>
          <p:cNvSpPr/>
          <p:nvPr/>
        </p:nvSpPr>
        <p:spPr>
          <a:xfrm>
            <a:off x="5802793" y="3846188"/>
            <a:ext cx="1078464" cy="107846"/>
          </a:xfrm>
          <a:prstGeom prst="rect">
            <a:avLst/>
          </a:prstGeom>
          <a:noFill/>
          <a:ln>
            <a:noFill/>
          </a:ln>
        </p:spPr>
        <p:txBody>
          <a:bodyPr wrap="none" lIns="13481" tIns="0" rIns="13481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333333"/>
                </a:solidFill>
              </a:rPr>
              <a:t>[retry]</a:t>
            </a:r>
          </a:p>
        </p:txBody>
      </p:sp>
      <p:sp>
        <p:nvSpPr>
          <p:cNvPr id="44" name="Block break"/>
          <p:cNvSpPr/>
          <p:nvPr/>
        </p:nvSpPr>
        <p:spPr>
          <a:xfrm>
            <a:off x="4549078" y="4587632"/>
            <a:ext cx="2372621" cy="808848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sp>
        <p:nvSpPr>
          <p:cNvPr id="45" name="Box 35"/>
          <p:cNvSpPr/>
          <p:nvPr/>
        </p:nvSpPr>
        <p:spPr>
          <a:xfrm>
            <a:off x="4549078" y="4587632"/>
            <a:ext cx="310058" cy="107846"/>
          </a:xfrm>
          <a:prstGeom prst="rect">
            <a:avLst/>
          </a:prstGeom>
          <a:solidFill>
            <a:srgbClr val="E6E6E6"/>
          </a:solidFill>
          <a:ln w="6740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333333"/>
                </a:solidFill>
              </a:rPr>
              <a:t>break</a:t>
            </a:r>
          </a:p>
        </p:txBody>
      </p:sp>
      <p:sp>
        <p:nvSpPr>
          <p:cNvPr id="46" name="Box 36"/>
          <p:cNvSpPr/>
          <p:nvPr/>
        </p:nvSpPr>
        <p:spPr>
          <a:xfrm>
            <a:off x="4899579" y="4587632"/>
            <a:ext cx="1981678" cy="107846"/>
          </a:xfrm>
          <a:prstGeom prst="rect">
            <a:avLst/>
          </a:prstGeom>
          <a:noFill/>
          <a:ln>
            <a:noFill/>
          </a:ln>
        </p:spPr>
        <p:txBody>
          <a:bodyPr wrap="none" lIns="13481" tIns="0" rIns="13481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333333"/>
                </a:solidFill>
              </a:rPr>
              <a:t>[try]</a:t>
            </a:r>
          </a:p>
        </p:txBody>
      </p:sp>
      <p:cxnSp>
        <p:nvCxnSpPr>
          <p:cNvPr id="47" name="Connector 37"/>
          <p:cNvCxnSpPr/>
          <p:nvPr/>
        </p:nvCxnSpPr>
        <p:spPr>
          <a:xfrm>
            <a:off x="4549078" y="5012277"/>
            <a:ext cx="2372621" cy="1"/>
          </a:xfrm>
          <a:prstGeom prst="line">
            <a:avLst/>
          </a:prstGeom>
          <a:ln w="6740">
            <a:solidFill>
              <a:srgbClr val="7F7F7F"/>
            </a:solidFill>
            <a:prstDash val="dash"/>
          </a:ln>
        </p:spPr>
      </p:cxnSp>
      <p:sp>
        <p:nvSpPr>
          <p:cNvPr id="48" name="Box 38"/>
          <p:cNvSpPr/>
          <p:nvPr/>
        </p:nvSpPr>
        <p:spPr>
          <a:xfrm>
            <a:off x="4589520" y="5025758"/>
            <a:ext cx="2291737" cy="94366"/>
          </a:xfrm>
          <a:prstGeom prst="rect">
            <a:avLst/>
          </a:prstGeom>
          <a:noFill/>
          <a:ln>
            <a:noFill/>
          </a:ln>
        </p:spPr>
        <p:txBody>
          <a:bodyPr wrap="none" lIns="13481" tIns="0" rIns="13481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333333"/>
                </a:solidFill>
              </a:rPr>
              <a:t>[catch]</a:t>
            </a:r>
          </a:p>
        </p:txBody>
      </p:sp>
      <p:sp>
        <p:nvSpPr>
          <p:cNvPr id="51" name="Block opt"/>
          <p:cNvSpPr/>
          <p:nvPr/>
        </p:nvSpPr>
        <p:spPr>
          <a:xfrm>
            <a:off x="3605422" y="5490846"/>
            <a:ext cx="3316278" cy="411164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sp>
        <p:nvSpPr>
          <p:cNvPr id="52" name="Box 42"/>
          <p:cNvSpPr/>
          <p:nvPr/>
        </p:nvSpPr>
        <p:spPr>
          <a:xfrm>
            <a:off x="3605422" y="5490846"/>
            <a:ext cx="229174" cy="107846"/>
          </a:xfrm>
          <a:prstGeom prst="rect">
            <a:avLst/>
          </a:prstGeom>
          <a:solidFill>
            <a:srgbClr val="E6E6E6"/>
          </a:solidFill>
          <a:ln w="6740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333333"/>
                </a:solidFill>
              </a:rPr>
              <a:t>opt</a:t>
            </a:r>
          </a:p>
        </p:txBody>
      </p:sp>
      <p:cxnSp>
        <p:nvCxnSpPr>
          <p:cNvPr id="57" name="Connector 47"/>
          <p:cNvCxnSpPr/>
          <p:nvPr/>
        </p:nvCxnSpPr>
        <p:spPr>
          <a:xfrm>
            <a:off x="3848076" y="1527490"/>
            <a:ext cx="1" cy="4509328"/>
          </a:xfrm>
          <a:prstGeom prst="line">
            <a:avLst/>
          </a:prstGeom>
          <a:ln w="6740">
            <a:solidFill>
              <a:srgbClr val="999999"/>
            </a:solidFill>
            <a:prstDash val="dash"/>
          </a:ln>
        </p:spPr>
      </p:cxnSp>
      <p:cxnSp>
        <p:nvCxnSpPr>
          <p:cNvPr id="62" name="Connector 52"/>
          <p:cNvCxnSpPr/>
          <p:nvPr/>
        </p:nvCxnSpPr>
        <p:spPr>
          <a:xfrm>
            <a:off x="4791732" y="1527490"/>
            <a:ext cx="1" cy="4509328"/>
          </a:xfrm>
          <a:prstGeom prst="line">
            <a:avLst/>
          </a:prstGeom>
          <a:ln w="6740">
            <a:solidFill>
              <a:srgbClr val="999999"/>
            </a:solidFill>
            <a:prstDash val="dash"/>
          </a:ln>
        </p:spPr>
      </p:cxnSp>
      <p:cxnSp>
        <p:nvCxnSpPr>
          <p:cNvPr id="67" name="Connector 57"/>
          <p:cNvCxnSpPr/>
          <p:nvPr/>
        </p:nvCxnSpPr>
        <p:spPr>
          <a:xfrm>
            <a:off x="5735389" y="1527490"/>
            <a:ext cx="1" cy="4509328"/>
          </a:xfrm>
          <a:prstGeom prst="line">
            <a:avLst/>
          </a:prstGeom>
          <a:ln w="6740">
            <a:solidFill>
              <a:srgbClr val="999999"/>
            </a:solidFill>
            <a:prstDash val="dash"/>
          </a:ln>
        </p:spPr>
      </p:cxnSp>
      <p:cxnSp>
        <p:nvCxnSpPr>
          <p:cNvPr id="72" name="Connector 62"/>
          <p:cNvCxnSpPr/>
          <p:nvPr/>
        </p:nvCxnSpPr>
        <p:spPr>
          <a:xfrm>
            <a:off x="6679045" y="1527490"/>
            <a:ext cx="1" cy="4509328"/>
          </a:xfrm>
          <a:prstGeom prst="line">
            <a:avLst/>
          </a:prstGeom>
          <a:ln w="6740">
            <a:solidFill>
              <a:srgbClr val="999999"/>
            </a:solidFill>
            <a:prstDash val="dash"/>
          </a:ln>
        </p:spPr>
      </p:cxnSp>
      <p:cxnSp>
        <p:nvCxnSpPr>
          <p:cNvPr id="77" name="Connector 67"/>
          <p:cNvCxnSpPr/>
          <p:nvPr/>
        </p:nvCxnSpPr>
        <p:spPr>
          <a:xfrm>
            <a:off x="7622701" y="3300215"/>
            <a:ext cx="1" cy="2736603"/>
          </a:xfrm>
          <a:prstGeom prst="line">
            <a:avLst/>
          </a:prstGeom>
          <a:ln w="6740">
            <a:solidFill>
              <a:srgbClr val="999999"/>
            </a:solidFill>
            <a:prstDash val="dash"/>
          </a:ln>
        </p:spPr>
      </p:cxnSp>
      <p:sp>
        <p:nvSpPr>
          <p:cNvPr id="18" name="Activation"/>
          <p:cNvSpPr/>
          <p:nvPr/>
        </p:nvSpPr>
        <p:spPr>
          <a:xfrm>
            <a:off x="5701687" y="2066722"/>
            <a:ext cx="67404" cy="276356"/>
          </a:xfrm>
          <a:prstGeom prst="rect">
            <a:avLst/>
          </a:prstGeom>
          <a:solidFill>
            <a:srgbClr val="F2F2F2"/>
          </a:solidFill>
          <a:ln w="9525">
            <a:solidFill>
              <a:srgbClr val="333333"/>
            </a:solidFill>
          </a:ln>
        </p:spPr>
      </p:sp>
      <p:sp>
        <p:nvSpPr>
          <p:cNvPr id="39" name="Activation"/>
          <p:cNvSpPr/>
          <p:nvPr/>
        </p:nvSpPr>
        <p:spPr>
          <a:xfrm>
            <a:off x="6645343" y="1830808"/>
            <a:ext cx="67404" cy="2702901"/>
          </a:xfrm>
          <a:prstGeom prst="rect">
            <a:avLst/>
          </a:prstGeom>
          <a:solidFill>
            <a:srgbClr val="F2F2F2"/>
          </a:solidFill>
          <a:ln w="9525">
            <a:solidFill>
              <a:srgbClr val="333333"/>
            </a:solidFill>
          </a:ln>
        </p:spPr>
      </p:sp>
      <p:sp>
        <p:nvSpPr>
          <p:cNvPr id="11" name="Box 1"/>
          <p:cNvSpPr/>
          <p:nvPr/>
        </p:nvSpPr>
        <p:spPr>
          <a:xfrm>
            <a:off x="3409950" y="1069142"/>
            <a:ext cx="4650877" cy="1213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850" dirty="0">
                <a:solidFill>
                  <a:srgbClr val="333333"/>
                </a:solidFill>
              </a:rPr>
              <a:t>Booking</a:t>
            </a:r>
          </a:p>
        </p:txBody>
      </p:sp>
      <p:cxnSp>
        <p:nvCxnSpPr>
          <p:cNvPr id="12" name="Connector 2"/>
          <p:cNvCxnSpPr/>
          <p:nvPr/>
        </p:nvCxnSpPr>
        <p:spPr>
          <a:xfrm>
            <a:off x="4791732" y="1830808"/>
            <a:ext cx="1853611" cy="1"/>
          </a:xfrm>
          <a:prstGeom prst="line">
            <a:avLst/>
          </a:prstGeom>
          <a:ln w="674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13" name="Box 3"/>
          <p:cNvSpPr/>
          <p:nvPr/>
        </p:nvSpPr>
        <p:spPr>
          <a:xfrm>
            <a:off x="4818694" y="1689259"/>
            <a:ext cx="1799687" cy="876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book(id)</a:t>
            </a:r>
          </a:p>
        </p:txBody>
      </p:sp>
      <p:cxnSp>
        <p:nvCxnSpPr>
          <p:cNvPr id="14" name="Connector 4"/>
          <p:cNvCxnSpPr/>
          <p:nvPr/>
        </p:nvCxnSpPr>
        <p:spPr>
          <a:xfrm flipH="1">
            <a:off x="5769091" y="2066722"/>
            <a:ext cx="876252" cy="1"/>
          </a:xfrm>
          <a:prstGeom prst="line">
            <a:avLst/>
          </a:prstGeom>
          <a:ln w="674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15" name="Box 5"/>
          <p:cNvSpPr/>
          <p:nvPr/>
        </p:nvSpPr>
        <p:spPr>
          <a:xfrm>
            <a:off x="5796052" y="1925173"/>
            <a:ext cx="822329" cy="876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find(id)</a:t>
            </a:r>
          </a:p>
        </p:txBody>
      </p:sp>
      <p:cxnSp>
        <p:nvCxnSpPr>
          <p:cNvPr id="16" name="Connector 6"/>
          <p:cNvCxnSpPr/>
          <p:nvPr/>
        </p:nvCxnSpPr>
        <p:spPr>
          <a:xfrm>
            <a:off x="5769091" y="2302636"/>
            <a:ext cx="876252" cy="1"/>
          </a:xfrm>
          <a:prstGeom prst="line">
            <a:avLst/>
          </a:prstGeom>
          <a:ln w="6740">
            <a:solidFill>
              <a:srgbClr val="595959"/>
            </a:solidFill>
            <a:prstDash val="dash"/>
            <a:tailEnd type="triangle" w="lg" len="lg"/>
          </a:ln>
        </p:spPr>
      </p:cxnSp>
      <p:sp>
        <p:nvSpPr>
          <p:cNvPr id="17" name="Box 7"/>
          <p:cNvSpPr/>
          <p:nvPr/>
        </p:nvSpPr>
        <p:spPr>
          <a:xfrm>
            <a:off x="5796052" y="2161087"/>
            <a:ext cx="822329" cy="876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row</a:t>
            </a:r>
          </a:p>
        </p:txBody>
      </p:sp>
      <p:cxnSp>
        <p:nvCxnSpPr>
          <p:cNvPr id="19" name="Connector 9"/>
          <p:cNvCxnSpPr/>
          <p:nvPr/>
        </p:nvCxnSpPr>
        <p:spPr>
          <a:xfrm flipH="1">
            <a:off x="5735389" y="2713800"/>
            <a:ext cx="909954" cy="1"/>
          </a:xfrm>
          <a:prstGeom prst="line">
            <a:avLst/>
          </a:prstGeom>
          <a:ln w="674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20" name="Box 10"/>
          <p:cNvSpPr/>
          <p:nvPr/>
        </p:nvSpPr>
        <p:spPr>
          <a:xfrm>
            <a:off x="5762350" y="2572252"/>
            <a:ext cx="856031" cy="876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save(id)</a:t>
            </a:r>
          </a:p>
        </p:txBody>
      </p:sp>
      <p:cxnSp>
        <p:nvCxnSpPr>
          <p:cNvPr id="21" name="Connector 11"/>
          <p:cNvCxnSpPr/>
          <p:nvPr/>
        </p:nvCxnSpPr>
        <p:spPr>
          <a:xfrm>
            <a:off x="5735389" y="2949714"/>
            <a:ext cx="909954" cy="1"/>
          </a:xfrm>
          <a:prstGeom prst="line">
            <a:avLst/>
          </a:prstGeom>
          <a:ln w="6740">
            <a:solidFill>
              <a:srgbClr val="595959"/>
            </a:solidFill>
            <a:prstDash val="dash"/>
            <a:tailEnd type="triangle" w="lg" len="lg"/>
          </a:ln>
        </p:spPr>
      </p:cxnSp>
      <p:sp>
        <p:nvSpPr>
          <p:cNvPr id="22" name="Box 12"/>
          <p:cNvSpPr/>
          <p:nvPr/>
        </p:nvSpPr>
        <p:spPr>
          <a:xfrm>
            <a:off x="5762350" y="2808166"/>
            <a:ext cx="856031" cy="876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order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6712747" y="3185628"/>
            <a:ext cx="606636" cy="1"/>
          </a:xfrm>
          <a:prstGeom prst="line">
            <a:avLst/>
          </a:prstGeom>
          <a:ln w="674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24" name="Box 14"/>
          <p:cNvSpPr/>
          <p:nvPr/>
        </p:nvSpPr>
        <p:spPr>
          <a:xfrm>
            <a:off x="6685111" y="3044080"/>
            <a:ext cx="661907" cy="876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new Mailer(id)</a:t>
            </a:r>
          </a:p>
        </p:txBody>
      </p:sp>
      <p:cxnSp>
        <p:nvCxnSpPr>
          <p:cNvPr id="25" name="Connector 15"/>
          <p:cNvCxnSpPr/>
          <p:nvPr/>
        </p:nvCxnSpPr>
        <p:spPr>
          <a:xfrm flipH="1">
            <a:off x="4791732" y="3657457"/>
            <a:ext cx="1853611" cy="1"/>
          </a:xfrm>
          <a:prstGeom prst="line">
            <a:avLst/>
          </a:prstGeom>
          <a:ln w="6740">
            <a:solidFill>
              <a:srgbClr val="595959"/>
            </a:solidFill>
            <a:prstDash val="dash"/>
            <a:tailEnd type="triangle" w="lg" len="lg"/>
          </a:ln>
        </p:spPr>
      </p:cxnSp>
      <p:sp>
        <p:nvSpPr>
          <p:cNvPr id="26" name="Box 16"/>
          <p:cNvSpPr/>
          <p:nvPr/>
        </p:nvSpPr>
        <p:spPr>
          <a:xfrm>
            <a:off x="4818694" y="3515908"/>
            <a:ext cx="1799687" cy="876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sold_out</a:t>
            </a:r>
          </a:p>
        </p:txBody>
      </p:sp>
      <p:cxnSp>
        <p:nvCxnSpPr>
          <p:cNvPr id="32" name="Connector 22"/>
          <p:cNvCxnSpPr/>
          <p:nvPr/>
        </p:nvCxnSpPr>
        <p:spPr>
          <a:xfrm flipH="1">
            <a:off x="5735389" y="4162987"/>
            <a:ext cx="909954" cy="1"/>
          </a:xfrm>
          <a:prstGeom prst="line">
            <a:avLst/>
          </a:prstGeom>
          <a:ln w="674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33" name="Box 23"/>
          <p:cNvSpPr/>
          <p:nvPr/>
        </p:nvSpPr>
        <p:spPr>
          <a:xfrm>
            <a:off x="5762350" y="4021438"/>
            <a:ext cx="856031" cy="876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poll</a:t>
            </a:r>
          </a:p>
        </p:txBody>
      </p:sp>
      <p:cxnSp>
        <p:nvCxnSpPr>
          <p:cNvPr id="37" name="Connector 27"/>
          <p:cNvCxnSpPr/>
          <p:nvPr/>
        </p:nvCxnSpPr>
        <p:spPr>
          <a:xfrm flipH="1">
            <a:off x="4791732" y="4493266"/>
            <a:ext cx="1853611" cy="1"/>
          </a:xfrm>
          <a:prstGeom prst="line">
            <a:avLst/>
          </a:prstGeom>
          <a:ln w="6740">
            <a:solidFill>
              <a:srgbClr val="595959"/>
            </a:solidFill>
            <a:prstDash val="dash"/>
            <a:tailEnd type="triangle" w="lg" len="lg"/>
          </a:ln>
        </p:spPr>
      </p:cxnSp>
      <p:sp>
        <p:nvSpPr>
          <p:cNvPr id="38" name="Box 28"/>
          <p:cNvSpPr/>
          <p:nvPr/>
        </p:nvSpPr>
        <p:spPr>
          <a:xfrm>
            <a:off x="4818694" y="4351718"/>
            <a:ext cx="1799687" cy="876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ok</a:t>
            </a:r>
          </a:p>
        </p:txBody>
      </p:sp>
      <p:cxnSp>
        <p:nvCxnSpPr>
          <p:cNvPr id="40" name="Connector 30"/>
          <p:cNvCxnSpPr/>
          <p:nvPr/>
        </p:nvCxnSpPr>
        <p:spPr>
          <a:xfrm>
            <a:off x="4791732" y="4904431"/>
            <a:ext cx="1887313" cy="1"/>
          </a:xfrm>
          <a:prstGeom prst="line">
            <a:avLst/>
          </a:prstGeom>
          <a:ln w="674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41" name="Box 31"/>
          <p:cNvSpPr/>
          <p:nvPr/>
        </p:nvSpPr>
        <p:spPr>
          <a:xfrm>
            <a:off x="4818694" y="4762882"/>
            <a:ext cx="1833389" cy="876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confirm</a:t>
            </a:r>
          </a:p>
        </p:txBody>
      </p:sp>
      <p:cxnSp>
        <p:nvCxnSpPr>
          <p:cNvPr id="42" name="Connector 32"/>
          <p:cNvCxnSpPr/>
          <p:nvPr/>
        </p:nvCxnSpPr>
        <p:spPr>
          <a:xfrm>
            <a:off x="4791732" y="5302115"/>
            <a:ext cx="1887313" cy="1"/>
          </a:xfrm>
          <a:prstGeom prst="line">
            <a:avLst/>
          </a:prstGeom>
          <a:ln w="674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43" name="Box 33"/>
          <p:cNvSpPr/>
          <p:nvPr/>
        </p:nvSpPr>
        <p:spPr>
          <a:xfrm>
            <a:off x="4818694" y="5160566"/>
            <a:ext cx="1833389" cy="876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cancel</a:t>
            </a:r>
          </a:p>
        </p:txBody>
      </p:sp>
      <p:cxnSp>
        <p:nvCxnSpPr>
          <p:cNvPr id="49" name="Connector 39"/>
          <p:cNvCxnSpPr/>
          <p:nvPr/>
        </p:nvCxnSpPr>
        <p:spPr>
          <a:xfrm>
            <a:off x="3848076" y="5807645"/>
            <a:ext cx="2830969" cy="1"/>
          </a:xfrm>
          <a:prstGeom prst="line">
            <a:avLst/>
          </a:prstGeom>
          <a:ln w="674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50" name="Box 40"/>
          <p:cNvSpPr/>
          <p:nvPr/>
        </p:nvSpPr>
        <p:spPr>
          <a:xfrm>
            <a:off x="3875038" y="5666096"/>
            <a:ext cx="2777045" cy="876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audit()</a:t>
            </a:r>
          </a:p>
        </p:txBody>
      </p:sp>
      <p:sp>
        <p:nvSpPr>
          <p:cNvPr id="54" name="Box 44"/>
          <p:cNvSpPr/>
          <p:nvPr/>
        </p:nvSpPr>
        <p:spPr>
          <a:xfrm>
            <a:off x="3544758" y="1365720"/>
            <a:ext cx="606636" cy="943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Starter</a:t>
            </a:r>
          </a:p>
        </p:txBody>
      </p:sp>
      <p:sp>
        <p:nvSpPr>
          <p:cNvPr id="56" name="Box 46"/>
          <p:cNvSpPr/>
          <p:nvPr/>
        </p:nvSpPr>
        <p:spPr>
          <a:xfrm>
            <a:off x="3544758" y="6104222"/>
            <a:ext cx="606636" cy="943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Starter</a:t>
            </a:r>
          </a:p>
        </p:txBody>
      </p:sp>
      <p:sp>
        <p:nvSpPr>
          <p:cNvPr id="59" name="Box 49"/>
          <p:cNvSpPr/>
          <p:nvPr/>
        </p:nvSpPr>
        <p:spPr>
          <a:xfrm>
            <a:off x="4488414" y="1365720"/>
            <a:ext cx="606636" cy="943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Client</a:t>
            </a:r>
          </a:p>
        </p:txBody>
      </p:sp>
      <p:sp>
        <p:nvSpPr>
          <p:cNvPr id="61" name="Box 51"/>
          <p:cNvSpPr/>
          <p:nvPr/>
        </p:nvSpPr>
        <p:spPr>
          <a:xfrm>
            <a:off x="4488414" y="6104222"/>
            <a:ext cx="606636" cy="943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Client</a:t>
            </a:r>
          </a:p>
        </p:txBody>
      </p:sp>
      <p:sp>
        <p:nvSpPr>
          <p:cNvPr id="64" name="Box 54"/>
          <p:cNvSpPr/>
          <p:nvPr/>
        </p:nvSpPr>
        <p:spPr>
          <a:xfrm>
            <a:off x="5432070" y="1365720"/>
            <a:ext cx="606636" cy="943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DB</a:t>
            </a:r>
          </a:p>
        </p:txBody>
      </p:sp>
      <p:sp>
        <p:nvSpPr>
          <p:cNvPr id="66" name="Box 56"/>
          <p:cNvSpPr/>
          <p:nvPr/>
        </p:nvSpPr>
        <p:spPr>
          <a:xfrm>
            <a:off x="5432070" y="6104222"/>
            <a:ext cx="606636" cy="943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DB</a:t>
            </a:r>
          </a:p>
        </p:txBody>
      </p:sp>
      <p:sp>
        <p:nvSpPr>
          <p:cNvPr id="69" name="Box 59"/>
          <p:cNvSpPr/>
          <p:nvPr/>
        </p:nvSpPr>
        <p:spPr>
          <a:xfrm>
            <a:off x="6268217" y="1365720"/>
            <a:ext cx="821655" cy="943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Booking Service</a:t>
            </a:r>
          </a:p>
        </p:txBody>
      </p:sp>
      <p:sp>
        <p:nvSpPr>
          <p:cNvPr id="71" name="Box 61"/>
          <p:cNvSpPr/>
          <p:nvPr/>
        </p:nvSpPr>
        <p:spPr>
          <a:xfrm>
            <a:off x="6268217" y="6104222"/>
            <a:ext cx="821655" cy="943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Booking Service</a:t>
            </a:r>
          </a:p>
        </p:txBody>
      </p:sp>
      <p:sp>
        <p:nvSpPr>
          <p:cNvPr id="74" name="Box 64"/>
          <p:cNvSpPr/>
          <p:nvPr/>
        </p:nvSpPr>
        <p:spPr>
          <a:xfrm>
            <a:off x="7319383" y="3138446"/>
            <a:ext cx="606636" cy="943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Mailer</a:t>
            </a:r>
          </a:p>
        </p:txBody>
      </p:sp>
      <p:sp>
        <p:nvSpPr>
          <p:cNvPr id="76" name="Box 66"/>
          <p:cNvSpPr/>
          <p:nvPr/>
        </p:nvSpPr>
        <p:spPr>
          <a:xfrm>
            <a:off x="7319383" y="6104222"/>
            <a:ext cx="606636" cy="943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Mailer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62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all-types-mega-color.md</dc:title>
  <dc:creator>md2nativedocx</dc:creator>
  <cp:lastModifiedBy>md2nativedocx</cp:lastModifiedBy>
  <dcterms:created xsi:type="dcterms:W3CDTF">2026-10-05T11:54:45Z</dcterms:created>
  <dcterms:modified xsi:type="dcterms:W3CDTF">2026-10-05T11:54:45Z</dcterms:modified>
</cp:coreProperties>
</file>