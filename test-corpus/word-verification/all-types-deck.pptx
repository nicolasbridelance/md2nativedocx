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architecture-diagram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4542283" y="1870412"/>
            <a:ext cx="1" cy="866468"/>
          </a:xfrm>
          <a:prstGeom prst="line">
            <a:avLst/>
          </a:prstGeom>
          <a:ln w="12378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2" name="Connector 2"/>
          <p:cNvCxnSpPr/>
          <p:nvPr/>
        </p:nvCxnSpPr>
        <p:spPr>
          <a:xfrm flipH="1">
            <a:off x="4009102" y="3281516"/>
            <a:ext cx="405681" cy="866468"/>
          </a:xfrm>
          <a:prstGeom prst="line">
            <a:avLst/>
          </a:prstGeom>
          <a:ln w="12378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3" name="Connector 3"/>
          <p:cNvCxnSpPr/>
          <p:nvPr/>
        </p:nvCxnSpPr>
        <p:spPr>
          <a:xfrm>
            <a:off x="4669782" y="3281516"/>
            <a:ext cx="492614" cy="1052139"/>
          </a:xfrm>
          <a:prstGeom prst="line">
            <a:avLst/>
          </a:prstGeom>
          <a:ln w="12378">
            <a:solidFill>
              <a:srgbClr val="2F5496"/>
            </a:solidFill>
            <a:prstDash val="solid"/>
          </a:ln>
        </p:spPr>
      </p:cxnSp>
      <p:cxnSp>
        <p:nvCxnSpPr>
          <p:cNvPr id="14" name="Connector 4"/>
          <p:cNvCxnSpPr/>
          <p:nvPr/>
        </p:nvCxnSpPr>
        <p:spPr>
          <a:xfrm>
            <a:off x="5202965" y="4506949"/>
            <a:ext cx="1" cy="1052139"/>
          </a:xfrm>
          <a:prstGeom prst="line">
            <a:avLst/>
          </a:prstGeom>
          <a:ln w="12378">
            <a:solidFill>
              <a:srgbClr val="2F5496"/>
            </a:solidFill>
            <a:prstDash val="solid"/>
          </a:ln>
        </p:spPr>
      </p:cxnSp>
      <p:sp>
        <p:nvSpPr>
          <p:cNvPr id="15" name="Public API"/>
          <p:cNvSpPr/>
          <p:nvPr/>
        </p:nvSpPr>
        <p:spPr>
          <a:xfrm>
            <a:off x="2280183" y="1325775"/>
            <a:ext cx="1177159" cy="544637"/>
          </a:xfrm>
          <a:prstGeom prst="cloud">
            <a:avLst/>
          </a:prstGeom>
          <a:solidFill>
            <a:srgbClr val="FCE4D6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Public API</a:t>
            </a:r>
          </a:p>
        </p:txBody>
      </p:sp>
      <p:sp>
        <p:nvSpPr>
          <p:cNvPr id="16" name="My Database"/>
          <p:cNvSpPr/>
          <p:nvPr/>
        </p:nvSpPr>
        <p:spPr>
          <a:xfrm>
            <a:off x="3265790" y="4147984"/>
            <a:ext cx="1231621" cy="544637"/>
          </a:xfrm>
          <a:prstGeom prst="can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My Database</a:t>
            </a:r>
          </a:p>
        </p:txBody>
      </p:sp>
      <p:sp>
        <p:nvSpPr>
          <p:cNvPr id="17" name="Server"/>
          <p:cNvSpPr/>
          <p:nvPr/>
        </p:nvSpPr>
        <p:spPr>
          <a:xfrm>
            <a:off x="4109049" y="2736879"/>
            <a:ext cx="866468" cy="544637"/>
          </a:xfrm>
          <a:prstGeom prst="roundRect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18" name="Storage"/>
          <p:cNvSpPr/>
          <p:nvPr/>
        </p:nvSpPr>
        <p:spPr>
          <a:xfrm>
            <a:off x="4736928" y="5559088"/>
            <a:ext cx="932072" cy="544637"/>
          </a:xfrm>
          <a:prstGeom prst="can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Storage</a:t>
            </a:r>
          </a:p>
        </p:txBody>
      </p:sp>
      <p:sp>
        <p:nvSpPr>
          <p:cNvPr id="19" name="Gateway"/>
          <p:cNvSpPr/>
          <p:nvPr/>
        </p:nvSpPr>
        <p:spPr>
          <a:xfrm>
            <a:off x="4076248" y="1325775"/>
            <a:ext cx="932072" cy="544637"/>
          </a:xfrm>
          <a:prstGeom prst="roundRect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Gateway</a:t>
            </a:r>
          </a:p>
        </p:txBody>
      </p:sp>
      <p:sp>
        <p:nvSpPr>
          <p:cNvPr id="20" name="j1"/>
          <p:cNvSpPr/>
          <p:nvPr/>
        </p:nvSpPr>
        <p:spPr>
          <a:xfrm>
            <a:off x="5116318" y="4333656"/>
            <a:ext cx="173294" cy="173294"/>
          </a:xfrm>
          <a:prstGeom prst="ellipse">
            <a:avLst/>
          </a:prstGeom>
          <a:solidFill>
            <a:srgbClr val="2F5496"/>
          </a:solidFill>
        </p:spPr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architecture-beta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group public_api(cloud)[Public API]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service database1(database)[My Database] in public_api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service server(server)[Server] in public_api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service disk1(disk)[Storage] in public_api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service gateway(internet)[Gateway]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junction j1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gateway:B --&gt; T:server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server:R --&gt; L:database1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server:B -- T:j1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j1:R -- L:disk1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bidirectional</a:t>
            </a:r>
          </a:p>
        </p:txBody>
      </p:sp>
      <p:sp>
        <p:nvSpPr>
          <p:cNvPr id="12" name="Client" descr="A"/>
          <p:cNvSpPr/>
          <p:nvPr/>
        </p:nvSpPr>
        <p:spPr>
          <a:xfrm>
            <a:off x="457200" y="3309646"/>
            <a:ext cx="1304978" cy="810210"/>
          </a:xfrm>
          <a:prstGeom prst="rect">
            <a:avLst/>
          </a:prstGeom>
          <a:solidFill>
            <a:srgbClr val="BBDEFB"/>
          </a:solidFill>
          <a:ln w="1440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707" tIns="51853" rIns="103707" bIns="518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61" dirty="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13" name="Cache" descr="B"/>
          <p:cNvSpPr/>
          <p:nvPr/>
        </p:nvSpPr>
        <p:spPr>
          <a:xfrm>
            <a:off x="2704183" y="2580456"/>
            <a:ext cx="1149418" cy="810210"/>
          </a:xfrm>
          <a:prstGeom prst="rect">
            <a:avLst/>
          </a:prstGeom>
          <a:solidFill>
            <a:srgbClr val="C8E6C9"/>
          </a:solidFill>
          <a:ln w="1440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707" tIns="51853" rIns="103707" bIns="518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61" dirty="0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14" name="Base" descr="C"/>
          <p:cNvSpPr/>
          <p:nvPr/>
        </p:nvSpPr>
        <p:spPr>
          <a:xfrm>
            <a:off x="4795605" y="2580456"/>
            <a:ext cx="993858" cy="810210"/>
          </a:xfrm>
          <a:prstGeom prst="rect">
            <a:avLst/>
          </a:prstGeom>
          <a:solidFill>
            <a:srgbClr val="FFE0B2"/>
          </a:solidFill>
          <a:ln w="1440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707" tIns="51853" rIns="103707" bIns="518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61" dirty="0">
                <a:solidFill>
                  <a:srgbClr val="000000"/>
                </a:solidFill>
              </a:rPr>
              <a:t>Base</a:t>
            </a:r>
          </a:p>
        </p:txBody>
      </p:sp>
      <p:sp>
        <p:nvSpPr>
          <p:cNvPr id="15" name="Log" descr="D"/>
          <p:cNvSpPr/>
          <p:nvPr/>
        </p:nvSpPr>
        <p:spPr>
          <a:xfrm>
            <a:off x="6653687" y="2580456"/>
            <a:ext cx="838297" cy="810210"/>
          </a:xfrm>
          <a:prstGeom prst="rect">
            <a:avLst/>
          </a:prstGeom>
          <a:solidFill>
            <a:srgbClr val="E1BEE7"/>
          </a:solidFill>
          <a:ln w="1440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707" tIns="51853" rIns="103707" bIns="518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61" dirty="0">
                <a:solidFill>
                  <a:srgbClr val="000000"/>
                </a:solidFill>
              </a:rPr>
              <a:t>Log</a:t>
            </a:r>
          </a:p>
        </p:txBody>
      </p:sp>
      <p:sp>
        <p:nvSpPr>
          <p:cNvPr id="16" name="Direct" descr="E"/>
          <p:cNvSpPr/>
          <p:nvPr/>
        </p:nvSpPr>
        <p:spPr>
          <a:xfrm>
            <a:off x="2626402" y="4038834"/>
            <a:ext cx="1304978" cy="810210"/>
          </a:xfrm>
          <a:prstGeom prst="rect">
            <a:avLst/>
          </a:prstGeom>
          <a:solidFill>
            <a:srgbClr val="FFCDD2"/>
          </a:solidFill>
          <a:ln w="1440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3707" tIns="51853" rIns="103707" bIns="518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61" dirty="0">
                <a:solidFill>
                  <a:srgbClr val="000000"/>
                </a:solidFill>
              </a:rPr>
              <a:t>Direct</a:t>
            </a:r>
          </a:p>
        </p:txBody>
      </p:sp>
      <p:cxnSp>
        <p:nvCxnSpPr>
          <p:cNvPr id="17" name="A--B"/>
          <p:cNvCxnSpPr>
            <a:stCxn id="12" idx="3"/>
            <a:endCxn id="13" idx="1"/>
          </p:cNvCxnSpPr>
          <p:nvPr/>
        </p:nvCxnSpPr>
        <p:spPr>
          <a:xfrm flipV="1">
            <a:off x="1762178" y="2985562"/>
            <a:ext cx="942004" cy="729188"/>
          </a:xfrm>
          <a:prstGeom prst="line">
            <a:avLst/>
          </a:prstGeom>
          <a:ln w="144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A"/>
          <p:cNvCxnSpPr>
            <a:stCxn id="13" idx="1"/>
            <a:endCxn id="12" idx="3"/>
          </p:cNvCxnSpPr>
          <p:nvPr/>
        </p:nvCxnSpPr>
        <p:spPr>
          <a:xfrm flipH="1">
            <a:off x="1762178" y="2985562"/>
            <a:ext cx="942004" cy="729188"/>
          </a:xfrm>
          <a:prstGeom prst="line">
            <a:avLst/>
          </a:prstGeom>
          <a:ln w="144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B--C"/>
          <p:cNvCxnSpPr>
            <a:stCxn id="13" idx="3"/>
            <a:endCxn id="14" idx="1"/>
          </p:cNvCxnSpPr>
          <p:nvPr/>
        </p:nvCxnSpPr>
        <p:spPr>
          <a:xfrm>
            <a:off x="3853601" y="2985562"/>
            <a:ext cx="942004" cy="0"/>
          </a:xfrm>
          <a:prstGeom prst="line">
            <a:avLst/>
          </a:prstGeom>
          <a:ln w="144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--B"/>
          <p:cNvCxnSpPr>
            <a:stCxn id="14" idx="1"/>
            <a:endCxn id="13" idx="3"/>
          </p:cNvCxnSpPr>
          <p:nvPr/>
        </p:nvCxnSpPr>
        <p:spPr>
          <a:xfrm flipH="1">
            <a:off x="3853601" y="2985562"/>
            <a:ext cx="942004" cy="0"/>
          </a:xfrm>
          <a:prstGeom prst="line">
            <a:avLst/>
          </a:prstGeom>
          <a:ln w="144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--D"/>
          <p:cNvCxnSpPr>
            <a:stCxn id="14" idx="3"/>
            <a:endCxn id="15" idx="1"/>
          </p:cNvCxnSpPr>
          <p:nvPr/>
        </p:nvCxnSpPr>
        <p:spPr>
          <a:xfrm>
            <a:off x="5789463" y="2985562"/>
            <a:ext cx="864224" cy="0"/>
          </a:xfrm>
          <a:prstGeom prst="line">
            <a:avLst/>
          </a:prstGeom>
          <a:ln w="144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--B"/>
          <p:cNvSpPr/>
          <p:nvPr/>
        </p:nvSpPr>
        <p:spPr>
          <a:xfrm>
            <a:off x="3853601" y="2985562"/>
            <a:ext cx="2800086" cy="837217"/>
          </a:xfrm>
          <a:custGeom>
            <a:avLst/>
            <a:gdLst/>
            <a:ahLst/>
            <a:cxnLst/>
            <a:rect l="0" t="0" r="0" b="0"/>
            <a:pathLst>
              <a:path w="2468880" h="738187">
                <a:moveTo>
                  <a:pt x="2468880" y="0"/>
                </a:moveTo>
                <a:lnTo>
                  <a:pt x="2087880" y="738187"/>
                </a:lnTo>
                <a:lnTo>
                  <a:pt x="1268730" y="738187"/>
                </a:lnTo>
                <a:lnTo>
                  <a:pt x="449580" y="738187"/>
                </a:lnTo>
                <a:lnTo>
                  <a:pt x="0" y="0"/>
                </a:lnTo>
              </a:path>
            </a:pathLst>
          </a:custGeom>
          <a:ln w="144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23" name="A--E"/>
          <p:cNvCxnSpPr>
            <a:stCxn id="12" idx="3"/>
            <a:endCxn id="16" idx="1"/>
          </p:cNvCxnSpPr>
          <p:nvPr/>
        </p:nvCxnSpPr>
        <p:spPr>
          <a:xfrm>
            <a:off x="1762178" y="3714750"/>
            <a:ext cx="864224" cy="729190"/>
          </a:xfrm>
          <a:prstGeom prst="line">
            <a:avLst/>
          </a:prstGeom>
          <a:ln w="144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LR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A[Client] --&gt; B[Cache]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C[Base]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D[Log]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 --&gt; 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 --&gt; E[Direct]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fill:#C8E6C9,stroke:#2E7D32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fill:#FFE0B2,stroke:#E65100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 fill:#FFCDD2,stroke:#C62828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block</a:t>
            </a:r>
          </a:p>
        </p:txBody>
      </p:sp>
      <p:sp>
        <p:nvSpPr>
          <p:cNvPr id="11" name="Block doc"/>
          <p:cNvSpPr/>
          <p:nvPr/>
        </p:nvSpPr>
        <p:spPr>
          <a:xfrm>
            <a:off x="814296" y="1822143"/>
            <a:ext cx="1964026" cy="999868"/>
          </a:xfrm>
          <a:prstGeom prst="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12" name="Box 2"/>
          <p:cNvSpPr/>
          <p:nvPr/>
        </p:nvSpPr>
        <p:spPr>
          <a:xfrm>
            <a:off x="814296" y="1822143"/>
            <a:ext cx="1964026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Document</a:t>
            </a:r>
          </a:p>
        </p:txBody>
      </p:sp>
      <p:sp>
        <p:nvSpPr>
          <p:cNvPr id="13" name="Block db"/>
          <p:cNvSpPr/>
          <p:nvPr/>
        </p:nvSpPr>
        <p:spPr>
          <a:xfrm>
            <a:off x="5170862" y="1822143"/>
            <a:ext cx="1964026" cy="999868"/>
          </a:xfrm>
          <a:prstGeom prst="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14" name="Box 4"/>
          <p:cNvSpPr/>
          <p:nvPr/>
        </p:nvSpPr>
        <p:spPr>
          <a:xfrm>
            <a:off x="5170862" y="1822143"/>
            <a:ext cx="1964026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15" name="Group pipeline"/>
          <p:cNvSpPr/>
          <p:nvPr/>
        </p:nvSpPr>
        <p:spPr>
          <a:xfrm>
            <a:off x="814296" y="3036268"/>
            <a:ext cx="6320593" cy="1356963"/>
          </a:xfrm>
          <a:prstGeom prst="roundRect">
            <a:avLst/>
          </a:prstGeom>
          <a:solidFill>
            <a:srgbClr val="F5F5F5"/>
          </a:solidFill>
          <a:ln w="17855">
            <a:solidFill>
              <a:srgbClr val="BFBFBF"/>
            </a:solidFill>
          </a:ln>
        </p:spPr>
      </p:sp>
      <p:sp>
        <p:nvSpPr>
          <p:cNvPr id="16" name="Block parse"/>
          <p:cNvSpPr/>
          <p:nvPr/>
        </p:nvSpPr>
        <p:spPr>
          <a:xfrm>
            <a:off x="992843" y="3214816"/>
            <a:ext cx="1844994" cy="999868"/>
          </a:xfrm>
          <a:prstGeom prst="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17" name="Box 7"/>
          <p:cNvSpPr/>
          <p:nvPr/>
        </p:nvSpPr>
        <p:spPr>
          <a:xfrm>
            <a:off x="992843" y="3214816"/>
            <a:ext cx="1844994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Parse</a:t>
            </a:r>
          </a:p>
        </p:txBody>
      </p:sp>
      <p:sp>
        <p:nvSpPr>
          <p:cNvPr id="18" name="Block layout"/>
          <p:cNvSpPr/>
          <p:nvPr/>
        </p:nvSpPr>
        <p:spPr>
          <a:xfrm>
            <a:off x="3052095" y="3214816"/>
            <a:ext cx="1844994" cy="999868"/>
          </a:xfrm>
          <a:prstGeom prst="round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19" name="Box 9"/>
          <p:cNvSpPr/>
          <p:nvPr/>
        </p:nvSpPr>
        <p:spPr>
          <a:xfrm>
            <a:off x="3052095" y="3214816"/>
            <a:ext cx="1844994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Layout</a:t>
            </a:r>
          </a:p>
        </p:txBody>
      </p:sp>
      <p:sp>
        <p:nvSpPr>
          <p:cNvPr id="20" name="Block emit"/>
          <p:cNvSpPr/>
          <p:nvPr/>
        </p:nvSpPr>
        <p:spPr>
          <a:xfrm>
            <a:off x="5111346" y="3214816"/>
            <a:ext cx="1844994" cy="999868"/>
          </a:xfrm>
          <a:prstGeom prst="roundRect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21" name="Box 11"/>
          <p:cNvSpPr/>
          <p:nvPr/>
        </p:nvSpPr>
        <p:spPr>
          <a:xfrm>
            <a:off x="5111346" y="3214816"/>
            <a:ext cx="1844994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Emit</a:t>
            </a:r>
          </a:p>
        </p:txBody>
      </p:sp>
      <p:sp>
        <p:nvSpPr>
          <p:cNvPr id="22" name="Block a"/>
          <p:cNvSpPr/>
          <p:nvPr/>
        </p:nvSpPr>
        <p:spPr>
          <a:xfrm>
            <a:off x="814296" y="4607489"/>
            <a:ext cx="1964026" cy="999868"/>
          </a:xfrm>
          <a:prstGeom prst="rect">
            <a:avLst/>
          </a:prstGeom>
          <a:solidFill>
            <a:srgbClr val="FDE68A"/>
          </a:solidFill>
          <a:ln w="17855">
            <a:solidFill>
              <a:srgbClr val="B45309"/>
            </a:solidFill>
          </a:ln>
        </p:spPr>
      </p:sp>
      <p:sp>
        <p:nvSpPr>
          <p:cNvPr id="23" name="Box 13"/>
          <p:cNvSpPr/>
          <p:nvPr/>
        </p:nvSpPr>
        <p:spPr>
          <a:xfrm>
            <a:off x="814296" y="4607489"/>
            <a:ext cx="1964026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24" name="Shape 14"/>
          <p:cNvSpPr/>
          <p:nvPr/>
        </p:nvSpPr>
        <p:spPr>
          <a:xfrm>
            <a:off x="5170862" y="4607489"/>
            <a:ext cx="1964026" cy="999868"/>
          </a:xfrm>
          <a:prstGeom prst="ellipse">
            <a:avLst/>
          </a:prstGeom>
          <a:solidFill>
            <a:srgbClr val="DAE8FC"/>
          </a:solidFill>
          <a:ln w="17855">
            <a:solidFill>
              <a:srgbClr val="6C8EBF"/>
            </a:solidFill>
          </a:ln>
        </p:spPr>
      </p:sp>
      <p:sp>
        <p:nvSpPr>
          <p:cNvPr id="25" name="Box 15"/>
          <p:cNvSpPr/>
          <p:nvPr/>
        </p:nvSpPr>
        <p:spPr>
          <a:xfrm>
            <a:off x="5170862" y="4607489"/>
            <a:ext cx="1964026" cy="9998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62" dirty="0">
                <a:solidFill>
                  <a:srgbClr val="000000"/>
                </a:solidFill>
              </a:rPr>
              <a:t>Out</a:t>
            </a:r>
          </a:p>
        </p:txBody>
      </p:sp>
      <p:cxnSp>
        <p:nvCxnSpPr>
          <p:cNvPr id="26" name="Connector 16"/>
          <p:cNvCxnSpPr/>
          <p:nvPr/>
        </p:nvCxnSpPr>
        <p:spPr>
          <a:xfrm>
            <a:off x="1839038" y="2822011"/>
            <a:ext cx="33573" cy="392805"/>
          </a:xfrm>
          <a:prstGeom prst="line">
            <a:avLst/>
          </a:prstGeom>
          <a:ln w="23806">
            <a:solidFill>
              <a:srgbClr val="404040"/>
            </a:solidFill>
            <a:prstDash val="solid"/>
            <a:tailEnd type="triangle" w="sm" len="sm"/>
          </a:ln>
        </p:spPr>
      </p:cxnSp>
      <p:cxnSp>
        <p:nvCxnSpPr>
          <p:cNvPr id="27" name="Connector 17"/>
          <p:cNvCxnSpPr/>
          <p:nvPr/>
        </p:nvCxnSpPr>
        <p:spPr>
          <a:xfrm flipV="1">
            <a:off x="6076573" y="2822011"/>
            <a:ext cx="33573" cy="392805"/>
          </a:xfrm>
          <a:prstGeom prst="line">
            <a:avLst/>
          </a:prstGeom>
          <a:ln w="23806">
            <a:solidFill>
              <a:srgbClr val="404040"/>
            </a:solidFill>
            <a:prstDash val="solid"/>
            <a:tailEnd type="triangle" w="sm" len="sm"/>
          </a:ln>
        </p:spPr>
      </p:cxnSp>
      <p:cxnSp>
        <p:nvCxnSpPr>
          <p:cNvPr id="28" name="Connector 18"/>
          <p:cNvCxnSpPr/>
          <p:nvPr/>
        </p:nvCxnSpPr>
        <p:spPr>
          <a:xfrm>
            <a:off x="2778322" y="5107423"/>
            <a:ext cx="2392541" cy="2"/>
          </a:xfrm>
          <a:prstGeom prst="line">
            <a:avLst/>
          </a:prstGeom>
          <a:ln w="23806">
            <a:solidFill>
              <a:srgbClr val="404040"/>
            </a:solidFill>
            <a:prstDash val="solid"/>
            <a:tailEnd type="triangle" w="sm" len="sm"/>
          </a:ln>
        </p:spPr>
      </p:cxnSp>
      <p:sp>
        <p:nvSpPr>
          <p:cNvPr id="29" name="Box 19"/>
          <p:cNvSpPr/>
          <p:nvPr/>
        </p:nvSpPr>
        <p:spPr>
          <a:xfrm>
            <a:off x="3626425" y="4946730"/>
            <a:ext cx="696336" cy="3213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87" dirty="0">
                <a:solidFill>
                  <a:srgbClr val="000000"/>
                </a:solidFill>
              </a:rPr>
              <a:t>text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block-beta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columns 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doc["Document"] space:1 db[("Database")]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block:pipeline:3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columns 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parse["Parse"] layout("Layout") emit(["Emit"])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a["Input"] space b(("Out"))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doc --&gt; parse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emit --&gt; db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 -- "text" --&gt; 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fill:#fde68a,stroke:#b45309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bt-direction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3446991" y="5745666"/>
            <a:ext cx="1055203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Traitement" descr="B"/>
          <p:cNvSpPr/>
          <p:nvPr/>
        </p:nvSpPr>
        <p:spPr>
          <a:xfrm>
            <a:off x="3195420" y="4391722"/>
            <a:ext cx="1558346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14" name="Valide?" descr="C"/>
          <p:cNvSpPr/>
          <p:nvPr/>
        </p:nvSpPr>
        <p:spPr>
          <a:xfrm>
            <a:off x="2793604" y="2382644"/>
            <a:ext cx="2361977" cy="1310268"/>
          </a:xfrm>
          <a:prstGeom prst="diamond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2657336" y="1028700"/>
            <a:ext cx="1055203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Sortie</a:t>
            </a:r>
          </a:p>
        </p:txBody>
      </p:sp>
      <p:sp>
        <p:nvSpPr>
          <p:cNvPr id="16" name="Erreur" descr="E"/>
          <p:cNvSpPr/>
          <p:nvPr/>
        </p:nvSpPr>
        <p:spPr>
          <a:xfrm>
            <a:off x="4236646" y="1028700"/>
            <a:ext cx="1055203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Erreur</a:t>
            </a:r>
          </a:p>
        </p:txBody>
      </p:sp>
      <p:cxnSp>
        <p:nvCxnSpPr>
          <p:cNvPr id="17" name="A--B"/>
          <p:cNvCxnSpPr>
            <a:stCxn id="12" idx="0"/>
            <a:endCxn id="13" idx="2"/>
          </p:cNvCxnSpPr>
          <p:nvPr/>
        </p:nvCxnSpPr>
        <p:spPr>
          <a:xfrm flipV="1">
            <a:off x="3974592" y="5046856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0"/>
            <a:endCxn id="14" idx="2"/>
          </p:cNvCxnSpPr>
          <p:nvPr/>
        </p:nvCxnSpPr>
        <p:spPr>
          <a:xfrm flipV="1">
            <a:off x="3974592" y="3692912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0"/>
            <a:endCxn id="15" idx="2"/>
          </p:cNvCxnSpPr>
          <p:nvPr/>
        </p:nvCxnSpPr>
        <p:spPr>
          <a:xfrm flipH="1" flipV="1">
            <a:off x="3184937" y="1683834"/>
            <a:ext cx="789655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3358941" y="192841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1" name="C--E"/>
          <p:cNvCxnSpPr>
            <a:stCxn id="14" idx="0"/>
            <a:endCxn id="16" idx="2"/>
          </p:cNvCxnSpPr>
          <p:nvPr/>
        </p:nvCxnSpPr>
        <p:spPr>
          <a:xfrm flipV="1">
            <a:off x="3974592" y="1683834"/>
            <a:ext cx="789655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Label"/>
          <p:cNvSpPr txBox="1"/>
          <p:nvPr/>
        </p:nvSpPr>
        <p:spPr>
          <a:xfrm>
            <a:off x="4148596" y="192841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non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BT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A[Entree] --&gt; B[Traitement]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C{Valide?}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--&gt;|oui| D[Sortie]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--&gt;|non| E[Erreur]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fill:#C8E6C9,stroke:#2E7D32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fill:#FFE0B2,stroke:#E65100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fill:#FFCDD2,stroke:#C62828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 fill:#FFF9C4,stroke:#F9A825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c4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457200" y="1194339"/>
            <a:ext cx="7034784" cy="1854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Container diagram for Internet Banking System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2928512" y="2787326"/>
            <a:ext cx="1" cy="381881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2732116" y="2923712"/>
            <a:ext cx="392791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[HTTPS]</a:t>
            </a:r>
          </a:p>
        </p:txBody>
      </p:sp>
      <p:cxnSp>
        <p:nvCxnSpPr>
          <p:cNvPr id="14" name="Connector 4"/>
          <p:cNvCxnSpPr/>
          <p:nvPr/>
        </p:nvCxnSpPr>
        <p:spPr>
          <a:xfrm flipH="1">
            <a:off x="2038854" y="2787326"/>
            <a:ext cx="750966" cy="1211107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5" name="Text 5"/>
          <p:cNvSpPr txBox="1"/>
          <p:nvPr/>
        </p:nvSpPr>
        <p:spPr>
          <a:xfrm>
            <a:off x="2217942" y="3338325"/>
            <a:ext cx="392791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[HTTPS]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3216932" y="2787326"/>
            <a:ext cx="1561691" cy="1211107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7" name="Text 7"/>
          <p:cNvSpPr txBox="1"/>
          <p:nvPr/>
        </p:nvSpPr>
        <p:spPr>
          <a:xfrm>
            <a:off x="3910490" y="3338325"/>
            <a:ext cx="174574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</a:t>
            </a:r>
          </a:p>
        </p:txBody>
      </p:sp>
      <p:cxnSp>
        <p:nvCxnSpPr>
          <p:cNvPr id="18" name="Connector 8"/>
          <p:cNvCxnSpPr/>
          <p:nvPr/>
        </p:nvCxnSpPr>
        <p:spPr>
          <a:xfrm flipH="1">
            <a:off x="2177546" y="3616552"/>
            <a:ext cx="473582" cy="381881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9" name="Text 9"/>
          <p:cNvSpPr txBox="1"/>
          <p:nvPr/>
        </p:nvSpPr>
        <p:spPr>
          <a:xfrm>
            <a:off x="2274678" y="3752938"/>
            <a:ext cx="279318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Delivers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2754387" y="4445778"/>
            <a:ext cx="1458432" cy="381881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1" name="Text 11"/>
          <p:cNvSpPr txBox="1"/>
          <p:nvPr/>
        </p:nvSpPr>
        <p:spPr>
          <a:xfrm>
            <a:off x="3127908" y="4582164"/>
            <a:ext cx="711389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[async, JSON/HTTPS]</a:t>
            </a:r>
          </a:p>
        </p:txBody>
      </p:sp>
      <p:cxnSp>
        <p:nvCxnSpPr>
          <p:cNvPr id="22" name="Connector 12"/>
          <p:cNvCxnSpPr/>
          <p:nvPr/>
        </p:nvCxnSpPr>
        <p:spPr>
          <a:xfrm>
            <a:off x="5067043" y="4445778"/>
            <a:ext cx="1" cy="381881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3" name="Text 13"/>
          <p:cNvSpPr txBox="1"/>
          <p:nvPr/>
        </p:nvSpPr>
        <p:spPr>
          <a:xfrm>
            <a:off x="4711348" y="4582164"/>
            <a:ext cx="711389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[async, JSON/HTTPS]</a:t>
            </a:r>
          </a:p>
        </p:txBody>
      </p:sp>
      <p:cxnSp>
        <p:nvCxnSpPr>
          <p:cNvPr id="24" name="Connector 14"/>
          <p:cNvCxnSpPr/>
          <p:nvPr/>
        </p:nvCxnSpPr>
        <p:spPr>
          <a:xfrm flipH="1">
            <a:off x="3543200" y="5275005"/>
            <a:ext cx="960982" cy="381880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5" name="Text 15"/>
          <p:cNvSpPr txBox="1"/>
          <p:nvPr/>
        </p:nvSpPr>
        <p:spPr>
          <a:xfrm>
            <a:off x="3534884" y="5411390"/>
            <a:ext cx="977614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Reads from and writes to [sync, JDBC]</a:t>
            </a:r>
          </a:p>
        </p:txBody>
      </p:sp>
      <p:cxnSp>
        <p:nvCxnSpPr>
          <p:cNvPr id="26" name="Connector 16"/>
          <p:cNvCxnSpPr/>
          <p:nvPr/>
        </p:nvCxnSpPr>
        <p:spPr>
          <a:xfrm flipH="1">
            <a:off x="3594748" y="1953295"/>
            <a:ext cx="1151788" cy="386685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7" name="Text 17"/>
          <p:cNvSpPr txBox="1"/>
          <p:nvPr/>
        </p:nvSpPr>
        <p:spPr>
          <a:xfrm>
            <a:off x="3939332" y="2092083"/>
            <a:ext cx="462621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Sends e-mails to</a:t>
            </a:r>
          </a:p>
        </p:txBody>
      </p:sp>
      <p:cxnSp>
        <p:nvCxnSpPr>
          <p:cNvPr id="28" name="Connector 18"/>
          <p:cNvCxnSpPr/>
          <p:nvPr/>
        </p:nvCxnSpPr>
        <p:spPr>
          <a:xfrm flipV="1">
            <a:off x="5089392" y="1958100"/>
            <a:ext cx="286720" cy="2869559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9" name="Text 19"/>
          <p:cNvSpPr txBox="1"/>
          <p:nvPr/>
        </p:nvSpPr>
        <p:spPr>
          <a:xfrm>
            <a:off x="4796317" y="3338325"/>
            <a:ext cx="872870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Sends e-mails using [sync, SMTP]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5306167" y="5275005"/>
            <a:ext cx="408260" cy="381880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31" name="Text 21"/>
          <p:cNvSpPr txBox="1"/>
          <p:nvPr/>
        </p:nvSpPr>
        <p:spPr>
          <a:xfrm>
            <a:off x="5104412" y="5411390"/>
            <a:ext cx="811769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[sync/async, XML/HTTPS]</a:t>
            </a:r>
          </a:p>
        </p:txBody>
      </p:sp>
      <p:sp>
        <p:nvSpPr>
          <p:cNvPr id="32" name="E-Mail System"/>
          <p:cNvSpPr/>
          <p:nvPr/>
        </p:nvSpPr>
        <p:spPr>
          <a:xfrm>
            <a:off x="4746536" y="1510754"/>
            <a:ext cx="1303849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33" name="E-Mail System title"/>
          <p:cNvSpPr/>
          <p:nvPr/>
        </p:nvSpPr>
        <p:spPr>
          <a:xfrm>
            <a:off x="4746536" y="1510754"/>
            <a:ext cx="1303849" cy="17457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4" name="Divider"/>
          <p:cNvSpPr/>
          <p:nvPr/>
        </p:nvSpPr>
        <p:spPr>
          <a:xfrm>
            <a:off x="4746536" y="1682600"/>
            <a:ext cx="1303849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5" name="Text 25"/>
          <p:cNvSpPr txBox="1"/>
          <p:nvPr/>
        </p:nvSpPr>
        <p:spPr>
          <a:xfrm>
            <a:off x="4746536" y="1510754"/>
            <a:ext cx="1303849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E-Mail System</a:t>
            </a:r>
          </a:p>
        </p:txBody>
      </p:sp>
      <p:sp>
        <p:nvSpPr>
          <p:cNvPr id="36" name="Text 26"/>
          <p:cNvSpPr txBox="1"/>
          <p:nvPr/>
        </p:nvSpPr>
        <p:spPr>
          <a:xfrm>
            <a:off x="4801090" y="1685328"/>
            <a:ext cx="1194741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[System, External]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The internal Microsoft Exchange system</a:t>
            </a:r>
          </a:p>
        </p:txBody>
      </p:sp>
      <p:sp>
        <p:nvSpPr>
          <p:cNvPr id="37" name="Customer"/>
          <p:cNvSpPr/>
          <p:nvPr/>
        </p:nvSpPr>
        <p:spPr>
          <a:xfrm>
            <a:off x="2102014" y="2339980"/>
            <a:ext cx="1652997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38" name="Customer title"/>
          <p:cNvSpPr/>
          <p:nvPr/>
        </p:nvSpPr>
        <p:spPr>
          <a:xfrm>
            <a:off x="2102014" y="2339980"/>
            <a:ext cx="1652997" cy="174574"/>
          </a:xfrm>
          <a:prstGeom prst="rect">
            <a:avLst/>
          </a:prstGeom>
          <a:solidFill>
            <a:srgbClr val="FFE699"/>
          </a:solidFill>
          <a:ln>
            <a:noFill/>
          </a:ln>
        </p:spPr>
      </p:sp>
      <p:sp>
        <p:nvSpPr>
          <p:cNvPr id="39" name="Divider"/>
          <p:cNvSpPr/>
          <p:nvPr/>
        </p:nvSpPr>
        <p:spPr>
          <a:xfrm>
            <a:off x="2102014" y="2511826"/>
            <a:ext cx="1652997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0" name="Text 30"/>
          <p:cNvSpPr txBox="1"/>
          <p:nvPr/>
        </p:nvSpPr>
        <p:spPr>
          <a:xfrm>
            <a:off x="2102014" y="2339980"/>
            <a:ext cx="1652997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2156568" y="2514554"/>
            <a:ext cx="1543889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[Person]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A customer of the bank, with personal bank accounts</a:t>
            </a:r>
          </a:p>
        </p:txBody>
      </p:sp>
      <p:sp>
        <p:nvSpPr>
          <p:cNvPr id="42" name="Single-Page App"/>
          <p:cNvSpPr/>
          <p:nvPr/>
        </p:nvSpPr>
        <p:spPr>
          <a:xfrm>
            <a:off x="588130" y="3998433"/>
            <a:ext cx="2624064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43" name="Single-Page App title"/>
          <p:cNvSpPr/>
          <p:nvPr/>
        </p:nvSpPr>
        <p:spPr>
          <a:xfrm>
            <a:off x="588130" y="3998433"/>
            <a:ext cx="2624064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44" name="Divider"/>
          <p:cNvSpPr/>
          <p:nvPr/>
        </p:nvSpPr>
        <p:spPr>
          <a:xfrm>
            <a:off x="588130" y="4170279"/>
            <a:ext cx="2624064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5" name="Text 35"/>
          <p:cNvSpPr txBox="1"/>
          <p:nvPr/>
        </p:nvSpPr>
        <p:spPr>
          <a:xfrm>
            <a:off x="588130" y="3998433"/>
            <a:ext cx="2624064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Single-Page App</a:t>
            </a:r>
          </a:p>
        </p:txBody>
      </p:sp>
      <p:sp>
        <p:nvSpPr>
          <p:cNvPr id="46" name="Text 36"/>
          <p:cNvSpPr txBox="1"/>
          <p:nvPr/>
        </p:nvSpPr>
        <p:spPr>
          <a:xfrm>
            <a:off x="642684" y="4173007"/>
            <a:ext cx="2514956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[Container: JavaScript, Angular]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Provides all the Internet banking functionality to customers via their web browser</a:t>
            </a:r>
          </a:p>
        </p:txBody>
      </p:sp>
      <p:sp>
        <p:nvSpPr>
          <p:cNvPr id="47" name="Mobile App"/>
          <p:cNvSpPr/>
          <p:nvPr/>
        </p:nvSpPr>
        <p:spPr>
          <a:xfrm>
            <a:off x="3484967" y="3998433"/>
            <a:ext cx="3164152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48" name="Mobile App title"/>
          <p:cNvSpPr/>
          <p:nvPr/>
        </p:nvSpPr>
        <p:spPr>
          <a:xfrm>
            <a:off x="3484967" y="3998433"/>
            <a:ext cx="3164152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49" name="Divider"/>
          <p:cNvSpPr/>
          <p:nvPr/>
        </p:nvSpPr>
        <p:spPr>
          <a:xfrm>
            <a:off x="3484967" y="4170279"/>
            <a:ext cx="3164152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50" name="Text 40"/>
          <p:cNvSpPr txBox="1"/>
          <p:nvPr/>
        </p:nvSpPr>
        <p:spPr>
          <a:xfrm>
            <a:off x="3484967" y="3998433"/>
            <a:ext cx="3164152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Mobile App</a:t>
            </a:r>
          </a:p>
        </p:txBody>
      </p:sp>
      <p:sp>
        <p:nvSpPr>
          <p:cNvPr id="51" name="Text 41"/>
          <p:cNvSpPr txBox="1"/>
          <p:nvPr/>
        </p:nvSpPr>
        <p:spPr>
          <a:xfrm>
            <a:off x="3539521" y="4173007"/>
            <a:ext cx="3055044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[Container, External: C#, Xamarin]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Provides a limited subset of the Internet banking functionality to customers via their mobile device</a:t>
            </a:r>
          </a:p>
        </p:txBody>
      </p:sp>
      <p:sp>
        <p:nvSpPr>
          <p:cNvPr id="52" name="Web Application"/>
          <p:cNvSpPr/>
          <p:nvPr/>
        </p:nvSpPr>
        <p:spPr>
          <a:xfrm>
            <a:off x="2009271" y="3169207"/>
            <a:ext cx="1838482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53" name="Web Application title"/>
          <p:cNvSpPr/>
          <p:nvPr/>
        </p:nvSpPr>
        <p:spPr>
          <a:xfrm>
            <a:off x="2009271" y="3169207"/>
            <a:ext cx="1838482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54" name="Divider"/>
          <p:cNvSpPr/>
          <p:nvPr/>
        </p:nvSpPr>
        <p:spPr>
          <a:xfrm>
            <a:off x="2009271" y="3341053"/>
            <a:ext cx="1838482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55" name="Text 45"/>
          <p:cNvSpPr txBox="1"/>
          <p:nvPr/>
        </p:nvSpPr>
        <p:spPr>
          <a:xfrm>
            <a:off x="2009271" y="3169207"/>
            <a:ext cx="1838482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Web Application</a:t>
            </a:r>
          </a:p>
        </p:txBody>
      </p:sp>
      <p:sp>
        <p:nvSpPr>
          <p:cNvPr id="56" name="Text 46"/>
          <p:cNvSpPr txBox="1"/>
          <p:nvPr/>
        </p:nvSpPr>
        <p:spPr>
          <a:xfrm>
            <a:off x="2063825" y="3343781"/>
            <a:ext cx="1729374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[Container: Java, Spring MVC]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Delivers the static content and the Internet banking SPA</a:t>
            </a:r>
          </a:p>
        </p:txBody>
      </p:sp>
      <p:sp>
        <p:nvSpPr>
          <p:cNvPr id="57" name="Database"/>
          <p:cNvSpPr/>
          <p:nvPr/>
        </p:nvSpPr>
        <p:spPr>
          <a:xfrm>
            <a:off x="1687401" y="5656885"/>
            <a:ext cx="2585876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58" name="Database title"/>
          <p:cNvSpPr/>
          <p:nvPr/>
        </p:nvSpPr>
        <p:spPr>
          <a:xfrm>
            <a:off x="1687401" y="5656885"/>
            <a:ext cx="2585876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59" name="Divider"/>
          <p:cNvSpPr/>
          <p:nvPr/>
        </p:nvSpPr>
        <p:spPr>
          <a:xfrm>
            <a:off x="1687401" y="5828731"/>
            <a:ext cx="2585876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60" name="Text 50"/>
          <p:cNvSpPr txBox="1"/>
          <p:nvPr/>
        </p:nvSpPr>
        <p:spPr>
          <a:xfrm>
            <a:off x="1687401" y="5656885"/>
            <a:ext cx="2585876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61" name="Text 51"/>
          <p:cNvSpPr txBox="1"/>
          <p:nvPr/>
        </p:nvSpPr>
        <p:spPr>
          <a:xfrm>
            <a:off x="1741955" y="5831459"/>
            <a:ext cx="2476768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[Container, Database: SQL Database]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Stores user registration information, hashed auth credentials, access logs, etc.</a:t>
            </a:r>
          </a:p>
        </p:txBody>
      </p:sp>
      <p:sp>
        <p:nvSpPr>
          <p:cNvPr id="62" name="API Application"/>
          <p:cNvSpPr/>
          <p:nvPr/>
        </p:nvSpPr>
        <p:spPr>
          <a:xfrm>
            <a:off x="4136891" y="4827659"/>
            <a:ext cx="1860303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63" name="API Application title"/>
          <p:cNvSpPr/>
          <p:nvPr/>
        </p:nvSpPr>
        <p:spPr>
          <a:xfrm>
            <a:off x="4136891" y="4827659"/>
            <a:ext cx="1860303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64" name="Divider"/>
          <p:cNvSpPr/>
          <p:nvPr/>
        </p:nvSpPr>
        <p:spPr>
          <a:xfrm>
            <a:off x="4136891" y="4999505"/>
            <a:ext cx="1860303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65" name="Text 55"/>
          <p:cNvSpPr txBox="1"/>
          <p:nvPr/>
        </p:nvSpPr>
        <p:spPr>
          <a:xfrm>
            <a:off x="4136891" y="4827659"/>
            <a:ext cx="1860303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API Application</a:t>
            </a:r>
          </a:p>
        </p:txBody>
      </p:sp>
      <p:sp>
        <p:nvSpPr>
          <p:cNvPr id="66" name="Text 56"/>
          <p:cNvSpPr txBox="1"/>
          <p:nvPr/>
        </p:nvSpPr>
        <p:spPr>
          <a:xfrm>
            <a:off x="4191445" y="5002233"/>
            <a:ext cx="1751195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[Container, External, Database: Java, Docker Container]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Provides Internet banking functionality via API</a:t>
            </a:r>
          </a:p>
        </p:txBody>
      </p:sp>
      <p:sp>
        <p:nvSpPr>
          <p:cNvPr id="67" name="Mainframe Banking System"/>
          <p:cNvSpPr/>
          <p:nvPr/>
        </p:nvSpPr>
        <p:spPr>
          <a:xfrm>
            <a:off x="4546049" y="5656885"/>
            <a:ext cx="2815005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68" name="Mainframe Banking System title"/>
          <p:cNvSpPr/>
          <p:nvPr/>
        </p:nvSpPr>
        <p:spPr>
          <a:xfrm>
            <a:off x="4546049" y="5656885"/>
            <a:ext cx="2815005" cy="17457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69" name="Divider"/>
          <p:cNvSpPr/>
          <p:nvPr/>
        </p:nvSpPr>
        <p:spPr>
          <a:xfrm>
            <a:off x="4546049" y="5828731"/>
            <a:ext cx="2815005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70" name="Text 60"/>
          <p:cNvSpPr txBox="1"/>
          <p:nvPr/>
        </p:nvSpPr>
        <p:spPr>
          <a:xfrm>
            <a:off x="4546049" y="5656885"/>
            <a:ext cx="2815005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Mainframe Banking System</a:t>
            </a:r>
          </a:p>
        </p:txBody>
      </p:sp>
      <p:sp>
        <p:nvSpPr>
          <p:cNvPr id="71" name="Text 61"/>
          <p:cNvSpPr txBox="1"/>
          <p:nvPr/>
        </p:nvSpPr>
        <p:spPr>
          <a:xfrm>
            <a:off x="4600603" y="5831459"/>
            <a:ext cx="2705897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[System, External]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Stores all of the core banking information about customers, accounts, transactions, etc.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C4Container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title Container diagram for Internet Banking System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System_Ext(email_system, "E-Mail System", "The internal Microsoft Exchange system")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Person(customer, "Customer", "A customer of the bank, with personal bank accounts")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Container_Boundary(c1, "Internet Banking") {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Container(spa, "Single-Page App", "JavaScript, Angular", "Provides all the Internet banking functionality to customers via their web browser")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Container_Ext(mobile_app, "Mobile App", "C#, Xamarin", "Provides a limited subset of the Internet banking functionality to customers via their mobile device")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Container(web_app, "Web Application", "Java, Spring MVC", "Delivers the static content and the Internet banking SPA")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ContainerDb(database, "Database", "SQL Database", "Stores user registration information, hashed auth credentials, access logs, etc.")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ContainerDb_Ext(backend_api, "API Application", "Java, Docker Container", "Provides Internet banking functionality via API")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}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System_Ext(banking_system, "Mainframe Banking System", "Stores all of the core banking information about customers, accounts, transactions, etc.")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Rel(customer, web_app, "Uses", "HTTPS")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Rel(customer, spa, "Uses", "HTTPS")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Rel(customer, mobile_app, "Uses")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Rel(web_app, spa, "Delivers")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Rel(spa, backend_api, "Uses", "async, JSON/HTTPS")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Rel(mobile_app, backend_api, "Uses", "async, JSON/HTTPS")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Rel_Back(database, backend_api, "Reads from and writes to", "sync, JDBC")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Rel(email_system, customer, "Sends e-mails to")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Rel(backend_api, email_system, "Sends e-mails using", "sync, SMTP")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Rel(backend_api, banking_system, "Uses", "sync/async, XML/HTTPS")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class-diagram</a:t>
            </a:r>
          </a:p>
        </p:txBody>
      </p:sp>
      <p:cxnSp>
        <p:nvCxnSpPr>
          <p:cNvPr id="11" name="Connector 1"/>
          <p:cNvCxnSpPr/>
          <p:nvPr/>
        </p:nvCxnSpPr>
        <p:spPr>
          <a:xfrm flipV="1">
            <a:off x="5012190" y="2595176"/>
            <a:ext cx="913608" cy="318223"/>
          </a:xfrm>
          <a:prstGeom prst="line">
            <a:avLst/>
          </a:prstGeom>
          <a:ln w="13052">
            <a:solidFill>
              <a:srgbClr val="2F5496"/>
            </a:solidFill>
            <a:prstDash val="solid"/>
            <a:headEnd type="triangle" w="lg" len="lg"/>
          </a:ln>
        </p:spPr>
      </p:cxnSp>
      <p:cxnSp>
        <p:nvCxnSpPr>
          <p:cNvPr id="12" name="Connector 2"/>
          <p:cNvCxnSpPr/>
          <p:nvPr/>
        </p:nvCxnSpPr>
        <p:spPr>
          <a:xfrm>
            <a:off x="5012190" y="3458925"/>
            <a:ext cx="952763" cy="331861"/>
          </a:xfrm>
          <a:prstGeom prst="line">
            <a:avLst/>
          </a:prstGeom>
          <a:ln w="13052">
            <a:solidFill>
              <a:srgbClr val="2F5496"/>
            </a:solidFill>
            <a:prstDash val="solid"/>
            <a:headEnd type="triangle" w="lg" len="lg"/>
          </a:ln>
        </p:spPr>
      </p:cxnSp>
      <p:cxnSp>
        <p:nvCxnSpPr>
          <p:cNvPr id="13" name="Connector 3"/>
          <p:cNvCxnSpPr/>
          <p:nvPr/>
        </p:nvCxnSpPr>
        <p:spPr>
          <a:xfrm flipV="1">
            <a:off x="2532396" y="3475609"/>
            <a:ext cx="913608" cy="337688"/>
          </a:xfrm>
          <a:prstGeom prst="line">
            <a:avLst/>
          </a:prstGeom>
          <a:ln w="13052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4" name="Text 4"/>
          <p:cNvSpPr txBox="1"/>
          <p:nvPr/>
        </p:nvSpPr>
        <p:spPr>
          <a:xfrm>
            <a:off x="2785596" y="3513938"/>
            <a:ext cx="407208" cy="261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96" dirty="0">
                <a:solidFill>
                  <a:srgbClr val="000000"/>
                </a:solidFill>
              </a:rPr>
              <a:t>owns</a:t>
            </a:r>
          </a:p>
        </p:txBody>
      </p:sp>
      <p:cxnSp>
        <p:nvCxnSpPr>
          <p:cNvPr id="15" name="Connector 5"/>
          <p:cNvCxnSpPr/>
          <p:nvPr/>
        </p:nvCxnSpPr>
        <p:spPr>
          <a:xfrm>
            <a:off x="2532396" y="4464554"/>
            <a:ext cx="1031072" cy="381105"/>
          </a:xfrm>
          <a:prstGeom prst="line">
            <a:avLst/>
          </a:prstGeom>
          <a:ln w="13052">
            <a:solidFill>
              <a:srgbClr val="2F5496"/>
            </a:solidFill>
            <a:prstDash val="solid"/>
            <a:headEnd type="diamond" w="lg" len="lg"/>
          </a:ln>
        </p:spPr>
      </p:cxnSp>
      <p:sp>
        <p:nvSpPr>
          <p:cNvPr id="16" name="Text 6"/>
          <p:cNvSpPr txBox="1"/>
          <p:nvPr/>
        </p:nvSpPr>
        <p:spPr>
          <a:xfrm>
            <a:off x="2875651" y="4524591"/>
            <a:ext cx="344561" cy="261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96" dirty="0">
                <a:solidFill>
                  <a:srgbClr val="000000"/>
                </a:solidFill>
              </a:rPr>
              <a:t>has</a:t>
            </a:r>
          </a:p>
        </p:txBody>
      </p:sp>
      <p:sp>
        <p:nvSpPr>
          <p:cNvPr id="17" name="Animal"/>
          <p:cNvSpPr/>
          <p:nvPr/>
        </p:nvSpPr>
        <p:spPr>
          <a:xfrm>
            <a:off x="3446004" y="2468327"/>
            <a:ext cx="1566186" cy="1435670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18" name="Animal title"/>
          <p:cNvSpPr/>
          <p:nvPr/>
        </p:nvSpPr>
        <p:spPr>
          <a:xfrm>
            <a:off x="3446004" y="2468327"/>
            <a:ext cx="1566186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3446004" y="2879450"/>
            <a:ext cx="1566186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Divider"/>
          <p:cNvSpPr/>
          <p:nvPr/>
        </p:nvSpPr>
        <p:spPr>
          <a:xfrm>
            <a:off x="3446004" y="3532028"/>
            <a:ext cx="1566186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3446004" y="2468327"/>
            <a:ext cx="1566186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Animal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3576520" y="2885977"/>
            <a:ext cx="1305155" cy="652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name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+int age</a:t>
            </a:r>
          </a:p>
        </p:txBody>
      </p:sp>
      <p:sp>
        <p:nvSpPr>
          <p:cNvPr id="23" name="Text 13"/>
          <p:cNvSpPr txBox="1"/>
          <p:nvPr/>
        </p:nvSpPr>
        <p:spPr>
          <a:xfrm>
            <a:off x="3576520" y="3538554"/>
            <a:ext cx="1305155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+makeSound() void</a:t>
            </a:r>
          </a:p>
        </p:txBody>
      </p:sp>
      <p:sp>
        <p:nvSpPr>
          <p:cNvPr id="24" name="Dog"/>
          <p:cNvSpPr/>
          <p:nvPr/>
        </p:nvSpPr>
        <p:spPr>
          <a:xfrm>
            <a:off x="5925798" y="1802698"/>
            <a:ext cx="1252949" cy="1148536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25" name="Dog title"/>
          <p:cNvSpPr/>
          <p:nvPr/>
        </p:nvSpPr>
        <p:spPr>
          <a:xfrm>
            <a:off x="5925798" y="1802698"/>
            <a:ext cx="1252949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6" name="Divider"/>
          <p:cNvSpPr/>
          <p:nvPr/>
        </p:nvSpPr>
        <p:spPr>
          <a:xfrm>
            <a:off x="5925798" y="2213821"/>
            <a:ext cx="125294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7" name="Divider"/>
          <p:cNvSpPr/>
          <p:nvPr/>
        </p:nvSpPr>
        <p:spPr>
          <a:xfrm>
            <a:off x="5925798" y="2579265"/>
            <a:ext cx="125294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8" name="Text 18"/>
          <p:cNvSpPr txBox="1"/>
          <p:nvPr/>
        </p:nvSpPr>
        <p:spPr>
          <a:xfrm>
            <a:off x="5925798" y="1802698"/>
            <a:ext cx="1252949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Dog</a:t>
            </a:r>
          </a:p>
        </p:txBody>
      </p:sp>
      <p:sp>
        <p:nvSpPr>
          <p:cNvPr id="29" name="Text 19"/>
          <p:cNvSpPr txBox="1"/>
          <p:nvPr/>
        </p:nvSpPr>
        <p:spPr>
          <a:xfrm>
            <a:off x="6056314" y="2220348"/>
            <a:ext cx="99191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breed</a:t>
            </a:r>
          </a:p>
        </p:txBody>
      </p:sp>
      <p:sp>
        <p:nvSpPr>
          <p:cNvPr id="30" name="Text 20"/>
          <p:cNvSpPr txBox="1"/>
          <p:nvPr/>
        </p:nvSpPr>
        <p:spPr>
          <a:xfrm>
            <a:off x="6056314" y="2585791"/>
            <a:ext cx="99191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+bark() void</a:t>
            </a:r>
          </a:p>
        </p:txBody>
      </p:sp>
      <p:sp>
        <p:nvSpPr>
          <p:cNvPr id="31" name="Cat"/>
          <p:cNvSpPr/>
          <p:nvPr/>
        </p:nvSpPr>
        <p:spPr>
          <a:xfrm>
            <a:off x="5964953" y="3603812"/>
            <a:ext cx="1174639" cy="783093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32" name="Cat title"/>
          <p:cNvSpPr/>
          <p:nvPr/>
        </p:nvSpPr>
        <p:spPr>
          <a:xfrm>
            <a:off x="5964953" y="3603812"/>
            <a:ext cx="1174639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3" name="Divider"/>
          <p:cNvSpPr/>
          <p:nvPr/>
        </p:nvSpPr>
        <p:spPr>
          <a:xfrm>
            <a:off x="5964953" y="4014935"/>
            <a:ext cx="117463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4" name="Text 24"/>
          <p:cNvSpPr txBox="1"/>
          <p:nvPr/>
        </p:nvSpPr>
        <p:spPr>
          <a:xfrm>
            <a:off x="5964953" y="3603812"/>
            <a:ext cx="1174639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Cat</a:t>
            </a:r>
          </a:p>
        </p:txBody>
      </p:sp>
      <p:sp>
        <p:nvSpPr>
          <p:cNvPr id="35" name="Text 25"/>
          <p:cNvSpPr txBox="1"/>
          <p:nvPr/>
        </p:nvSpPr>
        <p:spPr>
          <a:xfrm>
            <a:off x="6095468" y="4021461"/>
            <a:ext cx="91360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+bark() void</a:t>
            </a:r>
          </a:p>
        </p:txBody>
      </p:sp>
      <p:sp>
        <p:nvSpPr>
          <p:cNvPr id="36" name="Owner"/>
          <p:cNvSpPr/>
          <p:nvPr/>
        </p:nvSpPr>
        <p:spPr>
          <a:xfrm>
            <a:off x="770437" y="3564657"/>
            <a:ext cx="1761959" cy="1148536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37" name="Owner title"/>
          <p:cNvSpPr/>
          <p:nvPr/>
        </p:nvSpPr>
        <p:spPr>
          <a:xfrm>
            <a:off x="770437" y="3564657"/>
            <a:ext cx="1761959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8" name="Divider"/>
          <p:cNvSpPr/>
          <p:nvPr/>
        </p:nvSpPr>
        <p:spPr>
          <a:xfrm>
            <a:off x="770437" y="3975780"/>
            <a:ext cx="176195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9" name="Divider"/>
          <p:cNvSpPr/>
          <p:nvPr/>
        </p:nvSpPr>
        <p:spPr>
          <a:xfrm>
            <a:off x="770437" y="4341224"/>
            <a:ext cx="1761959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0" name="Text 30"/>
          <p:cNvSpPr txBox="1"/>
          <p:nvPr/>
        </p:nvSpPr>
        <p:spPr>
          <a:xfrm>
            <a:off x="770437" y="3564657"/>
            <a:ext cx="1761959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Owner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900953" y="3982307"/>
            <a:ext cx="150092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name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900953" y="4347750"/>
            <a:ext cx="1500928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+feed(Animal a) void</a:t>
            </a:r>
          </a:p>
        </p:txBody>
      </p:sp>
      <p:sp>
        <p:nvSpPr>
          <p:cNvPr id="43" name="Address"/>
          <p:cNvSpPr/>
          <p:nvPr/>
        </p:nvSpPr>
        <p:spPr>
          <a:xfrm>
            <a:off x="3563468" y="4556575"/>
            <a:ext cx="1331258" cy="1070227"/>
          </a:xfrm>
          <a:prstGeom prst="rect">
            <a:avLst/>
          </a:prstGeom>
          <a:solidFill>
            <a:srgbClr val="FFFFFF"/>
          </a:solidFill>
          <a:ln w="13052">
            <a:solidFill>
              <a:srgbClr val="2F5496"/>
            </a:solidFill>
          </a:ln>
        </p:spPr>
      </p:sp>
      <p:sp>
        <p:nvSpPr>
          <p:cNvPr id="44" name="Address title"/>
          <p:cNvSpPr/>
          <p:nvPr/>
        </p:nvSpPr>
        <p:spPr>
          <a:xfrm>
            <a:off x="3563468" y="4556575"/>
            <a:ext cx="1331258" cy="417650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45" name="Divider"/>
          <p:cNvSpPr/>
          <p:nvPr/>
        </p:nvSpPr>
        <p:spPr>
          <a:xfrm>
            <a:off x="3563468" y="4967698"/>
            <a:ext cx="1331258" cy="13052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6" name="Text 36"/>
          <p:cNvSpPr txBox="1"/>
          <p:nvPr/>
        </p:nvSpPr>
        <p:spPr>
          <a:xfrm>
            <a:off x="3563468" y="4556575"/>
            <a:ext cx="1331258" cy="41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7" dirty="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47" name="Text 37"/>
          <p:cNvSpPr txBox="1"/>
          <p:nvPr/>
        </p:nvSpPr>
        <p:spPr>
          <a:xfrm>
            <a:off x="3693984" y="4974224"/>
            <a:ext cx="1070227" cy="6525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street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33" dirty="0">
                <a:solidFill>
                  <a:srgbClr val="000000"/>
                </a:solidFill>
              </a:rPr>
              <a:t>+String city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classDiagram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direction LR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Animal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name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+int age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+makeSound() void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Dog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breed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+bark() void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Cat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+bark() void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Owner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name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+feed(Animal a) void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Animal &lt;|-- Dog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Animal &lt;|-- Cat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Owner "1" --&gt; "many" Animal : owns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Owner *-- Address : has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class Address {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street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+String city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colors</a:t>
            </a:r>
          </a:p>
        </p:txBody>
      </p:sp>
      <p:sp>
        <p:nvSpPr>
          <p:cNvPr id="12" name="Fond clair" descr="A"/>
          <p:cNvSpPr/>
          <p:nvPr/>
        </p:nvSpPr>
        <p:spPr>
          <a:xfrm>
            <a:off x="1361179" y="1028700"/>
            <a:ext cx="863571" cy="378317"/>
          </a:xfrm>
          <a:prstGeom prst="rect">
            <a:avLst/>
          </a:prstGeom>
          <a:solidFill>
            <a:srgbClr val="D9E2F3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Fond clair</a:t>
            </a:r>
          </a:p>
        </p:txBody>
      </p:sp>
      <p:sp>
        <p:nvSpPr>
          <p:cNvPr id="13" name="Fond sombre" descr="B"/>
          <p:cNvSpPr/>
          <p:nvPr/>
        </p:nvSpPr>
        <p:spPr>
          <a:xfrm>
            <a:off x="1324860" y="1810555"/>
            <a:ext cx="936208" cy="378317"/>
          </a:xfrm>
          <a:prstGeom prst="rect">
            <a:avLst/>
          </a:prstGeom>
          <a:solidFill>
            <a:srgbClr val="1F3864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FFFFFF"/>
                </a:solidFill>
              </a:rPr>
              <a:t>Fond sombre</a:t>
            </a:r>
          </a:p>
        </p:txBody>
      </p:sp>
      <p:sp>
        <p:nvSpPr>
          <p:cNvPr id="14" name="Alerte" descr="C"/>
          <p:cNvSpPr/>
          <p:nvPr/>
        </p:nvSpPr>
        <p:spPr>
          <a:xfrm>
            <a:off x="1488293" y="2592410"/>
            <a:ext cx="609342" cy="378317"/>
          </a:xfrm>
          <a:prstGeom prst="rect">
            <a:avLst/>
          </a:prstGeom>
          <a:solidFill>
            <a:srgbClr val="FFD9D9"/>
          </a:solidFill>
          <a:ln w="6726" cap="flat" cmpd="sng" algn="ctr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Alerte</a:t>
            </a:r>
          </a:p>
        </p:txBody>
      </p:sp>
      <p:sp>
        <p:nvSpPr>
          <p:cNvPr id="15" name="Style direct" descr="D"/>
          <p:cNvSpPr/>
          <p:nvPr/>
        </p:nvSpPr>
        <p:spPr>
          <a:xfrm>
            <a:off x="1288542" y="3374265"/>
            <a:ext cx="1008845" cy="378317"/>
          </a:xfrm>
          <a:prstGeom prst="rect">
            <a:avLst/>
          </a:prstGeom>
          <a:solidFill>
            <a:srgbClr val="FFDD00"/>
          </a:solidFill>
          <a:ln w="6726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Style direct</a:t>
            </a:r>
          </a:p>
        </p:txBody>
      </p:sp>
      <p:sp>
        <p:nvSpPr>
          <p:cNvPr id="16" name="Lien vert" descr="E"/>
          <p:cNvSpPr/>
          <p:nvPr/>
        </p:nvSpPr>
        <p:spPr>
          <a:xfrm>
            <a:off x="1397497" y="4156120"/>
            <a:ext cx="790935" cy="378317"/>
          </a:xfrm>
          <a:prstGeom prst="rect">
            <a:avLst/>
          </a:prstGeom>
          <a:solidFill>
            <a:srgbClr val="D9E2F3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Lien vert</a:t>
            </a:r>
          </a:p>
        </p:txBody>
      </p:sp>
      <p:sp>
        <p:nvSpPr>
          <p:cNvPr id="17" name="Classe partagee" descr="F"/>
          <p:cNvSpPr/>
          <p:nvPr/>
        </p:nvSpPr>
        <p:spPr>
          <a:xfrm>
            <a:off x="1421710" y="4937975"/>
            <a:ext cx="742510" cy="529644"/>
          </a:xfrm>
          <a:prstGeom prst="rect">
            <a:avLst/>
          </a:prstGeom>
          <a:solidFill>
            <a:srgbClr val="CCE5FF"/>
          </a:solidFill>
          <a:ln w="6726" cap="flat" cmpd="sng" algn="ctr">
            <a:solidFill>
              <a:srgbClr val="0000C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Classe partagee</a:t>
            </a:r>
          </a:p>
        </p:txBody>
      </p:sp>
      <p:sp>
        <p:nvSpPr>
          <p:cNvPr id="18" name="Autre classe partagee" descr="G"/>
          <p:cNvSpPr/>
          <p:nvPr/>
        </p:nvSpPr>
        <p:spPr>
          <a:xfrm>
            <a:off x="1288542" y="5871156"/>
            <a:ext cx="1008845" cy="529644"/>
          </a:xfrm>
          <a:prstGeom prst="rect">
            <a:avLst/>
          </a:prstGeom>
          <a:solidFill>
            <a:srgbClr val="CCE5FF"/>
          </a:solidFill>
          <a:ln w="6726" cap="flat" cmpd="sng" algn="ctr">
            <a:solidFill>
              <a:srgbClr val="0000C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Autre classe partagee</a:t>
            </a:r>
          </a:p>
        </p:txBody>
      </p:sp>
      <p:cxnSp>
        <p:nvCxnSpPr>
          <p:cNvPr id="19" name="A--B"/>
          <p:cNvCxnSpPr>
            <a:stCxn id="12" idx="2"/>
            <a:endCxn id="13" idx="0"/>
          </p:cNvCxnSpPr>
          <p:nvPr/>
        </p:nvCxnSpPr>
        <p:spPr>
          <a:xfrm>
            <a:off x="1792965" y="140701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--C"/>
          <p:cNvCxnSpPr>
            <a:stCxn id="13" idx="2"/>
            <a:endCxn id="14" idx="0"/>
          </p:cNvCxnSpPr>
          <p:nvPr/>
        </p:nvCxnSpPr>
        <p:spPr>
          <a:xfrm>
            <a:off x="1792965" y="2188872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--D"/>
          <p:cNvCxnSpPr>
            <a:stCxn id="14" idx="2"/>
            <a:endCxn id="15" idx="0"/>
          </p:cNvCxnSpPr>
          <p:nvPr/>
        </p:nvCxnSpPr>
        <p:spPr>
          <a:xfrm>
            <a:off x="1792965" y="297072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--E"/>
          <p:cNvCxnSpPr>
            <a:stCxn id="15" idx="2"/>
            <a:endCxn id="16" idx="0"/>
          </p:cNvCxnSpPr>
          <p:nvPr/>
        </p:nvCxnSpPr>
        <p:spPr>
          <a:xfrm>
            <a:off x="1792965" y="3752582"/>
            <a:ext cx="0" cy="403538"/>
          </a:xfrm>
          <a:prstGeom prst="line">
            <a:avLst/>
          </a:prstGeom>
          <a:ln w="15133" cap="flat" cmpd="sng" algn="ctr">
            <a:solidFill>
              <a:srgbClr val="00AA00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--F"/>
          <p:cNvCxnSpPr>
            <a:stCxn id="16" idx="2"/>
            <a:endCxn id="17" idx="0"/>
          </p:cNvCxnSpPr>
          <p:nvPr/>
        </p:nvCxnSpPr>
        <p:spPr>
          <a:xfrm>
            <a:off x="1792965" y="453443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--G"/>
          <p:cNvCxnSpPr>
            <a:stCxn id="17" idx="2"/>
            <a:endCxn id="18" idx="0"/>
          </p:cNvCxnSpPr>
          <p:nvPr/>
        </p:nvCxnSpPr>
        <p:spPr>
          <a:xfrm>
            <a:off x="1792965" y="5467618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classDef clair fill:#D9E2F3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classDef sombre fill:#1F3864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A[Fond clair]:::clair --&gt; B[Fond sombre]:::sombre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classDef alerte stroke:#CC0000,fill:#FFD9D9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C[Alerte]:::alerte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D[Style direct]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fill:#FFDD00,stroke:#333333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 --&gt; E[Lien vert]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classDef partagee1,partagee2 stroke:#0000CC,fill:#CCE5FF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 --&gt; F[Classe partagee]:::partagee1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F --&gt; G[Autre classe partagee]:::partagee2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linkStyle 3 stroke:#00AA00,stroke-width:3px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crossing-stress-15node</a:t>
            </a:r>
          </a:p>
        </p:txBody>
      </p:sp>
      <p:sp>
        <p:nvSpPr>
          <p:cNvPr id="12" name="Start" descr="Start"/>
          <p:cNvSpPr/>
          <p:nvPr/>
        </p:nvSpPr>
        <p:spPr>
          <a:xfrm>
            <a:off x="1901454" y="1028700"/>
            <a:ext cx="436329" cy="307563"/>
          </a:xfrm>
          <a:prstGeom prst="round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13" name="Gate 1" descr="Gate1"/>
          <p:cNvSpPr/>
          <p:nvPr/>
        </p:nvSpPr>
        <p:spPr>
          <a:xfrm>
            <a:off x="1655731" y="1664330"/>
            <a:ext cx="927774" cy="615126"/>
          </a:xfrm>
          <a:prstGeom prst="diamond">
            <a:avLst/>
          </a:prstGeom>
          <a:solidFill>
            <a:srgbClr val="E1BEE7"/>
          </a:solidFill>
          <a:ln w="546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Gate 1</a:t>
            </a:r>
          </a:p>
        </p:txBody>
      </p:sp>
      <p:sp>
        <p:nvSpPr>
          <p:cNvPr id="14" name="N1" descr="N1"/>
          <p:cNvSpPr/>
          <p:nvPr/>
        </p:nvSpPr>
        <p:spPr>
          <a:xfrm>
            <a:off x="1365474" y="2607523"/>
            <a:ext cx="287059" cy="307563"/>
          </a:xfrm>
          <a:prstGeom prst="rect">
            <a:avLst/>
          </a:prstGeom>
          <a:solidFill>
            <a:srgbClr val="FFCDD2"/>
          </a:solidFill>
          <a:ln w="546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N1</a:t>
            </a:r>
          </a:p>
        </p:txBody>
      </p:sp>
      <p:sp>
        <p:nvSpPr>
          <p:cNvPr id="15" name="N2" descr="N2"/>
          <p:cNvSpPr/>
          <p:nvPr/>
        </p:nvSpPr>
        <p:spPr>
          <a:xfrm>
            <a:off x="1976089" y="2607523"/>
            <a:ext cx="287059" cy="307563"/>
          </a:xfrm>
          <a:prstGeom prst="rect">
            <a:avLst/>
          </a:prstGeom>
          <a:solidFill>
            <a:srgbClr val="FFF9C4"/>
          </a:solidFill>
          <a:ln w="546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N2</a:t>
            </a:r>
          </a:p>
        </p:txBody>
      </p:sp>
      <p:sp>
        <p:nvSpPr>
          <p:cNvPr id="16" name="N3" descr="N3"/>
          <p:cNvSpPr/>
          <p:nvPr/>
        </p:nvSpPr>
        <p:spPr>
          <a:xfrm>
            <a:off x="2727691" y="2607523"/>
            <a:ext cx="287059" cy="307563"/>
          </a:xfrm>
          <a:prstGeom prst="rect">
            <a:avLst/>
          </a:prstGeom>
          <a:solidFill>
            <a:srgbClr val="BBDEFB"/>
          </a:solidFill>
          <a:ln w="546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N3</a:t>
            </a:r>
          </a:p>
        </p:txBody>
      </p:sp>
      <p:sp>
        <p:nvSpPr>
          <p:cNvPr id="17" name="Merge 1" descr="Merge1"/>
          <p:cNvSpPr/>
          <p:nvPr/>
        </p:nvSpPr>
        <p:spPr>
          <a:xfrm>
            <a:off x="1288542" y="3243153"/>
            <a:ext cx="522939" cy="307563"/>
          </a:xfrm>
          <a:prstGeom prst="rect">
            <a:avLst/>
          </a:prstGeom>
          <a:solidFill>
            <a:srgbClr val="C8E6C9"/>
          </a:solidFill>
          <a:ln w="546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Merge 1</a:t>
            </a:r>
          </a:p>
        </p:txBody>
      </p:sp>
      <p:sp>
        <p:nvSpPr>
          <p:cNvPr id="18" name="N4" descr="N4"/>
          <p:cNvSpPr/>
          <p:nvPr/>
        </p:nvSpPr>
        <p:spPr>
          <a:xfrm>
            <a:off x="2229849" y="3243153"/>
            <a:ext cx="287059" cy="307563"/>
          </a:xfrm>
          <a:prstGeom prst="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N4</a:t>
            </a:r>
          </a:p>
        </p:txBody>
      </p:sp>
      <p:sp>
        <p:nvSpPr>
          <p:cNvPr id="19" name="Skip target" descr="Skip"/>
          <p:cNvSpPr/>
          <p:nvPr/>
        </p:nvSpPr>
        <p:spPr>
          <a:xfrm>
            <a:off x="2531671" y="4821977"/>
            <a:ext cx="761116" cy="307563"/>
          </a:xfrm>
          <a:prstGeom prst="rect">
            <a:avLst/>
          </a:prstGeom>
          <a:solidFill>
            <a:srgbClr val="E1BEE7"/>
          </a:solidFill>
          <a:ln w="546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Skip target</a:t>
            </a:r>
          </a:p>
        </p:txBody>
      </p:sp>
      <p:sp>
        <p:nvSpPr>
          <p:cNvPr id="20" name="Gate 2" descr="Gate2"/>
          <p:cNvSpPr/>
          <p:nvPr/>
        </p:nvSpPr>
        <p:spPr>
          <a:xfrm>
            <a:off x="1411649" y="3878784"/>
            <a:ext cx="927774" cy="615126"/>
          </a:xfrm>
          <a:prstGeom prst="diamond">
            <a:avLst/>
          </a:prstGeom>
          <a:solidFill>
            <a:srgbClr val="FFCDD2"/>
          </a:solidFill>
          <a:ln w="546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Gate 2</a:t>
            </a:r>
          </a:p>
        </p:txBody>
      </p:sp>
      <p:sp>
        <p:nvSpPr>
          <p:cNvPr id="21" name="N5" descr="N5"/>
          <p:cNvSpPr/>
          <p:nvPr/>
        </p:nvSpPr>
        <p:spPr>
          <a:xfrm>
            <a:off x="1465452" y="4821977"/>
            <a:ext cx="287059" cy="307563"/>
          </a:xfrm>
          <a:prstGeom prst="rect">
            <a:avLst/>
          </a:prstGeom>
          <a:solidFill>
            <a:srgbClr val="FFF9C4"/>
          </a:solidFill>
          <a:ln w="546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N5</a:t>
            </a:r>
          </a:p>
        </p:txBody>
      </p:sp>
      <p:sp>
        <p:nvSpPr>
          <p:cNvPr id="22" name="N6" descr="N6"/>
          <p:cNvSpPr/>
          <p:nvPr/>
        </p:nvSpPr>
        <p:spPr>
          <a:xfrm>
            <a:off x="1998561" y="4821977"/>
            <a:ext cx="287059" cy="307563"/>
          </a:xfrm>
          <a:prstGeom prst="rect">
            <a:avLst/>
          </a:prstGeom>
          <a:solidFill>
            <a:srgbClr val="BBDEFB"/>
          </a:solidFill>
          <a:ln w="546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N6</a:t>
            </a:r>
          </a:p>
        </p:txBody>
      </p:sp>
      <p:sp>
        <p:nvSpPr>
          <p:cNvPr id="23" name="Merge 2" descr="Merge2"/>
          <p:cNvSpPr/>
          <p:nvPr/>
        </p:nvSpPr>
        <p:spPr>
          <a:xfrm>
            <a:off x="1880621" y="5457607"/>
            <a:ext cx="522939" cy="307563"/>
          </a:xfrm>
          <a:prstGeom prst="rect">
            <a:avLst/>
          </a:prstGeom>
          <a:solidFill>
            <a:srgbClr val="C8E6C9"/>
          </a:solidFill>
          <a:ln w="546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Merge 2</a:t>
            </a:r>
          </a:p>
        </p:txBody>
      </p:sp>
      <p:sp>
        <p:nvSpPr>
          <p:cNvPr id="24" name="End" descr="End"/>
          <p:cNvSpPr/>
          <p:nvPr/>
        </p:nvSpPr>
        <p:spPr>
          <a:xfrm>
            <a:off x="1982978" y="6093237"/>
            <a:ext cx="318225" cy="307563"/>
          </a:xfrm>
          <a:prstGeom prst="round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End</a:t>
            </a:r>
          </a:p>
        </p:txBody>
      </p:sp>
      <p:cxnSp>
        <p:nvCxnSpPr>
          <p:cNvPr id="25" name="Start--Gate1"/>
          <p:cNvCxnSpPr>
            <a:stCxn id="12" idx="2"/>
            <a:endCxn id="13" idx="0"/>
          </p:cNvCxnSpPr>
          <p:nvPr/>
        </p:nvCxnSpPr>
        <p:spPr>
          <a:xfrm>
            <a:off x="2119618" y="1336263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ate1--N1"/>
          <p:cNvCxnSpPr>
            <a:stCxn id="13" idx="2"/>
            <a:endCxn id="14" idx="0"/>
          </p:cNvCxnSpPr>
          <p:nvPr/>
        </p:nvCxnSpPr>
        <p:spPr>
          <a:xfrm flipH="1">
            <a:off x="1509003" y="2279456"/>
            <a:ext cx="610615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1724092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a</a:t>
            </a:r>
          </a:p>
        </p:txBody>
      </p:sp>
      <p:cxnSp>
        <p:nvCxnSpPr>
          <p:cNvPr id="28" name="Gate1--N2"/>
          <p:cNvCxnSpPr>
            <a:stCxn id="13" idx="2"/>
            <a:endCxn id="15" idx="0"/>
          </p:cNvCxnSpPr>
          <p:nvPr/>
        </p:nvCxnSpPr>
        <p:spPr>
          <a:xfrm>
            <a:off x="2119618" y="2279456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geLabel"/>
          <p:cNvSpPr txBox="1"/>
          <p:nvPr/>
        </p:nvSpPr>
        <p:spPr>
          <a:xfrm>
            <a:off x="2029400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b</a:t>
            </a:r>
          </a:p>
        </p:txBody>
      </p:sp>
      <p:cxnSp>
        <p:nvCxnSpPr>
          <p:cNvPr id="30" name="Gate1--N3"/>
          <p:cNvCxnSpPr>
            <a:stCxn id="13" idx="2"/>
            <a:endCxn id="16" idx="0"/>
          </p:cNvCxnSpPr>
          <p:nvPr/>
        </p:nvCxnSpPr>
        <p:spPr>
          <a:xfrm>
            <a:off x="2119618" y="2279456"/>
            <a:ext cx="751602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Label"/>
          <p:cNvSpPr txBox="1"/>
          <p:nvPr/>
        </p:nvSpPr>
        <p:spPr>
          <a:xfrm>
            <a:off x="2405201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32" name="N1--Merge1"/>
          <p:cNvCxnSpPr>
            <a:stCxn id="14" idx="2"/>
            <a:endCxn id="17" idx="0"/>
          </p:cNvCxnSpPr>
          <p:nvPr/>
        </p:nvCxnSpPr>
        <p:spPr>
          <a:xfrm>
            <a:off x="1509003" y="2915086"/>
            <a:ext cx="41009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2--Merge1"/>
          <p:cNvCxnSpPr>
            <a:stCxn id="15" idx="2"/>
            <a:endCxn id="17" idx="0"/>
          </p:cNvCxnSpPr>
          <p:nvPr/>
        </p:nvCxnSpPr>
        <p:spPr>
          <a:xfrm flipH="1">
            <a:off x="1550012" y="2915086"/>
            <a:ext cx="569606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2--N4"/>
          <p:cNvCxnSpPr>
            <a:stCxn id="15" idx="2"/>
            <a:endCxn id="18" idx="0"/>
          </p:cNvCxnSpPr>
          <p:nvPr/>
        </p:nvCxnSpPr>
        <p:spPr>
          <a:xfrm>
            <a:off x="2119618" y="2915086"/>
            <a:ext cx="25376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3--N4"/>
          <p:cNvCxnSpPr>
            <a:stCxn id="16" idx="2"/>
            <a:endCxn id="18" idx="0"/>
          </p:cNvCxnSpPr>
          <p:nvPr/>
        </p:nvCxnSpPr>
        <p:spPr>
          <a:xfrm flipH="1">
            <a:off x="2373378" y="2915086"/>
            <a:ext cx="497842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3--Skip"/>
          <p:cNvCxnSpPr>
            <a:stCxn id="16" idx="2"/>
            <a:endCxn id="19" idx="0"/>
          </p:cNvCxnSpPr>
          <p:nvPr/>
        </p:nvCxnSpPr>
        <p:spPr>
          <a:xfrm>
            <a:off x="2871220" y="2915086"/>
            <a:ext cx="41008" cy="1906891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Merge1--Gate2"/>
          <p:cNvCxnSpPr>
            <a:stCxn id="17" idx="2"/>
            <a:endCxn id="20" idx="0"/>
          </p:cNvCxnSpPr>
          <p:nvPr/>
        </p:nvCxnSpPr>
        <p:spPr>
          <a:xfrm>
            <a:off x="1550012" y="3550716"/>
            <a:ext cx="325524" cy="328068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4--Gate2"/>
          <p:cNvCxnSpPr>
            <a:stCxn id="18" idx="2"/>
            <a:endCxn id="20" idx="0"/>
          </p:cNvCxnSpPr>
          <p:nvPr/>
        </p:nvCxnSpPr>
        <p:spPr>
          <a:xfrm flipH="1">
            <a:off x="1875536" y="3550716"/>
            <a:ext cx="497842" cy="328068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ate2--N5"/>
          <p:cNvCxnSpPr>
            <a:stCxn id="20" idx="2"/>
            <a:endCxn id="21" idx="0"/>
          </p:cNvCxnSpPr>
          <p:nvPr/>
        </p:nvCxnSpPr>
        <p:spPr>
          <a:xfrm flipH="1">
            <a:off x="1608982" y="4493910"/>
            <a:ext cx="266554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dgeLabel"/>
          <p:cNvSpPr txBox="1"/>
          <p:nvPr/>
        </p:nvSpPr>
        <p:spPr>
          <a:xfrm>
            <a:off x="1652040" y="4608733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x</a:t>
            </a:r>
          </a:p>
        </p:txBody>
      </p:sp>
      <p:cxnSp>
        <p:nvCxnSpPr>
          <p:cNvPr id="41" name="Gate2--N6"/>
          <p:cNvCxnSpPr>
            <a:stCxn id="20" idx="2"/>
            <a:endCxn id="22" idx="0"/>
          </p:cNvCxnSpPr>
          <p:nvPr/>
        </p:nvCxnSpPr>
        <p:spPr>
          <a:xfrm>
            <a:off x="1875536" y="4493910"/>
            <a:ext cx="266555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dgeLabel"/>
          <p:cNvSpPr txBox="1"/>
          <p:nvPr/>
        </p:nvSpPr>
        <p:spPr>
          <a:xfrm>
            <a:off x="1918595" y="4608733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y</a:t>
            </a:r>
          </a:p>
        </p:txBody>
      </p:sp>
      <p:cxnSp>
        <p:nvCxnSpPr>
          <p:cNvPr id="43" name="N5--Merge2"/>
          <p:cNvCxnSpPr>
            <a:stCxn id="21" idx="2"/>
            <a:endCxn id="23" idx="0"/>
          </p:cNvCxnSpPr>
          <p:nvPr/>
        </p:nvCxnSpPr>
        <p:spPr>
          <a:xfrm>
            <a:off x="1608982" y="5129540"/>
            <a:ext cx="533109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6--Merge2"/>
          <p:cNvCxnSpPr>
            <a:stCxn id="22" idx="2"/>
            <a:endCxn id="23" idx="0"/>
          </p:cNvCxnSpPr>
          <p:nvPr/>
        </p:nvCxnSpPr>
        <p:spPr>
          <a:xfrm>
            <a:off x="2142091" y="5129540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kip--Merge2"/>
          <p:cNvCxnSpPr>
            <a:stCxn id="19" idx="1"/>
            <a:endCxn id="23" idx="3"/>
          </p:cNvCxnSpPr>
          <p:nvPr/>
        </p:nvCxnSpPr>
        <p:spPr>
          <a:xfrm flipH="1">
            <a:off x="2403560" y="4975758"/>
            <a:ext cx="128111" cy="635630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Merge2--End"/>
          <p:cNvCxnSpPr>
            <a:stCxn id="23" idx="2"/>
            <a:endCxn id="24" idx="0"/>
          </p:cNvCxnSpPr>
          <p:nvPr/>
        </p:nvCxnSpPr>
        <p:spPr>
          <a:xfrm>
            <a:off x="2142091" y="5765170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Start([Start]) --&gt; Gate1{Gate 1}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Gate1 --&gt;|a| N1[N1]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Gate1 --&gt;|b| N2[N2]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Gate1 --&gt;|c| N3[N3]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N1 --&gt; Merge1[Merge 1]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N2 --&gt; Merge1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N2 --&gt; N4[N4]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N3 --&gt; N4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N3 --&gt; Skip[Skip target]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Merge1 --&gt; Gate2{Gate 2}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N4 --&gt; Gate2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Gate2 --&gt;|x| N5[N5]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Gate2 --&gt;|y| N6[N6]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N5 --&gt; Merge2[Merge 2]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N6 --&gt; Merge2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Skip --&gt; Merge2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Merge2 --&gt; End([End])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Start fill:#FFE0B2,stroke:#E65100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Gate1 fill:#E1BEE7,stroke:#6A1B9A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N1 fill:#FFCDD2,stroke:#C62828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N2 fill:#FFF9C4,stroke:#F9A825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N3 fill:#BBDEFB,stroke:#1565C0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Merge1 fill:#C8E6C9,stroke:#2E7D32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N4 fill:#FFE0B2,stroke:#E65100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Skip fill:#E1BEE7,stroke:#6A1B9A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Gate2 fill:#FFCDD2,stroke:#C62828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N5 fill:#FFF9C4,stroke:#F9A825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N6 fill:#BBDEFB,stroke:#1565C0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Merge2 fill:#C8E6C9,stroke:#2E7D32</a:t>
            </a:r>
          </a:p>
          <a:p>
            <a:pPr algn="l"/>
            <a:r>
              <a:rPr lang="en-US" sz="1050" dirty="0">
                <a:solidFill>
                  <a:srgbClr val="1F2937"/>
                </a:solidFill>
                <a:latin typeface="Consolas"/>
                <a:cs typeface="Consolas"/>
              </a:rPr>
              <a:t>    style End fill:#FFE0B2,stroke:#E65100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crossing-stress-bipartite</a:t>
            </a:r>
          </a:p>
        </p:txBody>
      </p:sp>
      <p:sp>
        <p:nvSpPr>
          <p:cNvPr id="12" name="A1" descr="A1"/>
          <p:cNvSpPr/>
          <p:nvPr/>
        </p:nvSpPr>
        <p:spPr>
          <a:xfrm>
            <a:off x="3013729" y="1028700"/>
            <a:ext cx="611459" cy="655134"/>
          </a:xfrm>
          <a:prstGeom prst="rect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A1</a:t>
            </a:r>
          </a:p>
        </p:txBody>
      </p:sp>
      <p:sp>
        <p:nvSpPr>
          <p:cNvPr id="13" name="B1" descr="B1"/>
          <p:cNvSpPr/>
          <p:nvPr/>
        </p:nvSpPr>
        <p:spPr>
          <a:xfrm>
            <a:off x="4323997" y="1618321"/>
            <a:ext cx="611459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B1</a:t>
            </a:r>
          </a:p>
        </p:txBody>
      </p:sp>
      <p:sp>
        <p:nvSpPr>
          <p:cNvPr id="14" name="B2" descr="B2"/>
          <p:cNvSpPr/>
          <p:nvPr/>
        </p:nvSpPr>
        <p:spPr>
          <a:xfrm>
            <a:off x="4323997" y="2797562"/>
            <a:ext cx="611459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B2</a:t>
            </a:r>
          </a:p>
        </p:txBody>
      </p:sp>
      <p:sp>
        <p:nvSpPr>
          <p:cNvPr id="15" name="B3" descr="B3"/>
          <p:cNvSpPr/>
          <p:nvPr/>
        </p:nvSpPr>
        <p:spPr>
          <a:xfrm>
            <a:off x="4323997" y="3976804"/>
            <a:ext cx="611459" cy="655134"/>
          </a:xfrm>
          <a:prstGeom prst="rect">
            <a:avLst/>
          </a:prstGeom>
          <a:solidFill>
            <a:srgbClr val="BBDEFB"/>
          </a:solidFill>
          <a:ln w="11647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B3</a:t>
            </a:r>
          </a:p>
        </p:txBody>
      </p:sp>
      <p:sp>
        <p:nvSpPr>
          <p:cNvPr id="16" name="A2" descr="A2"/>
          <p:cNvSpPr/>
          <p:nvPr/>
        </p:nvSpPr>
        <p:spPr>
          <a:xfrm>
            <a:off x="3013729" y="2382644"/>
            <a:ext cx="611459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A2</a:t>
            </a:r>
          </a:p>
        </p:txBody>
      </p:sp>
      <p:sp>
        <p:nvSpPr>
          <p:cNvPr id="17" name="B4" descr="B4"/>
          <p:cNvSpPr/>
          <p:nvPr/>
        </p:nvSpPr>
        <p:spPr>
          <a:xfrm>
            <a:off x="4323997" y="5156045"/>
            <a:ext cx="611459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B4</a:t>
            </a:r>
          </a:p>
        </p:txBody>
      </p:sp>
      <p:sp>
        <p:nvSpPr>
          <p:cNvPr id="18" name="A3" descr="A3"/>
          <p:cNvSpPr/>
          <p:nvPr/>
        </p:nvSpPr>
        <p:spPr>
          <a:xfrm>
            <a:off x="3013729" y="5745666"/>
            <a:ext cx="611459" cy="655134"/>
          </a:xfrm>
          <a:prstGeom prst="rect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A3</a:t>
            </a:r>
          </a:p>
        </p:txBody>
      </p:sp>
      <p:sp>
        <p:nvSpPr>
          <p:cNvPr id="19" name="A4" descr="A4"/>
          <p:cNvSpPr/>
          <p:nvPr/>
        </p:nvSpPr>
        <p:spPr>
          <a:xfrm>
            <a:off x="3013729" y="4391722"/>
            <a:ext cx="611459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A4</a:t>
            </a:r>
          </a:p>
        </p:txBody>
      </p:sp>
      <p:cxnSp>
        <p:nvCxnSpPr>
          <p:cNvPr id="20" name="A1--B1"/>
          <p:cNvCxnSpPr>
            <a:stCxn id="12" idx="3"/>
            <a:endCxn id="13" idx="1"/>
          </p:cNvCxnSpPr>
          <p:nvPr/>
        </p:nvCxnSpPr>
        <p:spPr>
          <a:xfrm>
            <a:off x="3625188" y="1356267"/>
            <a:ext cx="698809" cy="589621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1--B2"/>
          <p:cNvCxnSpPr>
            <a:stCxn id="12" idx="2"/>
            <a:endCxn id="14" idx="0"/>
          </p:cNvCxnSpPr>
          <p:nvPr/>
        </p:nvCxnSpPr>
        <p:spPr>
          <a:xfrm>
            <a:off x="3319458" y="1683834"/>
            <a:ext cx="1310269" cy="111372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1--B3"/>
          <p:cNvSpPr/>
          <p:nvPr/>
        </p:nvSpPr>
        <p:spPr>
          <a:xfrm>
            <a:off x="3319458" y="1683834"/>
            <a:ext cx="1310269" cy="2292970"/>
          </a:xfrm>
          <a:custGeom>
            <a:avLst/>
            <a:gdLst/>
            <a:ahLst/>
            <a:cxnLst/>
            <a:rect l="0" t="0" r="0" b="0"/>
            <a:pathLst>
              <a:path w="1310269" h="2292970">
                <a:moveTo>
                  <a:pt x="0" y="0"/>
                </a:moveTo>
                <a:lnTo>
                  <a:pt x="655134" y="87351"/>
                </a:lnTo>
                <a:lnTo>
                  <a:pt x="1310269" y="2292970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23" name="A2--B1"/>
          <p:cNvCxnSpPr>
            <a:stCxn id="16" idx="3"/>
            <a:endCxn id="13" idx="1"/>
          </p:cNvCxnSpPr>
          <p:nvPr/>
        </p:nvCxnSpPr>
        <p:spPr>
          <a:xfrm flipV="1">
            <a:off x="3625188" y="1945888"/>
            <a:ext cx="698809" cy="764323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2--B2"/>
          <p:cNvCxnSpPr>
            <a:stCxn id="16" idx="3"/>
            <a:endCxn id="14" idx="1"/>
          </p:cNvCxnSpPr>
          <p:nvPr/>
        </p:nvCxnSpPr>
        <p:spPr>
          <a:xfrm>
            <a:off x="3625188" y="2710211"/>
            <a:ext cx="698809" cy="41491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2--B4"/>
          <p:cNvCxnSpPr>
            <a:stCxn id="16" idx="2"/>
            <a:endCxn id="17" idx="0"/>
          </p:cNvCxnSpPr>
          <p:nvPr/>
        </p:nvCxnSpPr>
        <p:spPr>
          <a:xfrm>
            <a:off x="3319458" y="3037778"/>
            <a:ext cx="1310269" cy="2118267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3--B2"/>
          <p:cNvSpPr/>
          <p:nvPr/>
        </p:nvSpPr>
        <p:spPr>
          <a:xfrm>
            <a:off x="3319458" y="3452696"/>
            <a:ext cx="1310269" cy="2292970"/>
          </a:xfrm>
          <a:custGeom>
            <a:avLst/>
            <a:gdLst/>
            <a:ahLst/>
            <a:cxnLst/>
            <a:rect l="0" t="0" r="0" b="0"/>
            <a:pathLst>
              <a:path w="1310269" h="2292970">
                <a:moveTo>
                  <a:pt x="0" y="2292970"/>
                </a:moveTo>
                <a:lnTo>
                  <a:pt x="655134" y="2205619"/>
                </a:lnTo>
                <a:lnTo>
                  <a:pt x="1310269" y="0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27" name="A3--B3"/>
          <p:cNvCxnSpPr>
            <a:stCxn id="18" idx="0"/>
            <a:endCxn id="15" idx="2"/>
          </p:cNvCxnSpPr>
          <p:nvPr/>
        </p:nvCxnSpPr>
        <p:spPr>
          <a:xfrm flipV="1">
            <a:off x="3319458" y="4631938"/>
            <a:ext cx="1310269" cy="111372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3--B4"/>
          <p:cNvCxnSpPr>
            <a:stCxn id="18" idx="3"/>
            <a:endCxn id="17" idx="1"/>
          </p:cNvCxnSpPr>
          <p:nvPr/>
        </p:nvCxnSpPr>
        <p:spPr>
          <a:xfrm flipV="1">
            <a:off x="3625188" y="5483612"/>
            <a:ext cx="698809" cy="589621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4--B1"/>
          <p:cNvCxnSpPr>
            <a:stCxn id="19" idx="0"/>
            <a:endCxn id="13" idx="2"/>
          </p:cNvCxnSpPr>
          <p:nvPr/>
        </p:nvCxnSpPr>
        <p:spPr>
          <a:xfrm flipV="1">
            <a:off x="3319458" y="2273455"/>
            <a:ext cx="1310269" cy="2118267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4--B3"/>
          <p:cNvCxnSpPr>
            <a:stCxn id="19" idx="3"/>
            <a:endCxn id="15" idx="1"/>
          </p:cNvCxnSpPr>
          <p:nvPr/>
        </p:nvCxnSpPr>
        <p:spPr>
          <a:xfrm flipV="1">
            <a:off x="3625188" y="4304371"/>
            <a:ext cx="698809" cy="41491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4--B4"/>
          <p:cNvCxnSpPr>
            <a:stCxn id="19" idx="3"/>
            <a:endCxn id="17" idx="1"/>
          </p:cNvCxnSpPr>
          <p:nvPr/>
        </p:nvCxnSpPr>
        <p:spPr>
          <a:xfrm>
            <a:off x="3625188" y="4719289"/>
            <a:ext cx="698809" cy="764323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flowchart LR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A1[A1] --&gt; B1[B1]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A1 --&gt; B2[B2]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A1 --&gt; B3[B3]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A2[A2] --&gt; B1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A2 --&gt; B2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A2 --&gt; B4[B4]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A3[A3] --&gt; B2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A3 --&gt; B3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A3 --&gt; B4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A4[A4] --&gt; B1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A4 --&gt; B3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A4 --&gt; B4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style A1 fill:#E1BEE7,stroke:#6A1B9A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style B1 fill:#FFCDD2,stroke:#C62828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style B2 fill:#FFF9C4,stroke:#F9A825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style B3 fill:#BBDEFB,stroke:#1565C0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style A2 fill:#C8E6C9,stroke:#2E7D32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style B4 fill:#FFE0B2,stroke:#E65100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style A3 fill:#E1BEE7,stroke:#6A1B9A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style A4 fill:#FFCDD2,stroke:#C62828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cycle</a:t>
            </a:r>
          </a:p>
        </p:txBody>
      </p:sp>
      <p:sp>
        <p:nvSpPr>
          <p:cNvPr id="12" name="Etat A" descr="A"/>
          <p:cNvSpPr/>
          <p:nvPr/>
        </p:nvSpPr>
        <p:spPr>
          <a:xfrm>
            <a:off x="3629385" y="1028700"/>
            <a:ext cx="1154007" cy="746125"/>
          </a:xfrm>
          <a:prstGeom prst="rect">
            <a:avLst/>
          </a:prstGeom>
          <a:solidFill>
            <a:srgbClr val="FFCDD2"/>
          </a:solidFill>
          <a:ln w="1326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A</a:t>
            </a:r>
          </a:p>
        </p:txBody>
      </p:sp>
      <p:sp>
        <p:nvSpPr>
          <p:cNvPr id="13" name="Etat B" descr="B"/>
          <p:cNvSpPr/>
          <p:nvPr/>
        </p:nvSpPr>
        <p:spPr>
          <a:xfrm>
            <a:off x="3141917" y="2570692"/>
            <a:ext cx="1154007" cy="746125"/>
          </a:xfrm>
          <a:prstGeom prst="rect">
            <a:avLst/>
          </a:prstGeom>
          <a:solidFill>
            <a:srgbClr val="FFF9C4"/>
          </a:solidFill>
          <a:ln w="1326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B</a:t>
            </a:r>
          </a:p>
        </p:txBody>
      </p:sp>
      <p:sp>
        <p:nvSpPr>
          <p:cNvPr id="14" name="Etat C" descr="C"/>
          <p:cNvSpPr/>
          <p:nvPr/>
        </p:nvSpPr>
        <p:spPr>
          <a:xfrm>
            <a:off x="3629385" y="4112683"/>
            <a:ext cx="1154007" cy="746125"/>
          </a:xfrm>
          <a:prstGeom prst="rect">
            <a:avLst/>
          </a:prstGeom>
          <a:solidFill>
            <a:srgbClr val="BBDEFB"/>
          </a:solidFill>
          <a:ln w="1326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C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3605509" y="5654675"/>
            <a:ext cx="1201759" cy="746125"/>
          </a:xfrm>
          <a:prstGeom prst="rect">
            <a:avLst/>
          </a:prstGeom>
          <a:solidFill>
            <a:srgbClr val="C8E6C9"/>
          </a:solidFill>
          <a:ln w="1326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Sortie</a:t>
            </a:r>
          </a:p>
        </p:txBody>
      </p:sp>
      <p:cxnSp>
        <p:nvCxnSpPr>
          <p:cNvPr id="16" name="A--B"/>
          <p:cNvCxnSpPr>
            <a:stCxn id="12" idx="2"/>
            <a:endCxn id="13" idx="0"/>
          </p:cNvCxnSpPr>
          <p:nvPr/>
        </p:nvCxnSpPr>
        <p:spPr>
          <a:xfrm flipH="1">
            <a:off x="3718920" y="1774825"/>
            <a:ext cx="487468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B--C"/>
          <p:cNvCxnSpPr>
            <a:stCxn id="13" idx="2"/>
            <a:endCxn id="14" idx="0"/>
          </p:cNvCxnSpPr>
          <p:nvPr/>
        </p:nvCxnSpPr>
        <p:spPr>
          <a:xfrm>
            <a:off x="3718920" y="3316817"/>
            <a:ext cx="487468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--A"/>
          <p:cNvSpPr/>
          <p:nvPr/>
        </p:nvSpPr>
        <p:spPr>
          <a:xfrm>
            <a:off x="4206388" y="1774825"/>
            <a:ext cx="487468" cy="2337858"/>
          </a:xfrm>
          <a:custGeom>
            <a:avLst/>
            <a:gdLst/>
            <a:ahLst/>
            <a:cxnLst/>
            <a:rect l="0" t="0" r="0" b="0"/>
            <a:pathLst>
              <a:path w="466725" h="2238375">
                <a:moveTo>
                  <a:pt x="0" y="2238375"/>
                </a:moveTo>
                <a:lnTo>
                  <a:pt x="466725" y="1857375"/>
                </a:lnTo>
                <a:lnTo>
                  <a:pt x="466725" y="1119188"/>
                </a:lnTo>
                <a:lnTo>
                  <a:pt x="466725" y="381000"/>
                </a:lnTo>
                <a:lnTo>
                  <a:pt x="0" y="0"/>
                </a:lnTo>
              </a:path>
            </a:pathLst>
          </a:cu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9" name="C--D"/>
          <p:cNvCxnSpPr>
            <a:stCxn id="14" idx="2"/>
            <a:endCxn id="15" idx="0"/>
          </p:cNvCxnSpPr>
          <p:nvPr/>
        </p:nvCxnSpPr>
        <p:spPr>
          <a:xfrm>
            <a:off x="4206388" y="4858808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A[Etat A] --&gt; B[Etat B]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C[Etat C]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D[Sortie]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fill:#FFCDD2,stroke:#C62828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fill:#C8E6C9,stroke:#2E7D32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cynefin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1258362" y="1028700"/>
            <a:ext cx="5432461" cy="34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79" dirty="0">
                <a:solidFill>
                  <a:srgbClr val="000000"/>
                </a:solidFill>
              </a:rPr>
              <a:t>Strategy Categorization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3974592" y="2577957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3487683" y="2487416"/>
            <a:ext cx="973819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Pattern identified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5181805" y="3785171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5" name="Text 5"/>
          <p:cNvSpPr txBox="1"/>
          <p:nvPr/>
        </p:nvSpPr>
        <p:spPr>
          <a:xfrm>
            <a:off x="4610391" y="3694630"/>
            <a:ext cx="1142829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Best practice codified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3974592" y="4992384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7" name="Text 7"/>
          <p:cNvSpPr txBox="1"/>
          <p:nvPr/>
        </p:nvSpPr>
        <p:spPr>
          <a:xfrm>
            <a:off x="3644620" y="4901843"/>
            <a:ext cx="659943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Complacency</a:t>
            </a:r>
          </a:p>
        </p:txBody>
      </p:sp>
      <p:cxnSp>
        <p:nvCxnSpPr>
          <p:cNvPr id="18" name="Connector 8"/>
          <p:cNvCxnSpPr/>
          <p:nvPr/>
        </p:nvCxnSpPr>
        <p:spPr>
          <a:xfrm>
            <a:off x="2767379" y="3785171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9" name="Text 9"/>
          <p:cNvSpPr txBox="1"/>
          <p:nvPr/>
        </p:nvSpPr>
        <p:spPr>
          <a:xfrm>
            <a:off x="2461551" y="3694630"/>
            <a:ext cx="611655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Stabilized</a:t>
            </a:r>
          </a:p>
        </p:txBody>
      </p:sp>
      <p:sp>
        <p:nvSpPr>
          <p:cNvPr id="20" name="Complex"/>
          <p:cNvSpPr/>
          <p:nvPr/>
        </p:nvSpPr>
        <p:spPr>
          <a:xfrm>
            <a:off x="1560165" y="1370744"/>
            <a:ext cx="2414427" cy="2414427"/>
          </a:xfrm>
          <a:prstGeom prst="rect">
            <a:avLst/>
          </a:prstGeom>
          <a:solidFill>
            <a:srgbClr val="FFF2CC"/>
          </a:solidFill>
          <a:ln w="10060">
            <a:solidFill>
              <a:srgbClr val="BFBFBF"/>
            </a:solidFill>
          </a:ln>
        </p:spPr>
      </p:sp>
      <p:sp>
        <p:nvSpPr>
          <p:cNvPr id="21" name="Text 11"/>
          <p:cNvSpPr txBox="1"/>
          <p:nvPr/>
        </p:nvSpPr>
        <p:spPr>
          <a:xfrm>
            <a:off x="1620526" y="1410984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Complex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1620526" y="1612187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Probe → Sense → Respond — emergent practices</a:t>
            </a:r>
          </a:p>
        </p:txBody>
      </p:sp>
      <p:sp>
        <p:nvSpPr>
          <p:cNvPr id="23" name="Item Market research"/>
          <p:cNvSpPr/>
          <p:nvPr/>
        </p:nvSpPr>
        <p:spPr>
          <a:xfrm>
            <a:off x="1620526" y="1833509"/>
            <a:ext cx="828953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24" name="Text 14"/>
          <p:cNvSpPr txBox="1"/>
          <p:nvPr/>
        </p:nvSpPr>
        <p:spPr>
          <a:xfrm>
            <a:off x="1620526" y="1833509"/>
            <a:ext cx="828953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Market research</a:t>
            </a:r>
          </a:p>
        </p:txBody>
      </p:sp>
      <p:sp>
        <p:nvSpPr>
          <p:cNvPr id="25" name="Complicated"/>
          <p:cNvSpPr/>
          <p:nvPr/>
        </p:nvSpPr>
        <p:spPr>
          <a:xfrm>
            <a:off x="3974592" y="1370744"/>
            <a:ext cx="2414427" cy="2414427"/>
          </a:xfrm>
          <a:prstGeom prst="rect">
            <a:avLst/>
          </a:prstGeom>
          <a:solidFill>
            <a:srgbClr val="D9E2F3"/>
          </a:solidFill>
          <a:ln w="10060">
            <a:solidFill>
              <a:srgbClr val="BFBFBF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4034953" y="1410984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Complicated</a:t>
            </a:r>
          </a:p>
        </p:txBody>
      </p:sp>
      <p:sp>
        <p:nvSpPr>
          <p:cNvPr id="27" name="Text 17"/>
          <p:cNvSpPr txBox="1"/>
          <p:nvPr/>
        </p:nvSpPr>
        <p:spPr>
          <a:xfrm>
            <a:off x="4034953" y="1612187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Sense → Analyse → Respond — good practices</a:t>
            </a:r>
          </a:p>
        </p:txBody>
      </p:sp>
      <p:sp>
        <p:nvSpPr>
          <p:cNvPr id="28" name="Item Competitive analysis"/>
          <p:cNvSpPr/>
          <p:nvPr/>
        </p:nvSpPr>
        <p:spPr>
          <a:xfrm>
            <a:off x="4034953" y="1833509"/>
            <a:ext cx="1070396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29" name="Text 19"/>
          <p:cNvSpPr txBox="1"/>
          <p:nvPr/>
        </p:nvSpPr>
        <p:spPr>
          <a:xfrm>
            <a:off x="4034953" y="1833509"/>
            <a:ext cx="107039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Competitive analysis</a:t>
            </a:r>
          </a:p>
        </p:txBody>
      </p:sp>
      <p:sp>
        <p:nvSpPr>
          <p:cNvPr id="30" name="Chaotic"/>
          <p:cNvSpPr/>
          <p:nvPr/>
        </p:nvSpPr>
        <p:spPr>
          <a:xfrm>
            <a:off x="1560165" y="3785171"/>
            <a:ext cx="2414427" cy="2414427"/>
          </a:xfrm>
          <a:prstGeom prst="rect">
            <a:avLst/>
          </a:prstGeom>
          <a:solidFill>
            <a:srgbClr val="F8CBAD"/>
          </a:solidFill>
          <a:ln w="10060">
            <a:solidFill>
              <a:srgbClr val="BFBFBF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1620526" y="3825411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Chaotic</a:t>
            </a:r>
          </a:p>
        </p:txBody>
      </p:sp>
      <p:sp>
        <p:nvSpPr>
          <p:cNvPr id="32" name="Text 22"/>
          <p:cNvSpPr txBox="1"/>
          <p:nvPr/>
        </p:nvSpPr>
        <p:spPr>
          <a:xfrm>
            <a:off x="1620526" y="4026613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Act → Sense → Respond — novel practices</a:t>
            </a:r>
          </a:p>
        </p:txBody>
      </p:sp>
      <p:sp>
        <p:nvSpPr>
          <p:cNvPr id="33" name="Item Crisis management"/>
          <p:cNvSpPr/>
          <p:nvPr/>
        </p:nvSpPr>
        <p:spPr>
          <a:xfrm>
            <a:off x="1620526" y="4247936"/>
            <a:ext cx="925530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34" name="Text 24"/>
          <p:cNvSpPr txBox="1"/>
          <p:nvPr/>
        </p:nvSpPr>
        <p:spPr>
          <a:xfrm>
            <a:off x="1620526" y="4247936"/>
            <a:ext cx="925530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Crisis management</a:t>
            </a:r>
          </a:p>
        </p:txBody>
      </p:sp>
      <p:sp>
        <p:nvSpPr>
          <p:cNvPr id="35" name="Clear"/>
          <p:cNvSpPr/>
          <p:nvPr/>
        </p:nvSpPr>
        <p:spPr>
          <a:xfrm>
            <a:off x="3974592" y="3785171"/>
            <a:ext cx="2414427" cy="2414427"/>
          </a:xfrm>
          <a:prstGeom prst="rect">
            <a:avLst/>
          </a:prstGeom>
          <a:solidFill>
            <a:srgbClr val="E2EFDA"/>
          </a:solidFill>
          <a:ln w="10060">
            <a:solidFill>
              <a:srgbClr val="BFBFBF"/>
            </a:solidFill>
          </a:ln>
        </p:spPr>
      </p:sp>
      <p:sp>
        <p:nvSpPr>
          <p:cNvPr id="36" name="Text 26"/>
          <p:cNvSpPr txBox="1"/>
          <p:nvPr/>
        </p:nvSpPr>
        <p:spPr>
          <a:xfrm>
            <a:off x="4034953" y="3825411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Clear</a:t>
            </a:r>
          </a:p>
        </p:txBody>
      </p:sp>
      <p:sp>
        <p:nvSpPr>
          <p:cNvPr id="37" name="Text 27"/>
          <p:cNvSpPr txBox="1"/>
          <p:nvPr/>
        </p:nvSpPr>
        <p:spPr>
          <a:xfrm>
            <a:off x="4034953" y="4026613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Sense → Categorise → Respond — best practices</a:t>
            </a:r>
          </a:p>
        </p:txBody>
      </p:sp>
      <p:sp>
        <p:nvSpPr>
          <p:cNvPr id="38" name="Item Standard pricing"/>
          <p:cNvSpPr/>
          <p:nvPr/>
        </p:nvSpPr>
        <p:spPr>
          <a:xfrm>
            <a:off x="4034953" y="4247936"/>
            <a:ext cx="877242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39" name="Text 29"/>
          <p:cNvSpPr txBox="1"/>
          <p:nvPr/>
        </p:nvSpPr>
        <p:spPr>
          <a:xfrm>
            <a:off x="4034953" y="4247936"/>
            <a:ext cx="877242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Standard pricing</a:t>
            </a:r>
          </a:p>
        </p:txBody>
      </p:sp>
      <p:sp>
        <p:nvSpPr>
          <p:cNvPr id="40" name="Shape 30"/>
          <p:cNvSpPr/>
          <p:nvPr/>
        </p:nvSpPr>
        <p:spPr>
          <a:xfrm>
            <a:off x="3290504" y="3101083"/>
            <a:ext cx="1368175" cy="1368175"/>
          </a:xfrm>
          <a:prstGeom prst="ellipse">
            <a:avLst/>
          </a:prstGeom>
          <a:solidFill>
            <a:srgbClr val="D9D9D9"/>
          </a:solidFill>
          <a:ln w="10060">
            <a:solidFill>
              <a:srgbClr val="BFBFBF"/>
            </a:solidFill>
          </a:ln>
        </p:spPr>
      </p:sp>
      <p:sp>
        <p:nvSpPr>
          <p:cNvPr id="41" name="Text 31"/>
          <p:cNvSpPr txBox="1"/>
          <p:nvPr/>
        </p:nvSpPr>
        <p:spPr>
          <a:xfrm>
            <a:off x="3330745" y="3141324"/>
            <a:ext cx="1287694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45" dirty="0">
                <a:solidFill>
                  <a:srgbClr val="404040"/>
                </a:solidFill>
              </a:rPr>
              <a:t>Confusion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cynefin-beta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title Strategy Categorization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complex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"Market research"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complicated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"Competitive analysis"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clear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"Standard pricing"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chaotic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"Crisis management"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complex --&gt; complicated : "Pattern identified"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complicated --&gt; clear : "Best practice codified"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clear --&gt; chaotic : "Complacency"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chaotic --&gt; complex : "Stabilized"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12" name="Debut" descr="A"/>
          <p:cNvSpPr/>
          <p:nvPr/>
        </p:nvSpPr>
        <p:spPr>
          <a:xfrm>
            <a:off x="3491540" y="1028700"/>
            <a:ext cx="929417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Choix" descr="B"/>
          <p:cNvSpPr/>
          <p:nvPr/>
        </p:nvSpPr>
        <p:spPr>
          <a:xfrm>
            <a:off x="3026832" y="2382644"/>
            <a:ext cx="1858834" cy="1310268"/>
          </a:xfrm>
          <a:prstGeom prst="diamond">
            <a:avLst/>
          </a:prstGeom>
          <a:solidFill>
            <a:srgbClr val="BBDEFB"/>
          </a:solidFill>
          <a:ln w="11647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Choix</a:t>
            </a:r>
          </a:p>
        </p:txBody>
      </p:sp>
      <p:sp>
        <p:nvSpPr>
          <p:cNvPr id="14" name="Action" descr="C"/>
          <p:cNvSpPr/>
          <p:nvPr/>
        </p:nvSpPr>
        <p:spPr>
          <a:xfrm>
            <a:off x="3867151" y="4391722"/>
            <a:ext cx="1055203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Action</a:t>
            </a:r>
          </a:p>
        </p:txBody>
      </p:sp>
      <p:sp>
        <p:nvSpPr>
          <p:cNvPr id="15" name="Fin" descr="D"/>
          <p:cNvSpPr/>
          <p:nvPr/>
        </p:nvSpPr>
        <p:spPr>
          <a:xfrm>
            <a:off x="3617326" y="5745666"/>
            <a:ext cx="677845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6" name="A--B"/>
          <p:cNvCxnSpPr>
            <a:stCxn id="12" idx="2"/>
            <a:endCxn id="13" idx="0"/>
          </p:cNvCxnSpPr>
          <p:nvPr/>
        </p:nvCxnSpPr>
        <p:spPr>
          <a:xfrm>
            <a:off x="3956249" y="1683834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B--C"/>
          <p:cNvCxnSpPr>
            <a:stCxn id="13" idx="2"/>
            <a:endCxn id="14" idx="0"/>
          </p:cNvCxnSpPr>
          <p:nvPr/>
        </p:nvCxnSpPr>
        <p:spPr>
          <a:xfrm>
            <a:off x="3956249" y="3692912"/>
            <a:ext cx="438503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geLabel"/>
          <p:cNvSpPr txBox="1"/>
          <p:nvPr/>
        </p:nvSpPr>
        <p:spPr>
          <a:xfrm>
            <a:off x="3954677" y="3937496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oui</a:t>
            </a:r>
          </a:p>
        </p:txBody>
      </p:sp>
      <p:sp>
        <p:nvSpPr>
          <p:cNvPr id="19" name="B--D"/>
          <p:cNvSpPr/>
          <p:nvPr/>
        </p:nvSpPr>
        <p:spPr>
          <a:xfrm>
            <a:off x="3517746" y="3692912"/>
            <a:ext cx="438503" cy="2052754"/>
          </a:xfrm>
          <a:custGeom>
            <a:avLst/>
            <a:gdLst/>
            <a:ahLst/>
            <a:cxnLst/>
            <a:rect l="0" t="0" r="0" b="0"/>
            <a:pathLst>
              <a:path w="438503" h="2052754">
                <a:moveTo>
                  <a:pt x="438503" y="0"/>
                </a:moveTo>
                <a:lnTo>
                  <a:pt x="0" y="349405"/>
                </a:lnTo>
                <a:lnTo>
                  <a:pt x="0" y="1026377"/>
                </a:lnTo>
                <a:lnTo>
                  <a:pt x="0" y="1703349"/>
                </a:lnTo>
                <a:lnTo>
                  <a:pt x="438503" y="2052754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EdgeLabel"/>
          <p:cNvSpPr txBox="1"/>
          <p:nvPr/>
        </p:nvSpPr>
        <p:spPr>
          <a:xfrm>
            <a:off x="3296922" y="461446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1" name="C--D"/>
          <p:cNvCxnSpPr>
            <a:stCxn id="14" idx="2"/>
            <a:endCxn id="15" idx="0"/>
          </p:cNvCxnSpPr>
          <p:nvPr/>
        </p:nvCxnSpPr>
        <p:spPr>
          <a:xfrm flipH="1">
            <a:off x="3956249" y="5046856"/>
            <a:ext cx="438503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A[Debut] --&gt; B{Choix}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--&gt;|oui| C[Action]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--&gt;|non| D[Fin]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fill:#C8E6C9,stroke:#2E7D32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fill:#FFE0B2,stroke:#E65100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dense</a:t>
            </a:r>
          </a:p>
        </p:txBody>
      </p:sp>
      <p:sp>
        <p:nvSpPr>
          <p:cNvPr id="12" name="Init" descr="A"/>
          <p:cNvSpPr/>
          <p:nvPr/>
        </p:nvSpPr>
        <p:spPr>
          <a:xfrm>
            <a:off x="457200" y="3096865"/>
            <a:ext cx="598373" cy="487804"/>
          </a:xfrm>
          <a:prstGeom prst="rect">
            <a:avLst/>
          </a:prstGeom>
          <a:solidFill>
            <a:srgbClr val="BBDEFB"/>
          </a:solidFill>
          <a:ln w="8672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Init</a:t>
            </a:r>
          </a:p>
        </p:txBody>
      </p:sp>
      <p:sp>
        <p:nvSpPr>
          <p:cNvPr id="13" name="Parse" descr="B"/>
          <p:cNvSpPr/>
          <p:nvPr/>
        </p:nvSpPr>
        <p:spPr>
          <a:xfrm>
            <a:off x="1575897" y="3096865"/>
            <a:ext cx="692031" cy="487804"/>
          </a:xfrm>
          <a:prstGeom prst="rect">
            <a:avLst/>
          </a:prstGeom>
          <a:solidFill>
            <a:srgbClr val="C8E6C9"/>
          </a:solidFill>
          <a:ln w="8672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Parse</a:t>
            </a:r>
          </a:p>
        </p:txBody>
      </p:sp>
      <p:sp>
        <p:nvSpPr>
          <p:cNvPr id="14" name="Analyse" descr="C"/>
          <p:cNvSpPr/>
          <p:nvPr/>
        </p:nvSpPr>
        <p:spPr>
          <a:xfrm>
            <a:off x="2788253" y="3096865"/>
            <a:ext cx="879348" cy="487804"/>
          </a:xfrm>
          <a:prstGeom prst="rect">
            <a:avLst/>
          </a:prstGeom>
          <a:solidFill>
            <a:srgbClr val="FFE0B2"/>
          </a:solidFill>
          <a:ln w="8672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Analyse</a:t>
            </a:r>
          </a:p>
        </p:txBody>
      </p:sp>
      <p:sp>
        <p:nvSpPr>
          <p:cNvPr id="15" name="Optim" descr="D"/>
          <p:cNvSpPr/>
          <p:nvPr/>
        </p:nvSpPr>
        <p:spPr>
          <a:xfrm>
            <a:off x="2881911" y="4722878"/>
            <a:ext cx="692031" cy="487804"/>
          </a:xfrm>
          <a:prstGeom prst="rect">
            <a:avLst/>
          </a:prstGeom>
          <a:solidFill>
            <a:srgbClr val="E1BEE7"/>
          </a:solidFill>
          <a:ln w="8672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Optim</a:t>
            </a:r>
          </a:p>
        </p:txBody>
      </p:sp>
      <p:sp>
        <p:nvSpPr>
          <p:cNvPr id="16" name="Emet" descr="E"/>
          <p:cNvSpPr/>
          <p:nvPr/>
        </p:nvSpPr>
        <p:spPr>
          <a:xfrm>
            <a:off x="4187925" y="2153777"/>
            <a:ext cx="598373" cy="487804"/>
          </a:xfrm>
          <a:prstGeom prst="rect">
            <a:avLst/>
          </a:prstGeom>
          <a:solidFill>
            <a:srgbClr val="FFCDD2"/>
          </a:solidFill>
          <a:ln w="8672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Emet</a:t>
            </a:r>
          </a:p>
        </p:txBody>
      </p:sp>
      <p:sp>
        <p:nvSpPr>
          <p:cNvPr id="17" name="AST" descr="F"/>
          <p:cNvSpPr/>
          <p:nvPr/>
        </p:nvSpPr>
        <p:spPr>
          <a:xfrm>
            <a:off x="4219144" y="3031824"/>
            <a:ext cx="535934" cy="487804"/>
          </a:xfrm>
          <a:prstGeom prst="rect">
            <a:avLst/>
          </a:prstGeom>
          <a:solidFill>
            <a:srgbClr val="FFF9C4"/>
          </a:solidFill>
          <a:ln w="8672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AST</a:t>
            </a:r>
          </a:p>
        </p:txBody>
      </p:sp>
      <p:sp>
        <p:nvSpPr>
          <p:cNvPr id="18" name="IL" descr="G"/>
          <p:cNvSpPr/>
          <p:nvPr/>
        </p:nvSpPr>
        <p:spPr>
          <a:xfrm>
            <a:off x="4259470" y="3909871"/>
            <a:ext cx="455284" cy="487804"/>
          </a:xfrm>
          <a:prstGeom prst="rect">
            <a:avLst/>
          </a:prstGeom>
          <a:solidFill>
            <a:srgbClr val="BBDEFB"/>
          </a:solidFill>
          <a:ln w="8672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IL</a:t>
            </a:r>
          </a:p>
        </p:txBody>
      </p:sp>
      <p:sp>
        <p:nvSpPr>
          <p:cNvPr id="19" name="Reg" descr="H"/>
          <p:cNvSpPr/>
          <p:nvPr/>
        </p:nvSpPr>
        <p:spPr>
          <a:xfrm>
            <a:off x="4234754" y="4787919"/>
            <a:ext cx="504715" cy="487804"/>
          </a:xfrm>
          <a:prstGeom prst="rect">
            <a:avLst/>
          </a:prstGeom>
          <a:solidFill>
            <a:srgbClr val="C8E6C9"/>
          </a:solidFill>
          <a:ln w="8672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Reg</a:t>
            </a:r>
          </a:p>
        </p:txBody>
      </p:sp>
      <p:sp>
        <p:nvSpPr>
          <p:cNvPr id="20" name="Codegen" descr="I"/>
          <p:cNvSpPr/>
          <p:nvPr/>
        </p:nvSpPr>
        <p:spPr>
          <a:xfrm>
            <a:off x="5306622" y="3470848"/>
            <a:ext cx="879348" cy="487804"/>
          </a:xfrm>
          <a:prstGeom prst="rect">
            <a:avLst/>
          </a:prstGeom>
          <a:solidFill>
            <a:srgbClr val="FFE0B2"/>
          </a:solidFill>
          <a:ln w="8672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Codegen</a:t>
            </a:r>
          </a:p>
        </p:txBody>
      </p:sp>
      <p:sp>
        <p:nvSpPr>
          <p:cNvPr id="21" name="Sortie" descr="J"/>
          <p:cNvSpPr/>
          <p:nvPr/>
        </p:nvSpPr>
        <p:spPr>
          <a:xfrm>
            <a:off x="6706294" y="3470848"/>
            <a:ext cx="785690" cy="487804"/>
          </a:xfrm>
          <a:prstGeom prst="rect">
            <a:avLst/>
          </a:prstGeom>
          <a:solidFill>
            <a:srgbClr val="E1BEE7"/>
          </a:solidFill>
          <a:ln w="8672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439" tIns="31219" rIns="62439" bIns="312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Sortie</a:t>
            </a:r>
          </a:p>
        </p:txBody>
      </p:sp>
      <p:cxnSp>
        <p:nvCxnSpPr>
          <p:cNvPr id="22" name="A--B"/>
          <p:cNvCxnSpPr>
            <a:stCxn id="12" idx="3"/>
            <a:endCxn id="13" idx="1"/>
          </p:cNvCxnSpPr>
          <p:nvPr/>
        </p:nvCxnSpPr>
        <p:spPr>
          <a:xfrm>
            <a:off x="1055573" y="3340767"/>
            <a:ext cx="520324" cy="0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3"/>
            <a:endCxn id="14" idx="1"/>
          </p:cNvCxnSpPr>
          <p:nvPr/>
        </p:nvCxnSpPr>
        <p:spPr>
          <a:xfrm>
            <a:off x="2267928" y="3340767"/>
            <a:ext cx="520325" cy="0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B--D"/>
          <p:cNvCxnSpPr>
            <a:stCxn id="13" idx="2"/>
            <a:endCxn id="15" idx="0"/>
          </p:cNvCxnSpPr>
          <p:nvPr/>
        </p:nvCxnSpPr>
        <p:spPr>
          <a:xfrm>
            <a:off x="1921913" y="3584669"/>
            <a:ext cx="1306014" cy="1138209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B--E"/>
          <p:cNvCxnSpPr>
            <a:stCxn id="13" idx="3"/>
            <a:endCxn id="16" idx="1"/>
          </p:cNvCxnSpPr>
          <p:nvPr/>
        </p:nvCxnSpPr>
        <p:spPr>
          <a:xfrm flipV="1">
            <a:off x="2267928" y="2397679"/>
            <a:ext cx="1919997" cy="943088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--F"/>
          <p:cNvCxnSpPr>
            <a:stCxn id="14" idx="3"/>
            <a:endCxn id="17" idx="1"/>
          </p:cNvCxnSpPr>
          <p:nvPr/>
        </p:nvCxnSpPr>
        <p:spPr>
          <a:xfrm flipV="1">
            <a:off x="3667601" y="3275726"/>
            <a:ext cx="551543" cy="65041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--G"/>
          <p:cNvCxnSpPr>
            <a:stCxn id="14" idx="3"/>
            <a:endCxn id="18" idx="1"/>
          </p:cNvCxnSpPr>
          <p:nvPr/>
        </p:nvCxnSpPr>
        <p:spPr>
          <a:xfrm>
            <a:off x="3667601" y="3340767"/>
            <a:ext cx="591869" cy="813006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G"/>
          <p:cNvCxnSpPr>
            <a:stCxn id="15" idx="3"/>
            <a:endCxn id="18" idx="1"/>
          </p:cNvCxnSpPr>
          <p:nvPr/>
        </p:nvCxnSpPr>
        <p:spPr>
          <a:xfrm flipV="1">
            <a:off x="3573942" y="4153773"/>
            <a:ext cx="685528" cy="813007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--H"/>
          <p:cNvCxnSpPr>
            <a:stCxn id="15" idx="3"/>
            <a:endCxn id="19" idx="1"/>
          </p:cNvCxnSpPr>
          <p:nvPr/>
        </p:nvCxnSpPr>
        <p:spPr>
          <a:xfrm>
            <a:off x="3573942" y="4966780"/>
            <a:ext cx="660812" cy="65041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--I"/>
          <p:cNvCxnSpPr>
            <a:stCxn id="16" idx="2"/>
            <a:endCxn id="20" idx="0"/>
          </p:cNvCxnSpPr>
          <p:nvPr/>
        </p:nvCxnSpPr>
        <p:spPr>
          <a:xfrm>
            <a:off x="4487111" y="2641581"/>
            <a:ext cx="1259185" cy="829267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--I"/>
          <p:cNvCxnSpPr>
            <a:stCxn id="17" idx="3"/>
            <a:endCxn id="20" idx="1"/>
          </p:cNvCxnSpPr>
          <p:nvPr/>
        </p:nvCxnSpPr>
        <p:spPr>
          <a:xfrm>
            <a:off x="4755078" y="3275726"/>
            <a:ext cx="551544" cy="439024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--I"/>
          <p:cNvCxnSpPr>
            <a:stCxn id="18" idx="3"/>
            <a:endCxn id="20" idx="1"/>
          </p:cNvCxnSpPr>
          <p:nvPr/>
        </p:nvCxnSpPr>
        <p:spPr>
          <a:xfrm flipV="1">
            <a:off x="4714753" y="3714750"/>
            <a:ext cx="591869" cy="439023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H--I"/>
          <p:cNvCxnSpPr>
            <a:stCxn id="19" idx="0"/>
            <a:endCxn id="20" idx="2"/>
          </p:cNvCxnSpPr>
          <p:nvPr/>
        </p:nvCxnSpPr>
        <p:spPr>
          <a:xfrm flipV="1">
            <a:off x="4487111" y="3958652"/>
            <a:ext cx="1259185" cy="829267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I--J"/>
          <p:cNvCxnSpPr>
            <a:stCxn id="20" idx="3"/>
            <a:endCxn id="21" idx="1"/>
          </p:cNvCxnSpPr>
          <p:nvPr/>
        </p:nvCxnSpPr>
        <p:spPr>
          <a:xfrm>
            <a:off x="6185970" y="3714750"/>
            <a:ext cx="520324" cy="0"/>
          </a:xfrm>
          <a:prstGeom prst="line">
            <a:avLst/>
          </a:prstGeom>
          <a:ln w="867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flowchart LR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A[Init] --&gt; B[Parse]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B --&gt; C[Analyse]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B --&gt; D[Optim]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B --&gt; E[Emet]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C --&gt; F[AST]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C --&gt; G[IL]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D --&gt; G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D --&gt; H[Reg]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 --&gt; I[Codegen]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F --&gt; I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G --&gt; I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H --&gt; I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I --&gt; J[Sortie]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A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B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C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D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E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F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G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H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I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J fill:#E1BEE7,stroke:#6A1B9A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direction-and-asymmetric-shape</a:t>
            </a:r>
          </a:p>
        </p:txBody>
      </p:sp>
      <p:sp>
        <p:nvSpPr>
          <p:cNvPr id="12" name="Debut" descr="Start"/>
          <p:cNvSpPr/>
          <p:nvPr/>
        </p:nvSpPr>
        <p:spPr>
          <a:xfrm>
            <a:off x="6672697" y="3425998"/>
            <a:ext cx="819287" cy="577505"/>
          </a:xfrm>
          <a:prstGeom prst="rect">
            <a:avLst/>
          </a:prstGeom>
          <a:solidFill>
            <a:srgbClr val="C8E6C9"/>
          </a:solidFill>
          <a:ln w="1026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921" tIns="36960" rIns="73921" bIns="36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Etape asymetrique" descr="Flag"/>
          <p:cNvSpPr/>
          <p:nvPr/>
        </p:nvSpPr>
        <p:spPr>
          <a:xfrm>
            <a:off x="4590598" y="3310497"/>
            <a:ext cx="1466093" cy="808507"/>
          </a:xfrm>
          <a:prstGeom prst="homePlate">
            <a:avLst/>
          </a:prstGeom>
          <a:solidFill>
            <a:srgbClr val="FFE0B2"/>
          </a:solidFill>
          <a:ln w="1026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921" tIns="36960" rIns="73921" bIns="36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Etape asymetrique</a:t>
            </a:r>
          </a:p>
        </p:txBody>
      </p:sp>
      <p:sp>
        <p:nvSpPr>
          <p:cNvPr id="14" name="Decision" descr="Check"/>
          <p:cNvSpPr/>
          <p:nvPr/>
        </p:nvSpPr>
        <p:spPr>
          <a:xfrm>
            <a:off x="1670731" y="3137245"/>
            <a:ext cx="2303861" cy="1155011"/>
          </a:xfrm>
          <a:prstGeom prst="diamond">
            <a:avLst/>
          </a:prstGeom>
          <a:solidFill>
            <a:srgbClr val="E1BEE7"/>
          </a:solidFill>
          <a:ln w="1026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921" tIns="36960" rIns="73921" bIns="36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5" name="Fin" descr="End"/>
          <p:cNvSpPr/>
          <p:nvPr/>
        </p:nvSpPr>
        <p:spPr>
          <a:xfrm>
            <a:off x="457200" y="3425998"/>
            <a:ext cx="597525" cy="577505"/>
          </a:xfrm>
          <a:prstGeom prst="rect">
            <a:avLst/>
          </a:prstGeom>
          <a:solidFill>
            <a:srgbClr val="FFCDD2"/>
          </a:solidFill>
          <a:ln w="1026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921" tIns="36960" rIns="73921" bIns="36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6" name="Start--Flag"/>
          <p:cNvCxnSpPr>
            <a:stCxn id="12" idx="1"/>
            <a:endCxn id="13" idx="3"/>
          </p:cNvCxnSpPr>
          <p:nvPr/>
        </p:nvCxnSpPr>
        <p:spPr>
          <a:xfrm flipH="1">
            <a:off x="6056691" y="3714750"/>
            <a:ext cx="616006" cy="0"/>
          </a:xfrm>
          <a:prstGeom prst="line">
            <a:avLst/>
          </a:prstGeom>
          <a:ln w="1026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ag--Check"/>
          <p:cNvCxnSpPr>
            <a:stCxn id="13" idx="1"/>
            <a:endCxn id="14" idx="3"/>
          </p:cNvCxnSpPr>
          <p:nvPr/>
        </p:nvCxnSpPr>
        <p:spPr>
          <a:xfrm flipH="1">
            <a:off x="3974592" y="3714750"/>
            <a:ext cx="616006" cy="0"/>
          </a:xfrm>
          <a:prstGeom prst="line">
            <a:avLst/>
          </a:prstGeom>
          <a:ln w="1026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eck--End"/>
          <p:cNvCxnSpPr>
            <a:stCxn id="14" idx="1"/>
            <a:endCxn id="15" idx="3"/>
          </p:cNvCxnSpPr>
          <p:nvPr/>
        </p:nvCxnSpPr>
        <p:spPr>
          <a:xfrm flipH="1">
            <a:off x="1054725" y="3714750"/>
            <a:ext cx="616006" cy="0"/>
          </a:xfrm>
          <a:prstGeom prst="line">
            <a:avLst/>
          </a:prstGeom>
          <a:ln w="1026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Label"/>
          <p:cNvSpPr txBox="1"/>
          <p:nvPr/>
        </p:nvSpPr>
        <p:spPr>
          <a:xfrm>
            <a:off x="1168070" y="3622349"/>
            <a:ext cx="389316" cy="184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800" tIns="0" rIns="308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0" name="Check--Flag"/>
          <p:cNvCxnSpPr>
            <a:stCxn id="14" idx="3"/>
            <a:endCxn id="13" idx="1"/>
          </p:cNvCxnSpPr>
          <p:nvPr/>
        </p:nvCxnSpPr>
        <p:spPr>
          <a:xfrm>
            <a:off x="3974592" y="3714750"/>
            <a:ext cx="616006" cy="0"/>
          </a:xfrm>
          <a:prstGeom prst="line">
            <a:avLst/>
          </a:prstGeom>
          <a:ln w="1026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Label"/>
          <p:cNvSpPr txBox="1"/>
          <p:nvPr/>
        </p:nvSpPr>
        <p:spPr>
          <a:xfrm>
            <a:off x="4087937" y="3622349"/>
            <a:ext cx="389316" cy="184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800" tIns="0" rIns="308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non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RL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Start[Debut] --&gt; Flag&gt;Etape asymetrique]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Flag --&gt; Check{Decision}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Check --&gt;|oui| End[Fin]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Check --&gt;|non| Flag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Start fill:#C8E6C9,stroke:#2E7D32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Flag fill:#FFE0B2,stroke:#E65100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Check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End fill:#FFCDD2,stroke:#C62828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edge-chaining</a:t>
            </a:r>
          </a:p>
        </p:txBody>
      </p:sp>
      <p:sp>
        <p:nvSpPr>
          <p:cNvPr id="12" name="Depart" descr="A"/>
          <p:cNvSpPr/>
          <p:nvPr/>
        </p:nvSpPr>
        <p:spPr>
          <a:xfrm>
            <a:off x="482763" y="1660554"/>
            <a:ext cx="919062" cy="570610"/>
          </a:xfrm>
          <a:prstGeom prst="rect">
            <a:avLst/>
          </a:prstGeom>
          <a:solidFill>
            <a:srgbClr val="FFE0B2"/>
          </a:solidFill>
          <a:ln w="1014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Depart</a:t>
            </a:r>
          </a:p>
        </p:txBody>
      </p:sp>
      <p:sp>
        <p:nvSpPr>
          <p:cNvPr id="13" name="Etape 2" descr="B"/>
          <p:cNvSpPr/>
          <p:nvPr/>
        </p:nvSpPr>
        <p:spPr>
          <a:xfrm>
            <a:off x="457200" y="2839815"/>
            <a:ext cx="970189" cy="570610"/>
          </a:xfrm>
          <a:prstGeom prst="rect">
            <a:avLst/>
          </a:prstGeom>
          <a:solidFill>
            <a:srgbClr val="E1BEE7"/>
          </a:solidFill>
          <a:ln w="1014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Etape 2</a:t>
            </a:r>
          </a:p>
        </p:txBody>
      </p:sp>
      <p:sp>
        <p:nvSpPr>
          <p:cNvPr id="14" name="Etape 3" descr="C"/>
          <p:cNvSpPr/>
          <p:nvPr/>
        </p:nvSpPr>
        <p:spPr>
          <a:xfrm>
            <a:off x="457200" y="4019075"/>
            <a:ext cx="970189" cy="570610"/>
          </a:xfrm>
          <a:prstGeom prst="rect">
            <a:avLst/>
          </a:prstGeom>
          <a:solidFill>
            <a:srgbClr val="FFCDD2"/>
          </a:solidFill>
          <a:ln w="1014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Etape 3</a:t>
            </a:r>
          </a:p>
        </p:txBody>
      </p:sp>
      <p:sp>
        <p:nvSpPr>
          <p:cNvPr id="15" name="Fin" descr="D"/>
          <p:cNvSpPr/>
          <p:nvPr/>
        </p:nvSpPr>
        <p:spPr>
          <a:xfrm>
            <a:off x="647099" y="5198336"/>
            <a:ext cx="590391" cy="570610"/>
          </a:xfrm>
          <a:prstGeom prst="rect">
            <a:avLst/>
          </a:prstGeom>
          <a:solidFill>
            <a:srgbClr val="FFF9C4"/>
          </a:solidFill>
          <a:ln w="1014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Fin</a:t>
            </a:r>
          </a:p>
        </p:txBody>
      </p:sp>
      <p:sp>
        <p:nvSpPr>
          <p:cNvPr id="16" name="Source" descr="E"/>
          <p:cNvSpPr/>
          <p:nvPr/>
        </p:nvSpPr>
        <p:spPr>
          <a:xfrm>
            <a:off x="2622779" y="1660554"/>
            <a:ext cx="919062" cy="570610"/>
          </a:xfrm>
          <a:prstGeom prst="rect">
            <a:avLst/>
          </a:prstGeom>
          <a:solidFill>
            <a:srgbClr val="BBDEFB"/>
          </a:solidFill>
          <a:ln w="1014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Source</a:t>
            </a:r>
          </a:p>
        </p:txBody>
      </p:sp>
      <p:sp>
        <p:nvSpPr>
          <p:cNvPr id="17" name="Cible 1" descr="F"/>
          <p:cNvSpPr/>
          <p:nvPr/>
        </p:nvSpPr>
        <p:spPr>
          <a:xfrm>
            <a:off x="1883877" y="2839815"/>
            <a:ext cx="970189" cy="570610"/>
          </a:xfrm>
          <a:prstGeom prst="rect">
            <a:avLst/>
          </a:prstGeom>
          <a:solidFill>
            <a:srgbClr val="C8E6C9"/>
          </a:solidFill>
          <a:ln w="1014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Cible 1</a:t>
            </a:r>
          </a:p>
        </p:txBody>
      </p:sp>
      <p:sp>
        <p:nvSpPr>
          <p:cNvPr id="18" name="Cible 2" descr="G"/>
          <p:cNvSpPr/>
          <p:nvPr/>
        </p:nvSpPr>
        <p:spPr>
          <a:xfrm>
            <a:off x="3310554" y="2839815"/>
            <a:ext cx="970189" cy="570610"/>
          </a:xfrm>
          <a:prstGeom prst="rect">
            <a:avLst/>
          </a:prstGeom>
          <a:solidFill>
            <a:srgbClr val="FFE0B2"/>
          </a:solidFill>
          <a:ln w="1014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Cible 2</a:t>
            </a:r>
          </a:p>
        </p:txBody>
      </p:sp>
      <p:sp>
        <p:nvSpPr>
          <p:cNvPr id="19" name="Origine 1" descr="H"/>
          <p:cNvSpPr/>
          <p:nvPr/>
        </p:nvSpPr>
        <p:spPr>
          <a:xfrm>
            <a:off x="4656889" y="1660554"/>
            <a:ext cx="1189303" cy="570610"/>
          </a:xfrm>
          <a:prstGeom prst="rect">
            <a:avLst/>
          </a:prstGeom>
          <a:solidFill>
            <a:srgbClr val="E1BEE7"/>
          </a:solidFill>
          <a:ln w="1014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Origine 1</a:t>
            </a:r>
          </a:p>
        </p:txBody>
      </p:sp>
      <p:sp>
        <p:nvSpPr>
          <p:cNvPr id="20" name="Fusion" descr="J"/>
          <p:cNvSpPr/>
          <p:nvPr/>
        </p:nvSpPr>
        <p:spPr>
          <a:xfrm>
            <a:off x="5614905" y="2839815"/>
            <a:ext cx="919062" cy="570610"/>
          </a:xfrm>
          <a:prstGeom prst="rect">
            <a:avLst/>
          </a:prstGeom>
          <a:solidFill>
            <a:srgbClr val="FFCDD2"/>
          </a:solidFill>
          <a:ln w="1014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Fusion</a:t>
            </a:r>
          </a:p>
        </p:txBody>
      </p:sp>
      <p:sp>
        <p:nvSpPr>
          <p:cNvPr id="21" name="Origine 2" descr="I"/>
          <p:cNvSpPr/>
          <p:nvPr/>
        </p:nvSpPr>
        <p:spPr>
          <a:xfrm>
            <a:off x="6302681" y="1660554"/>
            <a:ext cx="1189303" cy="570610"/>
          </a:xfrm>
          <a:prstGeom prst="rect">
            <a:avLst/>
          </a:prstGeom>
          <a:solidFill>
            <a:srgbClr val="FFF9C4"/>
          </a:solidFill>
          <a:ln w="1014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038" tIns="36519" rIns="73038" bIns="365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Origine 2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>
            <a:off x="942295" y="2231164"/>
            <a:ext cx="0" cy="608651"/>
          </a:xfrm>
          <a:prstGeom prst="line">
            <a:avLst/>
          </a:prstGeom>
          <a:ln w="101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2"/>
            <a:endCxn id="14" idx="0"/>
          </p:cNvCxnSpPr>
          <p:nvPr/>
        </p:nvCxnSpPr>
        <p:spPr>
          <a:xfrm>
            <a:off x="942295" y="3410425"/>
            <a:ext cx="0" cy="608650"/>
          </a:xfrm>
          <a:prstGeom prst="line">
            <a:avLst/>
          </a:prstGeom>
          <a:ln w="101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--D"/>
          <p:cNvCxnSpPr>
            <a:stCxn id="14" idx="2"/>
            <a:endCxn id="15" idx="0"/>
          </p:cNvCxnSpPr>
          <p:nvPr/>
        </p:nvCxnSpPr>
        <p:spPr>
          <a:xfrm>
            <a:off x="942295" y="4589685"/>
            <a:ext cx="0" cy="608651"/>
          </a:xfrm>
          <a:prstGeom prst="line">
            <a:avLst/>
          </a:prstGeom>
          <a:ln w="101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--F"/>
          <p:cNvCxnSpPr>
            <a:stCxn id="16" idx="2"/>
            <a:endCxn id="17" idx="0"/>
          </p:cNvCxnSpPr>
          <p:nvPr/>
        </p:nvCxnSpPr>
        <p:spPr>
          <a:xfrm flipH="1">
            <a:off x="2368972" y="2231164"/>
            <a:ext cx="713338" cy="608651"/>
          </a:xfrm>
          <a:prstGeom prst="line">
            <a:avLst/>
          </a:prstGeom>
          <a:ln w="101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--G"/>
          <p:cNvCxnSpPr>
            <a:stCxn id="16" idx="2"/>
            <a:endCxn id="18" idx="0"/>
          </p:cNvCxnSpPr>
          <p:nvPr/>
        </p:nvCxnSpPr>
        <p:spPr>
          <a:xfrm>
            <a:off x="3082310" y="2231164"/>
            <a:ext cx="713339" cy="608651"/>
          </a:xfrm>
          <a:prstGeom prst="line">
            <a:avLst/>
          </a:prstGeom>
          <a:ln w="101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H--J"/>
          <p:cNvCxnSpPr>
            <a:stCxn id="19" idx="2"/>
            <a:endCxn id="20" idx="0"/>
          </p:cNvCxnSpPr>
          <p:nvPr/>
        </p:nvCxnSpPr>
        <p:spPr>
          <a:xfrm>
            <a:off x="5251541" y="2231164"/>
            <a:ext cx="822896" cy="608651"/>
          </a:xfrm>
          <a:prstGeom prst="line">
            <a:avLst/>
          </a:prstGeom>
          <a:ln w="101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I--J"/>
          <p:cNvCxnSpPr>
            <a:stCxn id="21" idx="2"/>
            <a:endCxn id="20" idx="0"/>
          </p:cNvCxnSpPr>
          <p:nvPr/>
        </p:nvCxnSpPr>
        <p:spPr>
          <a:xfrm flipH="1">
            <a:off x="6074437" y="2231164"/>
            <a:ext cx="822895" cy="608651"/>
          </a:xfrm>
          <a:prstGeom prst="line">
            <a:avLst/>
          </a:prstGeom>
          <a:ln w="101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A[Depart] --&gt; B[Etape 2] --&gt; C[Etape 3] --&gt; D[Fin]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E[Source] --&gt; F[Cible 1] &amp; G[Cible 2]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H[Origine 1] &amp; I[Origine 2] --&gt; J[Fusion]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A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B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C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D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E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F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G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H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J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I fill:#FFF9C4,stroke:#F9A825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edge-labels</a:t>
            </a:r>
          </a:p>
        </p:txBody>
      </p:sp>
      <p:sp>
        <p:nvSpPr>
          <p:cNvPr id="12" name="Debut" descr="A"/>
          <p:cNvSpPr/>
          <p:nvPr/>
        </p:nvSpPr>
        <p:spPr>
          <a:xfrm>
            <a:off x="2196862" y="1028700"/>
            <a:ext cx="617937" cy="435576"/>
          </a:xfrm>
          <a:prstGeom prst="rect">
            <a:avLst/>
          </a:prstGeom>
          <a:solidFill>
            <a:srgbClr val="E1BEE7"/>
          </a:solidFill>
          <a:ln w="774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Action" descr="B"/>
          <p:cNvSpPr/>
          <p:nvPr/>
        </p:nvSpPr>
        <p:spPr>
          <a:xfrm>
            <a:off x="1771741" y="1928890"/>
            <a:ext cx="701567" cy="435576"/>
          </a:xfrm>
          <a:prstGeom prst="rect">
            <a:avLst/>
          </a:prstGeom>
          <a:solidFill>
            <a:srgbClr val="FFCDD2"/>
          </a:solidFill>
          <a:ln w="774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Action</a:t>
            </a:r>
          </a:p>
        </p:txBody>
      </p:sp>
      <p:sp>
        <p:nvSpPr>
          <p:cNvPr id="14" name="Suite" descr="C"/>
          <p:cNvSpPr/>
          <p:nvPr/>
        </p:nvSpPr>
        <p:spPr>
          <a:xfrm>
            <a:off x="1813556" y="2829079"/>
            <a:ext cx="617937" cy="435576"/>
          </a:xfrm>
          <a:prstGeom prst="rect">
            <a:avLst/>
          </a:prstGeom>
          <a:solidFill>
            <a:srgbClr val="FFF9C4"/>
          </a:solidFill>
          <a:ln w="774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Suite</a:t>
            </a:r>
          </a:p>
        </p:txBody>
      </p:sp>
      <p:sp>
        <p:nvSpPr>
          <p:cNvPr id="15" name="Test" descr="D"/>
          <p:cNvSpPr/>
          <p:nvPr/>
        </p:nvSpPr>
        <p:spPr>
          <a:xfrm>
            <a:off x="1588218" y="3729269"/>
            <a:ext cx="1068612" cy="871151"/>
          </a:xfrm>
          <a:prstGeom prst="diamond">
            <a:avLst/>
          </a:prstGeom>
          <a:solidFill>
            <a:srgbClr val="BBDEFB"/>
          </a:solidFill>
          <a:ln w="774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16" name="Rapide" descr="E"/>
          <p:cNvSpPr/>
          <p:nvPr/>
        </p:nvSpPr>
        <p:spPr>
          <a:xfrm>
            <a:off x="1288542" y="5065035"/>
            <a:ext cx="701567" cy="435576"/>
          </a:xfrm>
          <a:prstGeom prst="rect">
            <a:avLst/>
          </a:prstGeom>
          <a:solidFill>
            <a:srgbClr val="C8E6C9"/>
          </a:solidFill>
          <a:ln w="774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Rapide</a:t>
            </a:r>
          </a:p>
        </p:txBody>
      </p:sp>
      <p:sp>
        <p:nvSpPr>
          <p:cNvPr id="17" name="Lent" descr="F"/>
          <p:cNvSpPr/>
          <p:nvPr/>
        </p:nvSpPr>
        <p:spPr>
          <a:xfrm>
            <a:off x="2338570" y="5065035"/>
            <a:ext cx="534306" cy="435576"/>
          </a:xfrm>
          <a:prstGeom prst="rect">
            <a:avLst/>
          </a:prstGeom>
          <a:solidFill>
            <a:srgbClr val="FFE0B2"/>
          </a:solidFill>
          <a:ln w="774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Lent</a:t>
            </a:r>
          </a:p>
        </p:txBody>
      </p:sp>
      <p:sp>
        <p:nvSpPr>
          <p:cNvPr id="18" name="Repeter" descr="G"/>
          <p:cNvSpPr/>
          <p:nvPr/>
        </p:nvSpPr>
        <p:spPr>
          <a:xfrm>
            <a:off x="2596431" y="5965224"/>
            <a:ext cx="785198" cy="435576"/>
          </a:xfrm>
          <a:prstGeom prst="rect">
            <a:avLst/>
          </a:prstGeom>
          <a:solidFill>
            <a:srgbClr val="E1BEE7"/>
          </a:solidFill>
          <a:ln w="774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Repeter</a:t>
            </a:r>
          </a:p>
        </p:txBody>
      </p:sp>
      <p:sp>
        <p:nvSpPr>
          <p:cNvPr id="19" name="Autre depart" descr="H"/>
          <p:cNvSpPr/>
          <p:nvPr/>
        </p:nvSpPr>
        <p:spPr>
          <a:xfrm>
            <a:off x="3704535" y="1028700"/>
            <a:ext cx="1161535" cy="435576"/>
          </a:xfrm>
          <a:prstGeom prst="rect">
            <a:avLst/>
          </a:prstGeom>
          <a:solidFill>
            <a:srgbClr val="FFCDD2"/>
          </a:solidFill>
          <a:ln w="774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Autre depart</a:t>
            </a:r>
          </a:p>
        </p:txBody>
      </p:sp>
      <p:sp>
        <p:nvSpPr>
          <p:cNvPr id="20" name="Suite mediane" descr="I"/>
          <p:cNvSpPr/>
          <p:nvPr/>
        </p:nvSpPr>
        <p:spPr>
          <a:xfrm>
            <a:off x="3662720" y="1928890"/>
            <a:ext cx="1245166" cy="435576"/>
          </a:xfrm>
          <a:prstGeom prst="rect">
            <a:avLst/>
          </a:prstGeom>
          <a:solidFill>
            <a:srgbClr val="FFF9C4"/>
          </a:solidFill>
          <a:ln w="774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Suite mediane</a:t>
            </a:r>
          </a:p>
        </p:txBody>
      </p:sp>
      <p:sp>
        <p:nvSpPr>
          <p:cNvPr id="21" name="Fin mediane" descr="J"/>
          <p:cNvSpPr/>
          <p:nvPr/>
        </p:nvSpPr>
        <p:spPr>
          <a:xfrm>
            <a:off x="3746350" y="2829079"/>
            <a:ext cx="1077905" cy="435576"/>
          </a:xfrm>
          <a:prstGeom prst="rect">
            <a:avLst/>
          </a:prstGeom>
          <a:solidFill>
            <a:srgbClr val="BBDEFB"/>
          </a:solidFill>
          <a:ln w="774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Fin mediane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 flipH="1">
            <a:off x="2122524" y="1464276"/>
            <a:ext cx="383307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Label"/>
          <p:cNvSpPr txBox="1"/>
          <p:nvPr/>
        </p:nvSpPr>
        <p:spPr>
          <a:xfrm>
            <a:off x="2051392" y="1626891"/>
            <a:ext cx="525571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etape 1</a:t>
            </a:r>
          </a:p>
        </p:txBody>
      </p:sp>
      <p:cxnSp>
        <p:nvCxnSpPr>
          <p:cNvPr id="24" name="B--C"/>
          <p:cNvCxnSpPr>
            <a:stCxn id="13" idx="2"/>
            <a:endCxn id="14" idx="0"/>
          </p:cNvCxnSpPr>
          <p:nvPr/>
        </p:nvCxnSpPr>
        <p:spPr>
          <a:xfrm>
            <a:off x="2122524" y="236446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Label"/>
          <p:cNvSpPr txBox="1"/>
          <p:nvPr/>
        </p:nvSpPr>
        <p:spPr>
          <a:xfrm>
            <a:off x="1724815" y="2527080"/>
            <a:ext cx="795419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sans fleche</a:t>
            </a:r>
          </a:p>
        </p:txBody>
      </p:sp>
      <p:cxnSp>
        <p:nvCxnSpPr>
          <p:cNvPr id="26" name="C--D"/>
          <p:cNvCxnSpPr>
            <a:stCxn id="14" idx="2"/>
            <a:endCxn id="15" idx="0"/>
          </p:cNvCxnSpPr>
          <p:nvPr/>
        </p:nvCxnSpPr>
        <p:spPr>
          <a:xfrm>
            <a:off x="2122524" y="326465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1774993" y="3427270"/>
            <a:ext cx="695063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optionnel</a:t>
            </a:r>
          </a:p>
        </p:txBody>
      </p:sp>
      <p:cxnSp>
        <p:nvCxnSpPr>
          <p:cNvPr id="28" name="D--E"/>
          <p:cNvCxnSpPr>
            <a:stCxn id="15" idx="2"/>
            <a:endCxn id="16" idx="0"/>
          </p:cNvCxnSpPr>
          <p:nvPr/>
        </p:nvCxnSpPr>
        <p:spPr>
          <a:xfrm flipH="1">
            <a:off x="1639326" y="4600421"/>
            <a:ext cx="483198" cy="464614"/>
          </a:xfrm>
          <a:prstGeom prst="line">
            <a:avLst/>
          </a:prstGeom>
          <a:ln w="1548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geLabel"/>
          <p:cNvSpPr txBox="1"/>
          <p:nvPr/>
        </p:nvSpPr>
        <p:spPr>
          <a:xfrm>
            <a:off x="1617024" y="4763036"/>
            <a:ext cx="527802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si vrai</a:t>
            </a:r>
          </a:p>
        </p:txBody>
      </p:sp>
      <p:cxnSp>
        <p:nvCxnSpPr>
          <p:cNvPr id="30" name="D--F"/>
          <p:cNvCxnSpPr>
            <a:stCxn id="15" idx="2"/>
            <a:endCxn id="17" idx="0"/>
          </p:cNvCxnSpPr>
          <p:nvPr/>
        </p:nvCxnSpPr>
        <p:spPr>
          <a:xfrm>
            <a:off x="2122524" y="4600421"/>
            <a:ext cx="483199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Label"/>
          <p:cNvSpPr txBox="1"/>
          <p:nvPr/>
        </p:nvSpPr>
        <p:spPr>
          <a:xfrm>
            <a:off x="2100223" y="4763036"/>
            <a:ext cx="527802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si faux</a:t>
            </a:r>
          </a:p>
        </p:txBody>
      </p:sp>
      <p:cxnSp>
        <p:nvCxnSpPr>
          <p:cNvPr id="32" name="F--G"/>
          <p:cNvCxnSpPr>
            <a:stCxn id="17" idx="2"/>
            <a:endCxn id="18" idx="0"/>
          </p:cNvCxnSpPr>
          <p:nvPr/>
        </p:nvCxnSpPr>
        <p:spPr>
          <a:xfrm>
            <a:off x="2605723" y="5500610"/>
            <a:ext cx="383306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--A"/>
          <p:cNvCxnSpPr>
            <a:stCxn id="18" idx="0"/>
            <a:endCxn id="12" idx="2"/>
          </p:cNvCxnSpPr>
          <p:nvPr/>
        </p:nvCxnSpPr>
        <p:spPr>
          <a:xfrm flipH="1" flipV="1">
            <a:off x="2505831" y="1464276"/>
            <a:ext cx="483198" cy="4500948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H--I"/>
          <p:cNvCxnSpPr>
            <a:stCxn id="19" idx="2"/>
            <a:endCxn id="20" idx="0"/>
          </p:cNvCxnSpPr>
          <p:nvPr/>
        </p:nvCxnSpPr>
        <p:spPr>
          <a:xfrm>
            <a:off x="4285303" y="1464276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dgeLabel"/>
          <p:cNvSpPr txBox="1"/>
          <p:nvPr/>
        </p:nvSpPr>
        <p:spPr>
          <a:xfrm>
            <a:off x="3753784" y="1626891"/>
            <a:ext cx="1063037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syntaxe mediane</a:t>
            </a:r>
          </a:p>
        </p:txBody>
      </p:sp>
      <p:cxnSp>
        <p:nvCxnSpPr>
          <p:cNvPr id="36" name="I--J"/>
          <p:cNvCxnSpPr>
            <a:stCxn id="20" idx="2"/>
            <a:endCxn id="21" idx="0"/>
          </p:cNvCxnSpPr>
          <p:nvPr/>
        </p:nvCxnSpPr>
        <p:spPr>
          <a:xfrm>
            <a:off x="4285303" y="236446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dgeLabel"/>
          <p:cNvSpPr txBox="1"/>
          <p:nvPr/>
        </p:nvSpPr>
        <p:spPr>
          <a:xfrm>
            <a:off x="3653428" y="2527080"/>
            <a:ext cx="1263750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mediane pointillee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A[Debut] --&gt;|etape 1| B[Action]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B ---|sans fleche| C[Suite]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C -.-&gt;|optionnel| D{Test}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D ==&gt;|si vrai| E[Rapide]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D --&gt;|si faux| F[Lent]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F --&gt; G[Repeter] --&gt; 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H[Autre depart]-- syntaxe mediane --&gt;I[Suite mediane]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I-. mediane pointillee .-&gt;J[Fin mediane]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A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B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C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D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E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F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G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H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I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J fill:#BBDEFB,stroke:#1565C0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edge-types-extended</a:t>
            </a:r>
          </a:p>
        </p:txBody>
      </p:sp>
      <p:sp>
        <p:nvSpPr>
          <p:cNvPr id="12" name="Fin" descr="F"/>
          <p:cNvSpPr/>
          <p:nvPr/>
        </p:nvSpPr>
        <p:spPr>
          <a:xfrm>
            <a:off x="1591368" y="1028700"/>
            <a:ext cx="296708" cy="286767"/>
          </a:xfrm>
          <a:prstGeom prst="rect">
            <a:avLst/>
          </a:prstGeom>
          <a:solidFill>
            <a:srgbClr val="FFCDD2"/>
          </a:solidFill>
          <a:ln w="509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Fin</a:t>
            </a:r>
          </a:p>
        </p:txBody>
      </p:sp>
      <p:sp>
        <p:nvSpPr>
          <p:cNvPr id="13" name="Ligne pointillee" descr="G"/>
          <p:cNvSpPr/>
          <p:nvPr/>
        </p:nvSpPr>
        <p:spPr>
          <a:xfrm>
            <a:off x="1403249" y="1621352"/>
            <a:ext cx="672946" cy="401474"/>
          </a:xfrm>
          <a:prstGeom prst="rect">
            <a:avLst/>
          </a:prstGeom>
          <a:solidFill>
            <a:srgbClr val="FFF9C4"/>
          </a:solidFill>
          <a:ln w="509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Ligne pointillee</a:t>
            </a:r>
          </a:p>
        </p:txBody>
      </p:sp>
      <p:sp>
        <p:nvSpPr>
          <p:cNvPr id="14" name="Ligne epaisse" descr="H"/>
          <p:cNvSpPr/>
          <p:nvPr/>
        </p:nvSpPr>
        <p:spPr>
          <a:xfrm>
            <a:off x="1329836" y="2328710"/>
            <a:ext cx="819771" cy="286767"/>
          </a:xfrm>
          <a:prstGeom prst="rect">
            <a:avLst/>
          </a:prstGeom>
          <a:solidFill>
            <a:srgbClr val="BBDEFB"/>
          </a:solidFill>
          <a:ln w="509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Ligne epaisse</a:t>
            </a:r>
          </a:p>
        </p:txBody>
      </p:sp>
      <p:sp>
        <p:nvSpPr>
          <p:cNvPr id="15" name="Bidirectionnel" descr="I"/>
          <p:cNvSpPr/>
          <p:nvPr/>
        </p:nvSpPr>
        <p:spPr>
          <a:xfrm>
            <a:off x="1288542" y="2921362"/>
            <a:ext cx="902360" cy="286767"/>
          </a:xfrm>
          <a:prstGeom prst="rect">
            <a:avLst/>
          </a:prstGeom>
          <a:solidFill>
            <a:srgbClr val="C8E6C9"/>
          </a:solidFill>
          <a:ln w="509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Bidirectionnel</a:t>
            </a:r>
          </a:p>
        </p:txBody>
      </p:sp>
      <p:sp>
        <p:nvSpPr>
          <p:cNvPr id="16" name="Tete cercle" descr="J"/>
          <p:cNvSpPr/>
          <p:nvPr/>
        </p:nvSpPr>
        <p:spPr>
          <a:xfrm>
            <a:off x="1384896" y="3514013"/>
            <a:ext cx="709652" cy="286767"/>
          </a:xfrm>
          <a:prstGeom prst="rect">
            <a:avLst/>
          </a:prstGeom>
          <a:solidFill>
            <a:srgbClr val="FFE0B2"/>
          </a:solidFill>
          <a:ln w="509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Tete cercle</a:t>
            </a:r>
          </a:p>
        </p:txBody>
      </p:sp>
      <p:sp>
        <p:nvSpPr>
          <p:cNvPr id="17" name="Tete croix" descr="K"/>
          <p:cNvSpPr/>
          <p:nvPr/>
        </p:nvSpPr>
        <p:spPr>
          <a:xfrm>
            <a:off x="1412425" y="4106665"/>
            <a:ext cx="654593" cy="286767"/>
          </a:xfrm>
          <a:prstGeom prst="rect">
            <a:avLst/>
          </a:prstGeom>
          <a:solidFill>
            <a:srgbClr val="E1BEE7"/>
          </a:solidFill>
          <a:ln w="509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Tete croix</a:t>
            </a:r>
          </a:p>
        </p:txBody>
      </p:sp>
      <p:sp>
        <p:nvSpPr>
          <p:cNvPr id="18" name="Cercle des deux cotes" descr="L"/>
          <p:cNvSpPr/>
          <p:nvPr/>
        </p:nvSpPr>
        <p:spPr>
          <a:xfrm>
            <a:off x="1412425" y="4699316"/>
            <a:ext cx="654593" cy="401474"/>
          </a:xfrm>
          <a:prstGeom prst="rect">
            <a:avLst/>
          </a:prstGeom>
          <a:solidFill>
            <a:srgbClr val="FFCDD2"/>
          </a:solidFill>
          <a:ln w="509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Cercle des deux cotes</a:t>
            </a:r>
          </a:p>
        </p:txBody>
      </p:sp>
      <p:sp>
        <p:nvSpPr>
          <p:cNvPr id="19" name="Croix des deux cotes" descr="M"/>
          <p:cNvSpPr/>
          <p:nvPr/>
        </p:nvSpPr>
        <p:spPr>
          <a:xfrm>
            <a:off x="1316072" y="5406675"/>
            <a:ext cx="847301" cy="401474"/>
          </a:xfrm>
          <a:prstGeom prst="rect">
            <a:avLst/>
          </a:prstGeom>
          <a:solidFill>
            <a:srgbClr val="FFF9C4"/>
          </a:solidFill>
          <a:ln w="509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Croix des deux cotes</a:t>
            </a:r>
          </a:p>
        </p:txBody>
      </p:sp>
      <p:sp>
        <p:nvSpPr>
          <p:cNvPr id="20" name="Invisible" descr="N"/>
          <p:cNvSpPr/>
          <p:nvPr/>
        </p:nvSpPr>
        <p:spPr>
          <a:xfrm>
            <a:off x="1426190" y="6114033"/>
            <a:ext cx="627064" cy="286767"/>
          </a:xfrm>
          <a:prstGeom prst="rect">
            <a:avLst/>
          </a:prstGeom>
          <a:solidFill>
            <a:srgbClr val="BBDEFB"/>
          </a:solidFill>
          <a:ln w="509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706" tIns="18353" rIns="36706" bIns="183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Invisible</a:t>
            </a:r>
          </a:p>
        </p:txBody>
      </p:sp>
      <p:cxnSp>
        <p:nvCxnSpPr>
          <p:cNvPr id="21" name="F--G"/>
          <p:cNvCxnSpPr>
            <a:stCxn id="12" idx="2"/>
            <a:endCxn id="13" idx="0"/>
          </p:cNvCxnSpPr>
          <p:nvPr/>
        </p:nvCxnSpPr>
        <p:spPr>
          <a:xfrm>
            <a:off x="1739722" y="1315467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--H"/>
          <p:cNvCxnSpPr>
            <a:stCxn id="13" idx="2"/>
            <a:endCxn id="14" idx="0"/>
          </p:cNvCxnSpPr>
          <p:nvPr/>
        </p:nvCxnSpPr>
        <p:spPr>
          <a:xfrm>
            <a:off x="1739722" y="2022825"/>
            <a:ext cx="0" cy="305885"/>
          </a:xfrm>
          <a:prstGeom prst="line">
            <a:avLst/>
          </a:prstGeom>
          <a:ln w="1019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H--I"/>
          <p:cNvCxnSpPr>
            <a:stCxn id="14" idx="2"/>
            <a:endCxn id="15" idx="0"/>
          </p:cNvCxnSpPr>
          <p:nvPr/>
        </p:nvCxnSpPr>
        <p:spPr>
          <a:xfrm>
            <a:off x="1739722" y="2615477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I--J"/>
          <p:cNvCxnSpPr>
            <a:stCxn id="15" idx="2"/>
            <a:endCxn id="16" idx="0"/>
          </p:cNvCxnSpPr>
          <p:nvPr/>
        </p:nvCxnSpPr>
        <p:spPr>
          <a:xfrm>
            <a:off x="1739722" y="3208128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J--K"/>
          <p:cNvCxnSpPr>
            <a:stCxn id="16" idx="2"/>
            <a:endCxn id="17" idx="0"/>
          </p:cNvCxnSpPr>
          <p:nvPr/>
        </p:nvCxnSpPr>
        <p:spPr>
          <a:xfrm>
            <a:off x="1739722" y="3800780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K--L"/>
          <p:cNvCxnSpPr>
            <a:stCxn id="17" idx="2"/>
            <a:endCxn id="18" idx="0"/>
          </p:cNvCxnSpPr>
          <p:nvPr/>
        </p:nvCxnSpPr>
        <p:spPr>
          <a:xfrm>
            <a:off x="1739722" y="4393432"/>
            <a:ext cx="0" cy="305884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--M"/>
          <p:cNvCxnSpPr>
            <a:stCxn id="18" idx="2"/>
            <a:endCxn id="19" idx="0"/>
          </p:cNvCxnSpPr>
          <p:nvPr/>
        </p:nvCxnSpPr>
        <p:spPr>
          <a:xfrm>
            <a:off x="1739722" y="5100790"/>
            <a:ext cx="0" cy="305885"/>
          </a:xfrm>
          <a:prstGeom prst="line">
            <a:avLst/>
          </a:prstGeom>
          <a:ln w="5098" cap="flat" cmpd="sng" algn="ctr">
            <a:solidFill>
              <a:srgbClr val="2F5496"/>
            </a:solidFill>
            <a:prstDash val="solid"/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M--N"/>
          <p:cNvCxnSpPr>
            <a:stCxn id="19" idx="2"/>
            <a:endCxn id="20" idx="0"/>
          </p:cNvCxnSpPr>
          <p:nvPr/>
        </p:nvCxnSpPr>
        <p:spPr>
          <a:xfrm>
            <a:off x="1739722" y="5808148"/>
            <a:ext cx="0" cy="305885"/>
          </a:xfrm>
          <a:prstGeom prst="line">
            <a:avLst/>
          </a:prstGeom>
          <a:ln w="5098" cap="flat" cmpd="sng" algn="ctr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F[Fin] -.- G[Ligne pointillee]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G === H[Ligne epaisse]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H &lt;--&gt; I[Bidirectionnel]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I --o J[Tete cercle]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J --x K[Tete croix]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K o--o L[Cercle des deux cotes]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L x--x M[Croix des deux cotes]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M ~~~ N[Invisible]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F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G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H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I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J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K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L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M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N fill:#BBDEFB,stroke:#1565C0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edge-types</a:t>
            </a:r>
          </a:p>
        </p:txBody>
      </p:sp>
      <p:sp>
        <p:nvSpPr>
          <p:cNvPr id="12" name="Depart" descr="A"/>
          <p:cNvSpPr/>
          <p:nvPr/>
        </p:nvSpPr>
        <p:spPr>
          <a:xfrm>
            <a:off x="457200" y="3474053"/>
            <a:ext cx="775367" cy="481395"/>
          </a:xfrm>
          <a:prstGeom prst="rect">
            <a:avLst/>
          </a:prstGeom>
          <a:solidFill>
            <a:srgbClr val="FFF9C4"/>
          </a:solidFill>
          <a:ln w="855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619" tIns="30809" rIns="61619" bIns="308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Depart</a:t>
            </a:r>
          </a:p>
        </p:txBody>
      </p:sp>
      <p:sp>
        <p:nvSpPr>
          <p:cNvPr id="13" name="Fleche" descr="B"/>
          <p:cNvSpPr/>
          <p:nvPr/>
        </p:nvSpPr>
        <p:spPr>
          <a:xfrm>
            <a:off x="1746055" y="3474053"/>
            <a:ext cx="775367" cy="481395"/>
          </a:xfrm>
          <a:prstGeom prst="rect">
            <a:avLst/>
          </a:prstGeom>
          <a:solidFill>
            <a:srgbClr val="BBDEFB"/>
          </a:solidFill>
          <a:ln w="855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619" tIns="30809" rIns="61619" bIns="308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Fleche</a:t>
            </a:r>
          </a:p>
        </p:txBody>
      </p:sp>
      <p:sp>
        <p:nvSpPr>
          <p:cNvPr id="14" name="Ligne" descr="C"/>
          <p:cNvSpPr/>
          <p:nvPr/>
        </p:nvSpPr>
        <p:spPr>
          <a:xfrm>
            <a:off x="3034909" y="3474053"/>
            <a:ext cx="682939" cy="481395"/>
          </a:xfrm>
          <a:prstGeom prst="rect">
            <a:avLst/>
          </a:prstGeom>
          <a:solidFill>
            <a:srgbClr val="C8E6C9"/>
          </a:solidFill>
          <a:ln w="855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619" tIns="30809" rIns="61619" bIns="308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Ligne</a:t>
            </a:r>
          </a:p>
        </p:txBody>
      </p:sp>
      <p:sp>
        <p:nvSpPr>
          <p:cNvPr id="15" name="Pointille" descr="D"/>
          <p:cNvSpPr/>
          <p:nvPr/>
        </p:nvSpPr>
        <p:spPr>
          <a:xfrm>
            <a:off x="4231336" y="3474053"/>
            <a:ext cx="1052650" cy="481395"/>
          </a:xfrm>
          <a:prstGeom prst="rect">
            <a:avLst/>
          </a:prstGeom>
          <a:solidFill>
            <a:srgbClr val="FFE0B2"/>
          </a:solidFill>
          <a:ln w="855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619" tIns="30809" rIns="61619" bIns="308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Pointille</a:t>
            </a:r>
          </a:p>
        </p:txBody>
      </p:sp>
      <p:sp>
        <p:nvSpPr>
          <p:cNvPr id="16" name="Epais" descr="E"/>
          <p:cNvSpPr/>
          <p:nvPr/>
        </p:nvSpPr>
        <p:spPr>
          <a:xfrm>
            <a:off x="5797474" y="3474053"/>
            <a:ext cx="682939" cy="481395"/>
          </a:xfrm>
          <a:prstGeom prst="rect">
            <a:avLst/>
          </a:prstGeom>
          <a:solidFill>
            <a:srgbClr val="E1BEE7"/>
          </a:solidFill>
          <a:ln w="855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619" tIns="30809" rIns="61619" bIns="308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Epais</a:t>
            </a:r>
          </a:p>
        </p:txBody>
      </p:sp>
      <p:sp>
        <p:nvSpPr>
          <p:cNvPr id="17" name="Fin" descr="F"/>
          <p:cNvSpPr/>
          <p:nvPr/>
        </p:nvSpPr>
        <p:spPr>
          <a:xfrm>
            <a:off x="6993901" y="3474053"/>
            <a:ext cx="498083" cy="481395"/>
          </a:xfrm>
          <a:prstGeom prst="rect">
            <a:avLst/>
          </a:prstGeom>
          <a:solidFill>
            <a:srgbClr val="FFCDD2"/>
          </a:solidFill>
          <a:ln w="855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619" tIns="30809" rIns="61619" bIns="308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8" name="A--B"/>
          <p:cNvCxnSpPr>
            <a:stCxn id="12" idx="3"/>
            <a:endCxn id="13" idx="1"/>
          </p:cNvCxnSpPr>
          <p:nvPr/>
        </p:nvCxnSpPr>
        <p:spPr>
          <a:xfrm>
            <a:off x="1232567" y="3714750"/>
            <a:ext cx="513488" cy="0"/>
          </a:xfrm>
          <a:prstGeom prst="line">
            <a:avLst/>
          </a:prstGeom>
          <a:ln w="855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B--C"/>
          <p:cNvCxnSpPr>
            <a:stCxn id="13" idx="3"/>
            <a:endCxn id="14" idx="1"/>
          </p:cNvCxnSpPr>
          <p:nvPr/>
        </p:nvCxnSpPr>
        <p:spPr>
          <a:xfrm>
            <a:off x="2521421" y="3714750"/>
            <a:ext cx="513488" cy="0"/>
          </a:xfrm>
          <a:prstGeom prst="line">
            <a:avLst/>
          </a:prstGeom>
          <a:ln w="8558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--D"/>
          <p:cNvCxnSpPr>
            <a:stCxn id="14" idx="3"/>
            <a:endCxn id="15" idx="1"/>
          </p:cNvCxnSpPr>
          <p:nvPr/>
        </p:nvCxnSpPr>
        <p:spPr>
          <a:xfrm>
            <a:off x="3717848" y="3714750"/>
            <a:ext cx="513488" cy="0"/>
          </a:xfrm>
          <a:prstGeom prst="line">
            <a:avLst/>
          </a:prstGeom>
          <a:ln w="8558" cap="flat" cmpd="sng" algn="ctr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--E"/>
          <p:cNvCxnSpPr>
            <a:stCxn id="15" idx="3"/>
            <a:endCxn id="16" idx="1"/>
          </p:cNvCxnSpPr>
          <p:nvPr/>
        </p:nvCxnSpPr>
        <p:spPr>
          <a:xfrm>
            <a:off x="5283986" y="3714750"/>
            <a:ext cx="513488" cy="0"/>
          </a:xfrm>
          <a:prstGeom prst="line">
            <a:avLst/>
          </a:prstGeom>
          <a:ln w="1711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--F"/>
          <p:cNvCxnSpPr>
            <a:stCxn id="16" idx="3"/>
            <a:endCxn id="17" idx="1"/>
          </p:cNvCxnSpPr>
          <p:nvPr/>
        </p:nvCxnSpPr>
        <p:spPr>
          <a:xfrm>
            <a:off x="6480413" y="3714750"/>
            <a:ext cx="513488" cy="0"/>
          </a:xfrm>
          <a:prstGeom prst="line">
            <a:avLst/>
          </a:prstGeom>
          <a:ln w="855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Label"/>
          <p:cNvSpPr txBox="1"/>
          <p:nvPr/>
        </p:nvSpPr>
        <p:spPr>
          <a:xfrm>
            <a:off x="6334582" y="3637727"/>
            <a:ext cx="805149" cy="1540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5674" tIns="0" rIns="25674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avec label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LR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A[Depart] --&gt; B[Fleche]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--- C[Ligne]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-.-&gt; D[Pointille]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 ==&gt; E[Epais]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 --&gt;|avec label| F[Fin]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fill:#C8E6C9,stroke:#2E7D32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fill:#FFE0B2,stroke:#E65100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F fill:#FFCDD2,stroke:#C62828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er-diagram</a:t>
            </a:r>
          </a:p>
        </p:txBody>
      </p:sp>
      <p:cxnSp>
        <p:nvCxnSpPr>
          <p:cNvPr id="11" name="Connector 1"/>
          <p:cNvCxnSpPr/>
          <p:nvPr/>
        </p:nvCxnSpPr>
        <p:spPr>
          <a:xfrm flipH="1">
            <a:off x="3889651" y="2403958"/>
            <a:ext cx="209635" cy="752094"/>
          </a:xfrm>
          <a:prstGeom prst="line">
            <a:avLst/>
          </a:prstGeom>
          <a:ln w="10744">
            <a:solidFill>
              <a:srgbClr val="2F5496"/>
            </a:solidFill>
            <a:prstDash val="solid"/>
            <a:tailEnd type="diamond" w="lg" len="lg"/>
          </a:ln>
        </p:spPr>
      </p:cxnSp>
      <p:sp>
        <p:nvSpPr>
          <p:cNvPr id="12" name="Text 2"/>
          <p:cNvSpPr txBox="1"/>
          <p:nvPr/>
        </p:nvSpPr>
        <p:spPr>
          <a:xfrm>
            <a:off x="3775287" y="2672563"/>
            <a:ext cx="438363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places</a:t>
            </a:r>
          </a:p>
        </p:txBody>
      </p:sp>
      <p:cxnSp>
        <p:nvCxnSpPr>
          <p:cNvPr id="13" name="Connector 3"/>
          <p:cNvCxnSpPr/>
          <p:nvPr/>
        </p:nvCxnSpPr>
        <p:spPr>
          <a:xfrm>
            <a:off x="3889651" y="4273448"/>
            <a:ext cx="209635" cy="752094"/>
          </a:xfrm>
          <a:prstGeom prst="line">
            <a:avLst/>
          </a:prstGeom>
          <a:ln w="10744">
            <a:solidFill>
              <a:srgbClr val="2F5496"/>
            </a:solidFill>
            <a:prstDash val="solid"/>
            <a:tailEnd type="triangle" w="lg" len="lg"/>
          </a:ln>
        </p:spPr>
      </p:cxnSp>
      <p:sp>
        <p:nvSpPr>
          <p:cNvPr id="14" name="Text 4"/>
          <p:cNvSpPr txBox="1"/>
          <p:nvPr/>
        </p:nvSpPr>
        <p:spPr>
          <a:xfrm>
            <a:off x="3723715" y="4542053"/>
            <a:ext cx="541508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contains</a:t>
            </a:r>
          </a:p>
        </p:txBody>
      </p:sp>
      <p:cxnSp>
        <p:nvCxnSpPr>
          <p:cNvPr id="15" name="Connector 5"/>
          <p:cNvCxnSpPr/>
          <p:nvPr/>
        </p:nvCxnSpPr>
        <p:spPr>
          <a:xfrm>
            <a:off x="4255015" y="2403958"/>
            <a:ext cx="1" cy="2621585"/>
          </a:xfrm>
          <a:prstGeom prst="line">
            <a:avLst/>
          </a:prstGeom>
          <a:ln w="10744">
            <a:solidFill>
              <a:srgbClr val="2F5496"/>
            </a:solidFill>
            <a:prstDash val="dash"/>
            <a:headEnd type="triangle" w="lg" len="lg"/>
            <a:tailEnd type="triangle" w="lg" len="lg"/>
          </a:ln>
        </p:spPr>
      </p:cxnSp>
      <p:sp>
        <p:nvSpPr>
          <p:cNvPr id="16" name="Text 6"/>
          <p:cNvSpPr txBox="1"/>
          <p:nvPr/>
        </p:nvSpPr>
        <p:spPr>
          <a:xfrm>
            <a:off x="4010047" y="3607308"/>
            <a:ext cx="489936" cy="2148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2" dirty="0">
                <a:solidFill>
                  <a:srgbClr val="000000"/>
                </a:solidFill>
              </a:rPr>
              <a:t>reviews</a:t>
            </a:r>
          </a:p>
        </p:txBody>
      </p:sp>
      <p:sp>
        <p:nvSpPr>
          <p:cNvPr id="17" name="CUSTOMER"/>
          <p:cNvSpPr/>
          <p:nvPr/>
        </p:nvSpPr>
        <p:spPr>
          <a:xfrm>
            <a:off x="3670531" y="1286561"/>
            <a:ext cx="1168969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18" name="CUSTOMER title"/>
          <p:cNvSpPr/>
          <p:nvPr/>
        </p:nvSpPr>
        <p:spPr>
          <a:xfrm>
            <a:off x="3670531" y="1286561"/>
            <a:ext cx="1168969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3670531" y="1625003"/>
            <a:ext cx="1168969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Text 10"/>
          <p:cNvSpPr txBox="1"/>
          <p:nvPr/>
        </p:nvSpPr>
        <p:spPr>
          <a:xfrm>
            <a:off x="3670531" y="1286561"/>
            <a:ext cx="1168969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3777973" y="1630375"/>
            <a:ext cx="954085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UK string email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name</a:t>
            </a:r>
          </a:p>
        </p:txBody>
      </p:sp>
      <p:sp>
        <p:nvSpPr>
          <p:cNvPr id="22" name="ORDER"/>
          <p:cNvSpPr/>
          <p:nvPr/>
        </p:nvSpPr>
        <p:spPr>
          <a:xfrm>
            <a:off x="3067782" y="3156052"/>
            <a:ext cx="1332281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23" name="ORDER title"/>
          <p:cNvSpPr/>
          <p:nvPr/>
        </p:nvSpPr>
        <p:spPr>
          <a:xfrm>
            <a:off x="3067782" y="3156052"/>
            <a:ext cx="1332281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4" name="Divider"/>
          <p:cNvSpPr/>
          <p:nvPr/>
        </p:nvSpPr>
        <p:spPr>
          <a:xfrm>
            <a:off x="3067782" y="3494493"/>
            <a:ext cx="1332281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3067782" y="3156052"/>
            <a:ext cx="1332281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ORDER</a:t>
            </a:r>
          </a:p>
        </p:txBody>
      </p:sp>
      <p:sp>
        <p:nvSpPr>
          <p:cNvPr id="26" name="Text 16"/>
          <p:cNvSpPr txBox="1"/>
          <p:nvPr/>
        </p:nvSpPr>
        <p:spPr>
          <a:xfrm>
            <a:off x="3175224" y="3499866"/>
            <a:ext cx="1117397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FK int 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status</a:t>
            </a:r>
          </a:p>
        </p:txBody>
      </p:sp>
      <p:sp>
        <p:nvSpPr>
          <p:cNvPr id="27" name="LINE-ITEM"/>
          <p:cNvSpPr/>
          <p:nvPr/>
        </p:nvSpPr>
        <p:spPr>
          <a:xfrm>
            <a:off x="3628629" y="5025542"/>
            <a:ext cx="1252774" cy="1117397"/>
          </a:xfrm>
          <a:prstGeom prst="rect">
            <a:avLst/>
          </a:prstGeom>
          <a:solidFill>
            <a:srgbClr val="FFFFFF"/>
          </a:solidFill>
          <a:ln w="10744">
            <a:solidFill>
              <a:srgbClr val="2F5496"/>
            </a:solidFill>
          </a:ln>
        </p:spPr>
      </p:sp>
      <p:sp>
        <p:nvSpPr>
          <p:cNvPr id="28" name="LINE-ITEM title"/>
          <p:cNvSpPr/>
          <p:nvPr/>
        </p:nvSpPr>
        <p:spPr>
          <a:xfrm>
            <a:off x="3628629" y="5025542"/>
            <a:ext cx="1252774" cy="34381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9" name="Divider"/>
          <p:cNvSpPr/>
          <p:nvPr/>
        </p:nvSpPr>
        <p:spPr>
          <a:xfrm>
            <a:off x="3628629" y="5363984"/>
            <a:ext cx="1252774" cy="1074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0" name="Text 20"/>
          <p:cNvSpPr txBox="1"/>
          <p:nvPr/>
        </p:nvSpPr>
        <p:spPr>
          <a:xfrm>
            <a:off x="3628629" y="5025542"/>
            <a:ext cx="1252774" cy="343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41" dirty="0">
                <a:solidFill>
                  <a:srgbClr val="000000"/>
                </a:solidFill>
              </a:rPr>
              <a:t>LINE-ITEM</a:t>
            </a:r>
          </a:p>
        </p:txBody>
      </p:sp>
      <p:sp>
        <p:nvSpPr>
          <p:cNvPr id="31" name="Text 21"/>
          <p:cNvSpPr txBox="1"/>
          <p:nvPr/>
        </p:nvSpPr>
        <p:spPr>
          <a:xfrm>
            <a:off x="3736071" y="5369357"/>
            <a:ext cx="1037890" cy="773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PK int 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FK int order_id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15" dirty="0">
                <a:solidFill>
                  <a:srgbClr val="000000"/>
                </a:solidFill>
              </a:rPr>
              <a:t>string product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erDiagram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CUSTOMER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id PK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string email UK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string name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ORDER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id PK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customer_id FK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string status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LINE-ITEM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id PK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int order_id FK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string product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CUSTOMER ||--o{ ORDER : places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ORDER ||--|{ LINE-ITEM : contains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CUSTOMER }|..|{ LINE-ITEM : "reviews"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escape-xml</a:t>
            </a:r>
          </a:p>
        </p:txBody>
      </p:sp>
      <p:sp>
        <p:nvSpPr>
          <p:cNvPr id="12" name="Requete &lt;GET&gt; &amp; valeur" descr="A"/>
          <p:cNvSpPr/>
          <p:nvPr/>
        </p:nvSpPr>
        <p:spPr>
          <a:xfrm>
            <a:off x="2249234" y="1028700"/>
            <a:ext cx="1619670" cy="767443"/>
          </a:xfrm>
          <a:prstGeom prst="rect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Requete &lt;GET&gt; &amp; valeur</a:t>
            </a:r>
          </a:p>
        </p:txBody>
      </p:sp>
      <p:sp>
        <p:nvSpPr>
          <p:cNvPr id="13" name="Valide?" descr="B"/>
          <p:cNvSpPr/>
          <p:nvPr/>
        </p:nvSpPr>
        <p:spPr>
          <a:xfrm>
            <a:off x="2070895" y="2380861"/>
            <a:ext cx="1976348" cy="1096347"/>
          </a:xfrm>
          <a:prstGeom prst="diamond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4" name="Resultat &lt;OK&gt;" descr="C"/>
          <p:cNvSpPr/>
          <p:nvPr/>
        </p:nvSpPr>
        <p:spPr>
          <a:xfrm>
            <a:off x="1288542" y="4171561"/>
            <a:ext cx="1602128" cy="548173"/>
          </a:xfrm>
          <a:prstGeom prst="rect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Resultat &lt;OK&gt;</a:t>
            </a:r>
          </a:p>
        </p:txBody>
      </p:sp>
      <p:sp>
        <p:nvSpPr>
          <p:cNvPr id="15" name="Erreur 500 &amp; echec" descr="D"/>
          <p:cNvSpPr/>
          <p:nvPr/>
        </p:nvSpPr>
        <p:spPr>
          <a:xfrm>
            <a:off x="3329209" y="4061927"/>
            <a:ext cx="1398646" cy="767443"/>
          </a:xfrm>
          <a:prstGeom prst="rect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Erreur 500 &amp; echec</a:t>
            </a:r>
          </a:p>
        </p:txBody>
      </p:sp>
      <p:sp>
        <p:nvSpPr>
          <p:cNvPr id="16" name="Sauver 'donnees' &amp; finir" descr="E"/>
          <p:cNvSpPr/>
          <p:nvPr/>
        </p:nvSpPr>
        <p:spPr>
          <a:xfrm>
            <a:off x="1420104" y="5414088"/>
            <a:ext cx="1339005" cy="986712"/>
          </a:xfrm>
          <a:prstGeom prst="rect">
            <a:avLst/>
          </a:prstGeom>
          <a:solidFill>
            <a:srgbClr val="D9E2F3"/>
          </a:solidFill>
          <a:ln w="974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0166" tIns="35083" rIns="70166" bIns="350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Sauver 'donnees' &amp; finir</a:t>
            </a:r>
          </a:p>
        </p:txBody>
      </p:sp>
      <p:cxnSp>
        <p:nvCxnSpPr>
          <p:cNvPr id="17" name="A--B"/>
          <p:cNvCxnSpPr>
            <a:stCxn id="12" idx="2"/>
            <a:endCxn id="13" idx="0"/>
          </p:cNvCxnSpPr>
          <p:nvPr/>
        </p:nvCxnSpPr>
        <p:spPr>
          <a:xfrm>
            <a:off x="3059069" y="1796143"/>
            <a:ext cx="0" cy="584718"/>
          </a:xfrm>
          <a:prstGeom prst="line">
            <a:avLst/>
          </a:prstGeom>
          <a:ln w="974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2"/>
            <a:endCxn id="14" idx="0"/>
          </p:cNvCxnSpPr>
          <p:nvPr/>
        </p:nvCxnSpPr>
        <p:spPr>
          <a:xfrm flipH="1">
            <a:off x="2089606" y="3477208"/>
            <a:ext cx="969463" cy="694353"/>
          </a:xfrm>
          <a:prstGeom prst="line">
            <a:avLst/>
          </a:prstGeom>
          <a:ln w="974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Label"/>
          <p:cNvSpPr txBox="1"/>
          <p:nvPr/>
        </p:nvSpPr>
        <p:spPr>
          <a:xfrm>
            <a:off x="2389567" y="3736677"/>
            <a:ext cx="369542" cy="175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9236" tIns="0" rIns="2923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0" name="B--D"/>
          <p:cNvCxnSpPr>
            <a:stCxn id="13" idx="2"/>
            <a:endCxn id="15" idx="0"/>
          </p:cNvCxnSpPr>
          <p:nvPr/>
        </p:nvCxnSpPr>
        <p:spPr>
          <a:xfrm>
            <a:off x="3059069" y="3477208"/>
            <a:ext cx="969463" cy="584719"/>
          </a:xfrm>
          <a:prstGeom prst="line">
            <a:avLst/>
          </a:prstGeom>
          <a:ln w="974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Label"/>
          <p:cNvSpPr txBox="1"/>
          <p:nvPr/>
        </p:nvSpPr>
        <p:spPr>
          <a:xfrm>
            <a:off x="3359030" y="3681859"/>
            <a:ext cx="369542" cy="175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9236" tIns="0" rIns="2923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2" name="C--E"/>
          <p:cNvCxnSpPr>
            <a:stCxn id="14" idx="2"/>
            <a:endCxn id="16" idx="0"/>
          </p:cNvCxnSpPr>
          <p:nvPr/>
        </p:nvCxnSpPr>
        <p:spPr>
          <a:xfrm>
            <a:off x="2089606" y="4719735"/>
            <a:ext cx="0" cy="694353"/>
          </a:xfrm>
          <a:prstGeom prst="line">
            <a:avLst/>
          </a:prstGeom>
          <a:ln w="974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A["Requete &lt;GET&gt; &amp; valeur"] --&gt; B{Valide?}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--&gt;|"oui"| C["Resultat &lt;OK&gt;"]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--&gt;|"non"| D["Erreur 500 &amp; echec"]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E["Sauver 'donnees' &amp; finir"]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eventmodeling</a:t>
            </a:r>
          </a:p>
        </p:txBody>
      </p:sp>
      <p:sp>
        <p:nvSpPr>
          <p:cNvPr id="11" name="Lane UI / Automation"/>
          <p:cNvSpPr/>
          <p:nvPr/>
        </p:nvSpPr>
        <p:spPr>
          <a:xfrm>
            <a:off x="457200" y="3074687"/>
            <a:ext cx="7034784" cy="228453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</p:sp>
      <p:sp>
        <p:nvSpPr>
          <p:cNvPr id="12" name="Box 2"/>
          <p:cNvSpPr/>
          <p:nvPr/>
        </p:nvSpPr>
        <p:spPr>
          <a:xfrm>
            <a:off x="480833" y="3133770"/>
            <a:ext cx="425396" cy="55144"/>
          </a:xfrm>
          <a:prstGeom prst="rect">
            <a:avLst/>
          </a:prstGeom>
          <a:noFill/>
          <a:ln>
            <a:noFill/>
          </a:ln>
        </p:spPr>
        <p:txBody>
          <a:bodyPr wrap="none" lIns="7878" tIns="0" rIns="787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UI / Automation</a:t>
            </a:r>
          </a:p>
        </p:txBody>
      </p:sp>
      <p:sp>
        <p:nvSpPr>
          <p:cNvPr id="13" name="Lane Command / Read Model"/>
          <p:cNvSpPr/>
          <p:nvPr/>
        </p:nvSpPr>
        <p:spPr>
          <a:xfrm>
            <a:off x="457200" y="3303140"/>
            <a:ext cx="7034784" cy="33874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</p:sp>
      <p:sp>
        <p:nvSpPr>
          <p:cNvPr id="14" name="Box 4"/>
          <p:cNvSpPr/>
          <p:nvPr/>
        </p:nvSpPr>
        <p:spPr>
          <a:xfrm>
            <a:off x="480833" y="3417367"/>
            <a:ext cx="425396" cy="110288"/>
          </a:xfrm>
          <a:prstGeom prst="rect">
            <a:avLst/>
          </a:prstGeom>
          <a:noFill/>
          <a:ln>
            <a:noFill/>
          </a:ln>
        </p:spPr>
        <p:txBody>
          <a:bodyPr wrap="none" lIns="7878" tIns="0" rIns="787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Command / Read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Model</a:t>
            </a:r>
          </a:p>
        </p:txBody>
      </p:sp>
      <p:sp>
        <p:nvSpPr>
          <p:cNvPr id="15" name="Lane Events"/>
          <p:cNvSpPr/>
          <p:nvPr/>
        </p:nvSpPr>
        <p:spPr>
          <a:xfrm>
            <a:off x="457200" y="3641881"/>
            <a:ext cx="7034784" cy="464784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</p:sp>
      <p:sp>
        <p:nvSpPr>
          <p:cNvPr id="16" name="Box 6"/>
          <p:cNvSpPr/>
          <p:nvPr/>
        </p:nvSpPr>
        <p:spPr>
          <a:xfrm>
            <a:off x="480833" y="3819130"/>
            <a:ext cx="425396" cy="55144"/>
          </a:xfrm>
          <a:prstGeom prst="rect">
            <a:avLst/>
          </a:prstGeom>
          <a:noFill/>
          <a:ln>
            <a:noFill/>
          </a:ln>
        </p:spPr>
        <p:txBody>
          <a:bodyPr wrap="none" lIns="7878" tIns="0" rIns="787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Events</a:t>
            </a:r>
          </a:p>
        </p:txBody>
      </p:sp>
      <p:sp>
        <p:nvSpPr>
          <p:cNvPr id="17" name="Lane Billing / Events"/>
          <p:cNvSpPr/>
          <p:nvPr/>
        </p:nvSpPr>
        <p:spPr>
          <a:xfrm>
            <a:off x="457200" y="4106666"/>
            <a:ext cx="7034784" cy="228453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</p:sp>
      <p:sp>
        <p:nvSpPr>
          <p:cNvPr id="18" name="Box 8"/>
          <p:cNvSpPr/>
          <p:nvPr/>
        </p:nvSpPr>
        <p:spPr>
          <a:xfrm>
            <a:off x="480833" y="4165748"/>
            <a:ext cx="425396" cy="55144"/>
          </a:xfrm>
          <a:prstGeom prst="rect">
            <a:avLst/>
          </a:prstGeom>
          <a:noFill/>
          <a:ln>
            <a:noFill/>
          </a:ln>
        </p:spPr>
        <p:txBody>
          <a:bodyPr wrap="none" lIns="7878" tIns="0" rIns="787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Billing / Events</a:t>
            </a:r>
          </a:p>
        </p:txBody>
      </p:sp>
      <p:sp>
        <p:nvSpPr>
          <p:cNvPr id="19" name="Box 9"/>
          <p:cNvSpPr/>
          <p:nvPr/>
        </p:nvSpPr>
        <p:spPr>
          <a:xfrm>
            <a:off x="929862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01</a:t>
            </a:r>
          </a:p>
        </p:txBody>
      </p:sp>
      <p:sp>
        <p:nvSpPr>
          <p:cNvPr id="20" name="Box 10"/>
          <p:cNvSpPr/>
          <p:nvPr/>
        </p:nvSpPr>
        <p:spPr>
          <a:xfrm>
            <a:off x="1520689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02</a:t>
            </a:r>
          </a:p>
        </p:txBody>
      </p:sp>
      <p:sp>
        <p:nvSpPr>
          <p:cNvPr id="21" name="Box 11"/>
          <p:cNvSpPr/>
          <p:nvPr/>
        </p:nvSpPr>
        <p:spPr>
          <a:xfrm>
            <a:off x="2111517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03</a:t>
            </a:r>
          </a:p>
        </p:txBody>
      </p:sp>
      <p:sp>
        <p:nvSpPr>
          <p:cNvPr id="22" name="Box 12"/>
          <p:cNvSpPr/>
          <p:nvPr/>
        </p:nvSpPr>
        <p:spPr>
          <a:xfrm>
            <a:off x="2702344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04</a:t>
            </a:r>
          </a:p>
        </p:txBody>
      </p:sp>
      <p:sp>
        <p:nvSpPr>
          <p:cNvPr id="23" name="Box 13"/>
          <p:cNvSpPr/>
          <p:nvPr/>
        </p:nvSpPr>
        <p:spPr>
          <a:xfrm>
            <a:off x="3293171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05</a:t>
            </a:r>
          </a:p>
        </p:txBody>
      </p:sp>
      <p:sp>
        <p:nvSpPr>
          <p:cNvPr id="24" name="Box 14"/>
          <p:cNvSpPr/>
          <p:nvPr/>
        </p:nvSpPr>
        <p:spPr>
          <a:xfrm>
            <a:off x="3883998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06</a:t>
            </a:r>
          </a:p>
        </p:txBody>
      </p:sp>
      <p:sp>
        <p:nvSpPr>
          <p:cNvPr id="25" name="Box 15"/>
          <p:cNvSpPr/>
          <p:nvPr/>
        </p:nvSpPr>
        <p:spPr>
          <a:xfrm>
            <a:off x="4474826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07</a:t>
            </a:r>
          </a:p>
        </p:txBody>
      </p:sp>
      <p:sp>
        <p:nvSpPr>
          <p:cNvPr id="26" name="Box 16"/>
          <p:cNvSpPr/>
          <p:nvPr/>
        </p:nvSpPr>
        <p:spPr>
          <a:xfrm>
            <a:off x="5065653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08</a:t>
            </a:r>
          </a:p>
        </p:txBody>
      </p:sp>
      <p:sp>
        <p:nvSpPr>
          <p:cNvPr id="27" name="Box 17"/>
          <p:cNvSpPr/>
          <p:nvPr/>
        </p:nvSpPr>
        <p:spPr>
          <a:xfrm>
            <a:off x="5656480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09 (reset)</a:t>
            </a:r>
          </a:p>
        </p:txBody>
      </p:sp>
      <p:sp>
        <p:nvSpPr>
          <p:cNvPr id="28" name="Box 18"/>
          <p:cNvSpPr/>
          <p:nvPr/>
        </p:nvSpPr>
        <p:spPr>
          <a:xfrm>
            <a:off x="6247308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10</a:t>
            </a:r>
          </a:p>
        </p:txBody>
      </p:sp>
      <p:sp>
        <p:nvSpPr>
          <p:cNvPr id="29" name="Box 19"/>
          <p:cNvSpPr/>
          <p:nvPr/>
        </p:nvSpPr>
        <p:spPr>
          <a:xfrm>
            <a:off x="6838135" y="2964399"/>
            <a:ext cx="590827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7F7F7F"/>
                </a:solidFill>
              </a:rPr>
              <a:t>11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1331953" y="3240119"/>
            <a:ext cx="262590" cy="126043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1" name="Connector 21"/>
          <p:cNvCxnSpPr/>
          <p:nvPr/>
        </p:nvCxnSpPr>
        <p:spPr>
          <a:xfrm>
            <a:off x="2001595" y="3578860"/>
            <a:ext cx="219843" cy="126043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2" name="Connector 22"/>
          <p:cNvCxnSpPr/>
          <p:nvPr/>
        </p:nvCxnSpPr>
        <p:spPr>
          <a:xfrm flipV="1">
            <a:off x="2566454" y="3468572"/>
            <a:ext cx="354496" cy="236331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3" name="Connector 23"/>
          <p:cNvCxnSpPr/>
          <p:nvPr/>
        </p:nvCxnSpPr>
        <p:spPr>
          <a:xfrm flipV="1">
            <a:off x="3130184" y="3240119"/>
            <a:ext cx="325974" cy="126043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4" name="Connector 24"/>
          <p:cNvCxnSpPr/>
          <p:nvPr/>
        </p:nvCxnSpPr>
        <p:spPr>
          <a:xfrm flipV="1">
            <a:off x="3249844" y="3237650"/>
            <a:ext cx="677482" cy="130980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5" name="Connector 25"/>
          <p:cNvCxnSpPr/>
          <p:nvPr/>
        </p:nvCxnSpPr>
        <p:spPr>
          <a:xfrm>
            <a:off x="4311839" y="3240119"/>
            <a:ext cx="325974" cy="126043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6" name="Connector 26"/>
          <p:cNvCxnSpPr/>
          <p:nvPr/>
        </p:nvCxnSpPr>
        <p:spPr>
          <a:xfrm>
            <a:off x="4807890" y="3468572"/>
            <a:ext cx="515526" cy="701115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7" name="Connector 27"/>
          <p:cNvCxnSpPr/>
          <p:nvPr/>
        </p:nvCxnSpPr>
        <p:spPr>
          <a:xfrm flipV="1">
            <a:off x="3249844" y="3208408"/>
            <a:ext cx="2449964" cy="189464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8" name="Connector 28"/>
          <p:cNvCxnSpPr/>
          <p:nvPr/>
        </p:nvCxnSpPr>
        <p:spPr>
          <a:xfrm>
            <a:off x="6084321" y="3240119"/>
            <a:ext cx="325974" cy="126043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9" name="Connector 29"/>
          <p:cNvCxnSpPr/>
          <p:nvPr/>
        </p:nvCxnSpPr>
        <p:spPr>
          <a:xfrm>
            <a:off x="6580372" y="3468572"/>
            <a:ext cx="515526" cy="701115"/>
          </a:xfrm>
          <a:prstGeom prst="line">
            <a:avLst/>
          </a:prstGeom>
          <a:ln w="3939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40" name="Frame 01"/>
          <p:cNvSpPr/>
          <p:nvPr/>
        </p:nvSpPr>
        <p:spPr>
          <a:xfrm>
            <a:off x="973189" y="3137709"/>
            <a:ext cx="504173" cy="10241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</p:sp>
      <p:sp>
        <p:nvSpPr>
          <p:cNvPr id="41" name="Box 31"/>
          <p:cNvSpPr/>
          <p:nvPr/>
        </p:nvSpPr>
        <p:spPr>
          <a:xfrm>
            <a:off x="988945" y="3161342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CartScreen</a:t>
            </a:r>
          </a:p>
        </p:txBody>
      </p:sp>
      <p:sp>
        <p:nvSpPr>
          <p:cNvPr id="42" name="Frame 02"/>
          <p:cNvSpPr/>
          <p:nvPr/>
        </p:nvSpPr>
        <p:spPr>
          <a:xfrm>
            <a:off x="1564017" y="3366162"/>
            <a:ext cx="504173" cy="212698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43" name="Box 33"/>
          <p:cNvSpPr/>
          <p:nvPr/>
        </p:nvSpPr>
        <p:spPr>
          <a:xfrm>
            <a:off x="1579772" y="3389795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AddItem</a:t>
            </a:r>
          </a:p>
        </p:txBody>
      </p:sp>
      <p:sp>
        <p:nvSpPr>
          <p:cNvPr id="44" name="Box 34"/>
          <p:cNvSpPr/>
          <p:nvPr/>
        </p:nvSpPr>
        <p:spPr>
          <a:xfrm>
            <a:off x="1579772" y="3452817"/>
            <a:ext cx="472662" cy="945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404040"/>
                </a:solidFill>
              </a:rPr>
              <a:t>description: 'john'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404040"/>
                </a:solidFill>
              </a:rPr>
              <a:t>price: 20.4</a:t>
            </a:r>
          </a:p>
        </p:txBody>
      </p:sp>
      <p:sp>
        <p:nvSpPr>
          <p:cNvPr id="45" name="Frame 03"/>
          <p:cNvSpPr/>
          <p:nvPr/>
        </p:nvSpPr>
        <p:spPr>
          <a:xfrm>
            <a:off x="2154844" y="3704903"/>
            <a:ext cx="504173" cy="212698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46" name="Box 36"/>
          <p:cNvSpPr/>
          <p:nvPr/>
        </p:nvSpPr>
        <p:spPr>
          <a:xfrm>
            <a:off x="2170599" y="3728536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ItemAdded</a:t>
            </a:r>
          </a:p>
        </p:txBody>
      </p:sp>
      <p:sp>
        <p:nvSpPr>
          <p:cNvPr id="47" name="Box 37"/>
          <p:cNvSpPr/>
          <p:nvPr/>
        </p:nvSpPr>
        <p:spPr>
          <a:xfrm>
            <a:off x="2170599" y="3791558"/>
            <a:ext cx="472662" cy="945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404040"/>
                </a:solidFill>
              </a:rPr>
              <a:t>{"itemId": "42",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404040"/>
                </a:solidFill>
              </a:rPr>
              <a:t>"qty": 1}</a:t>
            </a:r>
          </a:p>
        </p:txBody>
      </p:sp>
      <p:sp>
        <p:nvSpPr>
          <p:cNvPr id="48" name="Note"/>
          <p:cNvSpPr/>
          <p:nvPr/>
        </p:nvSpPr>
        <p:spPr>
          <a:xfrm>
            <a:off x="2154844" y="3941234"/>
            <a:ext cx="504173" cy="110288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49" name="Box 39"/>
          <p:cNvSpPr/>
          <p:nvPr/>
        </p:nvSpPr>
        <p:spPr>
          <a:xfrm>
            <a:off x="2170599" y="3949112"/>
            <a:ext cx="472662" cy="94532"/>
          </a:xfrm>
          <a:prstGeom prst="rect">
            <a:avLst/>
          </a:prstGeom>
          <a:noFill/>
          <a:ln>
            <a:noFill/>
          </a:ln>
        </p:spPr>
        <p:txBody>
          <a:bodyPr wrap="none" lIns="7878" tIns="0" rIns="787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333333"/>
                </a:solidFill>
              </a:rPr>
              <a:t>stock reserved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333333"/>
                </a:solidFill>
              </a:rPr>
              <a:t>elsewhere</a:t>
            </a:r>
          </a:p>
        </p:txBody>
      </p:sp>
      <p:sp>
        <p:nvSpPr>
          <p:cNvPr id="50" name="Frame 04"/>
          <p:cNvSpPr/>
          <p:nvPr/>
        </p:nvSpPr>
        <p:spPr>
          <a:xfrm>
            <a:off x="2745671" y="3366162"/>
            <a:ext cx="504173" cy="102410"/>
          </a:xfrm>
          <a:prstGeom prst="roundRect">
            <a:avLst/>
          </a:prstGeom>
          <a:solidFill>
            <a:srgbClr val="B5E0A0"/>
          </a:solidFill>
          <a:ln w="9525">
            <a:solidFill>
              <a:srgbClr val="333333"/>
            </a:solidFill>
          </a:ln>
        </p:spPr>
      </p:sp>
      <p:sp>
        <p:nvSpPr>
          <p:cNvPr id="51" name="Box 41"/>
          <p:cNvSpPr/>
          <p:nvPr/>
        </p:nvSpPr>
        <p:spPr>
          <a:xfrm>
            <a:off x="2761427" y="3389795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CartItems</a:t>
            </a:r>
          </a:p>
        </p:txBody>
      </p:sp>
      <p:sp>
        <p:nvSpPr>
          <p:cNvPr id="52" name="Frame 05"/>
          <p:cNvSpPr/>
          <p:nvPr/>
        </p:nvSpPr>
        <p:spPr>
          <a:xfrm>
            <a:off x="3336498" y="3137709"/>
            <a:ext cx="504173" cy="10241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</p:sp>
      <p:sp>
        <p:nvSpPr>
          <p:cNvPr id="53" name="Box 43"/>
          <p:cNvSpPr/>
          <p:nvPr/>
        </p:nvSpPr>
        <p:spPr>
          <a:xfrm>
            <a:off x="3352254" y="3161342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00" dirty="0">
                <a:solidFill>
                  <a:srgbClr val="333333"/>
                </a:solidFill>
              </a:rPr>
              <a:t>CartScreenUpdated</a:t>
            </a:r>
          </a:p>
        </p:txBody>
      </p:sp>
      <p:sp>
        <p:nvSpPr>
          <p:cNvPr id="54" name="Frame 06"/>
          <p:cNvSpPr/>
          <p:nvPr/>
        </p:nvSpPr>
        <p:spPr>
          <a:xfrm>
            <a:off x="3927326" y="3137709"/>
            <a:ext cx="504173" cy="102410"/>
          </a:xfrm>
          <a:prstGeom prst="roundRect">
            <a:avLst/>
          </a:prstGeom>
          <a:solidFill>
            <a:srgbClr val="D9D9D9"/>
          </a:solidFill>
          <a:ln w="9525">
            <a:solidFill>
              <a:srgbClr val="333333"/>
            </a:solidFill>
          </a:ln>
        </p:spPr>
      </p:sp>
      <p:sp>
        <p:nvSpPr>
          <p:cNvPr id="55" name="Box 45"/>
          <p:cNvSpPr/>
          <p:nvPr/>
        </p:nvSpPr>
        <p:spPr>
          <a:xfrm>
            <a:off x="3943081" y="3161342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PriceCalculator</a:t>
            </a:r>
          </a:p>
        </p:txBody>
      </p:sp>
      <p:sp>
        <p:nvSpPr>
          <p:cNvPr id="56" name="Frame 07"/>
          <p:cNvSpPr/>
          <p:nvPr/>
        </p:nvSpPr>
        <p:spPr>
          <a:xfrm>
            <a:off x="4518153" y="3366162"/>
            <a:ext cx="504173" cy="102410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57" name="Box 47"/>
          <p:cNvSpPr/>
          <p:nvPr/>
        </p:nvSpPr>
        <p:spPr>
          <a:xfrm>
            <a:off x="4533909" y="3389795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ApplyDiscount</a:t>
            </a:r>
          </a:p>
        </p:txBody>
      </p:sp>
      <p:sp>
        <p:nvSpPr>
          <p:cNvPr id="58" name="Frame 08"/>
          <p:cNvSpPr/>
          <p:nvPr/>
        </p:nvSpPr>
        <p:spPr>
          <a:xfrm>
            <a:off x="5108980" y="4169687"/>
            <a:ext cx="504173" cy="102410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59" name="Box 49"/>
          <p:cNvSpPr/>
          <p:nvPr/>
        </p:nvSpPr>
        <p:spPr>
          <a:xfrm>
            <a:off x="5124736" y="4193320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DiscountApplied</a:t>
            </a:r>
          </a:p>
        </p:txBody>
      </p:sp>
      <p:sp>
        <p:nvSpPr>
          <p:cNvPr id="60" name="Frame 09"/>
          <p:cNvSpPr/>
          <p:nvPr/>
        </p:nvSpPr>
        <p:spPr>
          <a:xfrm>
            <a:off x="5699808" y="3137709"/>
            <a:ext cx="504173" cy="10241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</p:sp>
      <p:sp>
        <p:nvSpPr>
          <p:cNvPr id="61" name="Box 51"/>
          <p:cNvSpPr/>
          <p:nvPr/>
        </p:nvSpPr>
        <p:spPr>
          <a:xfrm>
            <a:off x="5715563" y="3161342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Checkout</a:t>
            </a:r>
          </a:p>
        </p:txBody>
      </p:sp>
      <p:sp>
        <p:nvSpPr>
          <p:cNvPr id="62" name="Frame 10"/>
          <p:cNvSpPr/>
          <p:nvPr/>
        </p:nvSpPr>
        <p:spPr>
          <a:xfrm>
            <a:off x="6290635" y="3366162"/>
            <a:ext cx="504173" cy="102410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63" name="Box 53"/>
          <p:cNvSpPr/>
          <p:nvPr/>
        </p:nvSpPr>
        <p:spPr>
          <a:xfrm>
            <a:off x="6306391" y="3389795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Pay</a:t>
            </a:r>
          </a:p>
        </p:txBody>
      </p:sp>
      <p:sp>
        <p:nvSpPr>
          <p:cNvPr id="64" name="Frame 11"/>
          <p:cNvSpPr/>
          <p:nvPr/>
        </p:nvSpPr>
        <p:spPr>
          <a:xfrm>
            <a:off x="6881462" y="4169687"/>
            <a:ext cx="504173" cy="102410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65" name="Box 55"/>
          <p:cNvSpPr/>
          <p:nvPr/>
        </p:nvSpPr>
        <p:spPr>
          <a:xfrm>
            <a:off x="6897218" y="4193320"/>
            <a:ext cx="472662" cy="55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350" dirty="0">
                <a:solidFill>
                  <a:srgbClr val="333333"/>
                </a:solidFill>
              </a:rPr>
              <a:t>Paid</a:t>
            </a:r>
          </a:p>
        </p:txBody>
      </p:sp>
      <p:sp>
        <p:nvSpPr>
          <p:cNvPr id="66" name="Box 56"/>
          <p:cNvSpPr/>
          <p:nvPr/>
        </p:nvSpPr>
        <p:spPr>
          <a:xfrm>
            <a:off x="520222" y="4350874"/>
            <a:ext cx="6908741" cy="51205"/>
          </a:xfrm>
          <a:prstGeom prst="rect">
            <a:avLst/>
          </a:prstGeom>
          <a:noFill/>
          <a:ln>
            <a:noFill/>
          </a:ln>
        </p:spPr>
        <p:txBody>
          <a:bodyPr wrap="none" lIns="7878" tIns="0" rIns="787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350" dirty="0">
                <a:solidFill>
                  <a:srgbClr val="404040"/>
                </a:solidFill>
              </a:rPr>
              <a:t>Scenario @03: Given Event ItemAdded; When Command AddItem; Then Event ItemAdded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eventmodeling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01 ui CartScreen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02 cmd AddItem [[AddItem01]]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03 evt ItemAdded -&gt;&gt; 02 {"itemId": "42", "qty": 1}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04 rmo CartItems -&gt;&gt; 03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05 ui CartScreenUpdated -&gt;&gt; 04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06 pcr PriceCalculator -&gt;&gt; 04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07 cmd ApplyDiscount -&gt;&gt; 06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08 evt Billing.DiscountApplied -&gt;&gt; 07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rf 09 ui Checkout -&gt;&gt; 04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10 cmd Pay -&gt;&gt; 09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tf 11 evt Billing.Paid -&gt;&gt; 10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data AddItem01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description: 'john'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price: 20.4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note 03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stock reserved elsewhere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gwt 03 given evt ItemAdded when cmd AddItem then evt ItemAdded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fan-out</a:t>
            </a:r>
          </a:p>
        </p:txBody>
      </p:sp>
      <p:sp>
        <p:nvSpPr>
          <p:cNvPr id="12" name="Repartiteur" descr="A"/>
          <p:cNvSpPr/>
          <p:nvPr/>
        </p:nvSpPr>
        <p:spPr>
          <a:xfrm>
            <a:off x="2823150" y="1415450"/>
            <a:ext cx="2302884" cy="895831"/>
          </a:xfrm>
          <a:prstGeom prst="rect">
            <a:avLst/>
          </a:prstGeom>
          <a:solidFill>
            <a:srgbClr val="BBDEFB"/>
          </a:solidFill>
          <a:ln w="15926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4666" tIns="57333" rIns="114666" bIns="573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5" dirty="0">
                <a:solidFill>
                  <a:srgbClr val="000000"/>
                </a:solidFill>
              </a:rPr>
              <a:t>Repartiteur</a:t>
            </a:r>
          </a:p>
        </p:txBody>
      </p:sp>
      <p:sp>
        <p:nvSpPr>
          <p:cNvPr id="13" name="Branche 1" descr="B"/>
          <p:cNvSpPr/>
          <p:nvPr/>
        </p:nvSpPr>
        <p:spPr>
          <a:xfrm>
            <a:off x="457200" y="3266834"/>
            <a:ext cx="1867151" cy="895831"/>
          </a:xfrm>
          <a:prstGeom prst="rect">
            <a:avLst/>
          </a:prstGeom>
          <a:solidFill>
            <a:srgbClr val="C8E6C9"/>
          </a:solidFill>
          <a:ln w="15926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4666" tIns="57333" rIns="114666" bIns="573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5" dirty="0">
                <a:solidFill>
                  <a:srgbClr val="000000"/>
                </a:solidFill>
              </a:rPr>
              <a:t>Branche 1</a:t>
            </a:r>
          </a:p>
        </p:txBody>
      </p:sp>
      <p:sp>
        <p:nvSpPr>
          <p:cNvPr id="14" name="Branche 2" descr="C"/>
          <p:cNvSpPr/>
          <p:nvPr/>
        </p:nvSpPr>
        <p:spPr>
          <a:xfrm>
            <a:off x="3041016" y="3266834"/>
            <a:ext cx="1867151" cy="895831"/>
          </a:xfrm>
          <a:prstGeom prst="rect">
            <a:avLst/>
          </a:prstGeom>
          <a:solidFill>
            <a:srgbClr val="FFE0B2"/>
          </a:solidFill>
          <a:ln w="15926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4666" tIns="57333" rIns="114666" bIns="573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5" dirty="0">
                <a:solidFill>
                  <a:srgbClr val="000000"/>
                </a:solidFill>
              </a:rPr>
              <a:t>Branche 2</a:t>
            </a:r>
          </a:p>
        </p:txBody>
      </p:sp>
      <p:sp>
        <p:nvSpPr>
          <p:cNvPr id="15" name="Branche 3" descr="D"/>
          <p:cNvSpPr/>
          <p:nvPr/>
        </p:nvSpPr>
        <p:spPr>
          <a:xfrm>
            <a:off x="5624833" y="3266834"/>
            <a:ext cx="1867151" cy="895831"/>
          </a:xfrm>
          <a:prstGeom prst="rect">
            <a:avLst/>
          </a:prstGeom>
          <a:solidFill>
            <a:srgbClr val="E1BEE7"/>
          </a:solidFill>
          <a:ln w="15926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4666" tIns="57333" rIns="114666" bIns="573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5" dirty="0">
                <a:solidFill>
                  <a:srgbClr val="000000"/>
                </a:solidFill>
              </a:rPr>
              <a:t>Branche 3</a:t>
            </a:r>
          </a:p>
        </p:txBody>
      </p:sp>
      <p:sp>
        <p:nvSpPr>
          <p:cNvPr id="16" name="Fin" descr="E"/>
          <p:cNvSpPr/>
          <p:nvPr/>
        </p:nvSpPr>
        <p:spPr>
          <a:xfrm>
            <a:off x="3511149" y="5118219"/>
            <a:ext cx="926887" cy="895831"/>
          </a:xfrm>
          <a:prstGeom prst="rect">
            <a:avLst/>
          </a:prstGeom>
          <a:solidFill>
            <a:srgbClr val="FFCDD2"/>
          </a:solidFill>
          <a:ln w="15926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4666" tIns="57333" rIns="114666" bIns="573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05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7" name="A--B"/>
          <p:cNvCxnSpPr>
            <a:stCxn id="12" idx="1"/>
            <a:endCxn id="13" idx="3"/>
          </p:cNvCxnSpPr>
          <p:nvPr/>
        </p:nvCxnSpPr>
        <p:spPr>
          <a:xfrm flipH="1">
            <a:off x="2324351" y="1863366"/>
            <a:ext cx="498799" cy="1851385"/>
          </a:xfrm>
          <a:prstGeom prst="line">
            <a:avLst/>
          </a:prstGeom>
          <a:ln w="159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--C"/>
          <p:cNvCxnSpPr>
            <a:stCxn id="12" idx="2"/>
            <a:endCxn id="14" idx="0"/>
          </p:cNvCxnSpPr>
          <p:nvPr/>
        </p:nvCxnSpPr>
        <p:spPr>
          <a:xfrm>
            <a:off x="3974592" y="2311281"/>
            <a:ext cx="0" cy="955553"/>
          </a:xfrm>
          <a:prstGeom prst="line">
            <a:avLst/>
          </a:prstGeom>
          <a:ln w="159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--D"/>
          <p:cNvCxnSpPr>
            <a:stCxn id="12" idx="3"/>
            <a:endCxn id="15" idx="1"/>
          </p:cNvCxnSpPr>
          <p:nvPr/>
        </p:nvCxnSpPr>
        <p:spPr>
          <a:xfrm>
            <a:off x="5126034" y="1863366"/>
            <a:ext cx="498799" cy="1851385"/>
          </a:xfrm>
          <a:prstGeom prst="line">
            <a:avLst/>
          </a:prstGeom>
          <a:ln w="159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--E"/>
          <p:cNvCxnSpPr>
            <a:stCxn id="13" idx="3"/>
            <a:endCxn id="16" idx="1"/>
          </p:cNvCxnSpPr>
          <p:nvPr/>
        </p:nvCxnSpPr>
        <p:spPr>
          <a:xfrm>
            <a:off x="2324351" y="3714751"/>
            <a:ext cx="1186797" cy="1851385"/>
          </a:xfrm>
          <a:prstGeom prst="line">
            <a:avLst/>
          </a:prstGeom>
          <a:ln w="159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--E"/>
          <p:cNvCxnSpPr>
            <a:stCxn id="14" idx="2"/>
            <a:endCxn id="16" idx="0"/>
          </p:cNvCxnSpPr>
          <p:nvPr/>
        </p:nvCxnSpPr>
        <p:spPr>
          <a:xfrm>
            <a:off x="3974592" y="4162666"/>
            <a:ext cx="0" cy="955553"/>
          </a:xfrm>
          <a:prstGeom prst="line">
            <a:avLst/>
          </a:prstGeom>
          <a:ln w="159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--E"/>
          <p:cNvCxnSpPr>
            <a:stCxn id="15" idx="1"/>
            <a:endCxn id="16" idx="3"/>
          </p:cNvCxnSpPr>
          <p:nvPr/>
        </p:nvCxnSpPr>
        <p:spPr>
          <a:xfrm flipH="1">
            <a:off x="4438035" y="3714751"/>
            <a:ext cx="1186797" cy="1851385"/>
          </a:xfrm>
          <a:prstGeom prst="line">
            <a:avLst/>
          </a:prstGeom>
          <a:ln w="159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A[Repartiteur] --&gt; B[Branche 1]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 --&gt; C[Branche 2]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 --&gt; D[Branche 3]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E[Fin]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 --&gt; 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fill:#C8E6C9,stroke:#2E7D32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fill:#FFE0B2,stroke:#E65100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 fill:#FFCDD2,stroke:#C62828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gantt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457200" y="2757813"/>
            <a:ext cx="7034784" cy="275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50" dirty="0">
                <a:solidFill>
                  <a:srgbClr val="000000"/>
                </a:solidFill>
              </a:rPr>
              <a:t>Adoption d'un logiciel</a:t>
            </a:r>
          </a:p>
        </p:txBody>
      </p:sp>
      <p:sp>
        <p:nvSpPr>
          <p:cNvPr id="12" name="Shape 2"/>
          <p:cNvSpPr/>
          <p:nvPr/>
        </p:nvSpPr>
        <p:spPr>
          <a:xfrm>
            <a:off x="2612465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" name="Shape 3"/>
          <p:cNvSpPr/>
          <p:nvPr/>
        </p:nvSpPr>
        <p:spPr>
          <a:xfrm>
            <a:off x="2802128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" name="Shape 4"/>
          <p:cNvSpPr/>
          <p:nvPr/>
        </p:nvSpPr>
        <p:spPr>
          <a:xfrm>
            <a:off x="3940108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Shape 5"/>
          <p:cNvSpPr/>
          <p:nvPr/>
        </p:nvSpPr>
        <p:spPr>
          <a:xfrm>
            <a:off x="4129771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" name="Shape 6"/>
          <p:cNvSpPr/>
          <p:nvPr/>
        </p:nvSpPr>
        <p:spPr>
          <a:xfrm>
            <a:off x="5267751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Shape 7"/>
          <p:cNvSpPr/>
          <p:nvPr/>
        </p:nvSpPr>
        <p:spPr>
          <a:xfrm>
            <a:off x="5457414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" name="Shape 8"/>
          <p:cNvSpPr/>
          <p:nvPr/>
        </p:nvSpPr>
        <p:spPr>
          <a:xfrm>
            <a:off x="6595394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" name="Shape 9"/>
          <p:cNvSpPr/>
          <p:nvPr/>
        </p:nvSpPr>
        <p:spPr>
          <a:xfrm>
            <a:off x="6785057" y="3257834"/>
            <a:ext cx="189663" cy="14138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" name="Shape 10"/>
          <p:cNvSpPr/>
          <p:nvPr/>
        </p:nvSpPr>
        <p:spPr>
          <a:xfrm>
            <a:off x="1664148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1664148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01-05</a:t>
            </a:r>
          </a:p>
        </p:txBody>
      </p:sp>
      <p:sp>
        <p:nvSpPr>
          <p:cNvPr id="22" name="Shape 12"/>
          <p:cNvSpPr/>
          <p:nvPr/>
        </p:nvSpPr>
        <p:spPr>
          <a:xfrm>
            <a:off x="2991791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3" name="Text 13"/>
          <p:cNvSpPr txBox="1"/>
          <p:nvPr/>
        </p:nvSpPr>
        <p:spPr>
          <a:xfrm>
            <a:off x="2991791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01-12</a:t>
            </a:r>
          </a:p>
        </p:txBody>
      </p:sp>
      <p:sp>
        <p:nvSpPr>
          <p:cNvPr id="24" name="Shape 14"/>
          <p:cNvSpPr/>
          <p:nvPr/>
        </p:nvSpPr>
        <p:spPr>
          <a:xfrm>
            <a:off x="4319434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4319434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01-19</a:t>
            </a:r>
          </a:p>
        </p:txBody>
      </p:sp>
      <p:sp>
        <p:nvSpPr>
          <p:cNvPr id="26" name="Shape 16"/>
          <p:cNvSpPr/>
          <p:nvPr/>
        </p:nvSpPr>
        <p:spPr>
          <a:xfrm>
            <a:off x="5647077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7" name="Text 17"/>
          <p:cNvSpPr txBox="1"/>
          <p:nvPr/>
        </p:nvSpPr>
        <p:spPr>
          <a:xfrm>
            <a:off x="5647077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01-26</a:t>
            </a:r>
          </a:p>
        </p:txBody>
      </p:sp>
      <p:sp>
        <p:nvSpPr>
          <p:cNvPr id="28" name="Shape 18"/>
          <p:cNvSpPr/>
          <p:nvPr/>
        </p:nvSpPr>
        <p:spPr>
          <a:xfrm>
            <a:off x="6974720" y="3257834"/>
            <a:ext cx="8621" cy="14138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9" name="Text 19"/>
          <p:cNvSpPr txBox="1"/>
          <p:nvPr/>
        </p:nvSpPr>
        <p:spPr>
          <a:xfrm>
            <a:off x="6974720" y="3068171"/>
            <a:ext cx="758653" cy="1896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595959"/>
                </a:solidFill>
              </a:rPr>
              <a:t>02-02</a:t>
            </a:r>
          </a:p>
        </p:txBody>
      </p:sp>
      <p:sp>
        <p:nvSpPr>
          <p:cNvPr id="30" name="Shape 20"/>
          <p:cNvSpPr/>
          <p:nvPr/>
        </p:nvSpPr>
        <p:spPr>
          <a:xfrm>
            <a:off x="1664148" y="3257834"/>
            <a:ext cx="5689899" cy="1413854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</p:sp>
      <p:sp>
        <p:nvSpPr>
          <p:cNvPr id="31" name="Shape 21"/>
          <p:cNvSpPr/>
          <p:nvPr/>
        </p:nvSpPr>
        <p:spPr>
          <a:xfrm>
            <a:off x="457200" y="3257834"/>
            <a:ext cx="7034784" cy="189663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2" name="Text 22"/>
          <p:cNvSpPr txBox="1"/>
          <p:nvPr/>
        </p:nvSpPr>
        <p:spPr>
          <a:xfrm>
            <a:off x="508926" y="3275077"/>
            <a:ext cx="1103496" cy="1551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700" dirty="0">
                <a:solidFill>
                  <a:srgbClr val="000000"/>
                </a:solidFill>
              </a:rPr>
              <a:t>Cadrage</a:t>
            </a:r>
          </a:p>
        </p:txBody>
      </p:sp>
      <p:sp>
        <p:nvSpPr>
          <p:cNvPr id="33" name="Text 23"/>
          <p:cNvSpPr txBox="1"/>
          <p:nvPr/>
        </p:nvSpPr>
        <p:spPr>
          <a:xfrm>
            <a:off x="508926" y="3464740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Recueil besoins</a:t>
            </a:r>
          </a:p>
        </p:txBody>
      </p:sp>
      <p:sp>
        <p:nvSpPr>
          <p:cNvPr id="34" name="Task 24"/>
          <p:cNvSpPr/>
          <p:nvPr/>
        </p:nvSpPr>
        <p:spPr>
          <a:xfrm>
            <a:off x="1664148" y="3481982"/>
            <a:ext cx="1327643" cy="137937"/>
          </a:xfrm>
          <a:prstGeom prst="roundRect">
            <a:avLst/>
          </a:prstGeom>
          <a:solidFill>
            <a:srgbClr val="A6A6A6"/>
          </a:solidFill>
          <a:ln w="6350">
            <a:solidFill>
              <a:srgbClr val="595959"/>
            </a:solidFill>
          </a:ln>
        </p:spPr>
      </p:sp>
      <p:sp>
        <p:nvSpPr>
          <p:cNvPr id="35" name="Text 25"/>
          <p:cNvSpPr txBox="1"/>
          <p:nvPr/>
        </p:nvSpPr>
        <p:spPr>
          <a:xfrm>
            <a:off x="508926" y="3671645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Choix outil</a:t>
            </a:r>
          </a:p>
        </p:txBody>
      </p:sp>
      <p:sp>
        <p:nvSpPr>
          <p:cNvPr id="36" name="Task 26"/>
          <p:cNvSpPr/>
          <p:nvPr/>
        </p:nvSpPr>
        <p:spPr>
          <a:xfrm>
            <a:off x="2991791" y="3688887"/>
            <a:ext cx="568990" cy="137937"/>
          </a:xfrm>
          <a:prstGeom prst="roundRect">
            <a:avLst/>
          </a:prstGeom>
          <a:solidFill>
            <a:srgbClr val="FFC000"/>
          </a:solidFill>
          <a:ln w="6350">
            <a:solidFill>
              <a:srgbClr val="595959"/>
            </a:solidFill>
          </a:ln>
        </p:spPr>
      </p:sp>
      <p:sp>
        <p:nvSpPr>
          <p:cNvPr id="37" name="Shape 27"/>
          <p:cNvSpPr/>
          <p:nvPr/>
        </p:nvSpPr>
        <p:spPr>
          <a:xfrm>
            <a:off x="457200" y="3861309"/>
            <a:ext cx="7034784" cy="189663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8" name="Text 28"/>
          <p:cNvSpPr txBox="1"/>
          <p:nvPr/>
        </p:nvSpPr>
        <p:spPr>
          <a:xfrm>
            <a:off x="508926" y="3878551"/>
            <a:ext cx="1103496" cy="1551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700" dirty="0">
                <a:solidFill>
                  <a:srgbClr val="000000"/>
                </a:solidFill>
              </a:rPr>
              <a:t>Deploiement</a:t>
            </a:r>
          </a:p>
        </p:txBody>
      </p:sp>
      <p:sp>
        <p:nvSpPr>
          <p:cNvPr id="39" name="Text 29"/>
          <p:cNvSpPr txBox="1"/>
          <p:nvPr/>
        </p:nvSpPr>
        <p:spPr>
          <a:xfrm>
            <a:off x="508926" y="4068214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Formation</a:t>
            </a:r>
          </a:p>
        </p:txBody>
      </p:sp>
      <p:sp>
        <p:nvSpPr>
          <p:cNvPr id="40" name="Task 30"/>
          <p:cNvSpPr/>
          <p:nvPr/>
        </p:nvSpPr>
        <p:spPr>
          <a:xfrm>
            <a:off x="3560781" y="4085456"/>
            <a:ext cx="1137980" cy="137937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595959"/>
            </a:solidFill>
          </a:ln>
        </p:spPr>
      </p:sp>
      <p:sp>
        <p:nvSpPr>
          <p:cNvPr id="41" name="Text 31"/>
          <p:cNvSpPr txBox="1"/>
          <p:nvPr/>
        </p:nvSpPr>
        <p:spPr>
          <a:xfrm>
            <a:off x="508926" y="4275119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Go-live</a:t>
            </a:r>
          </a:p>
        </p:txBody>
      </p:sp>
      <p:sp>
        <p:nvSpPr>
          <p:cNvPr id="42" name="Milestone 32"/>
          <p:cNvSpPr/>
          <p:nvPr/>
        </p:nvSpPr>
        <p:spPr>
          <a:xfrm>
            <a:off x="4629792" y="4292361"/>
            <a:ext cx="137937" cy="137937"/>
          </a:xfrm>
          <a:prstGeom prst="diamond">
            <a:avLst/>
          </a:prstGeom>
          <a:solidFill>
            <a:srgbClr val="C00000"/>
          </a:solidFill>
          <a:ln w="6350">
            <a:solidFill>
              <a:srgbClr val="595959"/>
            </a:solidFill>
          </a:ln>
        </p:spPr>
      </p:sp>
      <p:sp>
        <p:nvSpPr>
          <p:cNvPr id="43" name="Text 33"/>
          <p:cNvSpPr txBox="1"/>
          <p:nvPr/>
        </p:nvSpPr>
        <p:spPr>
          <a:xfrm>
            <a:off x="508926" y="4482025"/>
            <a:ext cx="1120738" cy="172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Suivi post go-live</a:t>
            </a:r>
          </a:p>
        </p:txBody>
      </p:sp>
      <p:sp>
        <p:nvSpPr>
          <p:cNvPr id="44" name="Task 34"/>
          <p:cNvSpPr/>
          <p:nvPr/>
        </p:nvSpPr>
        <p:spPr>
          <a:xfrm>
            <a:off x="4698761" y="4499267"/>
            <a:ext cx="2655286" cy="137937"/>
          </a:xfrm>
          <a:prstGeom prst="roundRect">
            <a:avLst/>
          </a:prstGeom>
          <a:solidFill>
            <a:srgbClr val="4472C4"/>
          </a:solidFill>
          <a:ln w="6350">
            <a:solidFill>
              <a:srgbClr val="595959"/>
            </a:solidFill>
          </a:ln>
        </p:spPr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gantt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title Adoption d'un logiciel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dateFormat YYYY-MM-DD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excludes weekends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section Cadrage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Recueil besoins      :done,    des1, 2026-01-05, 5d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Choix outil          :active,  des2, after des1, 3d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section Deploiement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Formation            :crit,    des3, after des2, 4d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Go-live              :milestone, des4, after des3, 0d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Suivi post go-live   :         des5, after des4, 10d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git-graph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950930" y="3386281"/>
            <a:ext cx="671925" cy="656939"/>
          </a:xfrm>
          <a:prstGeom prst="line">
            <a:avLst/>
          </a:prstGeom>
          <a:ln w="10265">
            <a:solidFill>
              <a:srgbClr val="4472C4"/>
            </a:solidFill>
            <a:prstDash val="solid"/>
          </a:ln>
        </p:spPr>
      </p:cxnSp>
      <p:cxnSp>
        <p:nvCxnSpPr>
          <p:cNvPr id="12" name="Connector 2"/>
          <p:cNvCxnSpPr/>
          <p:nvPr/>
        </p:nvCxnSpPr>
        <p:spPr>
          <a:xfrm>
            <a:off x="950930" y="3386281"/>
            <a:ext cx="1343850" cy="1"/>
          </a:xfrm>
          <a:prstGeom prst="line">
            <a:avLst/>
          </a:prstGeom>
          <a:ln w="10265">
            <a:solidFill>
              <a:srgbClr val="4472C4"/>
            </a:solidFill>
            <a:prstDash val="solid"/>
          </a:ln>
        </p:spPr>
      </p:cxnSp>
      <p:cxnSp>
        <p:nvCxnSpPr>
          <p:cNvPr id="13" name="Connector 3"/>
          <p:cNvCxnSpPr/>
          <p:nvPr/>
        </p:nvCxnSpPr>
        <p:spPr>
          <a:xfrm>
            <a:off x="950930" y="3386281"/>
            <a:ext cx="2015775" cy="328469"/>
          </a:xfrm>
          <a:prstGeom prst="line">
            <a:avLst/>
          </a:prstGeom>
          <a:ln w="10265">
            <a:solidFill>
              <a:srgbClr val="4472C4"/>
            </a:solidFill>
            <a:prstDash val="solid"/>
          </a:ln>
        </p:spPr>
      </p:cxnSp>
      <p:cxnSp>
        <p:nvCxnSpPr>
          <p:cNvPr id="14" name="Connector 4"/>
          <p:cNvCxnSpPr/>
          <p:nvPr/>
        </p:nvCxnSpPr>
        <p:spPr>
          <a:xfrm>
            <a:off x="2294780" y="3386281"/>
            <a:ext cx="1343850" cy="1"/>
          </a:xfrm>
          <a:prstGeom prst="line">
            <a:avLst/>
          </a:prstGeom>
          <a:ln w="10265">
            <a:solidFill>
              <a:srgbClr val="4472C4"/>
            </a:solidFill>
            <a:prstDash val="solid"/>
          </a:ln>
        </p:spPr>
      </p:cxnSp>
      <p:cxnSp>
        <p:nvCxnSpPr>
          <p:cNvPr id="15" name="Connector 5"/>
          <p:cNvCxnSpPr/>
          <p:nvPr/>
        </p:nvCxnSpPr>
        <p:spPr>
          <a:xfrm flipV="1">
            <a:off x="2966705" y="3386281"/>
            <a:ext cx="671925" cy="328469"/>
          </a:xfrm>
          <a:prstGeom prst="line">
            <a:avLst/>
          </a:prstGeom>
          <a:ln w="10265">
            <a:solidFill>
              <a:srgbClr val="ED7D31"/>
            </a:solidFill>
            <a:prstDash val="solid"/>
          </a:ln>
        </p:spPr>
      </p:cxnSp>
      <p:cxnSp>
        <p:nvCxnSpPr>
          <p:cNvPr id="16" name="Connector 6"/>
          <p:cNvCxnSpPr/>
          <p:nvPr/>
        </p:nvCxnSpPr>
        <p:spPr>
          <a:xfrm>
            <a:off x="3638630" y="3386281"/>
            <a:ext cx="671924" cy="1"/>
          </a:xfrm>
          <a:prstGeom prst="line">
            <a:avLst/>
          </a:prstGeom>
          <a:ln w="10265">
            <a:solidFill>
              <a:srgbClr val="4472C4"/>
            </a:solidFill>
            <a:prstDash val="solid"/>
          </a:ln>
        </p:spPr>
      </p:cxnSp>
      <p:cxnSp>
        <p:nvCxnSpPr>
          <p:cNvPr id="17" name="Connector 7"/>
          <p:cNvCxnSpPr/>
          <p:nvPr/>
        </p:nvCxnSpPr>
        <p:spPr>
          <a:xfrm>
            <a:off x="1622855" y="4043220"/>
            <a:ext cx="3359624" cy="1"/>
          </a:xfrm>
          <a:prstGeom prst="line">
            <a:avLst/>
          </a:prstGeom>
          <a:ln w="10265">
            <a:solidFill>
              <a:srgbClr val="70AD47"/>
            </a:solidFill>
            <a:prstDash val="solid"/>
          </a:ln>
        </p:spPr>
      </p:cxnSp>
      <p:cxnSp>
        <p:nvCxnSpPr>
          <p:cNvPr id="18" name="Connector 8"/>
          <p:cNvCxnSpPr/>
          <p:nvPr/>
        </p:nvCxnSpPr>
        <p:spPr>
          <a:xfrm>
            <a:off x="3638630" y="3386281"/>
            <a:ext cx="1343849" cy="656939"/>
          </a:xfrm>
          <a:prstGeom prst="line">
            <a:avLst/>
          </a:prstGeom>
          <a:ln w="5132">
            <a:solidFill>
              <a:srgbClr val="808080"/>
            </a:solidFill>
            <a:prstDash val="dash"/>
          </a:ln>
        </p:spPr>
      </p:cxnSp>
      <p:cxnSp>
        <p:nvCxnSpPr>
          <p:cNvPr id="19" name="Connector 9"/>
          <p:cNvCxnSpPr/>
          <p:nvPr/>
        </p:nvCxnSpPr>
        <p:spPr>
          <a:xfrm>
            <a:off x="4982479" y="4043220"/>
            <a:ext cx="671925" cy="1"/>
          </a:xfrm>
          <a:prstGeom prst="line">
            <a:avLst/>
          </a:prstGeom>
          <a:ln w="10265">
            <a:solidFill>
              <a:srgbClr val="70AD47"/>
            </a:solidFill>
            <a:prstDash val="solid"/>
          </a:ln>
        </p:spPr>
      </p:cxnSp>
      <p:cxnSp>
        <p:nvCxnSpPr>
          <p:cNvPr id="20" name="Connector 10"/>
          <p:cNvCxnSpPr/>
          <p:nvPr/>
        </p:nvCxnSpPr>
        <p:spPr>
          <a:xfrm>
            <a:off x="2966705" y="3714750"/>
            <a:ext cx="3359624" cy="1"/>
          </a:xfrm>
          <a:prstGeom prst="line">
            <a:avLst/>
          </a:prstGeom>
          <a:ln w="10265">
            <a:solidFill>
              <a:srgbClr val="ED7D31"/>
            </a:solidFill>
            <a:prstDash val="solid"/>
          </a:ln>
        </p:spPr>
      </p:cxnSp>
      <p:sp>
        <p:nvSpPr>
          <p:cNvPr id="21" name="Shape 11"/>
          <p:cNvSpPr/>
          <p:nvPr/>
        </p:nvSpPr>
        <p:spPr>
          <a:xfrm>
            <a:off x="909871" y="3345222"/>
            <a:ext cx="82118" cy="82118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22" name="Text 12"/>
          <p:cNvSpPr txBox="1"/>
          <p:nvPr/>
        </p:nvSpPr>
        <p:spPr>
          <a:xfrm>
            <a:off x="865734" y="3458134"/>
            <a:ext cx="170393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ZERO</a:t>
            </a:r>
          </a:p>
        </p:txBody>
      </p:sp>
      <p:sp>
        <p:nvSpPr>
          <p:cNvPr id="23" name="Shape 13"/>
          <p:cNvSpPr/>
          <p:nvPr/>
        </p:nvSpPr>
        <p:spPr>
          <a:xfrm>
            <a:off x="1581796" y="4002161"/>
            <a:ext cx="82118" cy="82118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24" name="Text 14"/>
          <p:cNvSpPr txBox="1"/>
          <p:nvPr/>
        </p:nvSpPr>
        <p:spPr>
          <a:xfrm>
            <a:off x="1586159" y="4115072"/>
            <a:ext cx="73392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A</a:t>
            </a:r>
          </a:p>
        </p:txBody>
      </p:sp>
      <p:sp>
        <p:nvSpPr>
          <p:cNvPr id="25" name="Shape 15"/>
          <p:cNvSpPr/>
          <p:nvPr/>
        </p:nvSpPr>
        <p:spPr>
          <a:xfrm>
            <a:off x="2253721" y="3345222"/>
            <a:ext cx="82118" cy="82118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2225750" y="3458134"/>
            <a:ext cx="138060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ONE</a:t>
            </a:r>
          </a:p>
        </p:txBody>
      </p:sp>
      <p:sp>
        <p:nvSpPr>
          <p:cNvPr id="27" name="Shape 17"/>
          <p:cNvSpPr/>
          <p:nvPr/>
        </p:nvSpPr>
        <p:spPr>
          <a:xfrm>
            <a:off x="2925646" y="3673691"/>
            <a:ext cx="82118" cy="82118"/>
          </a:xfrm>
          <a:prstGeom prst="ellipse">
            <a:avLst/>
          </a:prstGeom>
          <a:solidFill>
            <a:srgbClr val="ED7D31"/>
          </a:solidFill>
          <a:ln w="9525">
            <a:solidFill>
              <a:srgbClr val="404040"/>
            </a:solidFill>
          </a:ln>
        </p:spPr>
      </p:sp>
      <p:sp>
        <p:nvSpPr>
          <p:cNvPr id="28" name="Text 18"/>
          <p:cNvSpPr txBox="1"/>
          <p:nvPr/>
        </p:nvSpPr>
        <p:spPr>
          <a:xfrm>
            <a:off x="2930009" y="3786603"/>
            <a:ext cx="73392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B</a:t>
            </a:r>
          </a:p>
        </p:txBody>
      </p:sp>
      <p:sp>
        <p:nvSpPr>
          <p:cNvPr id="29" name="Shape 19"/>
          <p:cNvSpPr/>
          <p:nvPr/>
        </p:nvSpPr>
        <p:spPr>
          <a:xfrm>
            <a:off x="3597571" y="3345222"/>
            <a:ext cx="82118" cy="82118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30" name="Shape 20"/>
          <p:cNvSpPr/>
          <p:nvPr/>
        </p:nvSpPr>
        <p:spPr>
          <a:xfrm>
            <a:off x="3618100" y="3365751"/>
            <a:ext cx="41060" cy="410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472C4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3537266" y="3458134"/>
            <a:ext cx="202727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MERGE</a:t>
            </a:r>
          </a:p>
        </p:txBody>
      </p:sp>
      <p:sp>
        <p:nvSpPr>
          <p:cNvPr id="32" name="Shape 22"/>
          <p:cNvSpPr/>
          <p:nvPr/>
        </p:nvSpPr>
        <p:spPr>
          <a:xfrm>
            <a:off x="4269495" y="3345222"/>
            <a:ext cx="82118" cy="82118"/>
          </a:xfrm>
          <a:prstGeom prst="ellipse">
            <a:avLst/>
          </a:prstGeom>
          <a:solidFill>
            <a:srgbClr val="4472C4"/>
          </a:solidFill>
          <a:ln w="9525">
            <a:solidFill>
              <a:srgbClr val="404040"/>
            </a:solidFill>
          </a:ln>
        </p:spPr>
      </p:sp>
      <p:sp>
        <p:nvSpPr>
          <p:cNvPr id="33" name="Text 23"/>
          <p:cNvSpPr txBox="1"/>
          <p:nvPr/>
        </p:nvSpPr>
        <p:spPr>
          <a:xfrm>
            <a:off x="4241525" y="3458134"/>
            <a:ext cx="138060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TWO</a:t>
            </a:r>
          </a:p>
        </p:txBody>
      </p:sp>
      <p:sp>
        <p:nvSpPr>
          <p:cNvPr id="34" name="Shape 24"/>
          <p:cNvSpPr/>
          <p:nvPr/>
        </p:nvSpPr>
        <p:spPr>
          <a:xfrm>
            <a:off x="4941420" y="4002161"/>
            <a:ext cx="82118" cy="82118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35" name="Text 25"/>
          <p:cNvSpPr txBox="1"/>
          <p:nvPr/>
        </p:nvSpPr>
        <p:spPr>
          <a:xfrm>
            <a:off x="4378096" y="4115072"/>
            <a:ext cx="1208767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MERGE-cherry-pick-1 (cherry-pick of MERGE)</a:t>
            </a:r>
          </a:p>
        </p:txBody>
      </p:sp>
      <p:sp>
        <p:nvSpPr>
          <p:cNvPr id="36" name="Shape 26"/>
          <p:cNvSpPr/>
          <p:nvPr/>
        </p:nvSpPr>
        <p:spPr>
          <a:xfrm>
            <a:off x="5613345" y="4002161"/>
            <a:ext cx="82118" cy="82118"/>
          </a:xfrm>
          <a:prstGeom prst="ellipse">
            <a:avLst/>
          </a:prstGeom>
          <a:solidFill>
            <a:srgbClr val="70AD47"/>
          </a:solidFill>
          <a:ln w="9525">
            <a:solidFill>
              <a:srgbClr val="404040"/>
            </a:solidFill>
          </a:ln>
        </p:spPr>
      </p:sp>
      <p:sp>
        <p:nvSpPr>
          <p:cNvPr id="37" name="Text 27"/>
          <p:cNvSpPr txBox="1"/>
          <p:nvPr/>
        </p:nvSpPr>
        <p:spPr>
          <a:xfrm>
            <a:off x="5553041" y="4115072"/>
            <a:ext cx="202727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THREE</a:t>
            </a:r>
          </a:p>
        </p:txBody>
      </p:sp>
      <p:sp>
        <p:nvSpPr>
          <p:cNvPr id="38" name="Shape 28"/>
          <p:cNvSpPr/>
          <p:nvPr/>
        </p:nvSpPr>
        <p:spPr>
          <a:xfrm>
            <a:off x="6285270" y="3673691"/>
            <a:ext cx="82118" cy="82118"/>
          </a:xfrm>
          <a:prstGeom prst="ellipse">
            <a:avLst/>
          </a:prstGeom>
          <a:solidFill>
            <a:srgbClr val="ED7D31"/>
          </a:solidFill>
          <a:ln w="9525">
            <a:solidFill>
              <a:srgbClr val="404040"/>
            </a:solidFill>
          </a:ln>
        </p:spPr>
      </p:sp>
      <p:sp>
        <p:nvSpPr>
          <p:cNvPr id="39" name="Text 29"/>
          <p:cNvSpPr txBox="1"/>
          <p:nvPr/>
        </p:nvSpPr>
        <p:spPr>
          <a:xfrm>
            <a:off x="6289633" y="3786603"/>
            <a:ext cx="73392" cy="821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404040"/>
                </a:solidFill>
              </a:rPr>
              <a:t>C</a:t>
            </a:r>
          </a:p>
        </p:txBody>
      </p:sp>
      <p:sp>
        <p:nvSpPr>
          <p:cNvPr id="40" name="Text 30"/>
          <p:cNvSpPr txBox="1"/>
          <p:nvPr/>
        </p:nvSpPr>
        <p:spPr>
          <a:xfrm>
            <a:off x="6909978" y="3345223"/>
            <a:ext cx="176552" cy="92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00" dirty="0">
                <a:solidFill>
                  <a:srgbClr val="4472C4"/>
                </a:solidFill>
              </a:rPr>
              <a:t>main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6859168" y="3673692"/>
            <a:ext cx="278172" cy="92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00" dirty="0">
                <a:solidFill>
                  <a:srgbClr val="ED7D31"/>
                </a:solidFill>
              </a:rPr>
              <a:t>develop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6859168" y="4002161"/>
            <a:ext cx="278172" cy="92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00" dirty="0">
                <a:solidFill>
                  <a:srgbClr val="70AD47"/>
                </a:solidFill>
              </a:rPr>
              <a:t>release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gitGraph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commit id: "ZERO"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branch develop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branch release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commit id:"A"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checkout main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commit id:"ONE"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checkout develop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commit id:"B"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checkout main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merge develop id:"MERGE"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commit id:"TWO"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checkout release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cherry-pick id:"MERGE" parent:"B"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commit id:"THREE"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checkout develop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commit id:"C"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ishikawa</a:t>
            </a:r>
          </a:p>
        </p:txBody>
      </p:sp>
      <p:sp>
        <p:nvSpPr>
          <p:cNvPr id="11" name="Shape 1"/>
          <p:cNvSpPr/>
          <p:nvPr/>
        </p:nvSpPr>
        <p:spPr>
          <a:xfrm>
            <a:off x="651598" y="4160246"/>
            <a:ext cx="5576798" cy="1"/>
          </a:xfrm>
          <a:custGeom>
            <a:avLst/>
            <a:gdLst/>
            <a:ahLst/>
            <a:cxnLst/>
            <a:rect l="0" t="0" r="0" b="0"/>
            <a:pathLst>
              <a:path w="5576798" h="1" fill="none">
                <a:moveTo>
                  <a:pt x="0" y="0"/>
                </a:moveTo>
                <a:lnTo>
                  <a:pt x="5576798" y="0"/>
                </a:lnTo>
              </a:path>
            </a:pathLst>
          </a:custGeom>
          <a:noFill/>
          <a:ln w="32400">
            <a:solidFill>
              <a:srgbClr val="404040"/>
            </a:solidFill>
          </a:ln>
        </p:spPr>
      </p:sp>
      <p:sp>
        <p:nvSpPr>
          <p:cNvPr id="12" name="Box 2"/>
          <p:cNvSpPr/>
          <p:nvPr/>
        </p:nvSpPr>
        <p:spPr>
          <a:xfrm>
            <a:off x="6228396" y="3933448"/>
            <a:ext cx="1069190" cy="45359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Blurry Photo</a:t>
            </a:r>
          </a:p>
        </p:txBody>
      </p:sp>
      <p:sp>
        <p:nvSpPr>
          <p:cNvPr id="13" name="Shape 3"/>
          <p:cNvSpPr/>
          <p:nvPr/>
        </p:nvSpPr>
        <p:spPr>
          <a:xfrm>
            <a:off x="2706549" y="2734659"/>
            <a:ext cx="584005" cy="1425587"/>
          </a:xfrm>
          <a:custGeom>
            <a:avLst/>
            <a:gdLst/>
            <a:ahLst/>
            <a:cxnLst/>
            <a:rect l="0" t="0" r="0" b="0"/>
            <a:pathLst>
              <a:path w="584005" h="1425587" fill="none">
                <a:moveTo>
                  <a:pt x="0" y="0"/>
                </a:moveTo>
                <a:lnTo>
                  <a:pt x="584005" y="1425587"/>
                </a:lnTo>
              </a:path>
            </a:pathLst>
          </a:custGeom>
          <a:noFill/>
          <a:ln w="18900">
            <a:solidFill>
              <a:srgbClr val="4472C4"/>
            </a:solidFill>
          </a:ln>
        </p:spPr>
      </p:sp>
      <p:sp>
        <p:nvSpPr>
          <p:cNvPr id="14" name="Box 4"/>
          <p:cNvSpPr/>
          <p:nvPr/>
        </p:nvSpPr>
        <p:spPr>
          <a:xfrm>
            <a:off x="2382552" y="2491661"/>
            <a:ext cx="647994" cy="24299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950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5" name="Box 5"/>
          <p:cNvSpPr/>
          <p:nvPr/>
        </p:nvSpPr>
        <p:spPr>
          <a:xfrm>
            <a:off x="1852058" y="2734659"/>
            <a:ext cx="826192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Out of focus</a:t>
            </a:r>
          </a:p>
        </p:txBody>
      </p:sp>
      <p:sp>
        <p:nvSpPr>
          <p:cNvPr id="16" name="Shape 6"/>
          <p:cNvSpPr/>
          <p:nvPr/>
        </p:nvSpPr>
        <p:spPr>
          <a:xfrm>
            <a:off x="2678250" y="2823758"/>
            <a:ext cx="64799" cy="1"/>
          </a:xfrm>
          <a:custGeom>
            <a:avLst/>
            <a:gdLst/>
            <a:ahLst/>
            <a:cxnLst/>
            <a:rect l="0" t="0" r="0" b="0"/>
            <a:pathLst>
              <a:path w="64799" h="1" fill="none">
                <a:moveTo>
                  <a:pt x="0" y="0"/>
                </a:moveTo>
                <a:lnTo>
                  <a:pt x="64799" y="0"/>
                </a:lnTo>
              </a:path>
            </a:pathLst>
          </a:custGeom>
          <a:noFill/>
          <a:ln w="8100">
            <a:solidFill>
              <a:srgbClr val="85A3D9"/>
            </a:solidFill>
          </a:ln>
        </p:spPr>
      </p:sp>
      <p:sp>
        <p:nvSpPr>
          <p:cNvPr id="17" name="Box 7"/>
          <p:cNvSpPr/>
          <p:nvPr/>
        </p:nvSpPr>
        <p:spPr>
          <a:xfrm>
            <a:off x="1325664" y="2912857"/>
            <a:ext cx="1425587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Shutter speed too slow</a:t>
            </a:r>
          </a:p>
        </p:txBody>
      </p:sp>
      <p:sp>
        <p:nvSpPr>
          <p:cNvPr id="18" name="Shape 8"/>
          <p:cNvSpPr/>
          <p:nvPr/>
        </p:nvSpPr>
        <p:spPr>
          <a:xfrm>
            <a:off x="2751250" y="3001956"/>
            <a:ext cx="64800" cy="1"/>
          </a:xfrm>
          <a:custGeom>
            <a:avLst/>
            <a:gdLst/>
            <a:ahLst/>
            <a:cxnLst/>
            <a:rect l="0" t="0" r="0" b="0"/>
            <a:pathLst>
              <a:path w="64800" h="1" fill="none">
                <a:moveTo>
                  <a:pt x="0" y="0"/>
                </a:moveTo>
                <a:lnTo>
                  <a:pt x="64800" y="0"/>
                </a:lnTo>
              </a:path>
            </a:pathLst>
          </a:custGeom>
          <a:noFill/>
          <a:ln w="8100">
            <a:solidFill>
              <a:srgbClr val="85A3D9"/>
            </a:solidFill>
          </a:ln>
        </p:spPr>
      </p:sp>
      <p:sp>
        <p:nvSpPr>
          <p:cNvPr id="19" name="Box 9"/>
          <p:cNvSpPr/>
          <p:nvPr/>
        </p:nvSpPr>
        <p:spPr>
          <a:xfrm>
            <a:off x="1082767" y="3091056"/>
            <a:ext cx="1741484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Protective film not removed</a:t>
            </a:r>
          </a:p>
        </p:txBody>
      </p:sp>
      <p:sp>
        <p:nvSpPr>
          <p:cNvPr id="20" name="Shape 10"/>
          <p:cNvSpPr/>
          <p:nvPr/>
        </p:nvSpPr>
        <p:spPr>
          <a:xfrm>
            <a:off x="2824251" y="3180155"/>
            <a:ext cx="64799" cy="1"/>
          </a:xfrm>
          <a:custGeom>
            <a:avLst/>
            <a:gdLst/>
            <a:ahLst/>
            <a:cxnLst/>
            <a:rect l="0" t="0" r="0" b="0"/>
            <a:pathLst>
              <a:path w="64799" h="1" fill="none">
                <a:moveTo>
                  <a:pt x="0" y="0"/>
                </a:moveTo>
                <a:lnTo>
                  <a:pt x="64799" y="0"/>
                </a:lnTo>
              </a:path>
            </a:pathLst>
          </a:custGeom>
          <a:noFill/>
          <a:ln w="8100">
            <a:solidFill>
              <a:srgbClr val="85A3D9"/>
            </a:solidFill>
          </a:ln>
        </p:spPr>
      </p:sp>
      <p:sp>
        <p:nvSpPr>
          <p:cNvPr id="21" name="Box 11"/>
          <p:cNvSpPr/>
          <p:nvPr/>
        </p:nvSpPr>
        <p:spPr>
          <a:xfrm>
            <a:off x="1001869" y="3269254"/>
            <a:ext cx="1895382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Beautification filter applied</a:t>
            </a:r>
          </a:p>
        </p:txBody>
      </p:sp>
      <p:sp>
        <p:nvSpPr>
          <p:cNvPr id="22" name="Shape 12"/>
          <p:cNvSpPr/>
          <p:nvPr/>
        </p:nvSpPr>
        <p:spPr>
          <a:xfrm>
            <a:off x="2897252" y="3358353"/>
            <a:ext cx="64799" cy="1"/>
          </a:xfrm>
          <a:custGeom>
            <a:avLst/>
            <a:gdLst/>
            <a:ahLst/>
            <a:cxnLst/>
            <a:rect l="0" t="0" r="0" b="0"/>
            <a:pathLst>
              <a:path w="64799" h="1" fill="none">
                <a:moveTo>
                  <a:pt x="0" y="0"/>
                </a:moveTo>
                <a:lnTo>
                  <a:pt x="64799" y="0"/>
                </a:lnTo>
              </a:path>
            </a:pathLst>
          </a:custGeom>
          <a:noFill/>
          <a:ln w="8100">
            <a:solidFill>
              <a:srgbClr val="85A3D9"/>
            </a:solidFill>
          </a:ln>
        </p:spPr>
      </p:sp>
      <p:sp>
        <p:nvSpPr>
          <p:cNvPr id="23" name="Shape 13"/>
          <p:cNvSpPr/>
          <p:nvPr/>
        </p:nvSpPr>
        <p:spPr>
          <a:xfrm>
            <a:off x="3018396" y="4160246"/>
            <a:ext cx="272158" cy="534595"/>
          </a:xfrm>
          <a:custGeom>
            <a:avLst/>
            <a:gdLst/>
            <a:ahLst/>
            <a:cxnLst/>
            <a:rect l="0" t="0" r="0" b="0"/>
            <a:pathLst>
              <a:path w="272158" h="534595" fill="none">
                <a:moveTo>
                  <a:pt x="0" y="534595"/>
                </a:moveTo>
                <a:lnTo>
                  <a:pt x="272158" y="0"/>
                </a:lnTo>
              </a:path>
            </a:pathLst>
          </a:custGeom>
          <a:noFill/>
          <a:ln w="18900">
            <a:solidFill>
              <a:srgbClr val="ED7D31"/>
            </a:solidFill>
          </a:ln>
        </p:spPr>
      </p:sp>
      <p:sp>
        <p:nvSpPr>
          <p:cNvPr id="24" name="Box 14"/>
          <p:cNvSpPr/>
          <p:nvPr/>
        </p:nvSpPr>
        <p:spPr>
          <a:xfrm>
            <a:off x="2787548" y="4694841"/>
            <a:ext cx="461696" cy="24299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950" dirty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25" name="Box 15"/>
          <p:cNvSpPr/>
          <p:nvPr/>
        </p:nvSpPr>
        <p:spPr>
          <a:xfrm>
            <a:off x="2205164" y="4516642"/>
            <a:ext cx="793793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Shaky hands</a:t>
            </a:r>
          </a:p>
        </p:txBody>
      </p:sp>
      <p:sp>
        <p:nvSpPr>
          <p:cNvPr id="26" name="Shape 16"/>
          <p:cNvSpPr/>
          <p:nvPr/>
        </p:nvSpPr>
        <p:spPr>
          <a:xfrm>
            <a:off x="2998956" y="4605741"/>
            <a:ext cx="64800" cy="1"/>
          </a:xfrm>
          <a:custGeom>
            <a:avLst/>
            <a:gdLst/>
            <a:ahLst/>
            <a:cxnLst/>
            <a:rect l="0" t="0" r="0" b="0"/>
            <a:pathLst>
              <a:path w="64800" h="1" fill="none">
                <a:moveTo>
                  <a:pt x="0" y="0"/>
                </a:moveTo>
                <a:lnTo>
                  <a:pt x="64800" y="0"/>
                </a:lnTo>
              </a:path>
            </a:pathLst>
          </a:custGeom>
          <a:noFill/>
          <a:ln w="8100">
            <a:solidFill>
              <a:srgbClr val="F3AB79"/>
            </a:solidFill>
          </a:ln>
        </p:spPr>
      </p:sp>
      <p:sp>
        <p:nvSpPr>
          <p:cNvPr id="27" name="Shape 17"/>
          <p:cNvSpPr/>
          <p:nvPr/>
        </p:nvSpPr>
        <p:spPr>
          <a:xfrm>
            <a:off x="5190796" y="2734659"/>
            <a:ext cx="584004" cy="1425587"/>
          </a:xfrm>
          <a:custGeom>
            <a:avLst/>
            <a:gdLst/>
            <a:ahLst/>
            <a:cxnLst/>
            <a:rect l="0" t="0" r="0" b="0"/>
            <a:pathLst>
              <a:path w="584004" h="1425587" fill="none">
                <a:moveTo>
                  <a:pt x="0" y="0"/>
                </a:moveTo>
                <a:lnTo>
                  <a:pt x="584004" y="1425587"/>
                </a:lnTo>
              </a:path>
            </a:pathLst>
          </a:custGeom>
          <a:noFill/>
          <a:ln w="18900">
            <a:solidFill>
              <a:srgbClr val="70AD47"/>
            </a:solidFill>
          </a:ln>
        </p:spPr>
      </p:sp>
      <p:sp>
        <p:nvSpPr>
          <p:cNvPr id="28" name="Box 18"/>
          <p:cNvSpPr/>
          <p:nvPr/>
        </p:nvSpPr>
        <p:spPr>
          <a:xfrm>
            <a:off x="4801999" y="2491661"/>
            <a:ext cx="777593" cy="24299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950" dirty="0">
                <a:solidFill>
                  <a:srgbClr val="FFFFFF"/>
                </a:solidFill>
              </a:rPr>
              <a:t>Equipment</a:t>
            </a:r>
          </a:p>
        </p:txBody>
      </p:sp>
      <p:sp>
        <p:nvSpPr>
          <p:cNvPr id="29" name="Box 19"/>
          <p:cNvSpPr/>
          <p:nvPr/>
        </p:nvSpPr>
        <p:spPr>
          <a:xfrm>
            <a:off x="4749401" y="2734659"/>
            <a:ext cx="413096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LENS</a:t>
            </a:r>
          </a:p>
        </p:txBody>
      </p:sp>
      <p:sp>
        <p:nvSpPr>
          <p:cNvPr id="30" name="Shape 20"/>
          <p:cNvSpPr/>
          <p:nvPr/>
        </p:nvSpPr>
        <p:spPr>
          <a:xfrm>
            <a:off x="5162497" y="2823758"/>
            <a:ext cx="64799" cy="1"/>
          </a:xfrm>
          <a:custGeom>
            <a:avLst/>
            <a:gdLst/>
            <a:ahLst/>
            <a:cxnLst/>
            <a:rect l="0" t="0" r="0" b="0"/>
            <a:pathLst>
              <a:path w="64799" h="1" fill="none">
                <a:moveTo>
                  <a:pt x="0" y="0"/>
                </a:moveTo>
                <a:lnTo>
                  <a:pt x="64799" y="0"/>
                </a:lnTo>
              </a:path>
            </a:pathLst>
          </a:custGeom>
          <a:noFill/>
          <a:ln w="8100">
            <a:solidFill>
              <a:srgbClr val="A2CA87"/>
            </a:solidFill>
          </a:ln>
        </p:spPr>
      </p:sp>
      <p:sp>
        <p:nvSpPr>
          <p:cNvPr id="31" name="Box 21"/>
          <p:cNvSpPr/>
          <p:nvPr/>
        </p:nvSpPr>
        <p:spPr>
          <a:xfrm>
            <a:off x="3890910" y="2912857"/>
            <a:ext cx="1231189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950" dirty="0">
                <a:solidFill>
                  <a:srgbClr val="595959"/>
                </a:solidFill>
              </a:rPr>
              <a:t>Inappropriate lens</a:t>
            </a:r>
          </a:p>
        </p:txBody>
      </p:sp>
      <p:sp>
        <p:nvSpPr>
          <p:cNvPr id="32" name="Shape 22"/>
          <p:cNvSpPr/>
          <p:nvPr/>
        </p:nvSpPr>
        <p:spPr>
          <a:xfrm>
            <a:off x="5122098" y="3001956"/>
            <a:ext cx="178199" cy="1"/>
          </a:xfrm>
          <a:custGeom>
            <a:avLst/>
            <a:gdLst/>
            <a:ahLst/>
            <a:cxnLst/>
            <a:rect l="0" t="0" r="0" b="0"/>
            <a:pathLst>
              <a:path w="178199" h="1" fill="none">
                <a:moveTo>
                  <a:pt x="0" y="0"/>
                </a:moveTo>
                <a:lnTo>
                  <a:pt x="178199" y="0"/>
                </a:lnTo>
              </a:path>
            </a:pathLst>
          </a:custGeom>
          <a:noFill/>
          <a:ln w="8100">
            <a:solidFill>
              <a:srgbClr val="A2CA87"/>
            </a:solidFill>
          </a:ln>
        </p:spPr>
      </p:sp>
      <p:sp>
        <p:nvSpPr>
          <p:cNvPr id="33" name="Box 23"/>
          <p:cNvSpPr/>
          <p:nvPr/>
        </p:nvSpPr>
        <p:spPr>
          <a:xfrm>
            <a:off x="4344607" y="3091056"/>
            <a:ext cx="850492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950" dirty="0">
                <a:solidFill>
                  <a:srgbClr val="595959"/>
                </a:solidFill>
              </a:rPr>
              <a:t>Damaged lens</a:t>
            </a:r>
          </a:p>
        </p:txBody>
      </p:sp>
      <p:sp>
        <p:nvSpPr>
          <p:cNvPr id="34" name="Shape 24"/>
          <p:cNvSpPr/>
          <p:nvPr/>
        </p:nvSpPr>
        <p:spPr>
          <a:xfrm>
            <a:off x="5195099" y="3180155"/>
            <a:ext cx="178198" cy="1"/>
          </a:xfrm>
          <a:custGeom>
            <a:avLst/>
            <a:gdLst/>
            <a:ahLst/>
            <a:cxnLst/>
            <a:rect l="0" t="0" r="0" b="0"/>
            <a:pathLst>
              <a:path w="178198" h="1" fill="none">
                <a:moveTo>
                  <a:pt x="0" y="0"/>
                </a:moveTo>
                <a:lnTo>
                  <a:pt x="178198" y="0"/>
                </a:lnTo>
              </a:path>
            </a:pathLst>
          </a:custGeom>
          <a:noFill/>
          <a:ln w="8100">
            <a:solidFill>
              <a:srgbClr val="A2CA87"/>
            </a:solidFill>
          </a:ln>
        </p:spPr>
      </p:sp>
      <p:sp>
        <p:nvSpPr>
          <p:cNvPr id="35" name="Box 25"/>
          <p:cNvSpPr/>
          <p:nvPr/>
        </p:nvSpPr>
        <p:spPr>
          <a:xfrm>
            <a:off x="4539106" y="3269254"/>
            <a:ext cx="728993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950" dirty="0">
                <a:solidFill>
                  <a:srgbClr val="595959"/>
                </a:solidFill>
              </a:rPr>
              <a:t>Dirty lens</a:t>
            </a:r>
          </a:p>
        </p:txBody>
      </p:sp>
      <p:sp>
        <p:nvSpPr>
          <p:cNvPr id="36" name="Shape 26"/>
          <p:cNvSpPr/>
          <p:nvPr/>
        </p:nvSpPr>
        <p:spPr>
          <a:xfrm>
            <a:off x="5268100" y="3358353"/>
            <a:ext cx="178198" cy="1"/>
          </a:xfrm>
          <a:custGeom>
            <a:avLst/>
            <a:gdLst/>
            <a:ahLst/>
            <a:cxnLst/>
            <a:rect l="0" t="0" r="0" b="0"/>
            <a:pathLst>
              <a:path w="178198" h="1" fill="none">
                <a:moveTo>
                  <a:pt x="0" y="0"/>
                </a:moveTo>
                <a:lnTo>
                  <a:pt x="178198" y="0"/>
                </a:lnTo>
              </a:path>
            </a:pathLst>
          </a:custGeom>
          <a:noFill/>
          <a:ln w="8100">
            <a:solidFill>
              <a:srgbClr val="A2CA87"/>
            </a:solidFill>
          </a:ln>
        </p:spPr>
      </p:sp>
      <p:sp>
        <p:nvSpPr>
          <p:cNvPr id="37" name="Box 27"/>
          <p:cNvSpPr/>
          <p:nvPr/>
        </p:nvSpPr>
        <p:spPr>
          <a:xfrm>
            <a:off x="4895604" y="3447452"/>
            <a:ext cx="558895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SENSOR</a:t>
            </a:r>
          </a:p>
        </p:txBody>
      </p:sp>
      <p:sp>
        <p:nvSpPr>
          <p:cNvPr id="38" name="Shape 28"/>
          <p:cNvSpPr/>
          <p:nvPr/>
        </p:nvSpPr>
        <p:spPr>
          <a:xfrm>
            <a:off x="5454499" y="3536551"/>
            <a:ext cx="64799" cy="1"/>
          </a:xfrm>
          <a:custGeom>
            <a:avLst/>
            <a:gdLst/>
            <a:ahLst/>
            <a:cxnLst/>
            <a:rect l="0" t="0" r="0" b="0"/>
            <a:pathLst>
              <a:path w="64799" h="1" fill="none">
                <a:moveTo>
                  <a:pt x="0" y="0"/>
                </a:moveTo>
                <a:lnTo>
                  <a:pt x="64799" y="0"/>
                </a:lnTo>
              </a:path>
            </a:pathLst>
          </a:custGeom>
          <a:noFill/>
          <a:ln w="8100">
            <a:solidFill>
              <a:srgbClr val="A2CA87"/>
            </a:solidFill>
          </a:ln>
        </p:spPr>
      </p:sp>
      <p:sp>
        <p:nvSpPr>
          <p:cNvPr id="39" name="Box 29"/>
          <p:cNvSpPr/>
          <p:nvPr/>
        </p:nvSpPr>
        <p:spPr>
          <a:xfrm>
            <a:off x="4434010" y="3625651"/>
            <a:ext cx="980091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950" dirty="0">
                <a:solidFill>
                  <a:srgbClr val="595959"/>
                </a:solidFill>
              </a:rPr>
              <a:t>Damaged sensor</a:t>
            </a:r>
          </a:p>
        </p:txBody>
      </p:sp>
      <p:sp>
        <p:nvSpPr>
          <p:cNvPr id="40" name="Shape 30"/>
          <p:cNvSpPr/>
          <p:nvPr/>
        </p:nvSpPr>
        <p:spPr>
          <a:xfrm>
            <a:off x="5414101" y="3714750"/>
            <a:ext cx="178198" cy="1"/>
          </a:xfrm>
          <a:custGeom>
            <a:avLst/>
            <a:gdLst/>
            <a:ahLst/>
            <a:cxnLst/>
            <a:rect l="0" t="0" r="0" b="0"/>
            <a:pathLst>
              <a:path w="178198" h="1" fill="none">
                <a:moveTo>
                  <a:pt x="0" y="0"/>
                </a:moveTo>
                <a:lnTo>
                  <a:pt x="178198" y="0"/>
                </a:lnTo>
              </a:path>
            </a:pathLst>
          </a:custGeom>
          <a:noFill/>
          <a:ln w="8100">
            <a:solidFill>
              <a:srgbClr val="A2CA87"/>
            </a:solidFill>
          </a:ln>
        </p:spPr>
      </p:sp>
      <p:sp>
        <p:nvSpPr>
          <p:cNvPr id="41" name="Box 31"/>
          <p:cNvSpPr/>
          <p:nvPr/>
        </p:nvSpPr>
        <p:spPr>
          <a:xfrm>
            <a:off x="4636609" y="3803849"/>
            <a:ext cx="850492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950" dirty="0">
                <a:solidFill>
                  <a:srgbClr val="595959"/>
                </a:solidFill>
              </a:rPr>
              <a:t>Dirty sensor</a:t>
            </a:r>
          </a:p>
        </p:txBody>
      </p:sp>
      <p:sp>
        <p:nvSpPr>
          <p:cNvPr id="42" name="Shape 32"/>
          <p:cNvSpPr/>
          <p:nvPr/>
        </p:nvSpPr>
        <p:spPr>
          <a:xfrm>
            <a:off x="5487101" y="3892948"/>
            <a:ext cx="178199" cy="1"/>
          </a:xfrm>
          <a:custGeom>
            <a:avLst/>
            <a:gdLst/>
            <a:ahLst/>
            <a:cxnLst/>
            <a:rect l="0" t="0" r="0" b="0"/>
            <a:pathLst>
              <a:path w="178199" h="1" fill="none">
                <a:moveTo>
                  <a:pt x="0" y="0"/>
                </a:moveTo>
                <a:lnTo>
                  <a:pt x="178199" y="0"/>
                </a:lnTo>
              </a:path>
            </a:pathLst>
          </a:custGeom>
          <a:noFill/>
          <a:ln w="8100">
            <a:solidFill>
              <a:srgbClr val="A2CA87"/>
            </a:solidFill>
          </a:ln>
        </p:spPr>
      </p:sp>
      <p:sp>
        <p:nvSpPr>
          <p:cNvPr id="43" name="Shape 33"/>
          <p:cNvSpPr/>
          <p:nvPr/>
        </p:nvSpPr>
        <p:spPr>
          <a:xfrm>
            <a:off x="5502643" y="4160246"/>
            <a:ext cx="272157" cy="534595"/>
          </a:xfrm>
          <a:custGeom>
            <a:avLst/>
            <a:gdLst/>
            <a:ahLst/>
            <a:cxnLst/>
            <a:rect l="0" t="0" r="0" b="0"/>
            <a:pathLst>
              <a:path w="272157" h="534595" fill="none">
                <a:moveTo>
                  <a:pt x="0" y="534595"/>
                </a:moveTo>
                <a:lnTo>
                  <a:pt x="272157" y="0"/>
                </a:lnTo>
              </a:path>
            </a:pathLst>
          </a:custGeom>
          <a:noFill/>
          <a:ln w="18900">
            <a:solidFill>
              <a:srgbClr val="FFC000"/>
            </a:solidFill>
          </a:ln>
        </p:spPr>
      </p:sp>
      <p:sp>
        <p:nvSpPr>
          <p:cNvPr id="44" name="Box 34"/>
          <p:cNvSpPr/>
          <p:nvPr/>
        </p:nvSpPr>
        <p:spPr>
          <a:xfrm>
            <a:off x="5049047" y="4694841"/>
            <a:ext cx="907192" cy="24299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950" dirty="0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45" name="Box 35"/>
          <p:cNvSpPr/>
          <p:nvPr/>
        </p:nvSpPr>
        <p:spPr>
          <a:xfrm>
            <a:off x="3871318" y="4516642"/>
            <a:ext cx="1611885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Subject moved too quickly</a:t>
            </a:r>
          </a:p>
        </p:txBody>
      </p:sp>
      <p:sp>
        <p:nvSpPr>
          <p:cNvPr id="46" name="Shape 36"/>
          <p:cNvSpPr/>
          <p:nvPr/>
        </p:nvSpPr>
        <p:spPr>
          <a:xfrm>
            <a:off x="5483203" y="4605741"/>
            <a:ext cx="64800" cy="1"/>
          </a:xfrm>
          <a:custGeom>
            <a:avLst/>
            <a:gdLst/>
            <a:ahLst/>
            <a:cxnLst/>
            <a:rect l="0" t="0" r="0" b="0"/>
            <a:pathLst>
              <a:path w="64800" h="1" fill="none">
                <a:moveTo>
                  <a:pt x="0" y="0"/>
                </a:moveTo>
                <a:lnTo>
                  <a:pt x="64800" y="0"/>
                </a:lnTo>
              </a:path>
            </a:pathLst>
          </a:custGeom>
          <a:noFill/>
          <a:ln w="8100">
            <a:solidFill>
              <a:srgbClr val="FFD659"/>
            </a:solidFill>
          </a:ln>
        </p:spPr>
      </p:sp>
      <p:sp>
        <p:nvSpPr>
          <p:cNvPr id="47" name="Box 37"/>
          <p:cNvSpPr/>
          <p:nvPr/>
        </p:nvSpPr>
        <p:spPr>
          <a:xfrm>
            <a:off x="4974528" y="4338444"/>
            <a:ext cx="599394" cy="178198"/>
          </a:xfrm>
          <a:prstGeom prst="rect">
            <a:avLst/>
          </a:prstGeom>
          <a:noFill/>
          <a:ln>
            <a:noFill/>
          </a:ln>
        </p:spPr>
        <p:txBody>
          <a:bodyPr wrap="none" lIns="16200" tIns="0" rIns="1620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Too dark</a:t>
            </a:r>
          </a:p>
        </p:txBody>
      </p:sp>
      <p:sp>
        <p:nvSpPr>
          <p:cNvPr id="48" name="Shape 38"/>
          <p:cNvSpPr/>
          <p:nvPr/>
        </p:nvSpPr>
        <p:spPr>
          <a:xfrm>
            <a:off x="5573922" y="4427543"/>
            <a:ext cx="64800" cy="1"/>
          </a:xfrm>
          <a:custGeom>
            <a:avLst/>
            <a:gdLst/>
            <a:ahLst/>
            <a:cxnLst/>
            <a:rect l="0" t="0" r="0" b="0"/>
            <a:pathLst>
              <a:path w="64800" h="1" fill="none">
                <a:moveTo>
                  <a:pt x="0" y="0"/>
                </a:moveTo>
                <a:lnTo>
                  <a:pt x="64800" y="0"/>
                </a:lnTo>
              </a:path>
            </a:pathLst>
          </a:custGeom>
          <a:noFill/>
          <a:ln w="8100">
            <a:solidFill>
              <a:srgbClr val="FFD659"/>
            </a:solidFill>
          </a:ln>
        </p:spPr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ishikawa-beta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Blurry Photo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Process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Out of focus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Shutter speed too slow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Protective film not removed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Beautification filter applied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User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Shaky hands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Equipment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LENS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Inappropriate lens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Damaged lens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Dirty lens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SENSOR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Damaged sensor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Dirty sensor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Environment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Subject moved too quickly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Too dark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isolated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682079" y="2554661"/>
            <a:ext cx="1077991" cy="669283"/>
          </a:xfrm>
          <a:prstGeom prst="rect">
            <a:avLst/>
          </a:prstGeom>
          <a:solidFill>
            <a:srgbClr val="C8E6C9"/>
          </a:solidFill>
          <a:ln w="1189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68" tIns="42834" rIns="85668" bIns="42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Noeud isole 2" descr="B"/>
          <p:cNvSpPr/>
          <p:nvPr/>
        </p:nvSpPr>
        <p:spPr>
          <a:xfrm>
            <a:off x="2295496" y="2554661"/>
            <a:ext cx="1844721" cy="669283"/>
          </a:xfrm>
          <a:prstGeom prst="rect">
            <a:avLst/>
          </a:prstGeom>
          <a:solidFill>
            <a:srgbClr val="FFE0B2"/>
          </a:solidFill>
          <a:ln w="1189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68" tIns="42834" rIns="85668" bIns="42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Noeud isole 2</a:t>
            </a:r>
          </a:p>
        </p:txBody>
      </p:sp>
      <p:sp>
        <p:nvSpPr>
          <p:cNvPr id="14" name="C" descr="C"/>
          <p:cNvSpPr/>
          <p:nvPr/>
        </p:nvSpPr>
        <p:spPr>
          <a:xfrm>
            <a:off x="4675643" y="2554661"/>
            <a:ext cx="624664" cy="669283"/>
          </a:xfrm>
          <a:prstGeom prst="rect">
            <a:avLst/>
          </a:prstGeom>
          <a:solidFill>
            <a:srgbClr val="E1BEE7"/>
          </a:solidFill>
          <a:ln w="1189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68" tIns="42834" rIns="85668" bIns="42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5" name="D" descr="D"/>
          <p:cNvSpPr/>
          <p:nvPr/>
        </p:nvSpPr>
        <p:spPr>
          <a:xfrm>
            <a:off x="4675643" y="4071701"/>
            <a:ext cx="624664" cy="669283"/>
          </a:xfrm>
          <a:prstGeom prst="rect">
            <a:avLst/>
          </a:prstGeom>
          <a:solidFill>
            <a:srgbClr val="FFCDD2"/>
          </a:solidFill>
          <a:ln w="1189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68" tIns="42834" rIns="85668" bIns="42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6" name="Rejoint le graphe" descr="E"/>
          <p:cNvSpPr/>
          <p:nvPr/>
        </p:nvSpPr>
        <p:spPr>
          <a:xfrm>
            <a:off x="457200" y="3937845"/>
            <a:ext cx="1527749" cy="936996"/>
          </a:xfrm>
          <a:prstGeom prst="rect">
            <a:avLst/>
          </a:prstGeom>
          <a:solidFill>
            <a:srgbClr val="FFF9C4"/>
          </a:solidFill>
          <a:ln w="1189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68" tIns="42834" rIns="85668" bIns="42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Rejoint le graphe</a:t>
            </a:r>
          </a:p>
        </p:txBody>
      </p:sp>
      <p:sp>
        <p:nvSpPr>
          <p:cNvPr id="17" name="Noeud isole" descr="F"/>
          <p:cNvSpPr/>
          <p:nvPr/>
        </p:nvSpPr>
        <p:spPr>
          <a:xfrm>
            <a:off x="5835733" y="2554661"/>
            <a:ext cx="1656251" cy="669283"/>
          </a:xfrm>
          <a:prstGeom prst="rect">
            <a:avLst/>
          </a:prstGeom>
          <a:solidFill>
            <a:srgbClr val="BBDEFB"/>
          </a:solidFill>
          <a:ln w="1189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68" tIns="42834" rIns="85668" bIns="42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Noeud isole</a:t>
            </a:r>
          </a:p>
        </p:txBody>
      </p:sp>
      <p:sp>
        <p:nvSpPr>
          <p:cNvPr id="18" name="Lien seul" descr="G"/>
          <p:cNvSpPr/>
          <p:nvPr/>
        </p:nvSpPr>
        <p:spPr>
          <a:xfrm>
            <a:off x="5964235" y="4071701"/>
            <a:ext cx="1399247" cy="669283"/>
          </a:xfrm>
          <a:prstGeom prst="rect">
            <a:avLst/>
          </a:prstGeom>
          <a:solidFill>
            <a:srgbClr val="C8E6C9"/>
          </a:solidFill>
          <a:ln w="1189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68" tIns="42834" rIns="85668" bIns="4283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Lien seul</a:t>
            </a:r>
          </a:p>
        </p:txBody>
      </p:sp>
      <p:cxnSp>
        <p:nvCxnSpPr>
          <p:cNvPr id="19" name="C--D"/>
          <p:cNvCxnSpPr>
            <a:stCxn id="14" idx="2"/>
            <a:endCxn id="15" idx="0"/>
          </p:cNvCxnSpPr>
          <p:nvPr/>
        </p:nvCxnSpPr>
        <p:spPr>
          <a:xfrm>
            <a:off x="4987975" y="3223944"/>
            <a:ext cx="0" cy="847757"/>
          </a:xfrm>
          <a:prstGeom prst="line">
            <a:avLst/>
          </a:prstGeom>
          <a:ln w="1189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--E"/>
          <p:cNvCxnSpPr>
            <a:stCxn id="12" idx="2"/>
            <a:endCxn id="16" idx="0"/>
          </p:cNvCxnSpPr>
          <p:nvPr/>
        </p:nvCxnSpPr>
        <p:spPr>
          <a:xfrm>
            <a:off x="1221074" y="3223944"/>
            <a:ext cx="0" cy="713901"/>
          </a:xfrm>
          <a:prstGeom prst="line">
            <a:avLst/>
          </a:prstGeom>
          <a:ln w="1189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--G"/>
          <p:cNvCxnSpPr>
            <a:stCxn id="17" idx="2"/>
            <a:endCxn id="18" idx="0"/>
          </p:cNvCxnSpPr>
          <p:nvPr/>
        </p:nvCxnSpPr>
        <p:spPr>
          <a:xfrm>
            <a:off x="6663858" y="3223944"/>
            <a:ext cx="0" cy="847757"/>
          </a:xfrm>
          <a:prstGeom prst="line">
            <a:avLst/>
          </a:prstGeom>
          <a:ln w="1189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A[Entree]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B[Noeud isole 2]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 --&gt; E[Rejoint le graphe]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F[Noeud isole] --&gt; G[Lien seul]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fill:#C8E6C9,stroke:#2E7D32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fill:#FFE0B2,stroke:#E65100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fill:#FFCDD2,stroke:#C62828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F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G fill:#C8E6C9,stroke:#2E7D32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journey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2572684"/>
            <a:ext cx="7034784" cy="382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My working day</a:t>
            </a:r>
          </a:p>
        </p:txBody>
      </p:sp>
      <p:sp>
        <p:nvSpPr>
          <p:cNvPr id="12" name="Box 2"/>
          <p:cNvSpPr/>
          <p:nvPr/>
        </p:nvSpPr>
        <p:spPr>
          <a:xfrm>
            <a:off x="1742568" y="3085094"/>
            <a:ext cx="3265529" cy="2605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Go to work</a:t>
            </a:r>
          </a:p>
        </p:txBody>
      </p:sp>
      <p:sp>
        <p:nvSpPr>
          <p:cNvPr id="13" name="Box 3"/>
          <p:cNvSpPr/>
          <p:nvPr/>
        </p:nvSpPr>
        <p:spPr>
          <a:xfrm>
            <a:off x="5077577" y="3085094"/>
            <a:ext cx="2153860" cy="2605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Go home</a:t>
            </a:r>
          </a:p>
        </p:txBody>
      </p:sp>
      <p:sp>
        <p:nvSpPr>
          <p:cNvPr id="14" name="Box 4"/>
          <p:cNvSpPr/>
          <p:nvPr/>
        </p:nvSpPr>
        <p:spPr>
          <a:xfrm>
            <a:off x="1742568" y="3415121"/>
            <a:ext cx="1042190" cy="32134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Make tea</a:t>
            </a:r>
          </a:p>
        </p:txBody>
      </p:sp>
      <p:sp>
        <p:nvSpPr>
          <p:cNvPr id="15" name="Box 5"/>
          <p:cNvSpPr/>
          <p:nvPr/>
        </p:nvSpPr>
        <p:spPr>
          <a:xfrm>
            <a:off x="2854238" y="3415121"/>
            <a:ext cx="1042190" cy="32134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Go upstairs</a:t>
            </a:r>
          </a:p>
        </p:txBody>
      </p:sp>
      <p:sp>
        <p:nvSpPr>
          <p:cNvPr id="16" name="Box 6"/>
          <p:cNvSpPr/>
          <p:nvPr/>
        </p:nvSpPr>
        <p:spPr>
          <a:xfrm>
            <a:off x="3965907" y="3415121"/>
            <a:ext cx="1042190" cy="32134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Do work</a:t>
            </a:r>
          </a:p>
        </p:txBody>
      </p:sp>
      <p:sp>
        <p:nvSpPr>
          <p:cNvPr id="17" name="Box 7"/>
          <p:cNvSpPr/>
          <p:nvPr/>
        </p:nvSpPr>
        <p:spPr>
          <a:xfrm>
            <a:off x="5077577" y="3415121"/>
            <a:ext cx="1042190" cy="321342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Go downstairs</a:t>
            </a:r>
          </a:p>
        </p:txBody>
      </p:sp>
      <p:sp>
        <p:nvSpPr>
          <p:cNvPr id="18" name="Box 8"/>
          <p:cNvSpPr/>
          <p:nvPr/>
        </p:nvSpPr>
        <p:spPr>
          <a:xfrm>
            <a:off x="6189246" y="3415121"/>
            <a:ext cx="1042190" cy="321342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Sit down</a:t>
            </a:r>
          </a:p>
        </p:txBody>
      </p:sp>
      <p:sp>
        <p:nvSpPr>
          <p:cNvPr id="19" name="Box 9"/>
          <p:cNvSpPr/>
          <p:nvPr/>
        </p:nvSpPr>
        <p:spPr>
          <a:xfrm>
            <a:off x="1742568" y="3805942"/>
            <a:ext cx="1042190" cy="26054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0" name="Box 10"/>
          <p:cNvSpPr/>
          <p:nvPr/>
        </p:nvSpPr>
        <p:spPr>
          <a:xfrm>
            <a:off x="2854238" y="3805942"/>
            <a:ext cx="1042190" cy="26054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3/5</a:t>
            </a:r>
          </a:p>
        </p:txBody>
      </p:sp>
      <p:sp>
        <p:nvSpPr>
          <p:cNvPr id="21" name="Box 11"/>
          <p:cNvSpPr/>
          <p:nvPr/>
        </p:nvSpPr>
        <p:spPr>
          <a:xfrm>
            <a:off x="3965907" y="3805942"/>
            <a:ext cx="1042190" cy="260548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1/5</a:t>
            </a:r>
          </a:p>
        </p:txBody>
      </p:sp>
      <p:sp>
        <p:nvSpPr>
          <p:cNvPr id="22" name="Box 12"/>
          <p:cNvSpPr/>
          <p:nvPr/>
        </p:nvSpPr>
        <p:spPr>
          <a:xfrm>
            <a:off x="5077577" y="3805942"/>
            <a:ext cx="1042190" cy="26054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3" name="Box 13"/>
          <p:cNvSpPr/>
          <p:nvPr/>
        </p:nvSpPr>
        <p:spPr>
          <a:xfrm>
            <a:off x="6189246" y="3805942"/>
            <a:ext cx="1042190" cy="26054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000000"/>
                </a:solidFill>
              </a:rPr>
              <a:t>5/5</a:t>
            </a:r>
          </a:p>
        </p:txBody>
      </p:sp>
      <p:sp>
        <p:nvSpPr>
          <p:cNvPr id="24" name="Box 14"/>
          <p:cNvSpPr/>
          <p:nvPr/>
        </p:nvSpPr>
        <p:spPr>
          <a:xfrm>
            <a:off x="717748" y="4135969"/>
            <a:ext cx="955341" cy="2258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Me</a:t>
            </a:r>
          </a:p>
        </p:txBody>
      </p:sp>
      <p:sp>
        <p:nvSpPr>
          <p:cNvPr id="25" name="Box 15"/>
          <p:cNvSpPr/>
          <p:nvPr/>
        </p:nvSpPr>
        <p:spPr>
          <a:xfrm>
            <a:off x="1742568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6" name="Box 16"/>
          <p:cNvSpPr/>
          <p:nvPr/>
        </p:nvSpPr>
        <p:spPr>
          <a:xfrm>
            <a:off x="2854238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7" name="Box 17"/>
          <p:cNvSpPr/>
          <p:nvPr/>
        </p:nvSpPr>
        <p:spPr>
          <a:xfrm>
            <a:off x="3965907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8" name="Box 18"/>
          <p:cNvSpPr/>
          <p:nvPr/>
        </p:nvSpPr>
        <p:spPr>
          <a:xfrm>
            <a:off x="5077577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29" name="Box 19"/>
          <p:cNvSpPr/>
          <p:nvPr/>
        </p:nvSpPr>
        <p:spPr>
          <a:xfrm>
            <a:off x="6189246" y="4135969"/>
            <a:ext cx="1042190" cy="2258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Me</a:t>
            </a:r>
          </a:p>
        </p:txBody>
      </p:sp>
      <p:sp>
        <p:nvSpPr>
          <p:cNvPr id="30" name="Box 20"/>
          <p:cNvSpPr/>
          <p:nvPr/>
        </p:nvSpPr>
        <p:spPr>
          <a:xfrm>
            <a:off x="717748" y="4431256"/>
            <a:ext cx="955341" cy="225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Cat</a:t>
            </a:r>
          </a:p>
        </p:txBody>
      </p:sp>
      <p:sp>
        <p:nvSpPr>
          <p:cNvPr id="31" name="Box 21"/>
          <p:cNvSpPr/>
          <p:nvPr/>
        </p:nvSpPr>
        <p:spPr>
          <a:xfrm>
            <a:off x="3965907" y="4431256"/>
            <a:ext cx="1042190" cy="225808"/>
          </a:xfrm>
          <a:prstGeom prst="rect">
            <a:avLst/>
          </a:prstGeom>
          <a:solidFill>
            <a:srgbClr val="F8CBA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Cat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journey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title My working day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section Go to work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Make tea: 5: 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Go upstairs: 3: 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Do work: 1: Me, Cat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section Go home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Go downstairs: 5: Me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Sit down: 5: 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kanban</a:t>
            </a:r>
          </a:p>
        </p:txBody>
      </p:sp>
      <p:sp>
        <p:nvSpPr>
          <p:cNvPr id="11" name="Box 1"/>
          <p:cNvSpPr/>
          <p:nvPr/>
        </p:nvSpPr>
        <p:spPr>
          <a:xfrm>
            <a:off x="585299" y="3007535"/>
            <a:ext cx="1067494" cy="1414429"/>
          </a:xfrm>
          <a:prstGeom prst="rect">
            <a:avLst/>
          </a:prstGeom>
          <a:solidFill>
            <a:srgbClr val="E9EEF8"/>
          </a:solidFill>
          <a:ln>
            <a:noFill/>
          </a:ln>
        </p:spPr>
      </p:sp>
      <p:sp>
        <p:nvSpPr>
          <p:cNvPr id="12" name="Box 2"/>
          <p:cNvSpPr/>
          <p:nvPr/>
        </p:nvSpPr>
        <p:spPr>
          <a:xfrm>
            <a:off x="585299" y="3007535"/>
            <a:ext cx="1067494" cy="19748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FFFFFF"/>
                </a:solidFill>
              </a:rPr>
              <a:t>Todo</a:t>
            </a:r>
          </a:p>
        </p:txBody>
      </p:sp>
      <p:sp>
        <p:nvSpPr>
          <p:cNvPr id="13" name="Box 3"/>
          <p:cNvSpPr/>
          <p:nvPr/>
        </p:nvSpPr>
        <p:spPr>
          <a:xfrm>
            <a:off x="606649" y="3247721"/>
            <a:ext cx="1024794" cy="288223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Create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Documentation</a:t>
            </a:r>
          </a:p>
        </p:txBody>
      </p:sp>
      <p:sp>
        <p:nvSpPr>
          <p:cNvPr id="14" name="Box 4"/>
          <p:cNvSpPr/>
          <p:nvPr/>
        </p:nvSpPr>
        <p:spPr>
          <a:xfrm>
            <a:off x="606649" y="3578644"/>
            <a:ext cx="1024794" cy="288223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Create Blog about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the new diagram</a:t>
            </a:r>
          </a:p>
        </p:txBody>
      </p:sp>
      <p:sp>
        <p:nvSpPr>
          <p:cNvPr id="15" name="Box 5"/>
          <p:cNvSpPr/>
          <p:nvPr/>
        </p:nvSpPr>
        <p:spPr>
          <a:xfrm>
            <a:off x="1727518" y="3007535"/>
            <a:ext cx="1067494" cy="1414429"/>
          </a:xfrm>
          <a:prstGeom prst="rect">
            <a:avLst/>
          </a:prstGeom>
          <a:solidFill>
            <a:srgbClr val="FDEFE6"/>
          </a:solidFill>
          <a:ln>
            <a:noFill/>
          </a:ln>
        </p:spPr>
      </p:sp>
      <p:sp>
        <p:nvSpPr>
          <p:cNvPr id="16" name="Box 6"/>
          <p:cNvSpPr/>
          <p:nvPr/>
        </p:nvSpPr>
        <p:spPr>
          <a:xfrm>
            <a:off x="1727518" y="3007535"/>
            <a:ext cx="1067494" cy="19748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7" name="Box 7"/>
          <p:cNvSpPr/>
          <p:nvPr/>
        </p:nvSpPr>
        <p:spPr>
          <a:xfrm>
            <a:off x="1748867" y="3247721"/>
            <a:ext cx="1024794" cy="832645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Create renderer so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that it works in 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cases. We also add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some extra text 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for testing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purposes. And some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more just for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extra flare.</a:t>
            </a:r>
          </a:p>
        </p:txBody>
      </p:sp>
      <p:sp>
        <p:nvSpPr>
          <p:cNvPr id="18" name="Box 8"/>
          <p:cNvSpPr/>
          <p:nvPr/>
        </p:nvSpPr>
        <p:spPr>
          <a:xfrm>
            <a:off x="2869736" y="3007535"/>
            <a:ext cx="1067494" cy="1414429"/>
          </a:xfrm>
          <a:prstGeom prst="rect">
            <a:avLst/>
          </a:prstGeom>
          <a:solidFill>
            <a:srgbClr val="EEF5E9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2869736" y="3007535"/>
            <a:ext cx="1067494" cy="19748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FFFFFF"/>
                </a:solidFill>
              </a:rPr>
              <a:t>Ready for deploy</a:t>
            </a:r>
          </a:p>
        </p:txBody>
      </p:sp>
      <p:sp>
        <p:nvSpPr>
          <p:cNvPr id="20" name="Box 10"/>
          <p:cNvSpPr/>
          <p:nvPr/>
        </p:nvSpPr>
        <p:spPr>
          <a:xfrm>
            <a:off x="2891086" y="3247721"/>
            <a:ext cx="1024794" cy="288223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Design grammar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knsv</a:t>
            </a:r>
          </a:p>
        </p:txBody>
      </p:sp>
      <p:sp>
        <p:nvSpPr>
          <p:cNvPr id="21" name="Box 11"/>
          <p:cNvSpPr/>
          <p:nvPr/>
        </p:nvSpPr>
        <p:spPr>
          <a:xfrm>
            <a:off x="4011954" y="3007535"/>
            <a:ext cx="1067494" cy="1414429"/>
          </a:xfrm>
          <a:prstGeom prst="rect">
            <a:avLst/>
          </a:prstGeom>
          <a:solidFill>
            <a:srgbClr val="FFF7E0"/>
          </a:solidFill>
          <a:ln>
            <a:noFill/>
          </a:ln>
        </p:spPr>
      </p:sp>
      <p:sp>
        <p:nvSpPr>
          <p:cNvPr id="22" name="Box 12"/>
          <p:cNvSpPr/>
          <p:nvPr/>
        </p:nvSpPr>
        <p:spPr>
          <a:xfrm>
            <a:off x="4011954" y="3007535"/>
            <a:ext cx="1067494" cy="197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FFFFFF"/>
                </a:solidFill>
              </a:rPr>
              <a:t>Ready for test</a:t>
            </a:r>
          </a:p>
        </p:txBody>
      </p:sp>
      <p:sp>
        <p:nvSpPr>
          <p:cNvPr id="23" name="Box 13"/>
          <p:cNvSpPr/>
          <p:nvPr/>
        </p:nvSpPr>
        <p:spPr>
          <a:xfrm>
            <a:off x="4033304" y="3247721"/>
            <a:ext cx="1024794" cy="288223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Create parsing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MC-2038 · K.Sveidqvist</a:t>
            </a:r>
          </a:p>
        </p:txBody>
      </p:sp>
      <p:sp>
        <p:nvSpPr>
          <p:cNvPr id="24" name="Box 14"/>
          <p:cNvSpPr/>
          <p:nvPr/>
        </p:nvSpPr>
        <p:spPr>
          <a:xfrm>
            <a:off x="4033304" y="3247721"/>
            <a:ext cx="26687" cy="288223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4033304" y="3578644"/>
            <a:ext cx="1024794" cy="288223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last item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knsv</a:t>
            </a:r>
          </a:p>
        </p:txBody>
      </p:sp>
      <p:sp>
        <p:nvSpPr>
          <p:cNvPr id="26" name="Box 16"/>
          <p:cNvSpPr/>
          <p:nvPr/>
        </p:nvSpPr>
        <p:spPr>
          <a:xfrm>
            <a:off x="4033304" y="3578644"/>
            <a:ext cx="26687" cy="288223"/>
          </a:xfrm>
          <a:prstGeom prst="rect">
            <a:avLst/>
          </a:prstGeom>
          <a:solidFill>
            <a:srgbClr val="BDD7EE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5154173" y="3007535"/>
            <a:ext cx="1067494" cy="1414429"/>
          </a:xfrm>
          <a:prstGeom prst="rect">
            <a:avLst/>
          </a:prstGeom>
          <a:solidFill>
            <a:srgbClr val="EEE6F4"/>
          </a:solidFill>
          <a:ln>
            <a:noFill/>
          </a:ln>
        </p:spPr>
      </p:sp>
      <p:sp>
        <p:nvSpPr>
          <p:cNvPr id="28" name="Box 18"/>
          <p:cNvSpPr/>
          <p:nvPr/>
        </p:nvSpPr>
        <p:spPr>
          <a:xfrm>
            <a:off x="5154173" y="3007535"/>
            <a:ext cx="1067494" cy="19748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9" name="Box 19"/>
          <p:cNvSpPr/>
          <p:nvPr/>
        </p:nvSpPr>
        <p:spPr>
          <a:xfrm>
            <a:off x="5175523" y="3247721"/>
            <a:ext cx="1024794" cy="197486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define getData</a:t>
            </a:r>
          </a:p>
        </p:txBody>
      </p:sp>
      <p:sp>
        <p:nvSpPr>
          <p:cNvPr id="30" name="Box 20"/>
          <p:cNvSpPr/>
          <p:nvPr/>
        </p:nvSpPr>
        <p:spPr>
          <a:xfrm>
            <a:off x="5175523" y="3487907"/>
            <a:ext cx="1024794" cy="560434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Title of diagram 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more than 100 chars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when user duplicates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diagram with 100 char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MC-2036</a:t>
            </a:r>
          </a:p>
        </p:txBody>
      </p:sp>
      <p:sp>
        <p:nvSpPr>
          <p:cNvPr id="31" name="Box 21"/>
          <p:cNvSpPr/>
          <p:nvPr/>
        </p:nvSpPr>
        <p:spPr>
          <a:xfrm>
            <a:off x="5175523" y="3487907"/>
            <a:ext cx="26687" cy="56043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2" name="Box 22"/>
          <p:cNvSpPr/>
          <p:nvPr/>
        </p:nvSpPr>
        <p:spPr>
          <a:xfrm>
            <a:off x="5175523" y="4091041"/>
            <a:ext cx="1024794" cy="288223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Update DB function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MC-2037 · knsv</a:t>
            </a:r>
          </a:p>
        </p:txBody>
      </p:sp>
      <p:sp>
        <p:nvSpPr>
          <p:cNvPr id="33" name="Box 23"/>
          <p:cNvSpPr/>
          <p:nvPr/>
        </p:nvSpPr>
        <p:spPr>
          <a:xfrm>
            <a:off x="5175523" y="4091041"/>
            <a:ext cx="26687" cy="288223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6296391" y="3007535"/>
            <a:ext cx="1067494" cy="1414429"/>
          </a:xfrm>
          <a:prstGeom prst="rect">
            <a:avLst/>
          </a:prstGeom>
          <a:solidFill>
            <a:srgbClr val="EBF3FA"/>
          </a:solidFill>
          <a:ln>
            <a:noFill/>
          </a:ln>
        </p:spPr>
      </p:sp>
      <p:sp>
        <p:nvSpPr>
          <p:cNvPr id="35" name="Box 25"/>
          <p:cNvSpPr/>
          <p:nvPr/>
        </p:nvSpPr>
        <p:spPr>
          <a:xfrm>
            <a:off x="6296391" y="3007535"/>
            <a:ext cx="1067494" cy="19748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FFFFFF"/>
                </a:solidFill>
              </a:rPr>
              <a:t>Can't reproduce</a:t>
            </a:r>
          </a:p>
        </p:txBody>
      </p:sp>
      <p:sp>
        <p:nvSpPr>
          <p:cNvPr id="36" name="Box 26"/>
          <p:cNvSpPr/>
          <p:nvPr/>
        </p:nvSpPr>
        <p:spPr>
          <a:xfrm>
            <a:off x="6317741" y="3247721"/>
            <a:ext cx="1024794" cy="288223"/>
          </a:xfrm>
          <a:prstGeom prst="rect">
            <a:avLst/>
          </a:prstGeom>
          <a:solidFill>
            <a:srgbClr val="FFFFFF"/>
          </a:solidFill>
          <a:ln w="5337">
            <a:solidFill>
              <a:srgbClr val="BFBFBF"/>
            </a:solidFill>
          </a:ln>
        </p:spPr>
        <p:txBody>
          <a:bodyPr wrap="square" lIns="42700" tIns="0" rIns="427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Weird flickering 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Firefox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kanban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Todo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[Create Documentation]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docs[Create Blog about the new diagram]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[In progress]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id6[Create renderer so that it works in all cases. We also add some extra text here for testing purposes. And some more just for the extra flare.]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id9[Ready for deploy]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id8[Design grammar]@{ assigned: 'knsv'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id10[Ready for test]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id4[Create parsing tests]@{ ticket: MC-2038, assigned: 'K.Sveidqvist', priority: 'High'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id66[last item]@{ priority: 'Very Low', assigned: 'knsv'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id11[Done]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id5[define getData]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id2[Title of diagram is more than 100 chars when user duplicates diagram with 100 char]@{ ticket: MC-2036, priority: 'Very High'}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id3[Update DB function]@{ ticket: MC-2037, assigned: knsv, priority: 'High' }</a:t>
            </a:r>
          </a:p>
          <a:p>
            <a:endParaRPr lang="en-US" sz="1150" dirty="0"/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id12[Can't reproduce]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id3[Weird flickering in Firefox]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long-labels</a:t>
            </a:r>
          </a:p>
        </p:txBody>
      </p:sp>
      <p:sp>
        <p:nvSpPr>
          <p:cNvPr id="12" name="Ceci est un label assez long pour deborder" descr="A"/>
          <p:cNvSpPr/>
          <p:nvPr/>
        </p:nvSpPr>
        <p:spPr>
          <a:xfrm>
            <a:off x="3103646" y="1028700"/>
            <a:ext cx="1741892" cy="1568843"/>
          </a:xfrm>
          <a:prstGeom prst="rect">
            <a:avLst/>
          </a:prstGeom>
          <a:solidFill>
            <a:srgbClr val="FFE0B2"/>
          </a:solidFill>
          <a:ln w="1267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Ceci est un label assez long pour deborder</a:t>
            </a:r>
          </a:p>
        </p:txBody>
      </p:sp>
      <p:sp>
        <p:nvSpPr>
          <p:cNvPr id="13" name="Court" descr="B"/>
          <p:cNvSpPr/>
          <p:nvPr/>
        </p:nvSpPr>
        <p:spPr>
          <a:xfrm>
            <a:off x="3468759" y="3358195"/>
            <a:ext cx="1011666" cy="713111"/>
          </a:xfrm>
          <a:prstGeom prst="rect">
            <a:avLst/>
          </a:prstGeom>
          <a:solidFill>
            <a:srgbClr val="E1BEE7"/>
          </a:solidFill>
          <a:ln w="1267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Court</a:t>
            </a:r>
          </a:p>
        </p:txBody>
      </p:sp>
      <p:sp>
        <p:nvSpPr>
          <p:cNvPr id="14" name="Un autre label qui depasse la largeur du noeud" descr="C"/>
          <p:cNvSpPr/>
          <p:nvPr/>
        </p:nvSpPr>
        <p:spPr>
          <a:xfrm>
            <a:off x="2921090" y="4831957"/>
            <a:ext cx="2107004" cy="1568843"/>
          </a:xfrm>
          <a:prstGeom prst="rect">
            <a:avLst/>
          </a:prstGeom>
          <a:solidFill>
            <a:srgbClr val="FFCDD2"/>
          </a:solidFill>
          <a:ln w="1267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Un autre label qui depasse la largeur du noeud</a:t>
            </a:r>
          </a:p>
        </p:txBody>
      </p:sp>
      <p:cxnSp>
        <p:nvCxnSpPr>
          <p:cNvPr id="15" name="A--B"/>
          <p:cNvCxnSpPr>
            <a:stCxn id="12" idx="2"/>
            <a:endCxn id="13" idx="0"/>
          </p:cNvCxnSpPr>
          <p:nvPr/>
        </p:nvCxnSpPr>
        <p:spPr>
          <a:xfrm>
            <a:off x="3974592" y="2597543"/>
            <a:ext cx="0" cy="760652"/>
          </a:xfrm>
          <a:prstGeom prst="line">
            <a:avLst/>
          </a:prstGeom>
          <a:ln w="126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B--C"/>
          <p:cNvCxnSpPr>
            <a:stCxn id="13" idx="2"/>
            <a:endCxn id="14" idx="0"/>
          </p:cNvCxnSpPr>
          <p:nvPr/>
        </p:nvCxnSpPr>
        <p:spPr>
          <a:xfrm>
            <a:off x="3974592" y="4071305"/>
            <a:ext cx="0" cy="760652"/>
          </a:xfrm>
          <a:prstGeom prst="line">
            <a:avLst/>
          </a:prstGeom>
          <a:ln w="126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A[Ceci est un label assez long pour deborder] --&gt; B[Court]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C[Un autre label qui depasse la largeur du noeud]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fill:#FFE0B2,stroke:#E65100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fill:#FFCDD2,stroke:#C62828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lr-direction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457200" y="3431212"/>
            <a:ext cx="913373" cy="567077"/>
          </a:xfrm>
          <a:prstGeom prst="rect">
            <a:avLst/>
          </a:prstGeom>
          <a:solidFill>
            <a:srgbClr val="E1BEE7"/>
          </a:solidFill>
          <a:ln w="10081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Traitement" descr="B"/>
          <p:cNvSpPr/>
          <p:nvPr/>
        </p:nvSpPr>
        <p:spPr>
          <a:xfrm>
            <a:off x="1975455" y="3431212"/>
            <a:ext cx="1348888" cy="567077"/>
          </a:xfrm>
          <a:prstGeom prst="rect">
            <a:avLst/>
          </a:prstGeom>
          <a:solidFill>
            <a:srgbClr val="FFCDD2"/>
          </a:solidFill>
          <a:ln w="10081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14" name="Valide?" descr="C"/>
          <p:cNvSpPr/>
          <p:nvPr/>
        </p:nvSpPr>
        <p:spPr>
          <a:xfrm>
            <a:off x="3929226" y="3147673"/>
            <a:ext cx="2044503" cy="1134155"/>
          </a:xfrm>
          <a:prstGeom prst="diamond">
            <a:avLst/>
          </a:prstGeom>
          <a:solidFill>
            <a:srgbClr val="FFF9C4"/>
          </a:solidFill>
          <a:ln w="10081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6578611" y="2920842"/>
            <a:ext cx="913373" cy="567077"/>
          </a:xfrm>
          <a:prstGeom prst="rect">
            <a:avLst/>
          </a:prstGeom>
          <a:solidFill>
            <a:srgbClr val="BBDEFB"/>
          </a:solidFill>
          <a:ln w="10081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Sortie</a:t>
            </a:r>
          </a:p>
        </p:txBody>
      </p:sp>
      <p:sp>
        <p:nvSpPr>
          <p:cNvPr id="16" name="Erreur" descr="E"/>
          <p:cNvSpPr/>
          <p:nvPr/>
        </p:nvSpPr>
        <p:spPr>
          <a:xfrm>
            <a:off x="6578611" y="3941581"/>
            <a:ext cx="913373" cy="567077"/>
          </a:xfrm>
          <a:prstGeom prst="rect">
            <a:avLst/>
          </a:prstGeom>
          <a:solidFill>
            <a:srgbClr val="C8E6C9"/>
          </a:solidFill>
          <a:ln w="10081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Erreur</a:t>
            </a:r>
          </a:p>
        </p:txBody>
      </p:sp>
      <p:cxnSp>
        <p:nvCxnSpPr>
          <p:cNvPr id="17" name="A--B"/>
          <p:cNvCxnSpPr>
            <a:stCxn id="12" idx="3"/>
            <a:endCxn id="13" idx="1"/>
          </p:cNvCxnSpPr>
          <p:nvPr/>
        </p:nvCxnSpPr>
        <p:spPr>
          <a:xfrm>
            <a:off x="1370573" y="3714750"/>
            <a:ext cx="604882" cy="0"/>
          </a:xfrm>
          <a:prstGeom prst="line">
            <a:avLst/>
          </a:prstGeom>
          <a:ln w="1008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3"/>
            <a:endCxn id="14" idx="1"/>
          </p:cNvCxnSpPr>
          <p:nvPr/>
        </p:nvCxnSpPr>
        <p:spPr>
          <a:xfrm>
            <a:off x="3324343" y="3714750"/>
            <a:ext cx="604883" cy="0"/>
          </a:xfrm>
          <a:prstGeom prst="line">
            <a:avLst/>
          </a:prstGeom>
          <a:ln w="1008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3"/>
            <a:endCxn id="15" idx="1"/>
          </p:cNvCxnSpPr>
          <p:nvPr/>
        </p:nvCxnSpPr>
        <p:spPr>
          <a:xfrm flipV="1">
            <a:off x="5973729" y="3204381"/>
            <a:ext cx="604882" cy="510369"/>
          </a:xfrm>
          <a:prstGeom prst="line">
            <a:avLst/>
          </a:prstGeom>
          <a:ln w="1008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6085027" y="3368833"/>
            <a:ext cx="382286" cy="1814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244" tIns="0" rIns="30244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1" name="C--E"/>
          <p:cNvCxnSpPr>
            <a:stCxn id="14" idx="3"/>
            <a:endCxn id="16" idx="1"/>
          </p:cNvCxnSpPr>
          <p:nvPr/>
        </p:nvCxnSpPr>
        <p:spPr>
          <a:xfrm>
            <a:off x="5973729" y="3714750"/>
            <a:ext cx="604882" cy="510370"/>
          </a:xfrm>
          <a:prstGeom prst="line">
            <a:avLst/>
          </a:prstGeom>
          <a:ln w="1008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Label"/>
          <p:cNvSpPr txBox="1"/>
          <p:nvPr/>
        </p:nvSpPr>
        <p:spPr>
          <a:xfrm>
            <a:off x="6085027" y="3879203"/>
            <a:ext cx="382286" cy="1814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244" tIns="0" rIns="30244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non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LR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A[Entree] --&gt; B[Traitement]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C{Valide?}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--&gt;|oui| D[Sortie]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--&gt;|non| E[Erreur]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fill:#FFCDD2,stroke:#C62828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 fill:#C8E6C9,stroke:#2E7D32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lr-subgraphs</a:t>
            </a:r>
          </a:p>
        </p:txBody>
      </p:sp>
      <p:sp>
        <p:nvSpPr>
          <p:cNvPr id="20" name="Nord (container)"/>
          <p:cNvSpPr/>
          <p:nvPr/>
        </p:nvSpPr>
        <p:spPr>
          <a:xfrm>
            <a:off x="457200" y="2235049"/>
            <a:ext cx="4207314" cy="1083299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1" name="Nord"/>
          <p:cNvSpPr/>
          <p:nvPr/>
        </p:nvSpPr>
        <p:spPr>
          <a:xfrm>
            <a:off x="457200" y="2235049"/>
            <a:ext cx="4207314" cy="145247"/>
          </a:xfrm>
          <a:prstGeom prst="rect">
            <a:avLst/>
          </a:prstGeom>
          <a:noFill/>
          <a:ln w="0">
            <a:noFill/>
          </a:ln>
        </p:spPr>
        <p:txBody>
          <a:bodyPr lIns="58099" tIns="29049" rIns="58099" bIns="29049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Nord</a:t>
            </a:r>
          </a:p>
        </p:txBody>
      </p:sp>
      <p:sp>
        <p:nvSpPr>
          <p:cNvPr id="22" name="Sud (container)"/>
          <p:cNvSpPr/>
          <p:nvPr/>
        </p:nvSpPr>
        <p:spPr>
          <a:xfrm>
            <a:off x="1827361" y="3294140"/>
            <a:ext cx="2837153" cy="1900312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3" name="Sud"/>
          <p:cNvSpPr/>
          <p:nvPr/>
        </p:nvSpPr>
        <p:spPr>
          <a:xfrm>
            <a:off x="1827361" y="3294140"/>
            <a:ext cx="2837153" cy="145247"/>
          </a:xfrm>
          <a:prstGeom prst="rect">
            <a:avLst/>
          </a:prstGeom>
          <a:noFill/>
          <a:ln w="0">
            <a:noFill/>
          </a:ln>
        </p:spPr>
        <p:txBody>
          <a:bodyPr lIns="58099" tIns="29049" rIns="58099" bIns="29049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Sud</a:t>
            </a:r>
          </a:p>
        </p:txBody>
      </p:sp>
      <p:sp>
        <p:nvSpPr>
          <p:cNvPr id="24" name="Ouest (container)"/>
          <p:cNvSpPr/>
          <p:nvPr/>
        </p:nvSpPr>
        <p:spPr>
          <a:xfrm>
            <a:off x="5148670" y="2348523"/>
            <a:ext cx="2343314" cy="1854922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5" name="Ouest"/>
          <p:cNvSpPr/>
          <p:nvPr/>
        </p:nvSpPr>
        <p:spPr>
          <a:xfrm>
            <a:off x="5148670" y="2348523"/>
            <a:ext cx="2343314" cy="145247"/>
          </a:xfrm>
          <a:prstGeom prst="rect">
            <a:avLst/>
          </a:prstGeom>
          <a:noFill/>
          <a:ln w="0">
            <a:noFill/>
          </a:ln>
        </p:spPr>
        <p:txBody>
          <a:bodyPr lIns="58099" tIns="29049" rIns="58099" bIns="29049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Ouest</a:t>
            </a:r>
          </a:p>
        </p:txBody>
      </p:sp>
      <p:sp>
        <p:nvSpPr>
          <p:cNvPr id="12" name="Paris" descr="A"/>
          <p:cNvSpPr/>
          <p:nvPr/>
        </p:nvSpPr>
        <p:spPr>
          <a:xfrm>
            <a:off x="699278" y="2622374"/>
            <a:ext cx="643927" cy="453896"/>
          </a:xfrm>
          <a:prstGeom prst="rect">
            <a:avLst/>
          </a:prstGeom>
          <a:solidFill>
            <a:srgbClr val="FFCDD2"/>
          </a:solidFill>
          <a:ln w="8069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99" tIns="29049" rIns="58099" bIns="29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Paris</a:t>
            </a:r>
          </a:p>
        </p:txBody>
      </p:sp>
      <p:sp>
        <p:nvSpPr>
          <p:cNvPr id="13" name="Rouen" descr="B"/>
          <p:cNvSpPr/>
          <p:nvPr/>
        </p:nvSpPr>
        <p:spPr>
          <a:xfrm>
            <a:off x="2243735" y="2622374"/>
            <a:ext cx="643927" cy="453896"/>
          </a:xfrm>
          <a:prstGeom prst="rect">
            <a:avLst/>
          </a:prstGeom>
          <a:solidFill>
            <a:srgbClr val="FFF9C4"/>
          </a:solidFill>
          <a:ln w="8069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99" tIns="29049" rIns="58099" bIns="29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Rouen</a:t>
            </a:r>
          </a:p>
        </p:txBody>
      </p:sp>
      <p:sp>
        <p:nvSpPr>
          <p:cNvPr id="14" name="Le Havre" descr="C"/>
          <p:cNvSpPr/>
          <p:nvPr/>
        </p:nvSpPr>
        <p:spPr>
          <a:xfrm>
            <a:off x="3546114" y="2622374"/>
            <a:ext cx="876322" cy="453896"/>
          </a:xfrm>
          <a:prstGeom prst="rect">
            <a:avLst/>
          </a:prstGeom>
          <a:solidFill>
            <a:srgbClr val="BBDEFB"/>
          </a:solidFill>
          <a:ln w="8069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99" tIns="29049" rIns="58099" bIns="29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Le Havre</a:t>
            </a:r>
          </a:p>
        </p:txBody>
      </p:sp>
      <p:sp>
        <p:nvSpPr>
          <p:cNvPr id="15" name="Marseille" descr="D"/>
          <p:cNvSpPr/>
          <p:nvPr/>
        </p:nvSpPr>
        <p:spPr>
          <a:xfrm>
            <a:off x="2069439" y="4089971"/>
            <a:ext cx="992519" cy="453896"/>
          </a:xfrm>
          <a:prstGeom prst="rect">
            <a:avLst/>
          </a:prstGeom>
          <a:solidFill>
            <a:srgbClr val="C8E6C9"/>
          </a:solidFill>
          <a:ln w="806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99" tIns="29049" rIns="58099" bIns="29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Marseille</a:t>
            </a:r>
          </a:p>
        </p:txBody>
      </p:sp>
      <p:sp>
        <p:nvSpPr>
          <p:cNvPr id="16" name="Toulon" descr="E"/>
          <p:cNvSpPr/>
          <p:nvPr/>
        </p:nvSpPr>
        <p:spPr>
          <a:xfrm>
            <a:off x="3618737" y="3681464"/>
            <a:ext cx="731075" cy="453896"/>
          </a:xfrm>
          <a:prstGeom prst="rect">
            <a:avLst/>
          </a:prstGeom>
          <a:solidFill>
            <a:srgbClr val="FFE0B2"/>
          </a:solidFill>
          <a:ln w="806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99" tIns="29049" rIns="58099" bIns="29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Toulon</a:t>
            </a:r>
          </a:p>
        </p:txBody>
      </p:sp>
      <p:sp>
        <p:nvSpPr>
          <p:cNvPr id="17" name="Nice" descr="F"/>
          <p:cNvSpPr/>
          <p:nvPr/>
        </p:nvSpPr>
        <p:spPr>
          <a:xfrm>
            <a:off x="3705886" y="4498477"/>
            <a:ext cx="556779" cy="453896"/>
          </a:xfrm>
          <a:prstGeom prst="rect">
            <a:avLst/>
          </a:prstGeom>
          <a:solidFill>
            <a:srgbClr val="E1BEE7"/>
          </a:solidFill>
          <a:ln w="8069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99" tIns="29049" rIns="58099" bIns="29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Nice</a:t>
            </a:r>
          </a:p>
        </p:txBody>
      </p:sp>
      <p:sp>
        <p:nvSpPr>
          <p:cNvPr id="18" name="Nantes" descr="G"/>
          <p:cNvSpPr/>
          <p:nvPr/>
        </p:nvSpPr>
        <p:spPr>
          <a:xfrm>
            <a:off x="5390748" y="3151919"/>
            <a:ext cx="731075" cy="453896"/>
          </a:xfrm>
          <a:prstGeom prst="rect">
            <a:avLst/>
          </a:prstGeom>
          <a:solidFill>
            <a:srgbClr val="FFCDD2"/>
          </a:solidFill>
          <a:ln w="8069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99" tIns="29049" rIns="58099" bIns="29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Nantes</a:t>
            </a:r>
          </a:p>
        </p:txBody>
      </p:sp>
      <p:sp>
        <p:nvSpPr>
          <p:cNvPr id="19" name="Brest" descr="H"/>
          <p:cNvSpPr/>
          <p:nvPr/>
        </p:nvSpPr>
        <p:spPr>
          <a:xfrm>
            <a:off x="6605979" y="3151919"/>
            <a:ext cx="643927" cy="453896"/>
          </a:xfrm>
          <a:prstGeom prst="rect">
            <a:avLst/>
          </a:prstGeom>
          <a:solidFill>
            <a:srgbClr val="FFF9C4"/>
          </a:solidFill>
          <a:ln w="8069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99" tIns="29049" rIns="58099" bIns="29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Brest</a:t>
            </a:r>
          </a:p>
        </p:txBody>
      </p:sp>
      <p:cxnSp>
        <p:nvCxnSpPr>
          <p:cNvPr id="26" name="A--B"/>
          <p:cNvCxnSpPr>
            <a:stCxn id="12" idx="3"/>
            <a:endCxn id="13" idx="1"/>
          </p:cNvCxnSpPr>
          <p:nvPr/>
        </p:nvCxnSpPr>
        <p:spPr>
          <a:xfrm>
            <a:off x="1343205" y="2849322"/>
            <a:ext cx="900530" cy="0"/>
          </a:xfrm>
          <a:prstGeom prst="line">
            <a:avLst/>
          </a:prstGeom>
          <a:ln w="806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B--C"/>
          <p:cNvCxnSpPr>
            <a:stCxn id="13" idx="3"/>
            <a:endCxn id="14" idx="1"/>
          </p:cNvCxnSpPr>
          <p:nvPr/>
        </p:nvCxnSpPr>
        <p:spPr>
          <a:xfrm>
            <a:off x="2887662" y="2849322"/>
            <a:ext cx="658452" cy="0"/>
          </a:xfrm>
          <a:prstGeom prst="line">
            <a:avLst/>
          </a:prstGeom>
          <a:ln w="806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E"/>
          <p:cNvCxnSpPr>
            <a:stCxn id="15" idx="3"/>
            <a:endCxn id="16" idx="1"/>
          </p:cNvCxnSpPr>
          <p:nvPr/>
        </p:nvCxnSpPr>
        <p:spPr>
          <a:xfrm flipV="1">
            <a:off x="3061958" y="3908413"/>
            <a:ext cx="556779" cy="408506"/>
          </a:xfrm>
          <a:prstGeom prst="line">
            <a:avLst/>
          </a:prstGeom>
          <a:ln w="806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--F"/>
          <p:cNvCxnSpPr>
            <a:stCxn id="15" idx="3"/>
            <a:endCxn id="17" idx="1"/>
          </p:cNvCxnSpPr>
          <p:nvPr/>
        </p:nvCxnSpPr>
        <p:spPr>
          <a:xfrm>
            <a:off x="3061958" y="4316919"/>
            <a:ext cx="643928" cy="408506"/>
          </a:xfrm>
          <a:prstGeom prst="line">
            <a:avLst/>
          </a:prstGeom>
          <a:ln w="806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--H"/>
          <p:cNvCxnSpPr>
            <a:stCxn id="18" idx="3"/>
            <a:endCxn id="19" idx="1"/>
          </p:cNvCxnSpPr>
          <p:nvPr/>
        </p:nvCxnSpPr>
        <p:spPr>
          <a:xfrm>
            <a:off x="6121823" y="3378867"/>
            <a:ext cx="484156" cy="0"/>
          </a:xfrm>
          <a:prstGeom prst="line">
            <a:avLst/>
          </a:prstGeom>
          <a:ln w="806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--G"/>
          <p:cNvCxnSpPr>
            <a:stCxn id="14" idx="3"/>
            <a:endCxn id="18" idx="1"/>
          </p:cNvCxnSpPr>
          <p:nvPr/>
        </p:nvCxnSpPr>
        <p:spPr>
          <a:xfrm>
            <a:off x="4422436" y="2849322"/>
            <a:ext cx="968312" cy="529545"/>
          </a:xfrm>
          <a:prstGeom prst="line">
            <a:avLst/>
          </a:prstGeom>
          <a:ln w="806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--G"/>
          <p:cNvCxnSpPr>
            <a:stCxn id="16" idx="3"/>
            <a:endCxn id="18" idx="1"/>
          </p:cNvCxnSpPr>
          <p:nvPr/>
        </p:nvCxnSpPr>
        <p:spPr>
          <a:xfrm flipV="1">
            <a:off x="4349813" y="3378867"/>
            <a:ext cx="1040935" cy="529546"/>
          </a:xfrm>
          <a:prstGeom prst="line">
            <a:avLst/>
          </a:prstGeom>
          <a:ln w="806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flowchart LR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subgraph Nord[Nord]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A[Paris] --&gt; B[Rouen]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B --&gt; C[Le Havre]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subgraph Sud[Sud]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D[Marseille] --&gt; E[Toulon]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D --&gt; F[Nice]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subgraph Ouest[Ouest]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G[Nantes] --&gt; H[Brest]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C --&gt; G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 --&gt; G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A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B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C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D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E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F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G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H fill:#FFF9C4,stroke:#F9A825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medium-realistic</a:t>
            </a:r>
          </a:p>
        </p:txBody>
      </p:sp>
      <p:sp>
        <p:nvSpPr>
          <p:cNvPr id="12" name="Demarrer" descr="Start"/>
          <p:cNvSpPr/>
          <p:nvPr/>
        </p:nvSpPr>
        <p:spPr>
          <a:xfrm>
            <a:off x="2396891" y="1028700"/>
            <a:ext cx="469980" cy="235618"/>
          </a:xfrm>
          <a:prstGeom prst="round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Demarrer</a:t>
            </a:r>
          </a:p>
        </p:txBody>
      </p:sp>
      <p:sp>
        <p:nvSpPr>
          <p:cNvPr id="13" name="Lire config" descr="Lire"/>
          <p:cNvSpPr/>
          <p:nvPr/>
        </p:nvSpPr>
        <p:spPr>
          <a:xfrm>
            <a:off x="2340343" y="1515645"/>
            <a:ext cx="583077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Lire config</a:t>
            </a:r>
          </a:p>
        </p:txBody>
      </p:sp>
      <p:sp>
        <p:nvSpPr>
          <p:cNvPr id="14" name="Config valide?" descr="Valider"/>
          <p:cNvSpPr/>
          <p:nvPr/>
        </p:nvSpPr>
        <p:spPr>
          <a:xfrm>
            <a:off x="2214679" y="2002589"/>
            <a:ext cx="834403" cy="659732"/>
          </a:xfrm>
          <a:prstGeom prst="diamond">
            <a:avLst/>
          </a:prstGeom>
          <a:solidFill>
            <a:srgbClr val="FFE699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Config valide?</a:t>
            </a:r>
          </a:p>
        </p:txBody>
      </p:sp>
      <p:sp>
        <p:nvSpPr>
          <p:cNvPr id="15" name="Log erreur" descr="Erreur"/>
          <p:cNvSpPr/>
          <p:nvPr/>
        </p:nvSpPr>
        <p:spPr>
          <a:xfrm>
            <a:off x="2791473" y="5678237"/>
            <a:ext cx="537838" cy="235618"/>
          </a:xfrm>
          <a:prstGeom prst="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Log erreur</a:t>
            </a:r>
          </a:p>
        </p:txBody>
      </p:sp>
      <p:sp>
        <p:nvSpPr>
          <p:cNvPr id="16" name="Arreter" descr="Stop"/>
          <p:cNvSpPr/>
          <p:nvPr/>
        </p:nvSpPr>
        <p:spPr>
          <a:xfrm>
            <a:off x="2450926" y="6165182"/>
            <a:ext cx="424741" cy="235618"/>
          </a:xfrm>
          <a:prstGeom prst="round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Arreter</a:t>
            </a:r>
          </a:p>
        </p:txBody>
      </p:sp>
      <p:sp>
        <p:nvSpPr>
          <p:cNvPr id="17" name="Connecter API" descr="Connect"/>
          <p:cNvSpPr/>
          <p:nvPr/>
        </p:nvSpPr>
        <p:spPr>
          <a:xfrm>
            <a:off x="1523532" y="2913647"/>
            <a:ext cx="696174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Connecter API</a:t>
            </a:r>
          </a:p>
        </p:txBody>
      </p:sp>
      <p:sp>
        <p:nvSpPr>
          <p:cNvPr id="18" name="Recuperer donnees" descr="Fetch"/>
          <p:cNvSpPr/>
          <p:nvPr/>
        </p:nvSpPr>
        <p:spPr>
          <a:xfrm>
            <a:off x="1614010" y="3400592"/>
            <a:ext cx="515219" cy="329866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Recuperer donnees</a:t>
            </a:r>
          </a:p>
        </p:txBody>
      </p:sp>
      <p:sp>
        <p:nvSpPr>
          <p:cNvPr id="19" name="Nettoyer" descr="Clean"/>
          <p:cNvSpPr/>
          <p:nvPr/>
        </p:nvSpPr>
        <p:spPr>
          <a:xfrm>
            <a:off x="1636629" y="3981784"/>
            <a:ext cx="469980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Nettoyer</a:t>
            </a:r>
          </a:p>
        </p:txBody>
      </p:sp>
      <p:sp>
        <p:nvSpPr>
          <p:cNvPr id="20" name="Donnees ok?" descr="Check"/>
          <p:cNvSpPr/>
          <p:nvPr/>
        </p:nvSpPr>
        <p:spPr>
          <a:xfrm>
            <a:off x="1288542" y="4468729"/>
            <a:ext cx="1166154" cy="471237"/>
          </a:xfrm>
          <a:prstGeom prst="diamond">
            <a:avLst/>
          </a:prstGeom>
          <a:solidFill>
            <a:srgbClr val="FFE699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Donnees ok?</a:t>
            </a:r>
          </a:p>
        </p:txBody>
      </p:sp>
      <p:sp>
        <p:nvSpPr>
          <p:cNvPr id="21" name="Retenter" descr="Retry"/>
          <p:cNvSpPr/>
          <p:nvPr/>
        </p:nvSpPr>
        <p:spPr>
          <a:xfrm>
            <a:off x="1304878" y="5191292"/>
            <a:ext cx="469980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Retenter</a:t>
            </a:r>
          </a:p>
        </p:txBody>
      </p:sp>
      <p:sp>
        <p:nvSpPr>
          <p:cNvPr id="22" name="Sauvegarder" descr="Save"/>
          <p:cNvSpPr/>
          <p:nvPr/>
        </p:nvSpPr>
        <p:spPr>
          <a:xfrm>
            <a:off x="1963353" y="5191292"/>
            <a:ext cx="605696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Sauvegarder</a:t>
            </a:r>
          </a:p>
        </p:txBody>
      </p:sp>
      <p:sp>
        <p:nvSpPr>
          <p:cNvPr id="23" name="Notifier user" descr="Notify"/>
          <p:cNvSpPr/>
          <p:nvPr/>
        </p:nvSpPr>
        <p:spPr>
          <a:xfrm>
            <a:off x="1929424" y="5678237"/>
            <a:ext cx="673555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Notifier user</a:t>
            </a:r>
          </a:p>
        </p:txBody>
      </p:sp>
      <p:cxnSp>
        <p:nvCxnSpPr>
          <p:cNvPr id="24" name="Start--Lire"/>
          <p:cNvCxnSpPr>
            <a:stCxn id="12" idx="2"/>
            <a:endCxn id="13" idx="0"/>
          </p:cNvCxnSpPr>
          <p:nvPr/>
        </p:nvCxnSpPr>
        <p:spPr>
          <a:xfrm>
            <a:off x="2631881" y="1264318"/>
            <a:ext cx="0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re--Valider"/>
          <p:cNvCxnSpPr>
            <a:stCxn id="13" idx="2"/>
            <a:endCxn id="14" idx="0"/>
          </p:cNvCxnSpPr>
          <p:nvPr/>
        </p:nvCxnSpPr>
        <p:spPr>
          <a:xfrm>
            <a:off x="2631881" y="1751263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alider--Erreur"/>
          <p:cNvCxnSpPr>
            <a:stCxn id="14" idx="2"/>
            <a:endCxn id="15" idx="0"/>
          </p:cNvCxnSpPr>
          <p:nvPr/>
        </p:nvCxnSpPr>
        <p:spPr>
          <a:xfrm>
            <a:off x="2631881" y="2662321"/>
            <a:ext cx="428512" cy="301591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2766718" y="413258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8" name="Erreur--Stop"/>
          <p:cNvCxnSpPr>
            <a:stCxn id="15" idx="2"/>
            <a:endCxn id="16" idx="0"/>
          </p:cNvCxnSpPr>
          <p:nvPr/>
        </p:nvCxnSpPr>
        <p:spPr>
          <a:xfrm flipH="1">
            <a:off x="2663297" y="5913855"/>
            <a:ext cx="397096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alider--Connect"/>
          <p:cNvCxnSpPr>
            <a:stCxn id="14" idx="1"/>
            <a:endCxn id="17" idx="3"/>
          </p:cNvCxnSpPr>
          <p:nvPr/>
        </p:nvCxnSpPr>
        <p:spPr>
          <a:xfrm>
            <a:off x="2214679" y="2332455"/>
            <a:ext cx="5027" cy="699002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geLabel"/>
          <p:cNvSpPr txBox="1"/>
          <p:nvPr/>
        </p:nvSpPr>
        <p:spPr>
          <a:xfrm>
            <a:off x="2137774" y="2644257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1" name="Connect--Fetch"/>
          <p:cNvCxnSpPr>
            <a:stCxn id="17" idx="2"/>
            <a:endCxn id="18" idx="0"/>
          </p:cNvCxnSpPr>
          <p:nvPr/>
        </p:nvCxnSpPr>
        <p:spPr>
          <a:xfrm>
            <a:off x="1871619" y="3149266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etch--Clean"/>
          <p:cNvCxnSpPr>
            <a:stCxn id="18" idx="2"/>
            <a:endCxn id="19" idx="0"/>
          </p:cNvCxnSpPr>
          <p:nvPr/>
        </p:nvCxnSpPr>
        <p:spPr>
          <a:xfrm>
            <a:off x="1871619" y="3730458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lean--Check"/>
          <p:cNvCxnSpPr>
            <a:stCxn id="19" idx="2"/>
            <a:endCxn id="20" idx="0"/>
          </p:cNvCxnSpPr>
          <p:nvPr/>
        </p:nvCxnSpPr>
        <p:spPr>
          <a:xfrm>
            <a:off x="1871619" y="4217403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heck--Retry"/>
          <p:cNvCxnSpPr>
            <a:stCxn id="20" idx="2"/>
            <a:endCxn id="21" idx="0"/>
          </p:cNvCxnSpPr>
          <p:nvPr/>
        </p:nvCxnSpPr>
        <p:spPr>
          <a:xfrm flipH="1">
            <a:off x="1539868" y="4939966"/>
            <a:ext cx="331751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dgeLabel"/>
          <p:cNvSpPr txBox="1"/>
          <p:nvPr/>
        </p:nvSpPr>
        <p:spPr>
          <a:xfrm>
            <a:off x="1626325" y="502793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36" name="Retry--Check"/>
          <p:cNvCxnSpPr>
            <a:stCxn id="21" idx="0"/>
            <a:endCxn id="20" idx="2"/>
          </p:cNvCxnSpPr>
          <p:nvPr/>
        </p:nvCxnSpPr>
        <p:spPr>
          <a:xfrm flipV="1">
            <a:off x="1539868" y="4939966"/>
            <a:ext cx="331751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heck--Save"/>
          <p:cNvCxnSpPr>
            <a:stCxn id="20" idx="2"/>
            <a:endCxn id="22" idx="0"/>
          </p:cNvCxnSpPr>
          <p:nvPr/>
        </p:nvCxnSpPr>
        <p:spPr>
          <a:xfrm>
            <a:off x="1871619" y="4939966"/>
            <a:ext cx="394582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dgeLabel"/>
          <p:cNvSpPr txBox="1"/>
          <p:nvPr/>
        </p:nvSpPr>
        <p:spPr>
          <a:xfrm>
            <a:off x="1989491" y="502793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9" name="Save--Notify"/>
          <p:cNvCxnSpPr>
            <a:stCxn id="22" idx="2"/>
            <a:endCxn id="23" idx="0"/>
          </p:cNvCxnSpPr>
          <p:nvPr/>
        </p:nvCxnSpPr>
        <p:spPr>
          <a:xfrm>
            <a:off x="2266201" y="5426911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otify--Stop"/>
          <p:cNvCxnSpPr>
            <a:stCxn id="23" idx="2"/>
            <a:endCxn id="16" idx="0"/>
          </p:cNvCxnSpPr>
          <p:nvPr/>
        </p:nvCxnSpPr>
        <p:spPr>
          <a:xfrm>
            <a:off x="2266201" y="5913855"/>
            <a:ext cx="397096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classDef process fill:#BDD7EE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classDef gate fill:#FFE699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classDef terminal fill:#C6E0B4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Start([Demarrer]):::terminal --&gt; Lire[Lire config]:::process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Lire --&gt; Valider{Config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valide?}:::gate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Valider --&gt;|non| Erreur[Log erreur]:::terminal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Erreur --&gt; Stop([Arreter]):::terminal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Valider --&gt;|oui| Connect[Connecter API]:::process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Connect --&gt; Fetch[Recuperer donnees]:::process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Fetch --&gt; Clean[Nettoyer]:::process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Clean --&gt; Check{Donnees ok?}:::gate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Check --&gt;|non| Retry[Retenter]:::process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Retry --&gt; Check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Check --&gt;|oui| Save[Sauvegarder]:::process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Save --&gt; Notify[Notifier user]:::process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Notify --&gt; Stop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mindmap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4483005" y="4098110"/>
            <a:ext cx="670127" cy="773368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2" name="Connector 2"/>
          <p:cNvCxnSpPr/>
          <p:nvPr/>
        </p:nvCxnSpPr>
        <p:spPr>
          <a:xfrm flipV="1">
            <a:off x="5153132" y="4674711"/>
            <a:ext cx="1293595" cy="196767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3" name="Connector 3"/>
          <p:cNvCxnSpPr/>
          <p:nvPr/>
        </p:nvCxnSpPr>
        <p:spPr>
          <a:xfrm>
            <a:off x="5153132" y="4871478"/>
            <a:ext cx="670127" cy="773368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4" name="Connector 4"/>
          <p:cNvCxnSpPr/>
          <p:nvPr/>
        </p:nvCxnSpPr>
        <p:spPr>
          <a:xfrm flipV="1">
            <a:off x="4774270" y="4871478"/>
            <a:ext cx="378862" cy="1252425"/>
          </a:xfrm>
          <a:prstGeom prst="line">
            <a:avLst/>
          </a:prstGeom>
          <a:ln w="12039">
            <a:solidFill>
              <a:srgbClr val="4472C4"/>
            </a:solidFill>
          </a:ln>
        </p:spPr>
      </p:cxnSp>
      <p:cxnSp>
        <p:nvCxnSpPr>
          <p:cNvPr id="15" name="Connector 5"/>
          <p:cNvCxnSpPr/>
          <p:nvPr/>
        </p:nvCxnSpPr>
        <p:spPr>
          <a:xfrm flipV="1">
            <a:off x="3622139" y="4098110"/>
            <a:ext cx="860866" cy="553244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6" name="Connector 6"/>
          <p:cNvCxnSpPr/>
          <p:nvPr/>
        </p:nvCxnSpPr>
        <p:spPr>
          <a:xfrm>
            <a:off x="3622139" y="4651354"/>
            <a:ext cx="10667" cy="1308432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7" name="Connector 7"/>
          <p:cNvCxnSpPr/>
          <p:nvPr/>
        </p:nvCxnSpPr>
        <p:spPr>
          <a:xfrm flipV="1">
            <a:off x="2519282" y="4651354"/>
            <a:ext cx="1102857" cy="23357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8" name="Connector 8"/>
          <p:cNvCxnSpPr/>
          <p:nvPr/>
        </p:nvCxnSpPr>
        <p:spPr>
          <a:xfrm flipV="1">
            <a:off x="1900409" y="4674711"/>
            <a:ext cx="618873" cy="1083133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19" name="Connector 9"/>
          <p:cNvCxnSpPr/>
          <p:nvPr/>
        </p:nvCxnSpPr>
        <p:spPr>
          <a:xfrm>
            <a:off x="1413067" y="4098110"/>
            <a:ext cx="1106215" cy="576601"/>
          </a:xfrm>
          <a:prstGeom prst="line">
            <a:avLst/>
          </a:prstGeom>
          <a:ln w="12039">
            <a:solidFill>
              <a:srgbClr val="ED7D31"/>
            </a:solidFill>
          </a:ln>
        </p:spPr>
      </p:cxnSp>
      <p:cxnSp>
        <p:nvCxnSpPr>
          <p:cNvPr id="20" name="Connector 10"/>
          <p:cNvCxnSpPr/>
          <p:nvPr/>
        </p:nvCxnSpPr>
        <p:spPr>
          <a:xfrm>
            <a:off x="4057905" y="3167272"/>
            <a:ext cx="425100" cy="93083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1" name="Connector 11"/>
          <p:cNvCxnSpPr/>
          <p:nvPr/>
        </p:nvCxnSpPr>
        <p:spPr>
          <a:xfrm>
            <a:off x="3142750" y="2551374"/>
            <a:ext cx="915155" cy="61589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2" name="Connector 12"/>
          <p:cNvCxnSpPr/>
          <p:nvPr/>
        </p:nvCxnSpPr>
        <p:spPr>
          <a:xfrm>
            <a:off x="1900409" y="2438376"/>
            <a:ext cx="1242341" cy="11299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3" name="Connector 13"/>
          <p:cNvCxnSpPr/>
          <p:nvPr/>
        </p:nvCxnSpPr>
        <p:spPr>
          <a:xfrm flipV="1">
            <a:off x="3142750" y="1305596"/>
            <a:ext cx="64957" cy="1245778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4" name="Connector 14"/>
          <p:cNvCxnSpPr/>
          <p:nvPr/>
        </p:nvCxnSpPr>
        <p:spPr>
          <a:xfrm flipV="1">
            <a:off x="4057905" y="2072316"/>
            <a:ext cx="716365" cy="1094956"/>
          </a:xfrm>
          <a:prstGeom prst="line">
            <a:avLst/>
          </a:prstGeom>
          <a:ln w="12039">
            <a:solidFill>
              <a:srgbClr val="70AD47"/>
            </a:solidFill>
          </a:ln>
        </p:spPr>
      </p:cxnSp>
      <p:cxnSp>
        <p:nvCxnSpPr>
          <p:cNvPr id="25" name="Connector 15"/>
          <p:cNvCxnSpPr/>
          <p:nvPr/>
        </p:nvCxnSpPr>
        <p:spPr>
          <a:xfrm flipV="1">
            <a:off x="4483005" y="3544865"/>
            <a:ext cx="860865" cy="553245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cxnSp>
        <p:nvCxnSpPr>
          <p:cNvPr id="26" name="Connector 16"/>
          <p:cNvCxnSpPr/>
          <p:nvPr/>
        </p:nvCxnSpPr>
        <p:spPr>
          <a:xfrm flipV="1">
            <a:off x="5343870" y="2551374"/>
            <a:ext cx="479389" cy="993491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cxnSp>
        <p:nvCxnSpPr>
          <p:cNvPr id="27" name="Connector 17"/>
          <p:cNvCxnSpPr/>
          <p:nvPr/>
        </p:nvCxnSpPr>
        <p:spPr>
          <a:xfrm flipV="1">
            <a:off x="5343870" y="3521509"/>
            <a:ext cx="1102857" cy="23356"/>
          </a:xfrm>
          <a:prstGeom prst="line">
            <a:avLst/>
          </a:prstGeom>
          <a:ln w="12039">
            <a:solidFill>
              <a:srgbClr val="FFC000"/>
            </a:solidFill>
          </a:ln>
        </p:spPr>
      </p:cxnSp>
      <p:sp>
        <p:nvSpPr>
          <p:cNvPr id="28" name="Project Plan"/>
          <p:cNvSpPr/>
          <p:nvPr/>
        </p:nvSpPr>
        <p:spPr>
          <a:xfrm>
            <a:off x="3878889" y="3953642"/>
            <a:ext cx="1208231" cy="288935"/>
          </a:xfrm>
          <a:prstGeom prst="ellipse">
            <a:avLst/>
          </a:prstGeom>
          <a:solidFill>
            <a:srgbClr val="404040"/>
          </a:solidFill>
          <a:ln w="6019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FFFFFF"/>
                </a:solidFill>
              </a:rPr>
              <a:t>Project Plan</a:t>
            </a:r>
          </a:p>
        </p:txBody>
      </p:sp>
      <p:sp>
        <p:nvSpPr>
          <p:cNvPr id="29" name="Research"/>
          <p:cNvSpPr/>
          <p:nvPr/>
        </p:nvSpPr>
        <p:spPr>
          <a:xfrm>
            <a:off x="4853061" y="4775166"/>
            <a:ext cx="600143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30" name="Market analysis"/>
          <p:cNvSpPr/>
          <p:nvPr/>
        </p:nvSpPr>
        <p:spPr>
          <a:xfrm>
            <a:off x="6047033" y="4578399"/>
            <a:ext cx="799388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Market analysis</a:t>
            </a:r>
          </a:p>
        </p:txBody>
      </p:sp>
      <p:sp>
        <p:nvSpPr>
          <p:cNvPr id="31" name="Competitor review"/>
          <p:cNvSpPr/>
          <p:nvPr/>
        </p:nvSpPr>
        <p:spPr>
          <a:xfrm>
            <a:off x="5383837" y="5548534"/>
            <a:ext cx="878845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Competitor review</a:t>
            </a:r>
          </a:p>
        </p:txBody>
      </p:sp>
      <p:sp>
        <p:nvSpPr>
          <p:cNvPr id="32" name="User interviews"/>
          <p:cNvSpPr/>
          <p:nvPr/>
        </p:nvSpPr>
        <p:spPr>
          <a:xfrm>
            <a:off x="4374576" y="6027592"/>
            <a:ext cx="799388" cy="192624"/>
          </a:xfrm>
          <a:prstGeom prst="roundRect">
            <a:avLst/>
          </a:prstGeom>
          <a:solidFill>
            <a:srgbClr val="4472C4"/>
          </a:solidFill>
          <a:ln w="6019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User interviews</a:t>
            </a:r>
          </a:p>
        </p:txBody>
      </p:sp>
      <p:sp>
        <p:nvSpPr>
          <p:cNvPr id="33" name="Design"/>
          <p:cNvSpPr/>
          <p:nvPr/>
        </p:nvSpPr>
        <p:spPr>
          <a:xfrm>
            <a:off x="3369020" y="4555043"/>
            <a:ext cx="506239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34" name="Wireframes"/>
          <p:cNvSpPr/>
          <p:nvPr/>
        </p:nvSpPr>
        <p:spPr>
          <a:xfrm>
            <a:off x="3322501" y="5863474"/>
            <a:ext cx="620609" cy="192624"/>
          </a:xfrm>
          <a:prstGeom prst="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Wireframes</a:t>
            </a:r>
          </a:p>
        </p:txBody>
      </p:sp>
      <p:sp>
        <p:nvSpPr>
          <p:cNvPr id="35" name="Moodboard"/>
          <p:cNvSpPr/>
          <p:nvPr/>
        </p:nvSpPr>
        <p:spPr>
          <a:xfrm>
            <a:off x="2137797" y="4578399"/>
            <a:ext cx="762970" cy="192624"/>
          </a:xfrm>
          <a:prstGeom prst="cloud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Moodboard</a:t>
            </a:r>
          </a:p>
        </p:txBody>
      </p:sp>
      <p:sp>
        <p:nvSpPr>
          <p:cNvPr id="36" name="Colors"/>
          <p:cNvSpPr/>
          <p:nvPr/>
        </p:nvSpPr>
        <p:spPr>
          <a:xfrm>
            <a:off x="1669562" y="5661532"/>
            <a:ext cx="461695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Colors</a:t>
            </a:r>
          </a:p>
        </p:txBody>
      </p:sp>
      <p:sp>
        <p:nvSpPr>
          <p:cNvPr id="37" name="Typography"/>
          <p:cNvSpPr/>
          <p:nvPr/>
        </p:nvSpPr>
        <p:spPr>
          <a:xfrm>
            <a:off x="1102763" y="4001798"/>
            <a:ext cx="620609" cy="192624"/>
          </a:xfrm>
          <a:prstGeom prst="roundRect">
            <a:avLst/>
          </a:prstGeom>
          <a:solidFill>
            <a:srgbClr val="ED7D31"/>
          </a:solidFill>
          <a:ln w="6019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Typography</a:t>
            </a:r>
          </a:p>
        </p:txBody>
      </p:sp>
      <p:sp>
        <p:nvSpPr>
          <p:cNvPr id="38" name="Engineering"/>
          <p:cNvSpPr/>
          <p:nvPr/>
        </p:nvSpPr>
        <p:spPr>
          <a:xfrm>
            <a:off x="3595654" y="3070960"/>
            <a:ext cx="924503" cy="192624"/>
          </a:xfrm>
          <a:prstGeom prst="hexagon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39" name="Backend"/>
          <p:cNvSpPr/>
          <p:nvPr/>
        </p:nvSpPr>
        <p:spPr>
          <a:xfrm>
            <a:off x="2892039" y="2455062"/>
            <a:ext cx="501423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40" name="API"/>
          <p:cNvSpPr/>
          <p:nvPr/>
        </p:nvSpPr>
        <p:spPr>
          <a:xfrm>
            <a:off x="1719824" y="2342065"/>
            <a:ext cx="361169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41" name="Database"/>
          <p:cNvSpPr/>
          <p:nvPr/>
        </p:nvSpPr>
        <p:spPr>
          <a:xfrm>
            <a:off x="2937131" y="1209285"/>
            <a:ext cx="541152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42" name="Frontend"/>
          <p:cNvSpPr/>
          <p:nvPr/>
        </p:nvSpPr>
        <p:spPr>
          <a:xfrm>
            <a:off x="4503694" y="1976005"/>
            <a:ext cx="541152" cy="192624"/>
          </a:xfrm>
          <a:prstGeom prst="roundRect">
            <a:avLst/>
          </a:prstGeom>
          <a:solidFill>
            <a:srgbClr val="70AD47"/>
          </a:solidFill>
          <a:ln w="6019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43" name="Launch"/>
          <p:cNvSpPr/>
          <p:nvPr/>
        </p:nvSpPr>
        <p:spPr>
          <a:xfrm>
            <a:off x="5090751" y="3448554"/>
            <a:ext cx="506239" cy="192624"/>
          </a:xfrm>
          <a:prstGeom prst="roundRect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44" name="Marketing"/>
          <p:cNvSpPr/>
          <p:nvPr/>
        </p:nvSpPr>
        <p:spPr>
          <a:xfrm>
            <a:off x="5368939" y="2455062"/>
            <a:ext cx="908641" cy="192624"/>
          </a:xfrm>
          <a:prstGeom prst="irregularSeal2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45" name="Support"/>
          <p:cNvSpPr/>
          <p:nvPr/>
        </p:nvSpPr>
        <p:spPr>
          <a:xfrm>
            <a:off x="6196016" y="3425197"/>
            <a:ext cx="501423" cy="192624"/>
          </a:xfrm>
          <a:prstGeom prst="roundRect">
            <a:avLst/>
          </a:prstGeom>
          <a:solidFill>
            <a:srgbClr val="FFC000"/>
          </a:solidFill>
          <a:ln w="6019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mindmap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root((Project Plan))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Research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Market analysis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Competitor review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User interviews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Design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[Wireframes]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)Moodboard(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Colors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Typography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{{Engineering}}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(Backend)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API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Database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Frontend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Launch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))Marketing((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Support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minimal</a:t>
            </a:r>
          </a:p>
        </p:txBody>
      </p:sp>
      <p:sp>
        <p:nvSpPr>
          <p:cNvPr id="12" name="A" descr="A"/>
          <p:cNvSpPr/>
          <p:nvPr/>
        </p:nvSpPr>
        <p:spPr>
          <a:xfrm>
            <a:off x="457200" y="3358258"/>
            <a:ext cx="1330905" cy="1425970"/>
          </a:xfrm>
          <a:prstGeom prst="rect">
            <a:avLst/>
          </a:prstGeom>
          <a:solidFill>
            <a:srgbClr val="FFF9C4"/>
          </a:solidFill>
          <a:ln w="25351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524" tIns="91262" rIns="182524" bIns="9126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95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3" name="B" descr="B"/>
          <p:cNvSpPr/>
          <p:nvPr/>
        </p:nvSpPr>
        <p:spPr>
          <a:xfrm>
            <a:off x="3309139" y="2621507"/>
            <a:ext cx="1330905" cy="1425970"/>
          </a:xfrm>
          <a:prstGeom prst="rect">
            <a:avLst/>
          </a:prstGeom>
          <a:solidFill>
            <a:srgbClr val="BBDEFB"/>
          </a:solidFill>
          <a:ln w="25351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524" tIns="91262" rIns="182524" bIns="9126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95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4" name="C" descr="C"/>
          <p:cNvSpPr/>
          <p:nvPr/>
        </p:nvSpPr>
        <p:spPr>
          <a:xfrm>
            <a:off x="6161079" y="3358258"/>
            <a:ext cx="1330905" cy="1425970"/>
          </a:xfrm>
          <a:prstGeom prst="rect">
            <a:avLst/>
          </a:prstGeom>
          <a:solidFill>
            <a:srgbClr val="C8E6C9"/>
          </a:solidFill>
          <a:ln w="25351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524" tIns="91262" rIns="182524" bIns="9126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95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15" name="A--B"/>
          <p:cNvCxnSpPr>
            <a:stCxn id="12" idx="3"/>
            <a:endCxn id="13" idx="1"/>
          </p:cNvCxnSpPr>
          <p:nvPr/>
        </p:nvCxnSpPr>
        <p:spPr>
          <a:xfrm flipV="1">
            <a:off x="1788105" y="3334492"/>
            <a:ext cx="1521034" cy="736750"/>
          </a:xfrm>
          <a:prstGeom prst="line">
            <a:avLst/>
          </a:prstGeom>
          <a:ln w="2535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B--C"/>
          <p:cNvCxnSpPr>
            <a:stCxn id="13" idx="3"/>
            <a:endCxn id="14" idx="1"/>
          </p:cNvCxnSpPr>
          <p:nvPr/>
        </p:nvCxnSpPr>
        <p:spPr>
          <a:xfrm>
            <a:off x="4640045" y="3334492"/>
            <a:ext cx="1521034" cy="736750"/>
          </a:xfrm>
          <a:prstGeom prst="line">
            <a:avLst/>
          </a:prstGeom>
          <a:ln w="2535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--A"/>
          <p:cNvCxnSpPr>
            <a:stCxn id="14" idx="1"/>
            <a:endCxn id="12" idx="3"/>
          </p:cNvCxnSpPr>
          <p:nvPr/>
        </p:nvCxnSpPr>
        <p:spPr>
          <a:xfrm flipH="1">
            <a:off x="1788105" y="4071242"/>
            <a:ext cx="4372974" cy="0"/>
          </a:xfrm>
          <a:prstGeom prst="line">
            <a:avLst/>
          </a:prstGeom>
          <a:ln w="2535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graph LR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 --&gt; 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fill:#C8E6C9,stroke:#2E7D32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mixed</a:t>
            </a:r>
          </a:p>
        </p:txBody>
      </p:sp>
      <p:sp>
        <p:nvSpPr>
          <p:cNvPr id="17" name="Validation (container)"/>
          <p:cNvSpPr/>
          <p:nvPr/>
        </p:nvSpPr>
        <p:spPr>
          <a:xfrm>
            <a:off x="2340546" y="1028700"/>
            <a:ext cx="3268092" cy="4359517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18" name="Validation"/>
          <p:cNvSpPr/>
          <p:nvPr/>
        </p:nvSpPr>
        <p:spPr>
          <a:xfrm>
            <a:off x="2340546" y="1028700"/>
            <a:ext cx="3268092" cy="185511"/>
          </a:xfrm>
          <a:prstGeom prst="rect">
            <a:avLst/>
          </a:prstGeom>
          <a:noFill/>
          <a:ln w="0">
            <a:noFill/>
          </a:ln>
        </p:spPr>
        <p:txBody>
          <a:bodyPr lIns="74205" tIns="37102" rIns="74205" bIns="3710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12" name="Requete" descr="A"/>
          <p:cNvSpPr/>
          <p:nvPr/>
        </p:nvSpPr>
        <p:spPr>
          <a:xfrm>
            <a:off x="3452068" y="1523397"/>
            <a:ext cx="1045047" cy="579723"/>
          </a:xfrm>
          <a:prstGeom prst="rect">
            <a:avLst/>
          </a:prstGeom>
          <a:solidFill>
            <a:srgbClr val="D9E2F3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Requete</a:t>
            </a:r>
          </a:p>
        </p:txBody>
      </p:sp>
      <p:sp>
        <p:nvSpPr>
          <p:cNvPr id="13" name="OK?" descr="B"/>
          <p:cNvSpPr/>
          <p:nvPr/>
        </p:nvSpPr>
        <p:spPr>
          <a:xfrm>
            <a:off x="3356221" y="2721491"/>
            <a:ext cx="1236742" cy="1159446"/>
          </a:xfrm>
          <a:prstGeom prst="diamond">
            <a:avLst/>
          </a:prstGeom>
          <a:solidFill>
            <a:srgbClr val="D9E2F3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OK?</a:t>
            </a:r>
          </a:p>
        </p:txBody>
      </p:sp>
      <p:sp>
        <p:nvSpPr>
          <p:cNvPr id="14" name="Traiter" descr="C"/>
          <p:cNvSpPr/>
          <p:nvPr/>
        </p:nvSpPr>
        <p:spPr>
          <a:xfrm>
            <a:off x="2697655" y="4499308"/>
            <a:ext cx="1045047" cy="579723"/>
          </a:xfrm>
          <a:prstGeom prst="rect">
            <a:avLst/>
          </a:prstGeom>
          <a:solidFill>
            <a:srgbClr val="A9D18E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Traiter</a:t>
            </a:r>
          </a:p>
        </p:txBody>
      </p:sp>
      <p:sp>
        <p:nvSpPr>
          <p:cNvPr id="15" name="Rejeter" descr="D"/>
          <p:cNvSpPr/>
          <p:nvPr/>
        </p:nvSpPr>
        <p:spPr>
          <a:xfrm>
            <a:off x="4206481" y="4499308"/>
            <a:ext cx="1045047" cy="579723"/>
          </a:xfrm>
          <a:prstGeom prst="rect">
            <a:avLst/>
          </a:prstGeom>
          <a:solidFill>
            <a:srgbClr val="F4B183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Rejeter</a:t>
            </a:r>
          </a:p>
        </p:txBody>
      </p:sp>
      <p:sp>
        <p:nvSpPr>
          <p:cNvPr id="16" name="Reponse" descr="E"/>
          <p:cNvSpPr/>
          <p:nvPr/>
        </p:nvSpPr>
        <p:spPr>
          <a:xfrm>
            <a:off x="3452068" y="5821077"/>
            <a:ext cx="1045047" cy="579723"/>
          </a:xfrm>
          <a:prstGeom prst="roundRect">
            <a:avLst/>
          </a:prstGeom>
          <a:solidFill>
            <a:srgbClr val="D9E2F3"/>
          </a:solidFill>
          <a:ln w="1030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05" tIns="37102" rIns="74205" bIns="371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Reponse</a:t>
            </a:r>
          </a:p>
        </p:txBody>
      </p:sp>
      <p:cxnSp>
        <p:nvCxnSpPr>
          <p:cNvPr id="19" name="A--B"/>
          <p:cNvCxnSpPr>
            <a:stCxn id="12" idx="2"/>
            <a:endCxn id="13" idx="0"/>
          </p:cNvCxnSpPr>
          <p:nvPr/>
        </p:nvCxnSpPr>
        <p:spPr>
          <a:xfrm>
            <a:off x="3974592" y="2103120"/>
            <a:ext cx="0" cy="618371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--C"/>
          <p:cNvCxnSpPr>
            <a:stCxn id="13" idx="2"/>
            <a:endCxn id="14" idx="0"/>
          </p:cNvCxnSpPr>
          <p:nvPr/>
        </p:nvCxnSpPr>
        <p:spPr>
          <a:xfrm flipH="1">
            <a:off x="3220179" y="3880937"/>
            <a:ext cx="754413" cy="618371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Label"/>
          <p:cNvSpPr txBox="1"/>
          <p:nvPr/>
        </p:nvSpPr>
        <p:spPr>
          <a:xfrm>
            <a:off x="3401980" y="4097367"/>
            <a:ext cx="390811" cy="185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919" tIns="0" rIns="30919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2" name="B--D"/>
          <p:cNvCxnSpPr>
            <a:stCxn id="13" idx="2"/>
            <a:endCxn id="15" idx="0"/>
          </p:cNvCxnSpPr>
          <p:nvPr/>
        </p:nvCxnSpPr>
        <p:spPr>
          <a:xfrm>
            <a:off x="3974592" y="3880937"/>
            <a:ext cx="754413" cy="618371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Label"/>
          <p:cNvSpPr txBox="1"/>
          <p:nvPr/>
        </p:nvSpPr>
        <p:spPr>
          <a:xfrm>
            <a:off x="4156393" y="4097367"/>
            <a:ext cx="390811" cy="185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919" tIns="0" rIns="30919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4" name="C--E"/>
          <p:cNvCxnSpPr>
            <a:stCxn id="14" idx="2"/>
            <a:endCxn id="16" idx="0"/>
          </p:cNvCxnSpPr>
          <p:nvPr/>
        </p:nvCxnSpPr>
        <p:spPr>
          <a:xfrm>
            <a:off x="3220179" y="5079032"/>
            <a:ext cx="754413" cy="742045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--E"/>
          <p:cNvCxnSpPr>
            <a:stCxn id="15" idx="2"/>
            <a:endCxn id="16" idx="0"/>
          </p:cNvCxnSpPr>
          <p:nvPr/>
        </p:nvCxnSpPr>
        <p:spPr>
          <a:xfrm flipH="1">
            <a:off x="3974592" y="5079032"/>
            <a:ext cx="754413" cy="742045"/>
          </a:xfrm>
          <a:prstGeom prst="line">
            <a:avLst/>
          </a:prstGeom>
          <a:ln w="1030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classDef warn fill:#F4B183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classDef ok fill:#A9D18E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subgraph Validation[Validation]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A[Requete] --&gt; B{OK?}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B --&gt;|oui| C[Traiter]:::ok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B --&gt;|non| D[Rejeter]:::warn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E([Reponse])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 --&gt; 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multiple-subgraphs</a:t>
            </a:r>
          </a:p>
        </p:txBody>
      </p:sp>
      <p:sp>
        <p:nvSpPr>
          <p:cNvPr id="20" name="Collecte des donnees (container)"/>
          <p:cNvSpPr/>
          <p:nvPr/>
        </p:nvSpPr>
        <p:spPr>
          <a:xfrm>
            <a:off x="457200" y="2984673"/>
            <a:ext cx="1555018" cy="1460155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1" name="Collecte des donnees"/>
          <p:cNvSpPr/>
          <p:nvPr/>
        </p:nvSpPr>
        <p:spPr>
          <a:xfrm>
            <a:off x="457200" y="2984673"/>
            <a:ext cx="1555018" cy="111604"/>
          </a:xfrm>
          <a:prstGeom prst="rect">
            <a:avLst/>
          </a:prstGeom>
          <a:noFill/>
          <a:ln w="0">
            <a:noFill/>
          </a:ln>
        </p:spPr>
        <p:txBody>
          <a:bodyPr lIns="44642" tIns="22321" rIns="44642" bIns="22321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Collecte des donnees</a:t>
            </a:r>
          </a:p>
        </p:txBody>
      </p:sp>
      <p:sp>
        <p:nvSpPr>
          <p:cNvPr id="22" name="Traitement (container)"/>
          <p:cNvSpPr/>
          <p:nvPr/>
        </p:nvSpPr>
        <p:spPr>
          <a:xfrm>
            <a:off x="2384232" y="3071864"/>
            <a:ext cx="2868228" cy="1239272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3" name="Traitement"/>
          <p:cNvSpPr/>
          <p:nvPr/>
        </p:nvSpPr>
        <p:spPr>
          <a:xfrm>
            <a:off x="2384232" y="3071864"/>
            <a:ext cx="2868228" cy="111604"/>
          </a:xfrm>
          <a:prstGeom prst="rect">
            <a:avLst/>
          </a:prstGeom>
          <a:noFill/>
          <a:ln w="0">
            <a:noFill/>
          </a:ln>
        </p:spPr>
        <p:txBody>
          <a:bodyPr lIns="44642" tIns="22321" rIns="44642" bIns="22321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24" name="Livraison (container)"/>
          <p:cNvSpPr/>
          <p:nvPr/>
        </p:nvSpPr>
        <p:spPr>
          <a:xfrm>
            <a:off x="5624474" y="3298560"/>
            <a:ext cx="1867510" cy="832381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5" name="Livraison"/>
          <p:cNvSpPr/>
          <p:nvPr/>
        </p:nvSpPr>
        <p:spPr>
          <a:xfrm>
            <a:off x="5624474" y="3298560"/>
            <a:ext cx="1867510" cy="111604"/>
          </a:xfrm>
          <a:prstGeom prst="rect">
            <a:avLst/>
          </a:prstGeom>
          <a:noFill/>
          <a:ln w="0">
            <a:noFill/>
          </a:ln>
        </p:spPr>
        <p:txBody>
          <a:bodyPr lIns="44642" tIns="22321" rIns="44642" bIns="22321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Livraison</a:t>
            </a:r>
          </a:p>
        </p:txBody>
      </p:sp>
      <p:sp>
        <p:nvSpPr>
          <p:cNvPr id="12" name="API" descr="A"/>
          <p:cNvSpPr/>
          <p:nvPr/>
        </p:nvSpPr>
        <p:spPr>
          <a:xfrm>
            <a:off x="643207" y="3596171"/>
            <a:ext cx="383174" cy="348763"/>
          </a:xfrm>
          <a:prstGeom prst="rect">
            <a:avLst/>
          </a:prstGeom>
          <a:solidFill>
            <a:srgbClr val="BBDEFB"/>
          </a:solidFill>
          <a:ln w="6200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4642" tIns="22321" rIns="44642" bIns="223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API</a:t>
            </a:r>
          </a:p>
        </p:txBody>
      </p:sp>
      <p:sp>
        <p:nvSpPr>
          <p:cNvPr id="13" name="Base" descr="B"/>
          <p:cNvSpPr/>
          <p:nvPr/>
        </p:nvSpPr>
        <p:spPr>
          <a:xfrm>
            <a:off x="1398395" y="3282284"/>
            <a:ext cx="427816" cy="348763"/>
          </a:xfrm>
          <a:prstGeom prst="rect">
            <a:avLst/>
          </a:prstGeom>
          <a:solidFill>
            <a:srgbClr val="C8E6C9"/>
          </a:solidFill>
          <a:ln w="6200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4642" tIns="22321" rIns="44642" bIns="223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Base</a:t>
            </a:r>
          </a:p>
        </p:txBody>
      </p:sp>
      <p:sp>
        <p:nvSpPr>
          <p:cNvPr id="14" name="Logs" descr="C"/>
          <p:cNvSpPr/>
          <p:nvPr/>
        </p:nvSpPr>
        <p:spPr>
          <a:xfrm>
            <a:off x="1398395" y="3910058"/>
            <a:ext cx="427816" cy="348763"/>
          </a:xfrm>
          <a:prstGeom prst="rect">
            <a:avLst/>
          </a:prstGeom>
          <a:solidFill>
            <a:srgbClr val="FFE0B2"/>
          </a:solidFill>
          <a:ln w="6200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4642" tIns="22321" rIns="44642" bIns="223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Logs</a:t>
            </a:r>
          </a:p>
        </p:txBody>
      </p:sp>
      <p:sp>
        <p:nvSpPr>
          <p:cNvPr id="15" name="Propre" descr="D"/>
          <p:cNvSpPr/>
          <p:nvPr/>
        </p:nvSpPr>
        <p:spPr>
          <a:xfrm>
            <a:off x="2570239" y="3596171"/>
            <a:ext cx="561741" cy="348763"/>
          </a:xfrm>
          <a:prstGeom prst="rect">
            <a:avLst/>
          </a:prstGeom>
          <a:solidFill>
            <a:srgbClr val="E1BEE7"/>
          </a:solidFill>
          <a:ln w="6200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4642" tIns="22321" rIns="44642" bIns="223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Propre</a:t>
            </a:r>
          </a:p>
        </p:txBody>
      </p:sp>
      <p:sp>
        <p:nvSpPr>
          <p:cNvPr id="16" name="Aggrege" descr="E"/>
          <p:cNvSpPr/>
          <p:nvPr/>
        </p:nvSpPr>
        <p:spPr>
          <a:xfrm>
            <a:off x="3503994" y="3596171"/>
            <a:ext cx="628704" cy="348763"/>
          </a:xfrm>
          <a:prstGeom prst="rect">
            <a:avLst/>
          </a:prstGeom>
          <a:solidFill>
            <a:srgbClr val="FFCDD2"/>
          </a:solidFill>
          <a:ln w="6200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4642" tIns="22321" rIns="44642" bIns="223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Aggrege</a:t>
            </a:r>
          </a:p>
        </p:txBody>
      </p:sp>
      <p:sp>
        <p:nvSpPr>
          <p:cNvPr id="17" name="Stocke" descr="F"/>
          <p:cNvSpPr/>
          <p:nvPr/>
        </p:nvSpPr>
        <p:spPr>
          <a:xfrm>
            <a:off x="4504712" y="3596171"/>
            <a:ext cx="561741" cy="348763"/>
          </a:xfrm>
          <a:prstGeom prst="rect">
            <a:avLst/>
          </a:prstGeom>
          <a:solidFill>
            <a:srgbClr val="FFF9C4"/>
          </a:solidFill>
          <a:ln w="6200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4642" tIns="22321" rIns="44642" bIns="223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Stocke</a:t>
            </a:r>
          </a:p>
        </p:txBody>
      </p:sp>
      <p:sp>
        <p:nvSpPr>
          <p:cNvPr id="18" name="Rapport" descr="G"/>
          <p:cNvSpPr/>
          <p:nvPr/>
        </p:nvSpPr>
        <p:spPr>
          <a:xfrm>
            <a:off x="5810481" y="3596171"/>
            <a:ext cx="628704" cy="348763"/>
          </a:xfrm>
          <a:prstGeom prst="rect">
            <a:avLst/>
          </a:prstGeom>
          <a:solidFill>
            <a:srgbClr val="BBDEFB"/>
          </a:solidFill>
          <a:ln w="6200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4642" tIns="22321" rIns="44642" bIns="223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Rapport</a:t>
            </a:r>
          </a:p>
        </p:txBody>
      </p:sp>
      <p:sp>
        <p:nvSpPr>
          <p:cNvPr id="19" name="Email" descr="H"/>
          <p:cNvSpPr/>
          <p:nvPr/>
        </p:nvSpPr>
        <p:spPr>
          <a:xfrm>
            <a:off x="6811198" y="3596171"/>
            <a:ext cx="494779" cy="348763"/>
          </a:xfrm>
          <a:prstGeom prst="rect">
            <a:avLst/>
          </a:prstGeom>
          <a:solidFill>
            <a:srgbClr val="C8E6C9"/>
          </a:solidFill>
          <a:ln w="6200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4642" tIns="22321" rIns="44642" bIns="223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Email</a:t>
            </a:r>
          </a:p>
        </p:txBody>
      </p:sp>
      <p:cxnSp>
        <p:nvCxnSpPr>
          <p:cNvPr id="26" name="A--B"/>
          <p:cNvCxnSpPr>
            <a:stCxn id="12" idx="3"/>
            <a:endCxn id="13" idx="1"/>
          </p:cNvCxnSpPr>
          <p:nvPr/>
        </p:nvCxnSpPr>
        <p:spPr>
          <a:xfrm flipV="1">
            <a:off x="1026381" y="3456666"/>
            <a:ext cx="372014" cy="313886"/>
          </a:xfrm>
          <a:prstGeom prst="line">
            <a:avLst/>
          </a:prstGeom>
          <a:ln w="620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--C"/>
          <p:cNvCxnSpPr>
            <a:stCxn id="12" idx="3"/>
            <a:endCxn id="14" idx="1"/>
          </p:cNvCxnSpPr>
          <p:nvPr/>
        </p:nvCxnSpPr>
        <p:spPr>
          <a:xfrm>
            <a:off x="1026381" y="3770552"/>
            <a:ext cx="372014" cy="313887"/>
          </a:xfrm>
          <a:prstGeom prst="line">
            <a:avLst/>
          </a:prstGeom>
          <a:ln w="620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E"/>
          <p:cNvCxnSpPr>
            <a:stCxn id="15" idx="3"/>
            <a:endCxn id="16" idx="1"/>
          </p:cNvCxnSpPr>
          <p:nvPr/>
        </p:nvCxnSpPr>
        <p:spPr>
          <a:xfrm>
            <a:off x="3131980" y="3770552"/>
            <a:ext cx="372014" cy="0"/>
          </a:xfrm>
          <a:prstGeom prst="line">
            <a:avLst/>
          </a:prstGeom>
          <a:ln w="620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--F"/>
          <p:cNvCxnSpPr>
            <a:stCxn id="16" idx="3"/>
            <a:endCxn id="17" idx="1"/>
          </p:cNvCxnSpPr>
          <p:nvPr/>
        </p:nvCxnSpPr>
        <p:spPr>
          <a:xfrm>
            <a:off x="4132698" y="3770552"/>
            <a:ext cx="372014" cy="0"/>
          </a:xfrm>
          <a:prstGeom prst="line">
            <a:avLst/>
          </a:prstGeom>
          <a:ln w="620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--H"/>
          <p:cNvCxnSpPr>
            <a:stCxn id="18" idx="3"/>
            <a:endCxn id="19" idx="1"/>
          </p:cNvCxnSpPr>
          <p:nvPr/>
        </p:nvCxnSpPr>
        <p:spPr>
          <a:xfrm>
            <a:off x="6439184" y="3770552"/>
            <a:ext cx="372014" cy="0"/>
          </a:xfrm>
          <a:prstGeom prst="line">
            <a:avLst/>
          </a:prstGeom>
          <a:ln w="620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B--D"/>
          <p:cNvCxnSpPr>
            <a:stCxn id="13" idx="3"/>
            <a:endCxn id="15" idx="1"/>
          </p:cNvCxnSpPr>
          <p:nvPr/>
        </p:nvCxnSpPr>
        <p:spPr>
          <a:xfrm>
            <a:off x="1826211" y="3456666"/>
            <a:ext cx="744028" cy="313886"/>
          </a:xfrm>
          <a:prstGeom prst="line">
            <a:avLst/>
          </a:prstGeom>
          <a:ln w="620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--D"/>
          <p:cNvCxnSpPr>
            <a:stCxn id="14" idx="3"/>
            <a:endCxn id="15" idx="1"/>
          </p:cNvCxnSpPr>
          <p:nvPr/>
        </p:nvCxnSpPr>
        <p:spPr>
          <a:xfrm flipV="1">
            <a:off x="1826211" y="3770552"/>
            <a:ext cx="744028" cy="313887"/>
          </a:xfrm>
          <a:prstGeom prst="line">
            <a:avLst/>
          </a:prstGeom>
          <a:ln w="620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--G"/>
          <p:cNvCxnSpPr>
            <a:stCxn id="17" idx="3"/>
            <a:endCxn id="18" idx="1"/>
          </p:cNvCxnSpPr>
          <p:nvPr/>
        </p:nvCxnSpPr>
        <p:spPr>
          <a:xfrm>
            <a:off x="5066453" y="3770552"/>
            <a:ext cx="744028" cy="0"/>
          </a:xfrm>
          <a:prstGeom prst="line">
            <a:avLst/>
          </a:prstGeom>
          <a:ln w="620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flowchart LR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subgraph Collecte[Collecte des donnees]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A[API] --&gt; B[Base]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A --&gt; C[Logs]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subgraph Traitement[Traitement]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D[Propre] --&gt; E[Aggrege]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E --&gt; F[Stocke]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subgraph Livraison[Livraison]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G[Rapport] --&gt; H[Email]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B --&gt; 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C --&gt; 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F --&gt; G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A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B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C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D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E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F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G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H fill:#C8E6C9,stroke:#2E7D32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nested-3-levels</a:t>
            </a:r>
          </a:p>
        </p:txBody>
      </p:sp>
      <p:sp>
        <p:nvSpPr>
          <p:cNvPr id="19" name="Niveau 1 (container)"/>
          <p:cNvSpPr/>
          <p:nvPr/>
        </p:nvSpPr>
        <p:spPr>
          <a:xfrm>
            <a:off x="1350677" y="1028700"/>
            <a:ext cx="74217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0" name="Niveau 1"/>
          <p:cNvSpPr/>
          <p:nvPr/>
        </p:nvSpPr>
        <p:spPr>
          <a:xfrm>
            <a:off x="1350677" y="1028700"/>
            <a:ext cx="74217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1</a:t>
            </a:r>
          </a:p>
        </p:txBody>
      </p:sp>
      <p:sp>
        <p:nvSpPr>
          <p:cNvPr id="21" name="Niveau 2 (container)"/>
          <p:cNvSpPr/>
          <p:nvPr/>
        </p:nvSpPr>
        <p:spPr>
          <a:xfrm>
            <a:off x="1288542" y="2815085"/>
            <a:ext cx="86644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2" name="Niveau 2"/>
          <p:cNvSpPr/>
          <p:nvPr/>
        </p:nvSpPr>
        <p:spPr>
          <a:xfrm>
            <a:off x="1288542" y="2815085"/>
            <a:ext cx="86644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2</a:t>
            </a:r>
          </a:p>
        </p:txBody>
      </p:sp>
      <p:sp>
        <p:nvSpPr>
          <p:cNvPr id="23" name="Niveau 3 (container)"/>
          <p:cNvSpPr/>
          <p:nvPr/>
        </p:nvSpPr>
        <p:spPr>
          <a:xfrm>
            <a:off x="1350677" y="4601470"/>
            <a:ext cx="742170" cy="1441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4" name="Niveau 3"/>
          <p:cNvSpPr/>
          <p:nvPr/>
        </p:nvSpPr>
        <p:spPr>
          <a:xfrm>
            <a:off x="1350677" y="4601470"/>
            <a:ext cx="742170" cy="103559"/>
          </a:xfrm>
          <a:prstGeom prst="rect">
            <a:avLst/>
          </a:prstGeom>
          <a:noFill/>
          <a:ln w="0">
            <a:noFill/>
          </a:ln>
        </p:spPr>
        <p:txBody>
          <a:bodyPr lIns="41423" tIns="20712" rIns="41423" bIns="20712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Niveau 3</a:t>
            </a:r>
          </a:p>
        </p:txBody>
      </p:sp>
      <p:sp>
        <p:nvSpPr>
          <p:cNvPr id="12" name="Un" descr="A"/>
          <p:cNvSpPr/>
          <p:nvPr/>
        </p:nvSpPr>
        <p:spPr>
          <a:xfrm>
            <a:off x="1570739" y="1304856"/>
            <a:ext cx="302046" cy="323620"/>
          </a:xfrm>
          <a:prstGeom prst="rect">
            <a:avLst/>
          </a:prstGeom>
          <a:solidFill>
            <a:srgbClr val="C8E6C9"/>
          </a:solidFill>
          <a:ln w="5753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Un</a:t>
            </a:r>
          </a:p>
        </p:txBody>
      </p:sp>
      <p:sp>
        <p:nvSpPr>
          <p:cNvPr id="13" name="Deux" descr="B"/>
          <p:cNvSpPr/>
          <p:nvPr/>
        </p:nvSpPr>
        <p:spPr>
          <a:xfrm>
            <a:off x="1523275" y="1973672"/>
            <a:ext cx="396974" cy="323620"/>
          </a:xfrm>
          <a:prstGeom prst="rect">
            <a:avLst/>
          </a:prstGeom>
          <a:solidFill>
            <a:srgbClr val="FFE0B2"/>
          </a:solidFill>
          <a:ln w="5753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Deux</a:t>
            </a:r>
          </a:p>
        </p:txBody>
      </p:sp>
      <p:sp>
        <p:nvSpPr>
          <p:cNvPr id="14" name="Trois" descr="C"/>
          <p:cNvSpPr/>
          <p:nvPr/>
        </p:nvSpPr>
        <p:spPr>
          <a:xfrm>
            <a:off x="1492207" y="3091241"/>
            <a:ext cx="459110" cy="323620"/>
          </a:xfrm>
          <a:prstGeom prst="rect">
            <a:avLst/>
          </a:prstGeom>
          <a:solidFill>
            <a:srgbClr val="E1BEE7"/>
          </a:solidFill>
          <a:ln w="5753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Trois</a:t>
            </a:r>
          </a:p>
        </p:txBody>
      </p:sp>
      <p:sp>
        <p:nvSpPr>
          <p:cNvPr id="15" name="Quatre" descr="D"/>
          <p:cNvSpPr/>
          <p:nvPr/>
        </p:nvSpPr>
        <p:spPr>
          <a:xfrm>
            <a:off x="1461140" y="3760057"/>
            <a:ext cx="521245" cy="323620"/>
          </a:xfrm>
          <a:prstGeom prst="rect">
            <a:avLst/>
          </a:prstGeom>
          <a:solidFill>
            <a:srgbClr val="FFCDD2"/>
          </a:solidFill>
          <a:ln w="5753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Quatre</a:t>
            </a:r>
          </a:p>
        </p:txBody>
      </p:sp>
      <p:sp>
        <p:nvSpPr>
          <p:cNvPr id="16" name="Cinq" descr="E"/>
          <p:cNvSpPr/>
          <p:nvPr/>
        </p:nvSpPr>
        <p:spPr>
          <a:xfrm>
            <a:off x="1523275" y="4877626"/>
            <a:ext cx="396974" cy="323620"/>
          </a:xfrm>
          <a:prstGeom prst="rect">
            <a:avLst/>
          </a:prstGeom>
          <a:solidFill>
            <a:srgbClr val="FFF9C4"/>
          </a:solidFill>
          <a:ln w="5753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Cinq</a:t>
            </a:r>
          </a:p>
        </p:txBody>
      </p:sp>
      <p:sp>
        <p:nvSpPr>
          <p:cNvPr id="17" name="Six" descr="F"/>
          <p:cNvSpPr/>
          <p:nvPr/>
        </p:nvSpPr>
        <p:spPr>
          <a:xfrm>
            <a:off x="1554342" y="5546442"/>
            <a:ext cx="334839" cy="323620"/>
          </a:xfrm>
          <a:prstGeom prst="rect">
            <a:avLst/>
          </a:prstGeom>
          <a:solidFill>
            <a:srgbClr val="BBDEFB"/>
          </a:solidFill>
          <a:ln w="5753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Six</a:t>
            </a:r>
          </a:p>
        </p:txBody>
      </p:sp>
      <p:sp>
        <p:nvSpPr>
          <p:cNvPr id="18" name="Sept" descr="G"/>
          <p:cNvSpPr/>
          <p:nvPr/>
        </p:nvSpPr>
        <p:spPr>
          <a:xfrm>
            <a:off x="1523275" y="6077180"/>
            <a:ext cx="396974" cy="323620"/>
          </a:xfrm>
          <a:prstGeom prst="rect">
            <a:avLst/>
          </a:prstGeom>
          <a:solidFill>
            <a:srgbClr val="C8E6C9"/>
          </a:solidFill>
          <a:ln w="5753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423" tIns="20712" rIns="41423" bIns="207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Sept</a:t>
            </a:r>
          </a:p>
        </p:txBody>
      </p:sp>
      <p:cxnSp>
        <p:nvCxnSpPr>
          <p:cNvPr id="25" name="A--B"/>
          <p:cNvCxnSpPr>
            <a:stCxn id="12" idx="2"/>
            <a:endCxn id="13" idx="0"/>
          </p:cNvCxnSpPr>
          <p:nvPr/>
        </p:nvCxnSpPr>
        <p:spPr>
          <a:xfrm>
            <a:off x="1721762" y="1628477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--D"/>
          <p:cNvCxnSpPr>
            <a:stCxn id="14" idx="2"/>
            <a:endCxn id="15" idx="0"/>
          </p:cNvCxnSpPr>
          <p:nvPr/>
        </p:nvCxnSpPr>
        <p:spPr>
          <a:xfrm>
            <a:off x="1721762" y="3414862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--F"/>
          <p:cNvCxnSpPr>
            <a:stCxn id="16" idx="2"/>
            <a:endCxn id="17" idx="0"/>
          </p:cNvCxnSpPr>
          <p:nvPr/>
        </p:nvCxnSpPr>
        <p:spPr>
          <a:xfrm>
            <a:off x="1721762" y="5201247"/>
            <a:ext cx="0" cy="345195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E"/>
          <p:cNvCxnSpPr>
            <a:stCxn id="15" idx="2"/>
            <a:endCxn id="16" idx="0"/>
          </p:cNvCxnSpPr>
          <p:nvPr/>
        </p:nvCxnSpPr>
        <p:spPr>
          <a:xfrm>
            <a:off x="1721762" y="4083677"/>
            <a:ext cx="0" cy="793949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B--C"/>
          <p:cNvCxnSpPr>
            <a:stCxn id="13" idx="2"/>
            <a:endCxn id="14" idx="0"/>
          </p:cNvCxnSpPr>
          <p:nvPr/>
        </p:nvCxnSpPr>
        <p:spPr>
          <a:xfrm>
            <a:off x="1721762" y="2297292"/>
            <a:ext cx="0" cy="793949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--G"/>
          <p:cNvCxnSpPr>
            <a:stCxn id="17" idx="2"/>
            <a:endCxn id="18" idx="0"/>
          </p:cNvCxnSpPr>
          <p:nvPr/>
        </p:nvCxnSpPr>
        <p:spPr>
          <a:xfrm>
            <a:off x="1721762" y="5870062"/>
            <a:ext cx="0" cy="207118"/>
          </a:xfrm>
          <a:prstGeom prst="line">
            <a:avLst/>
          </a:prstGeom>
          <a:ln w="575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subgraph L1[Niveau 1]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A[Un] --&gt; B[Deux]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subgraph L2[Niveau 2]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C[Trois] --&gt; D[Quatre]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subgraph L3[Niveau 3]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    E[Cinq] --&gt; F[Six]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D --&gt; 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B --&gt; C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F --&gt; G[Sept]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A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B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C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D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E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F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G fill:#C8E6C9,stroke:#2E7D32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order-flow</a:t>
            </a:r>
          </a:p>
        </p:txBody>
      </p:sp>
      <p:sp>
        <p:nvSpPr>
          <p:cNvPr id="12" name="Commande recue" descr="A"/>
          <p:cNvSpPr/>
          <p:nvPr/>
        </p:nvSpPr>
        <p:spPr>
          <a:xfrm>
            <a:off x="1681589" y="1028700"/>
            <a:ext cx="508649" cy="357007"/>
          </a:xfrm>
          <a:prstGeom prst="rect">
            <a:avLst/>
          </a:prstGeom>
          <a:solidFill>
            <a:srgbClr val="FFE0B2"/>
          </a:solidFill>
          <a:ln w="4533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Commande recue</a:t>
            </a:r>
          </a:p>
        </p:txBody>
      </p:sp>
      <p:sp>
        <p:nvSpPr>
          <p:cNvPr id="13" name="Stock disponible?" descr="B"/>
          <p:cNvSpPr/>
          <p:nvPr/>
        </p:nvSpPr>
        <p:spPr>
          <a:xfrm>
            <a:off x="1288542" y="1657712"/>
            <a:ext cx="1294744" cy="714013"/>
          </a:xfrm>
          <a:prstGeom prst="diamond">
            <a:avLst/>
          </a:prstGeom>
          <a:solidFill>
            <a:srgbClr val="E1BEE7"/>
          </a:solidFill>
          <a:ln w="4533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Stock disponible?</a:t>
            </a:r>
          </a:p>
        </p:txBody>
      </p:sp>
      <p:sp>
        <p:nvSpPr>
          <p:cNvPr id="14" name="Reserver stock" descr="C"/>
          <p:cNvSpPr/>
          <p:nvPr/>
        </p:nvSpPr>
        <p:spPr>
          <a:xfrm>
            <a:off x="2199079" y="2643730"/>
            <a:ext cx="508649" cy="357007"/>
          </a:xfrm>
          <a:prstGeom prst="rect">
            <a:avLst/>
          </a:prstGeom>
          <a:solidFill>
            <a:srgbClr val="FFCDD2"/>
          </a:solidFill>
          <a:ln w="4533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Reserver stock</a:t>
            </a:r>
          </a:p>
        </p:txBody>
      </p:sp>
      <p:sp>
        <p:nvSpPr>
          <p:cNvPr id="15" name="Notifier rupture" descr="D"/>
          <p:cNvSpPr/>
          <p:nvPr/>
        </p:nvSpPr>
        <p:spPr>
          <a:xfrm>
            <a:off x="1383744" y="5516784"/>
            <a:ext cx="508649" cy="357007"/>
          </a:xfrm>
          <a:prstGeom prst="rect">
            <a:avLst/>
          </a:prstGeom>
          <a:solidFill>
            <a:srgbClr val="FFF9C4"/>
          </a:solidFill>
          <a:ln w="4533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Notifier rupture</a:t>
            </a:r>
          </a:p>
        </p:txBody>
      </p:sp>
      <p:sp>
        <p:nvSpPr>
          <p:cNvPr id="16" name="Preparer colis" descr="E"/>
          <p:cNvSpPr/>
          <p:nvPr/>
        </p:nvSpPr>
        <p:spPr>
          <a:xfrm>
            <a:off x="2199079" y="3272742"/>
            <a:ext cx="508649" cy="357007"/>
          </a:xfrm>
          <a:prstGeom prst="rect">
            <a:avLst/>
          </a:prstGeom>
          <a:solidFill>
            <a:srgbClr val="BBDEFB"/>
          </a:solidFill>
          <a:ln w="4533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Preparer colis</a:t>
            </a:r>
          </a:p>
        </p:txBody>
      </p:sp>
      <p:sp>
        <p:nvSpPr>
          <p:cNvPr id="17" name="Adresse valide?" descr="F"/>
          <p:cNvSpPr/>
          <p:nvPr/>
        </p:nvSpPr>
        <p:spPr>
          <a:xfrm>
            <a:off x="1993715" y="3901753"/>
            <a:ext cx="919377" cy="714013"/>
          </a:xfrm>
          <a:prstGeom prst="diamond">
            <a:avLst/>
          </a:prstGeom>
          <a:solidFill>
            <a:srgbClr val="C8E6C9"/>
          </a:solidFill>
          <a:ln w="4533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Adresse valide?</a:t>
            </a:r>
          </a:p>
        </p:txBody>
      </p:sp>
      <p:sp>
        <p:nvSpPr>
          <p:cNvPr id="18" name="Expedier" descr="G"/>
          <p:cNvSpPr/>
          <p:nvPr/>
        </p:nvSpPr>
        <p:spPr>
          <a:xfrm>
            <a:off x="2692088" y="4938773"/>
            <a:ext cx="508649" cy="255005"/>
          </a:xfrm>
          <a:prstGeom prst="rect">
            <a:avLst/>
          </a:prstGeom>
          <a:solidFill>
            <a:srgbClr val="FFE0B2"/>
          </a:solidFill>
          <a:ln w="4533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Expedier</a:t>
            </a:r>
          </a:p>
        </p:txBody>
      </p:sp>
      <p:sp>
        <p:nvSpPr>
          <p:cNvPr id="19" name="Corriger adresse" descr="H"/>
          <p:cNvSpPr/>
          <p:nvPr/>
        </p:nvSpPr>
        <p:spPr>
          <a:xfrm>
            <a:off x="1979435" y="4887772"/>
            <a:ext cx="508649" cy="357007"/>
          </a:xfrm>
          <a:prstGeom prst="rect">
            <a:avLst/>
          </a:prstGeom>
          <a:solidFill>
            <a:srgbClr val="E1BEE7"/>
          </a:solidFill>
          <a:ln w="4533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Corriger adresse</a:t>
            </a:r>
          </a:p>
        </p:txBody>
      </p:sp>
      <p:sp>
        <p:nvSpPr>
          <p:cNvPr id="20" name="Notifier client" descr="I"/>
          <p:cNvSpPr/>
          <p:nvPr/>
        </p:nvSpPr>
        <p:spPr>
          <a:xfrm>
            <a:off x="2692088" y="5516784"/>
            <a:ext cx="508649" cy="357007"/>
          </a:xfrm>
          <a:prstGeom prst="rect">
            <a:avLst/>
          </a:prstGeom>
          <a:solidFill>
            <a:srgbClr val="FFCDD2"/>
          </a:solidFill>
          <a:ln w="4533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Notifier client</a:t>
            </a:r>
          </a:p>
        </p:txBody>
      </p:sp>
      <p:sp>
        <p:nvSpPr>
          <p:cNvPr id="21" name="Fin" descr="J"/>
          <p:cNvSpPr/>
          <p:nvPr/>
        </p:nvSpPr>
        <p:spPr>
          <a:xfrm>
            <a:off x="2160318" y="6145795"/>
            <a:ext cx="263845" cy="255005"/>
          </a:xfrm>
          <a:prstGeom prst="rect">
            <a:avLst/>
          </a:prstGeom>
          <a:solidFill>
            <a:srgbClr val="FFF9C4"/>
          </a:solidFill>
          <a:ln w="4533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641" tIns="16320" rIns="32641" bIns="163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>
            <a:off x="1935914" y="1385707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2"/>
            <a:endCxn id="14" idx="0"/>
          </p:cNvCxnSpPr>
          <p:nvPr/>
        </p:nvCxnSpPr>
        <p:spPr>
          <a:xfrm>
            <a:off x="1935914" y="2371725"/>
            <a:ext cx="51749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dgeLabel"/>
          <p:cNvSpPr txBox="1"/>
          <p:nvPr/>
        </p:nvSpPr>
        <p:spPr>
          <a:xfrm>
            <a:off x="2108705" y="2466927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5" name="B--D"/>
          <p:cNvCxnSpPr>
            <a:stCxn id="13" idx="2"/>
            <a:endCxn id="15" idx="0"/>
          </p:cNvCxnSpPr>
          <p:nvPr/>
        </p:nvCxnSpPr>
        <p:spPr>
          <a:xfrm flipH="1">
            <a:off x="1638069" y="2371725"/>
            <a:ext cx="297845" cy="3145059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geLabel"/>
          <p:cNvSpPr txBox="1"/>
          <p:nvPr/>
        </p:nvSpPr>
        <p:spPr>
          <a:xfrm>
            <a:off x="1701038" y="3903453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7" name="C--E"/>
          <p:cNvCxnSpPr>
            <a:stCxn id="14" idx="2"/>
            <a:endCxn id="16" idx="0"/>
          </p:cNvCxnSpPr>
          <p:nvPr/>
        </p:nvCxnSpPr>
        <p:spPr>
          <a:xfrm>
            <a:off x="2453404" y="3000737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--F"/>
          <p:cNvCxnSpPr>
            <a:stCxn id="16" idx="2"/>
            <a:endCxn id="17" idx="0"/>
          </p:cNvCxnSpPr>
          <p:nvPr/>
        </p:nvCxnSpPr>
        <p:spPr>
          <a:xfrm>
            <a:off x="2453404" y="3629748"/>
            <a:ext cx="0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--G"/>
          <p:cNvCxnSpPr>
            <a:stCxn id="17" idx="2"/>
            <a:endCxn id="18" idx="0"/>
          </p:cNvCxnSpPr>
          <p:nvPr/>
        </p:nvCxnSpPr>
        <p:spPr>
          <a:xfrm>
            <a:off x="2453404" y="4615767"/>
            <a:ext cx="493009" cy="323006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geLabel"/>
          <p:cNvSpPr txBox="1"/>
          <p:nvPr/>
        </p:nvSpPr>
        <p:spPr>
          <a:xfrm>
            <a:off x="2613955" y="4736469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1" name="F--H"/>
          <p:cNvCxnSpPr>
            <a:stCxn id="17" idx="2"/>
            <a:endCxn id="19" idx="0"/>
          </p:cNvCxnSpPr>
          <p:nvPr/>
        </p:nvCxnSpPr>
        <p:spPr>
          <a:xfrm flipH="1">
            <a:off x="2233760" y="4615767"/>
            <a:ext cx="219644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geLabel"/>
          <p:cNvSpPr txBox="1"/>
          <p:nvPr/>
        </p:nvSpPr>
        <p:spPr>
          <a:xfrm>
            <a:off x="2257628" y="4710968"/>
            <a:ext cx="171907" cy="816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3600" tIns="0" rIns="1360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33" name="H--F"/>
          <p:cNvCxnSpPr>
            <a:stCxn id="19" idx="0"/>
            <a:endCxn id="17" idx="2"/>
          </p:cNvCxnSpPr>
          <p:nvPr/>
        </p:nvCxnSpPr>
        <p:spPr>
          <a:xfrm flipV="1">
            <a:off x="2233760" y="4615767"/>
            <a:ext cx="219644" cy="272005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--I"/>
          <p:cNvCxnSpPr>
            <a:stCxn id="18" idx="2"/>
            <a:endCxn id="20" idx="0"/>
          </p:cNvCxnSpPr>
          <p:nvPr/>
        </p:nvCxnSpPr>
        <p:spPr>
          <a:xfrm>
            <a:off x="2946413" y="5193778"/>
            <a:ext cx="0" cy="323006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--J"/>
          <p:cNvCxnSpPr>
            <a:stCxn id="15" idx="3"/>
            <a:endCxn id="21" idx="1"/>
          </p:cNvCxnSpPr>
          <p:nvPr/>
        </p:nvCxnSpPr>
        <p:spPr>
          <a:xfrm>
            <a:off x="1892393" y="5695287"/>
            <a:ext cx="267925" cy="578011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I--J"/>
          <p:cNvCxnSpPr>
            <a:stCxn id="20" idx="1"/>
            <a:endCxn id="21" idx="3"/>
          </p:cNvCxnSpPr>
          <p:nvPr/>
        </p:nvCxnSpPr>
        <p:spPr>
          <a:xfrm flipH="1">
            <a:off x="2424163" y="5695287"/>
            <a:ext cx="267925" cy="578011"/>
          </a:xfrm>
          <a:prstGeom prst="line">
            <a:avLst/>
          </a:prstGeom>
          <a:ln w="4533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A[Commande recue] --&gt; B{Stock disponible?}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B --&gt;|oui| C[Reserver stock]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B --&gt;|non| D[Notifier rupture]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C --&gt; E[Preparer colis]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E --&gt; F{Adresse valide?}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F --&gt;|oui| G[Expedier]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F --&gt;|non| H[Corriger adresse]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H --&gt; F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G --&gt; I[Notifier client]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D --&gt; J[Fin]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I --&gt; J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A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B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C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D fill:#FFF9C4,stroke:#F9A825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E fill:#BBDEFB,stroke:#1565C0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F fill:#C8E6C9,stroke:#2E7D32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G fill:#FFE0B2,stroke:#E65100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H fill:#E1BEE7,stroke:#6A1B9A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I fill:#FFCDD2,stroke:#C62828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style J fill:#FFF9C4,stroke:#F9A825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packet</a:t>
            </a:r>
          </a:p>
        </p:txBody>
      </p:sp>
      <p:sp>
        <p:nvSpPr>
          <p:cNvPr id="11" name="Box 1"/>
          <p:cNvSpPr/>
          <p:nvPr/>
        </p:nvSpPr>
        <p:spPr>
          <a:xfrm>
            <a:off x="1023720" y="1142195"/>
            <a:ext cx="5901744" cy="3783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00" dirty="0">
                <a:solidFill>
                  <a:srgbClr val="000000"/>
                </a:solidFill>
              </a:rPr>
              <a:t>TCP Packet</a:t>
            </a:r>
          </a:p>
        </p:txBody>
      </p:sp>
      <p:sp>
        <p:nvSpPr>
          <p:cNvPr id="12" name="Box 2"/>
          <p:cNvSpPr/>
          <p:nvPr/>
        </p:nvSpPr>
        <p:spPr>
          <a:xfrm>
            <a:off x="1250710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13" name="Box 3"/>
          <p:cNvSpPr/>
          <p:nvPr/>
        </p:nvSpPr>
        <p:spPr>
          <a:xfrm>
            <a:off x="1250710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15</a:t>
            </a:r>
          </a:p>
        </p:txBody>
      </p:sp>
      <p:sp>
        <p:nvSpPr>
          <p:cNvPr id="14" name="Box 4"/>
          <p:cNvSpPr/>
          <p:nvPr/>
        </p:nvSpPr>
        <p:spPr>
          <a:xfrm>
            <a:off x="1250710" y="1785334"/>
            <a:ext cx="2723882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Source Port</a:t>
            </a:r>
          </a:p>
        </p:txBody>
      </p:sp>
      <p:sp>
        <p:nvSpPr>
          <p:cNvPr id="15" name="Box 5"/>
          <p:cNvSpPr/>
          <p:nvPr/>
        </p:nvSpPr>
        <p:spPr>
          <a:xfrm>
            <a:off x="3974592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16</a:t>
            </a:r>
          </a:p>
        </p:txBody>
      </p:sp>
      <p:sp>
        <p:nvSpPr>
          <p:cNvPr id="16" name="Box 6"/>
          <p:cNvSpPr/>
          <p:nvPr/>
        </p:nvSpPr>
        <p:spPr>
          <a:xfrm>
            <a:off x="3974592" y="1634007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31</a:t>
            </a:r>
          </a:p>
        </p:txBody>
      </p:sp>
      <p:sp>
        <p:nvSpPr>
          <p:cNvPr id="17" name="Box 7"/>
          <p:cNvSpPr/>
          <p:nvPr/>
        </p:nvSpPr>
        <p:spPr>
          <a:xfrm>
            <a:off x="3974592" y="1785334"/>
            <a:ext cx="2723882" cy="340485"/>
          </a:xfrm>
          <a:prstGeom prst="rect">
            <a:avLst/>
          </a:prstGeom>
          <a:solidFill>
            <a:srgbClr val="FAD8C1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Destination Port</a:t>
            </a:r>
          </a:p>
        </p:txBody>
      </p:sp>
      <p:sp>
        <p:nvSpPr>
          <p:cNvPr id="18" name="Box 8"/>
          <p:cNvSpPr/>
          <p:nvPr/>
        </p:nvSpPr>
        <p:spPr>
          <a:xfrm>
            <a:off x="1250710" y="2201482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32</a:t>
            </a:r>
          </a:p>
        </p:txBody>
      </p:sp>
      <p:sp>
        <p:nvSpPr>
          <p:cNvPr id="19" name="Box 9"/>
          <p:cNvSpPr/>
          <p:nvPr/>
        </p:nvSpPr>
        <p:spPr>
          <a:xfrm>
            <a:off x="1250710" y="2201482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63</a:t>
            </a:r>
          </a:p>
        </p:txBody>
      </p:sp>
      <p:sp>
        <p:nvSpPr>
          <p:cNvPr id="20" name="Box 10"/>
          <p:cNvSpPr/>
          <p:nvPr/>
        </p:nvSpPr>
        <p:spPr>
          <a:xfrm>
            <a:off x="1250710" y="2352809"/>
            <a:ext cx="5447763" cy="340485"/>
          </a:xfrm>
          <a:prstGeom prst="rect">
            <a:avLst/>
          </a:prstGeom>
          <a:solidFill>
            <a:srgbClr val="D4E6C8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Sequence Number</a:t>
            </a:r>
          </a:p>
        </p:txBody>
      </p:sp>
      <p:sp>
        <p:nvSpPr>
          <p:cNvPr id="21" name="Box 11"/>
          <p:cNvSpPr/>
          <p:nvPr/>
        </p:nvSpPr>
        <p:spPr>
          <a:xfrm>
            <a:off x="1250710" y="2768958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64</a:t>
            </a:r>
          </a:p>
        </p:txBody>
      </p:sp>
      <p:sp>
        <p:nvSpPr>
          <p:cNvPr id="22" name="Box 12"/>
          <p:cNvSpPr/>
          <p:nvPr/>
        </p:nvSpPr>
        <p:spPr>
          <a:xfrm>
            <a:off x="1250710" y="2768958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95</a:t>
            </a:r>
          </a:p>
        </p:txBody>
      </p:sp>
      <p:sp>
        <p:nvSpPr>
          <p:cNvPr id="23" name="Box 13"/>
          <p:cNvSpPr/>
          <p:nvPr/>
        </p:nvSpPr>
        <p:spPr>
          <a:xfrm>
            <a:off x="1250710" y="2920285"/>
            <a:ext cx="5447763" cy="340485"/>
          </a:xfrm>
          <a:prstGeom prst="rect">
            <a:avLst/>
          </a:prstGeom>
          <a:solidFill>
            <a:srgbClr val="FFECB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Acknowledgment Number</a:t>
            </a:r>
          </a:p>
        </p:txBody>
      </p:sp>
      <p:sp>
        <p:nvSpPr>
          <p:cNvPr id="24" name="Box 14"/>
          <p:cNvSpPr/>
          <p:nvPr/>
        </p:nvSpPr>
        <p:spPr>
          <a:xfrm>
            <a:off x="1250710" y="3336433"/>
            <a:ext cx="680970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96</a:t>
            </a:r>
          </a:p>
        </p:txBody>
      </p:sp>
      <p:sp>
        <p:nvSpPr>
          <p:cNvPr id="25" name="Box 15"/>
          <p:cNvSpPr/>
          <p:nvPr/>
        </p:nvSpPr>
        <p:spPr>
          <a:xfrm>
            <a:off x="1250710" y="3336433"/>
            <a:ext cx="680970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99</a:t>
            </a:r>
          </a:p>
        </p:txBody>
      </p:sp>
      <p:sp>
        <p:nvSpPr>
          <p:cNvPr id="26" name="Box 16"/>
          <p:cNvSpPr/>
          <p:nvPr/>
        </p:nvSpPr>
        <p:spPr>
          <a:xfrm>
            <a:off x="1250710" y="3487760"/>
            <a:ext cx="680970" cy="340485"/>
          </a:xfrm>
          <a:prstGeom prst="rect">
            <a:avLst/>
          </a:prstGeom>
          <a:solidFill>
            <a:srgbClr val="D4C1E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Offset</a:t>
            </a:r>
          </a:p>
        </p:txBody>
      </p:sp>
      <p:sp>
        <p:nvSpPr>
          <p:cNvPr id="27" name="Box 17"/>
          <p:cNvSpPr/>
          <p:nvPr/>
        </p:nvSpPr>
        <p:spPr>
          <a:xfrm>
            <a:off x="1931681" y="3336433"/>
            <a:ext cx="1021456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100</a:t>
            </a:r>
          </a:p>
        </p:txBody>
      </p:sp>
      <p:sp>
        <p:nvSpPr>
          <p:cNvPr id="28" name="Box 18"/>
          <p:cNvSpPr/>
          <p:nvPr/>
        </p:nvSpPr>
        <p:spPr>
          <a:xfrm>
            <a:off x="1931681" y="3336433"/>
            <a:ext cx="1021456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105</a:t>
            </a:r>
          </a:p>
        </p:txBody>
      </p:sp>
      <p:sp>
        <p:nvSpPr>
          <p:cNvPr id="29" name="Box 19"/>
          <p:cNvSpPr/>
          <p:nvPr/>
        </p:nvSpPr>
        <p:spPr>
          <a:xfrm>
            <a:off x="1931681" y="3487760"/>
            <a:ext cx="1021456" cy="340485"/>
          </a:xfrm>
          <a:prstGeom prst="rect">
            <a:avLst/>
          </a:prstGeom>
          <a:solidFill>
            <a:srgbClr val="CEE1F2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Reserved</a:t>
            </a:r>
          </a:p>
        </p:txBody>
      </p:sp>
      <p:sp>
        <p:nvSpPr>
          <p:cNvPr id="30" name="Box 20"/>
          <p:cNvSpPr/>
          <p:nvPr/>
        </p:nvSpPr>
        <p:spPr>
          <a:xfrm>
            <a:off x="2953136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106</a:t>
            </a:r>
          </a:p>
        </p:txBody>
      </p:sp>
      <p:sp>
        <p:nvSpPr>
          <p:cNvPr id="31" name="Box 21"/>
          <p:cNvSpPr/>
          <p:nvPr/>
        </p:nvSpPr>
        <p:spPr>
          <a:xfrm>
            <a:off x="2953136" y="3487760"/>
            <a:ext cx="170243" cy="340485"/>
          </a:xfrm>
          <a:prstGeom prst="rect">
            <a:avLst/>
          </a:prstGeom>
          <a:solidFill>
            <a:srgbClr val="ECB3B3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URG</a:t>
            </a:r>
          </a:p>
        </p:txBody>
      </p:sp>
      <p:sp>
        <p:nvSpPr>
          <p:cNvPr id="32" name="Box 22"/>
          <p:cNvSpPr/>
          <p:nvPr/>
        </p:nvSpPr>
        <p:spPr>
          <a:xfrm>
            <a:off x="3123379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107</a:t>
            </a:r>
          </a:p>
        </p:txBody>
      </p:sp>
      <p:sp>
        <p:nvSpPr>
          <p:cNvPr id="33" name="Box 23"/>
          <p:cNvSpPr/>
          <p:nvPr/>
        </p:nvSpPr>
        <p:spPr>
          <a:xfrm>
            <a:off x="3123379" y="3487760"/>
            <a:ext cx="170243" cy="340485"/>
          </a:xfrm>
          <a:prstGeom prst="rect">
            <a:avLst/>
          </a:prstGeom>
          <a:solidFill>
            <a:srgbClr val="C0DCDC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ACK</a:t>
            </a:r>
          </a:p>
        </p:txBody>
      </p:sp>
      <p:sp>
        <p:nvSpPr>
          <p:cNvPr id="34" name="Box 24"/>
          <p:cNvSpPr/>
          <p:nvPr/>
        </p:nvSpPr>
        <p:spPr>
          <a:xfrm>
            <a:off x="3293621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108</a:t>
            </a:r>
          </a:p>
        </p:txBody>
      </p:sp>
      <p:sp>
        <p:nvSpPr>
          <p:cNvPr id="35" name="Box 25"/>
          <p:cNvSpPr/>
          <p:nvPr/>
        </p:nvSpPr>
        <p:spPr>
          <a:xfrm>
            <a:off x="3293621" y="3487760"/>
            <a:ext cx="17024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PSH</a:t>
            </a:r>
          </a:p>
        </p:txBody>
      </p:sp>
      <p:sp>
        <p:nvSpPr>
          <p:cNvPr id="36" name="Box 26"/>
          <p:cNvSpPr/>
          <p:nvPr/>
        </p:nvSpPr>
        <p:spPr>
          <a:xfrm>
            <a:off x="3463864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109</a:t>
            </a:r>
          </a:p>
        </p:txBody>
      </p:sp>
      <p:sp>
        <p:nvSpPr>
          <p:cNvPr id="37" name="Box 27"/>
          <p:cNvSpPr/>
          <p:nvPr/>
        </p:nvSpPr>
        <p:spPr>
          <a:xfrm>
            <a:off x="3463864" y="3487760"/>
            <a:ext cx="170243" cy="340485"/>
          </a:xfrm>
          <a:prstGeom prst="rect">
            <a:avLst/>
          </a:prstGeom>
          <a:solidFill>
            <a:srgbClr val="FAD8C1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RST</a:t>
            </a:r>
          </a:p>
        </p:txBody>
      </p:sp>
      <p:sp>
        <p:nvSpPr>
          <p:cNvPr id="38" name="Box 28"/>
          <p:cNvSpPr/>
          <p:nvPr/>
        </p:nvSpPr>
        <p:spPr>
          <a:xfrm>
            <a:off x="3634107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110</a:t>
            </a:r>
          </a:p>
        </p:txBody>
      </p:sp>
      <p:sp>
        <p:nvSpPr>
          <p:cNvPr id="39" name="Box 29"/>
          <p:cNvSpPr/>
          <p:nvPr/>
        </p:nvSpPr>
        <p:spPr>
          <a:xfrm>
            <a:off x="3634107" y="3487760"/>
            <a:ext cx="170243" cy="340485"/>
          </a:xfrm>
          <a:prstGeom prst="rect">
            <a:avLst/>
          </a:prstGeom>
          <a:solidFill>
            <a:srgbClr val="D4E6C8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SYN</a:t>
            </a:r>
          </a:p>
        </p:txBody>
      </p:sp>
      <p:sp>
        <p:nvSpPr>
          <p:cNvPr id="40" name="Box 30"/>
          <p:cNvSpPr/>
          <p:nvPr/>
        </p:nvSpPr>
        <p:spPr>
          <a:xfrm>
            <a:off x="3804349" y="3336433"/>
            <a:ext cx="240231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111</a:t>
            </a:r>
          </a:p>
        </p:txBody>
      </p:sp>
      <p:sp>
        <p:nvSpPr>
          <p:cNvPr id="41" name="Box 31"/>
          <p:cNvSpPr/>
          <p:nvPr/>
        </p:nvSpPr>
        <p:spPr>
          <a:xfrm>
            <a:off x="3804349" y="3487760"/>
            <a:ext cx="170243" cy="340485"/>
          </a:xfrm>
          <a:prstGeom prst="rect">
            <a:avLst/>
          </a:prstGeom>
          <a:solidFill>
            <a:srgbClr val="FFECB3"/>
          </a:solidFill>
          <a:ln w="9458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FIN</a:t>
            </a:r>
          </a:p>
        </p:txBody>
      </p:sp>
      <p:sp>
        <p:nvSpPr>
          <p:cNvPr id="42" name="Box 32"/>
          <p:cNvSpPr/>
          <p:nvPr/>
        </p:nvSpPr>
        <p:spPr>
          <a:xfrm>
            <a:off x="3974592" y="3336433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112</a:t>
            </a:r>
          </a:p>
        </p:txBody>
      </p:sp>
      <p:sp>
        <p:nvSpPr>
          <p:cNvPr id="43" name="Box 33"/>
          <p:cNvSpPr/>
          <p:nvPr/>
        </p:nvSpPr>
        <p:spPr>
          <a:xfrm>
            <a:off x="3974592" y="3336433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127</a:t>
            </a:r>
          </a:p>
        </p:txBody>
      </p:sp>
      <p:sp>
        <p:nvSpPr>
          <p:cNvPr id="44" name="Box 34"/>
          <p:cNvSpPr/>
          <p:nvPr/>
        </p:nvSpPr>
        <p:spPr>
          <a:xfrm>
            <a:off x="3974592" y="3487760"/>
            <a:ext cx="2723882" cy="340485"/>
          </a:xfrm>
          <a:prstGeom prst="rect">
            <a:avLst/>
          </a:prstGeom>
          <a:solidFill>
            <a:srgbClr val="D4C1E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Window</a:t>
            </a:r>
          </a:p>
        </p:txBody>
      </p:sp>
      <p:sp>
        <p:nvSpPr>
          <p:cNvPr id="45" name="Box 35"/>
          <p:cNvSpPr/>
          <p:nvPr/>
        </p:nvSpPr>
        <p:spPr>
          <a:xfrm>
            <a:off x="1250710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128</a:t>
            </a:r>
          </a:p>
        </p:txBody>
      </p:sp>
      <p:sp>
        <p:nvSpPr>
          <p:cNvPr id="46" name="Box 36"/>
          <p:cNvSpPr/>
          <p:nvPr/>
        </p:nvSpPr>
        <p:spPr>
          <a:xfrm>
            <a:off x="1250710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143</a:t>
            </a:r>
          </a:p>
        </p:txBody>
      </p:sp>
      <p:sp>
        <p:nvSpPr>
          <p:cNvPr id="47" name="Box 37"/>
          <p:cNvSpPr/>
          <p:nvPr/>
        </p:nvSpPr>
        <p:spPr>
          <a:xfrm>
            <a:off x="1250710" y="4055235"/>
            <a:ext cx="2723882" cy="340485"/>
          </a:xfrm>
          <a:prstGeom prst="rect">
            <a:avLst/>
          </a:prstGeom>
          <a:solidFill>
            <a:srgbClr val="CEE1F2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Checksum</a:t>
            </a:r>
          </a:p>
        </p:txBody>
      </p:sp>
      <p:sp>
        <p:nvSpPr>
          <p:cNvPr id="48" name="Box 38"/>
          <p:cNvSpPr/>
          <p:nvPr/>
        </p:nvSpPr>
        <p:spPr>
          <a:xfrm>
            <a:off x="3974592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144</a:t>
            </a:r>
          </a:p>
        </p:txBody>
      </p:sp>
      <p:sp>
        <p:nvSpPr>
          <p:cNvPr id="49" name="Box 39"/>
          <p:cNvSpPr/>
          <p:nvPr/>
        </p:nvSpPr>
        <p:spPr>
          <a:xfrm>
            <a:off x="3974592" y="3903908"/>
            <a:ext cx="2723882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159</a:t>
            </a:r>
          </a:p>
        </p:txBody>
      </p:sp>
      <p:sp>
        <p:nvSpPr>
          <p:cNvPr id="50" name="Box 40"/>
          <p:cNvSpPr/>
          <p:nvPr/>
        </p:nvSpPr>
        <p:spPr>
          <a:xfrm>
            <a:off x="3974592" y="4055235"/>
            <a:ext cx="2723882" cy="340485"/>
          </a:xfrm>
          <a:prstGeom prst="rect">
            <a:avLst/>
          </a:prstGeom>
          <a:solidFill>
            <a:srgbClr val="ECB3B3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Urgent Pointer</a:t>
            </a:r>
          </a:p>
        </p:txBody>
      </p:sp>
      <p:sp>
        <p:nvSpPr>
          <p:cNvPr id="51" name="Box 41"/>
          <p:cNvSpPr/>
          <p:nvPr/>
        </p:nvSpPr>
        <p:spPr>
          <a:xfrm>
            <a:off x="1250710" y="4471384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160</a:t>
            </a:r>
          </a:p>
        </p:txBody>
      </p:sp>
      <p:sp>
        <p:nvSpPr>
          <p:cNvPr id="52" name="Box 42"/>
          <p:cNvSpPr/>
          <p:nvPr/>
        </p:nvSpPr>
        <p:spPr>
          <a:xfrm>
            <a:off x="1250710" y="4471384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191</a:t>
            </a:r>
          </a:p>
        </p:txBody>
      </p:sp>
      <p:sp>
        <p:nvSpPr>
          <p:cNvPr id="53" name="Box 43"/>
          <p:cNvSpPr/>
          <p:nvPr/>
        </p:nvSpPr>
        <p:spPr>
          <a:xfrm>
            <a:off x="1250710" y="4622711"/>
            <a:ext cx="5447763" cy="340485"/>
          </a:xfrm>
          <a:prstGeom prst="rect">
            <a:avLst/>
          </a:prstGeom>
          <a:solidFill>
            <a:srgbClr val="C0DCDC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(Options and Padding)</a:t>
            </a:r>
          </a:p>
        </p:txBody>
      </p:sp>
      <p:sp>
        <p:nvSpPr>
          <p:cNvPr id="54" name="Box 44"/>
          <p:cNvSpPr/>
          <p:nvPr/>
        </p:nvSpPr>
        <p:spPr>
          <a:xfrm>
            <a:off x="1250710" y="5038859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192</a:t>
            </a:r>
          </a:p>
        </p:txBody>
      </p:sp>
      <p:sp>
        <p:nvSpPr>
          <p:cNvPr id="55" name="Box 45"/>
          <p:cNvSpPr/>
          <p:nvPr/>
        </p:nvSpPr>
        <p:spPr>
          <a:xfrm>
            <a:off x="1250710" y="5038859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223</a:t>
            </a:r>
          </a:p>
        </p:txBody>
      </p:sp>
      <p:sp>
        <p:nvSpPr>
          <p:cNvPr id="56" name="Box 46"/>
          <p:cNvSpPr/>
          <p:nvPr/>
        </p:nvSpPr>
        <p:spPr>
          <a:xfrm>
            <a:off x="1250710" y="5190186"/>
            <a:ext cx="544776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 (variable length)</a:t>
            </a:r>
          </a:p>
        </p:txBody>
      </p:sp>
      <p:sp>
        <p:nvSpPr>
          <p:cNvPr id="57" name="Box 47"/>
          <p:cNvSpPr/>
          <p:nvPr/>
        </p:nvSpPr>
        <p:spPr>
          <a:xfrm>
            <a:off x="1250710" y="5606335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224</a:t>
            </a:r>
          </a:p>
        </p:txBody>
      </p:sp>
      <p:sp>
        <p:nvSpPr>
          <p:cNvPr id="58" name="Box 48"/>
          <p:cNvSpPr/>
          <p:nvPr/>
        </p:nvSpPr>
        <p:spPr>
          <a:xfrm>
            <a:off x="1250710" y="5606335"/>
            <a:ext cx="5447763" cy="151327"/>
          </a:xfrm>
          <a:prstGeom prst="rect">
            <a:avLst/>
          </a:prstGeom>
          <a:noFill/>
          <a:ln>
            <a:noFill/>
          </a:ln>
        </p:spPr>
        <p:txBody>
          <a:bodyPr wrap="none" lIns="18916" tIns="0" rIns="1891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255</a:t>
            </a:r>
          </a:p>
        </p:txBody>
      </p:sp>
      <p:sp>
        <p:nvSpPr>
          <p:cNvPr id="59" name="Box 49"/>
          <p:cNvSpPr/>
          <p:nvPr/>
        </p:nvSpPr>
        <p:spPr>
          <a:xfrm>
            <a:off x="1250710" y="5757661"/>
            <a:ext cx="5447763" cy="340485"/>
          </a:xfrm>
          <a:prstGeom prst="rect">
            <a:avLst/>
          </a:prstGeom>
          <a:solidFill>
            <a:srgbClr val="C7D5ED"/>
          </a:solidFill>
          <a:ln w="9458">
            <a:solidFill>
              <a:srgbClr val="7F7F7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Data (variable length)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---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title: "TCP Packet"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---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packet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0-15: "Source Port"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16-31: "Destination Port"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32-63: "Sequence Number"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64-95: "Acknowledgment Number"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96-99: "Data Offset"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100-105: "Reserved"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106: "URG"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107: "ACK"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108: "PSH"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109: "RST"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110: "SYN"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111: "FIN"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112-127: "Window"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128-143: "Checksum"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144-159: "Urgent Pointer"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160-191: "(Options and Padding)"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192-255: "Data (variable length)"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pie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457200" y="1225564"/>
            <a:ext cx="7034784" cy="727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1" dirty="0">
                <a:solidFill>
                  <a:srgbClr val="000000"/>
                </a:solidFill>
              </a:rPr>
              <a:t>Key elements in Product X</a:t>
            </a:r>
          </a:p>
        </p:txBody>
      </p:sp>
      <p:sp>
        <p:nvSpPr>
          <p:cNvPr id="12" name="Slice 2"/>
          <p:cNvSpPr/>
          <p:nvPr/>
        </p:nvSpPr>
        <p:spPr>
          <a:xfrm>
            <a:off x="826881" y="2137444"/>
            <a:ext cx="3696811" cy="3696811"/>
          </a:xfrm>
          <a:prstGeom prst="pie">
            <a:avLst>
              <a:gd name="adj1" fmla="val 16200000"/>
              <a:gd name="adj2" fmla="val 3190409"/>
            </a:avLst>
          </a:prstGeom>
          <a:solidFill>
            <a:srgbClr val="4472C4"/>
          </a:solidFill>
          <a:ln w="24645">
            <a:solidFill>
              <a:srgbClr val="FFFFFF"/>
            </a:solidFill>
          </a:ln>
        </p:spPr>
      </p:sp>
      <p:sp>
        <p:nvSpPr>
          <p:cNvPr id="14" name="Slice 4"/>
          <p:cNvSpPr/>
          <p:nvPr/>
        </p:nvSpPr>
        <p:spPr>
          <a:xfrm>
            <a:off x="826881" y="2137444"/>
            <a:ext cx="3696811" cy="3696811"/>
          </a:xfrm>
          <a:prstGeom prst="pie">
            <a:avLst>
              <a:gd name="adj1" fmla="val 3190409"/>
              <a:gd name="adj2" fmla="val 13198556"/>
            </a:avLst>
          </a:prstGeom>
          <a:solidFill>
            <a:srgbClr val="ED7D31"/>
          </a:solidFill>
          <a:ln w="24645">
            <a:solidFill>
              <a:srgbClr val="FFFFFF"/>
            </a:solidFill>
          </a:ln>
        </p:spPr>
      </p:sp>
      <p:sp>
        <p:nvSpPr>
          <p:cNvPr id="16" name="Slice 6"/>
          <p:cNvSpPr/>
          <p:nvPr/>
        </p:nvSpPr>
        <p:spPr>
          <a:xfrm>
            <a:off x="826881" y="2137444"/>
            <a:ext cx="3696811" cy="3696811"/>
          </a:xfrm>
          <a:prstGeom prst="pie">
            <a:avLst>
              <a:gd name="adj1" fmla="val 13198556"/>
              <a:gd name="adj2" fmla="val 15200185"/>
            </a:avLst>
          </a:prstGeom>
          <a:solidFill>
            <a:srgbClr val="A5A5A5"/>
          </a:solidFill>
          <a:ln w="24645">
            <a:solidFill>
              <a:srgbClr val="FFFFFF"/>
            </a:solidFill>
          </a:ln>
        </p:spPr>
      </p:sp>
      <p:sp>
        <p:nvSpPr>
          <p:cNvPr id="18" name="Slice 8"/>
          <p:cNvSpPr/>
          <p:nvPr/>
        </p:nvSpPr>
        <p:spPr>
          <a:xfrm>
            <a:off x="826881" y="2137444"/>
            <a:ext cx="3696811" cy="3696811"/>
          </a:xfrm>
          <a:prstGeom prst="pie">
            <a:avLst>
              <a:gd name="adj1" fmla="val 15200185"/>
              <a:gd name="adj2" fmla="val 16200000"/>
            </a:avLst>
          </a:prstGeom>
          <a:solidFill>
            <a:srgbClr val="FFC000"/>
          </a:solidFill>
          <a:ln w="24645">
            <a:solidFill>
              <a:srgbClr val="FFFFFF"/>
            </a:solidFill>
          </a:ln>
        </p:spPr>
      </p:sp>
      <p:sp>
        <p:nvSpPr>
          <p:cNvPr id="13" name="Text 3"/>
          <p:cNvSpPr txBox="1"/>
          <p:nvPr/>
        </p:nvSpPr>
        <p:spPr>
          <a:xfrm>
            <a:off x="3682548" y="3437055"/>
            <a:ext cx="616135" cy="221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40%</a:t>
            </a:r>
          </a:p>
        </p:txBody>
      </p:sp>
      <p:sp>
        <p:nvSpPr>
          <p:cNvPr id="15" name="Text 5"/>
          <p:cNvSpPr txBox="1"/>
          <p:nvPr/>
        </p:nvSpPr>
        <p:spPr>
          <a:xfrm>
            <a:off x="1360386" y="4827902"/>
            <a:ext cx="616135" cy="221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46%</a:t>
            </a:r>
          </a:p>
        </p:txBody>
      </p:sp>
      <p:sp>
        <p:nvSpPr>
          <p:cNvPr id="17" name="Text 7"/>
          <p:cNvSpPr txBox="1"/>
          <p:nvPr/>
        </p:nvSpPr>
        <p:spPr>
          <a:xfrm>
            <a:off x="1605220" y="2716844"/>
            <a:ext cx="616135" cy="221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9%</a:t>
            </a:r>
          </a:p>
        </p:txBody>
      </p:sp>
      <p:sp>
        <p:nvSpPr>
          <p:cNvPr id="19" name="Text 9"/>
          <p:cNvSpPr txBox="1"/>
          <p:nvPr/>
        </p:nvSpPr>
        <p:spPr>
          <a:xfrm>
            <a:off x="2166336" y="2503273"/>
            <a:ext cx="616135" cy="221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5%</a:t>
            </a:r>
          </a:p>
        </p:txBody>
      </p:sp>
      <p:sp>
        <p:nvSpPr>
          <p:cNvPr id="20" name="Legend 10"/>
          <p:cNvSpPr/>
          <p:nvPr/>
        </p:nvSpPr>
        <p:spPr>
          <a:xfrm>
            <a:off x="5016600" y="3406682"/>
            <a:ext cx="197163" cy="197163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5312345" y="3345069"/>
            <a:ext cx="1809958" cy="3203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94" dirty="0">
                <a:solidFill>
                  <a:srgbClr val="000000"/>
                </a:solidFill>
              </a:rPr>
              <a:t>Calcium [42.96]</a:t>
            </a:r>
          </a:p>
        </p:txBody>
      </p:sp>
      <p:sp>
        <p:nvSpPr>
          <p:cNvPr id="22" name="Legend 12"/>
          <p:cNvSpPr/>
          <p:nvPr/>
        </p:nvSpPr>
        <p:spPr>
          <a:xfrm>
            <a:off x="5016600" y="3727073"/>
            <a:ext cx="197163" cy="197163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3" name="Text 13"/>
          <p:cNvSpPr txBox="1"/>
          <p:nvPr/>
        </p:nvSpPr>
        <p:spPr>
          <a:xfrm>
            <a:off x="5312345" y="3665459"/>
            <a:ext cx="1809958" cy="3203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94" dirty="0">
                <a:solidFill>
                  <a:srgbClr val="000000"/>
                </a:solidFill>
              </a:rPr>
              <a:t>Potassium [50.05]</a:t>
            </a:r>
          </a:p>
        </p:txBody>
      </p:sp>
      <p:sp>
        <p:nvSpPr>
          <p:cNvPr id="24" name="Legend 14"/>
          <p:cNvSpPr/>
          <p:nvPr/>
        </p:nvSpPr>
        <p:spPr>
          <a:xfrm>
            <a:off x="5016600" y="4047463"/>
            <a:ext cx="197163" cy="197163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5312345" y="3985849"/>
            <a:ext cx="1809958" cy="3203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94" dirty="0">
                <a:solidFill>
                  <a:srgbClr val="000000"/>
                </a:solidFill>
              </a:rPr>
              <a:t>Magnesium [10.01]</a:t>
            </a:r>
          </a:p>
        </p:txBody>
      </p:sp>
      <p:sp>
        <p:nvSpPr>
          <p:cNvPr id="26" name="Legend 16"/>
          <p:cNvSpPr/>
          <p:nvPr/>
        </p:nvSpPr>
        <p:spPr>
          <a:xfrm>
            <a:off x="5016600" y="4367853"/>
            <a:ext cx="197163" cy="197163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7" name="Text 17"/>
          <p:cNvSpPr txBox="1"/>
          <p:nvPr/>
        </p:nvSpPr>
        <p:spPr>
          <a:xfrm>
            <a:off x="5312345" y="4306240"/>
            <a:ext cx="1809958" cy="3203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94" dirty="0">
                <a:solidFill>
                  <a:srgbClr val="000000"/>
                </a:solidFill>
              </a:rPr>
              <a:t>Iron [5]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pie showData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title Key elements in Product X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"Calcium" : 42.96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"Potassium" : 50.05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"Magnesium" : 10.01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"Iron" : 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quadrant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1026489" y="1028700"/>
            <a:ext cx="5896207" cy="411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00" dirty="0">
                <a:solidFill>
                  <a:srgbClr val="000000"/>
                </a:solidFill>
              </a:rPr>
              <a:t>Reach and engagement of campaigns</a:t>
            </a:r>
          </a:p>
        </p:txBody>
      </p:sp>
      <p:sp>
        <p:nvSpPr>
          <p:cNvPr id="12" name="Shape 2"/>
          <p:cNvSpPr/>
          <p:nvPr/>
        </p:nvSpPr>
        <p:spPr>
          <a:xfrm>
            <a:off x="4489341" y="1440499"/>
            <a:ext cx="2246174" cy="2246174"/>
          </a:xfrm>
          <a:prstGeom prst="rect">
            <a:avLst/>
          </a:prstGeom>
          <a:solidFill>
            <a:srgbClr val="D9E2F3"/>
          </a:solidFill>
          <a:ln w="9525">
            <a:solidFill>
              <a:srgbClr val="BFBFBF"/>
            </a:solidFill>
          </a:ln>
        </p:spPr>
      </p:sp>
      <p:sp>
        <p:nvSpPr>
          <p:cNvPr id="13" name="Text 3"/>
          <p:cNvSpPr txBox="1"/>
          <p:nvPr/>
        </p:nvSpPr>
        <p:spPr>
          <a:xfrm>
            <a:off x="4545495" y="1477935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We should expand</a:t>
            </a:r>
          </a:p>
        </p:txBody>
      </p:sp>
      <p:sp>
        <p:nvSpPr>
          <p:cNvPr id="14" name="Shape 4"/>
          <p:cNvSpPr/>
          <p:nvPr/>
        </p:nvSpPr>
        <p:spPr>
          <a:xfrm>
            <a:off x="2243167" y="1440499"/>
            <a:ext cx="2246174" cy="2246174"/>
          </a:xfrm>
          <a:prstGeom prst="rect">
            <a:avLst/>
          </a:prstGeom>
          <a:solidFill>
            <a:srgbClr val="FCE4D6"/>
          </a:solidFill>
          <a:ln w="9525">
            <a:solidFill>
              <a:srgbClr val="BFBFBF"/>
            </a:solidFill>
          </a:ln>
        </p:spPr>
      </p:sp>
      <p:sp>
        <p:nvSpPr>
          <p:cNvPr id="15" name="Text 5"/>
          <p:cNvSpPr txBox="1"/>
          <p:nvPr/>
        </p:nvSpPr>
        <p:spPr>
          <a:xfrm>
            <a:off x="2299321" y="1477935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Need to promote</a:t>
            </a:r>
          </a:p>
        </p:txBody>
      </p:sp>
      <p:sp>
        <p:nvSpPr>
          <p:cNvPr id="16" name="Shape 6"/>
          <p:cNvSpPr/>
          <p:nvPr/>
        </p:nvSpPr>
        <p:spPr>
          <a:xfrm>
            <a:off x="2243167" y="3686673"/>
            <a:ext cx="2246174" cy="2246174"/>
          </a:xfrm>
          <a:prstGeom prst="rect">
            <a:avLst/>
          </a:prstGeom>
          <a:solidFill>
            <a:srgbClr val="E2EFDA"/>
          </a:solidFill>
          <a:ln w="9525">
            <a:solidFill>
              <a:srgbClr val="BFBFBF"/>
            </a:solidFill>
          </a:ln>
        </p:spPr>
      </p:sp>
      <p:sp>
        <p:nvSpPr>
          <p:cNvPr id="17" name="Text 7"/>
          <p:cNvSpPr txBox="1"/>
          <p:nvPr/>
        </p:nvSpPr>
        <p:spPr>
          <a:xfrm>
            <a:off x="2299321" y="3724109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Re-evaluate</a:t>
            </a:r>
          </a:p>
        </p:txBody>
      </p:sp>
      <p:sp>
        <p:nvSpPr>
          <p:cNvPr id="18" name="Shape 8"/>
          <p:cNvSpPr/>
          <p:nvPr/>
        </p:nvSpPr>
        <p:spPr>
          <a:xfrm>
            <a:off x="4489341" y="3686673"/>
            <a:ext cx="2246174" cy="2246174"/>
          </a:xfrm>
          <a:prstGeom prst="rect">
            <a:avLst/>
          </a:prstGeom>
          <a:solidFill>
            <a:srgbClr val="FFF2CC"/>
          </a:solidFill>
          <a:ln w="9525">
            <a:solidFill>
              <a:srgbClr val="BFBFBF"/>
            </a:solidFill>
          </a:ln>
        </p:spPr>
      </p:sp>
      <p:sp>
        <p:nvSpPr>
          <p:cNvPr id="19" name="Text 9"/>
          <p:cNvSpPr txBox="1"/>
          <p:nvPr/>
        </p:nvSpPr>
        <p:spPr>
          <a:xfrm>
            <a:off x="4545495" y="3724109"/>
            <a:ext cx="2133866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900" dirty="0">
                <a:solidFill>
                  <a:srgbClr val="595959"/>
                </a:solidFill>
              </a:rPr>
              <a:t>May be improved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2243167" y="5989001"/>
            <a:ext cx="2246174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Low Reach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4489341" y="5989001"/>
            <a:ext cx="2246174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High Reach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1026489" y="5745666"/>
            <a:ext cx="1160523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Low Engagement</a:t>
            </a:r>
          </a:p>
        </p:txBody>
      </p:sp>
      <p:sp>
        <p:nvSpPr>
          <p:cNvPr id="23" name="Text 13"/>
          <p:cNvSpPr txBox="1"/>
          <p:nvPr/>
        </p:nvSpPr>
        <p:spPr>
          <a:xfrm>
            <a:off x="1026489" y="1440499"/>
            <a:ext cx="1160523" cy="1871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595959"/>
                </a:solidFill>
              </a:rPr>
              <a:t>High Engagement</a:t>
            </a:r>
          </a:p>
        </p:txBody>
      </p:sp>
      <p:sp>
        <p:nvSpPr>
          <p:cNvPr id="24" name="Point 14"/>
          <p:cNvSpPr/>
          <p:nvPr/>
        </p:nvSpPr>
        <p:spPr>
          <a:xfrm>
            <a:off x="3544076" y="3190643"/>
            <a:ext cx="93591" cy="93591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0000"/>
            </a:solidFill>
          </a:ln>
        </p:spPr>
      </p:sp>
      <p:sp>
        <p:nvSpPr>
          <p:cNvPr id="25" name="Text 15"/>
          <p:cNvSpPr txBox="1"/>
          <p:nvPr/>
        </p:nvSpPr>
        <p:spPr>
          <a:xfrm>
            <a:off x="3665744" y="3153206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A</a:t>
            </a:r>
          </a:p>
        </p:txBody>
      </p:sp>
      <p:sp>
        <p:nvSpPr>
          <p:cNvPr id="26" name="Point 16"/>
          <p:cNvSpPr/>
          <p:nvPr/>
        </p:nvSpPr>
        <p:spPr>
          <a:xfrm>
            <a:off x="4217928" y="4852812"/>
            <a:ext cx="93591" cy="93591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0000"/>
            </a:solidFill>
          </a:ln>
        </p:spPr>
      </p:sp>
      <p:sp>
        <p:nvSpPr>
          <p:cNvPr id="27" name="Text 17"/>
          <p:cNvSpPr txBox="1"/>
          <p:nvPr/>
        </p:nvSpPr>
        <p:spPr>
          <a:xfrm>
            <a:off x="4339596" y="4815375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B</a:t>
            </a:r>
          </a:p>
        </p:txBody>
      </p:sp>
      <p:sp>
        <p:nvSpPr>
          <p:cNvPr id="28" name="Point 18"/>
          <p:cNvSpPr/>
          <p:nvPr/>
        </p:nvSpPr>
        <p:spPr>
          <a:xfrm>
            <a:off x="4757010" y="2786331"/>
            <a:ext cx="93591" cy="93591"/>
          </a:xfrm>
          <a:prstGeom prst="ellipse">
            <a:avLst/>
          </a:prstGeom>
          <a:solidFill>
            <a:srgbClr val="FF3300"/>
          </a:solidFill>
          <a:ln w="6350">
            <a:solidFill>
              <a:srgbClr val="000000"/>
            </a:solidFill>
          </a:ln>
        </p:spPr>
      </p:sp>
      <p:sp>
        <p:nvSpPr>
          <p:cNvPr id="29" name="Text 19"/>
          <p:cNvSpPr txBox="1"/>
          <p:nvPr/>
        </p:nvSpPr>
        <p:spPr>
          <a:xfrm>
            <a:off x="4878678" y="2748895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C</a:t>
            </a:r>
          </a:p>
        </p:txBody>
      </p:sp>
      <p:sp>
        <p:nvSpPr>
          <p:cNvPr id="30" name="Point 20"/>
          <p:cNvSpPr/>
          <p:nvPr/>
        </p:nvSpPr>
        <p:spPr>
          <a:xfrm>
            <a:off x="5700403" y="4358653"/>
            <a:ext cx="93591" cy="93591"/>
          </a:xfrm>
          <a:prstGeom prst="ellipse">
            <a:avLst/>
          </a:prstGeom>
          <a:solidFill>
            <a:srgbClr val="1565C0"/>
          </a:solidFill>
          <a:ln w="6350">
            <a:solidFill>
              <a:srgbClr val="000000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5822071" y="4321217"/>
            <a:ext cx="737494" cy="1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Campaign D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quadrantChart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title Reach and engagement of campaigns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x-axis Low Reach --&gt; High Reach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y-axis Low Engagement --&gt; High Engagement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quadrant-1 We should expand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quadrant-2 Need to promote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quadrant-3 Re-evaluate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quadrant-4 May be improved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Campaign A: [0.3, 0.6] color: 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Campaign B: [0.45, 0.23] color: 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Campaign C: [0.57, 0.69] color: #ff3300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Campaign D: [0.78, 0.34] color: #1565C0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radar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1430729"/>
            <a:ext cx="5481650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50" dirty="0">
                <a:solidFill>
                  <a:srgbClr val="000000"/>
                </a:solidFill>
              </a:rPr>
              <a:t>Grades</a:t>
            </a:r>
          </a:p>
        </p:txBody>
      </p:sp>
      <p:sp>
        <p:nvSpPr>
          <p:cNvPr id="12" name="Shape 2"/>
          <p:cNvSpPr/>
          <p:nvPr/>
        </p:nvSpPr>
        <p:spPr>
          <a:xfrm>
            <a:off x="2822201" y="3591413"/>
            <a:ext cx="751648" cy="867928"/>
          </a:xfrm>
          <a:custGeom>
            <a:avLst/>
            <a:gdLst/>
            <a:ahLst/>
            <a:cxnLst/>
            <a:rect l="0" t="0" r="0" b="0"/>
            <a:pathLst>
              <a:path w="751648" h="867928">
                <a:moveTo>
                  <a:pt x="375824" y="0"/>
                </a:moveTo>
                <a:lnTo>
                  <a:pt x="751648" y="216982"/>
                </a:lnTo>
                <a:lnTo>
                  <a:pt x="751648" y="650946"/>
                </a:lnTo>
                <a:lnTo>
                  <a:pt x="375824" y="867928"/>
                </a:lnTo>
                <a:lnTo>
                  <a:pt x="0" y="650946"/>
                </a:lnTo>
                <a:lnTo>
                  <a:pt x="0" y="216982"/>
                </a:lnTo>
                <a:close/>
              </a:path>
            </a:pathLst>
          </a:custGeom>
          <a:noFill/>
          <a:ln w="9136">
            <a:solidFill>
              <a:srgbClr val="BFBFBF"/>
            </a:solidFill>
          </a:ln>
        </p:spPr>
      </p:sp>
      <p:sp>
        <p:nvSpPr>
          <p:cNvPr id="13" name="Shape 3"/>
          <p:cNvSpPr/>
          <p:nvPr/>
        </p:nvSpPr>
        <p:spPr>
          <a:xfrm>
            <a:off x="2446377" y="3157449"/>
            <a:ext cx="1503296" cy="1735856"/>
          </a:xfrm>
          <a:custGeom>
            <a:avLst/>
            <a:gdLst/>
            <a:ahLst/>
            <a:cxnLst/>
            <a:rect l="0" t="0" r="0" b="0"/>
            <a:pathLst>
              <a:path w="1503296" h="1735856">
                <a:moveTo>
                  <a:pt x="751648" y="0"/>
                </a:moveTo>
                <a:lnTo>
                  <a:pt x="1503296" y="433964"/>
                </a:lnTo>
                <a:lnTo>
                  <a:pt x="1503296" y="1301892"/>
                </a:lnTo>
                <a:lnTo>
                  <a:pt x="751648" y="1735856"/>
                </a:lnTo>
                <a:lnTo>
                  <a:pt x="0" y="1301892"/>
                </a:lnTo>
                <a:lnTo>
                  <a:pt x="0" y="433964"/>
                </a:lnTo>
                <a:close/>
              </a:path>
            </a:pathLst>
          </a:custGeom>
          <a:noFill/>
          <a:ln w="9136">
            <a:solidFill>
              <a:srgbClr val="BFBFBF"/>
            </a:solidFill>
          </a:ln>
        </p:spPr>
      </p:sp>
      <p:sp>
        <p:nvSpPr>
          <p:cNvPr id="14" name="Shape 4"/>
          <p:cNvSpPr/>
          <p:nvPr/>
        </p:nvSpPr>
        <p:spPr>
          <a:xfrm>
            <a:off x="2070554" y="2723485"/>
            <a:ext cx="2254942" cy="2603784"/>
          </a:xfrm>
          <a:custGeom>
            <a:avLst/>
            <a:gdLst/>
            <a:ahLst/>
            <a:cxnLst/>
            <a:rect l="0" t="0" r="0" b="0"/>
            <a:pathLst>
              <a:path w="2254942" h="2603784">
                <a:moveTo>
                  <a:pt x="1127471" y="0"/>
                </a:moveTo>
                <a:lnTo>
                  <a:pt x="2254942" y="650946"/>
                </a:lnTo>
                <a:lnTo>
                  <a:pt x="2254942" y="1952838"/>
                </a:lnTo>
                <a:lnTo>
                  <a:pt x="1127471" y="2603784"/>
                </a:lnTo>
                <a:lnTo>
                  <a:pt x="0" y="1952838"/>
                </a:lnTo>
                <a:lnTo>
                  <a:pt x="0" y="650946"/>
                </a:lnTo>
                <a:close/>
              </a:path>
            </a:pathLst>
          </a:custGeom>
          <a:noFill/>
          <a:ln w="9136">
            <a:solidFill>
              <a:srgbClr val="BFBFBF"/>
            </a:solidFill>
          </a:ln>
        </p:spPr>
      </p:sp>
      <p:sp>
        <p:nvSpPr>
          <p:cNvPr id="15" name="Shape 5"/>
          <p:cNvSpPr/>
          <p:nvPr/>
        </p:nvSpPr>
        <p:spPr>
          <a:xfrm>
            <a:off x="1694730" y="2289521"/>
            <a:ext cx="3006590" cy="3471712"/>
          </a:xfrm>
          <a:custGeom>
            <a:avLst/>
            <a:gdLst/>
            <a:ahLst/>
            <a:cxnLst/>
            <a:rect l="0" t="0" r="0" b="0"/>
            <a:pathLst>
              <a:path w="3006590" h="3471712">
                <a:moveTo>
                  <a:pt x="1503295" y="0"/>
                </a:moveTo>
                <a:lnTo>
                  <a:pt x="3006590" y="867928"/>
                </a:lnTo>
                <a:lnTo>
                  <a:pt x="3006590" y="2603784"/>
                </a:lnTo>
                <a:lnTo>
                  <a:pt x="1503295" y="3471712"/>
                </a:lnTo>
                <a:lnTo>
                  <a:pt x="0" y="2603784"/>
                </a:lnTo>
                <a:lnTo>
                  <a:pt x="0" y="867928"/>
                </a:lnTo>
                <a:close/>
              </a:path>
            </a:pathLst>
          </a:custGeom>
          <a:noFill/>
          <a:ln w="9136">
            <a:solidFill>
              <a:srgbClr val="BFBFBF"/>
            </a:solidFill>
          </a:ln>
        </p:spPr>
      </p:sp>
      <p:sp>
        <p:nvSpPr>
          <p:cNvPr id="16" name="Shape 6"/>
          <p:cNvSpPr/>
          <p:nvPr/>
        </p:nvSpPr>
        <p:spPr>
          <a:xfrm>
            <a:off x="3198025" y="2289521"/>
            <a:ext cx="1" cy="1735856"/>
          </a:xfrm>
          <a:custGeom>
            <a:avLst/>
            <a:gdLst/>
            <a:ahLst/>
            <a:cxnLst/>
            <a:rect l="0" t="0" r="0" b="0"/>
            <a:pathLst>
              <a:path w="1" h="1735856" fill="none">
                <a:moveTo>
                  <a:pt x="0" y="1735856"/>
                </a:moveTo>
                <a:lnTo>
                  <a:pt x="0" y="0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17" name="Box 7"/>
          <p:cNvSpPr/>
          <p:nvPr/>
        </p:nvSpPr>
        <p:spPr>
          <a:xfrm>
            <a:off x="2992463" y="2033711"/>
            <a:ext cx="411124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Math</a:t>
            </a:r>
          </a:p>
        </p:txBody>
      </p:sp>
      <p:sp>
        <p:nvSpPr>
          <p:cNvPr id="18" name="Shape 8"/>
          <p:cNvSpPr/>
          <p:nvPr/>
        </p:nvSpPr>
        <p:spPr>
          <a:xfrm>
            <a:off x="3198025" y="3157449"/>
            <a:ext cx="1503295" cy="867928"/>
          </a:xfrm>
          <a:custGeom>
            <a:avLst/>
            <a:gdLst/>
            <a:ahLst/>
            <a:cxnLst/>
            <a:rect l="0" t="0" r="0" b="0"/>
            <a:pathLst>
              <a:path w="1503295" h="867928" fill="none">
                <a:moveTo>
                  <a:pt x="0" y="867928"/>
                </a:moveTo>
                <a:lnTo>
                  <a:pt x="1503295" y="0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19" name="Box 9"/>
          <p:cNvSpPr/>
          <p:nvPr/>
        </p:nvSpPr>
        <p:spPr>
          <a:xfrm>
            <a:off x="4738825" y="2983863"/>
            <a:ext cx="621254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Science</a:t>
            </a:r>
          </a:p>
        </p:txBody>
      </p:sp>
      <p:sp>
        <p:nvSpPr>
          <p:cNvPr id="20" name="Shape 10"/>
          <p:cNvSpPr/>
          <p:nvPr/>
        </p:nvSpPr>
        <p:spPr>
          <a:xfrm>
            <a:off x="3198025" y="4025377"/>
            <a:ext cx="1503295" cy="867928"/>
          </a:xfrm>
          <a:custGeom>
            <a:avLst/>
            <a:gdLst/>
            <a:ahLst/>
            <a:cxnLst/>
            <a:rect l="0" t="0" r="0" b="0"/>
            <a:pathLst>
              <a:path w="1503295" h="867928" fill="none">
                <a:moveTo>
                  <a:pt x="0" y="0"/>
                </a:moveTo>
                <a:lnTo>
                  <a:pt x="1503295" y="867928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21" name="Box 11"/>
          <p:cNvSpPr/>
          <p:nvPr/>
        </p:nvSpPr>
        <p:spPr>
          <a:xfrm>
            <a:off x="4738825" y="4884169"/>
            <a:ext cx="621254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English</a:t>
            </a:r>
          </a:p>
        </p:txBody>
      </p:sp>
      <p:sp>
        <p:nvSpPr>
          <p:cNvPr id="22" name="Shape 12"/>
          <p:cNvSpPr/>
          <p:nvPr/>
        </p:nvSpPr>
        <p:spPr>
          <a:xfrm>
            <a:off x="3198025" y="4025377"/>
            <a:ext cx="1" cy="1735856"/>
          </a:xfrm>
          <a:custGeom>
            <a:avLst/>
            <a:gdLst/>
            <a:ahLst/>
            <a:cxnLst/>
            <a:rect l="0" t="0" r="0" b="0"/>
            <a:pathLst>
              <a:path w="1" h="1735856" fill="none">
                <a:moveTo>
                  <a:pt x="0" y="0"/>
                </a:moveTo>
                <a:lnTo>
                  <a:pt x="0" y="1735856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23" name="Box 13"/>
          <p:cNvSpPr/>
          <p:nvPr/>
        </p:nvSpPr>
        <p:spPr>
          <a:xfrm>
            <a:off x="2887398" y="5834321"/>
            <a:ext cx="621254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History</a:t>
            </a:r>
          </a:p>
        </p:txBody>
      </p:sp>
      <p:sp>
        <p:nvSpPr>
          <p:cNvPr id="24" name="Shape 14"/>
          <p:cNvSpPr/>
          <p:nvPr/>
        </p:nvSpPr>
        <p:spPr>
          <a:xfrm>
            <a:off x="1694730" y="4025377"/>
            <a:ext cx="1503295" cy="867928"/>
          </a:xfrm>
          <a:custGeom>
            <a:avLst/>
            <a:gdLst/>
            <a:ahLst/>
            <a:cxnLst/>
            <a:rect l="0" t="0" r="0" b="0"/>
            <a:pathLst>
              <a:path w="1503295" h="867928" fill="none">
                <a:moveTo>
                  <a:pt x="1503295" y="0"/>
                </a:moveTo>
                <a:lnTo>
                  <a:pt x="0" y="867928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25" name="Box 15"/>
          <p:cNvSpPr/>
          <p:nvPr/>
        </p:nvSpPr>
        <p:spPr>
          <a:xfrm>
            <a:off x="899586" y="4884169"/>
            <a:ext cx="767431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Geography</a:t>
            </a:r>
          </a:p>
        </p:txBody>
      </p:sp>
      <p:sp>
        <p:nvSpPr>
          <p:cNvPr id="26" name="Shape 16"/>
          <p:cNvSpPr/>
          <p:nvPr/>
        </p:nvSpPr>
        <p:spPr>
          <a:xfrm>
            <a:off x="1694730" y="3157449"/>
            <a:ext cx="1503295" cy="867928"/>
          </a:xfrm>
          <a:custGeom>
            <a:avLst/>
            <a:gdLst/>
            <a:ahLst/>
            <a:cxnLst/>
            <a:rect l="0" t="0" r="0" b="0"/>
            <a:pathLst>
              <a:path w="1503295" h="867928" fill="none">
                <a:moveTo>
                  <a:pt x="1503295" y="867928"/>
                </a:moveTo>
                <a:lnTo>
                  <a:pt x="0" y="0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27" name="Box 17"/>
          <p:cNvSpPr/>
          <p:nvPr/>
        </p:nvSpPr>
        <p:spPr>
          <a:xfrm>
            <a:off x="1300218" y="2983863"/>
            <a:ext cx="338035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Art</a:t>
            </a:r>
          </a:p>
        </p:txBody>
      </p:sp>
      <p:sp>
        <p:nvSpPr>
          <p:cNvPr id="28" name="Shape 18"/>
          <p:cNvSpPr/>
          <p:nvPr/>
        </p:nvSpPr>
        <p:spPr>
          <a:xfrm>
            <a:off x="1845059" y="2549899"/>
            <a:ext cx="2705932" cy="2690577"/>
          </a:xfrm>
          <a:custGeom>
            <a:avLst/>
            <a:gdLst/>
            <a:ahLst/>
            <a:cxnLst/>
            <a:rect l="0" t="0" r="0" b="0"/>
            <a:pathLst>
              <a:path w="2705932" h="2690577">
                <a:moveTo>
                  <a:pt x="1352966" y="0"/>
                </a:moveTo>
                <a:lnTo>
                  <a:pt x="2705932" y="694343"/>
                </a:lnTo>
                <a:lnTo>
                  <a:pt x="2555602" y="2169820"/>
                </a:lnTo>
                <a:lnTo>
                  <a:pt x="1352966" y="2690577"/>
                </a:lnTo>
                <a:lnTo>
                  <a:pt x="225495" y="2126424"/>
                </a:lnTo>
                <a:lnTo>
                  <a:pt x="0" y="694343"/>
                </a:lnTo>
                <a:close/>
              </a:path>
            </a:pathLst>
          </a:custGeom>
          <a:solidFill>
            <a:srgbClr val="4472C4">
              <a:alpha val="30000"/>
            </a:srgbClr>
          </a:solidFill>
          <a:ln w="27408">
            <a:solidFill>
              <a:srgbClr val="4472C4"/>
            </a:solidFill>
          </a:ln>
        </p:spPr>
      </p:sp>
      <p:sp>
        <p:nvSpPr>
          <p:cNvPr id="29" name="Shape 19"/>
          <p:cNvSpPr/>
          <p:nvPr/>
        </p:nvSpPr>
        <p:spPr>
          <a:xfrm>
            <a:off x="1845059" y="2810278"/>
            <a:ext cx="2630767" cy="2603783"/>
          </a:xfrm>
          <a:custGeom>
            <a:avLst/>
            <a:gdLst/>
            <a:ahLst/>
            <a:cxnLst/>
            <a:rect l="0" t="0" r="0" b="0"/>
            <a:pathLst>
              <a:path w="2630767" h="2603783">
                <a:moveTo>
                  <a:pt x="1352966" y="0"/>
                </a:moveTo>
                <a:lnTo>
                  <a:pt x="2480437" y="564153"/>
                </a:lnTo>
                <a:lnTo>
                  <a:pt x="2630767" y="1952837"/>
                </a:lnTo>
                <a:lnTo>
                  <a:pt x="1352966" y="2603783"/>
                </a:lnTo>
                <a:lnTo>
                  <a:pt x="0" y="1996234"/>
                </a:lnTo>
                <a:lnTo>
                  <a:pt x="75165" y="477360"/>
                </a:lnTo>
                <a:close/>
              </a:path>
            </a:pathLst>
          </a:custGeom>
          <a:solidFill>
            <a:srgbClr val="ED7D31">
              <a:alpha val="30000"/>
            </a:srgbClr>
          </a:solidFill>
          <a:ln w="27408">
            <a:solidFill>
              <a:srgbClr val="ED7D31"/>
            </a:solidFill>
          </a:ln>
        </p:spPr>
      </p:sp>
      <p:sp>
        <p:nvSpPr>
          <p:cNvPr id="30" name="Box 20"/>
          <p:cNvSpPr/>
          <p:nvPr/>
        </p:nvSpPr>
        <p:spPr>
          <a:xfrm>
            <a:off x="6030211" y="2326065"/>
            <a:ext cx="127905" cy="12790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1" name="Box 21"/>
          <p:cNvSpPr/>
          <p:nvPr/>
        </p:nvSpPr>
        <p:spPr>
          <a:xfrm>
            <a:off x="6212932" y="2289521"/>
            <a:ext cx="1187691" cy="200994"/>
          </a:xfrm>
          <a:prstGeom prst="rect">
            <a:avLst/>
          </a:prstGeom>
          <a:noFill/>
          <a:ln>
            <a:noFill/>
          </a:ln>
        </p:spPr>
        <p:txBody>
          <a:bodyPr wrap="none" lIns="18272" tIns="0" rIns="18272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Alice</a:t>
            </a:r>
          </a:p>
        </p:txBody>
      </p:sp>
      <p:sp>
        <p:nvSpPr>
          <p:cNvPr id="32" name="Box 22"/>
          <p:cNvSpPr/>
          <p:nvPr/>
        </p:nvSpPr>
        <p:spPr>
          <a:xfrm>
            <a:off x="6030211" y="2563603"/>
            <a:ext cx="127905" cy="127905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3" name="Box 23"/>
          <p:cNvSpPr/>
          <p:nvPr/>
        </p:nvSpPr>
        <p:spPr>
          <a:xfrm>
            <a:off x="6212932" y="2527059"/>
            <a:ext cx="1187691" cy="200994"/>
          </a:xfrm>
          <a:prstGeom prst="rect">
            <a:avLst/>
          </a:prstGeom>
          <a:noFill/>
          <a:ln>
            <a:noFill/>
          </a:ln>
        </p:spPr>
        <p:txBody>
          <a:bodyPr wrap="none" lIns="18272" tIns="0" rIns="18272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Bob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radar-beta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title Grades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axis m["Math"], s["Science"], e["English"]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axis h["History"], g["Geography"], a["Art"]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curve a["Alice"]{85, 90, 80, 70, 75, 90}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curve b["Bob"]{70, 75, 85, 80, 90, 85}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max 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graticule polygon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ticks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requirement-diagram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3974592" y="2034782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2" name="Text 2"/>
          <p:cNvSpPr txBox="1"/>
          <p:nvPr/>
        </p:nvSpPr>
        <p:spPr>
          <a:xfrm>
            <a:off x="3667073" y="2272066"/>
            <a:ext cx="615039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«satisfies»</a:t>
            </a:r>
          </a:p>
        </p:txBody>
      </p:sp>
      <p:cxnSp>
        <p:nvCxnSpPr>
          <p:cNvPr id="13" name="Connector 3"/>
          <p:cNvCxnSpPr/>
          <p:nvPr/>
        </p:nvCxnSpPr>
        <p:spPr>
          <a:xfrm>
            <a:off x="4041032" y="4103895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4" name="Text 4"/>
          <p:cNvSpPr txBox="1"/>
          <p:nvPr/>
        </p:nvSpPr>
        <p:spPr>
          <a:xfrm>
            <a:off x="3801850" y="4265248"/>
            <a:ext cx="478364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«traces»</a:t>
            </a:r>
          </a:p>
        </p:txBody>
      </p:sp>
      <p:cxnSp>
        <p:nvCxnSpPr>
          <p:cNvPr id="15" name="Connector 5"/>
          <p:cNvCxnSpPr/>
          <p:nvPr/>
        </p:nvCxnSpPr>
        <p:spPr>
          <a:xfrm flipV="1">
            <a:off x="3908153" y="4103895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6" name="Text 6"/>
          <p:cNvSpPr txBox="1"/>
          <p:nvPr/>
        </p:nvSpPr>
        <p:spPr>
          <a:xfrm>
            <a:off x="3646192" y="4417109"/>
            <a:ext cx="523922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«derives»</a:t>
            </a:r>
          </a:p>
        </p:txBody>
      </p:sp>
      <p:sp>
        <p:nvSpPr>
          <p:cNvPr id="17" name="test_req"/>
          <p:cNvSpPr/>
          <p:nvPr/>
        </p:nvSpPr>
        <p:spPr>
          <a:xfrm>
            <a:off x="3352909" y="2699176"/>
            <a:ext cx="1243366" cy="1404719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18" name="test_req title"/>
          <p:cNvSpPr/>
          <p:nvPr/>
        </p:nvSpPr>
        <p:spPr>
          <a:xfrm>
            <a:off x="3352909" y="2699176"/>
            <a:ext cx="1243366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3352909" y="2998153"/>
            <a:ext cx="1243366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Text 10"/>
          <p:cNvSpPr txBox="1"/>
          <p:nvPr/>
        </p:nvSpPr>
        <p:spPr>
          <a:xfrm>
            <a:off x="3352909" y="2699176"/>
            <a:ext cx="1243366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test_req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3447822" y="3002899"/>
            <a:ext cx="1053540" cy="1100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«requirement»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id: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text: the test text.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risk: high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verifyMethod: test</a:t>
            </a:r>
          </a:p>
        </p:txBody>
      </p:sp>
      <p:sp>
        <p:nvSpPr>
          <p:cNvPr id="22" name="test_req2"/>
          <p:cNvSpPr/>
          <p:nvPr/>
        </p:nvSpPr>
        <p:spPr>
          <a:xfrm>
            <a:off x="3167828" y="4768289"/>
            <a:ext cx="1613528" cy="1404719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23" name="test_req2 title"/>
          <p:cNvSpPr/>
          <p:nvPr/>
        </p:nvSpPr>
        <p:spPr>
          <a:xfrm>
            <a:off x="3167828" y="4768289"/>
            <a:ext cx="1613528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4" name="Divider"/>
          <p:cNvSpPr/>
          <p:nvPr/>
        </p:nvSpPr>
        <p:spPr>
          <a:xfrm>
            <a:off x="3167828" y="5067266"/>
            <a:ext cx="1613528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3167828" y="4768289"/>
            <a:ext cx="1613528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test_req2</a:t>
            </a:r>
          </a:p>
        </p:txBody>
      </p:sp>
      <p:sp>
        <p:nvSpPr>
          <p:cNvPr id="26" name="Text 16"/>
          <p:cNvSpPr txBox="1"/>
          <p:nvPr/>
        </p:nvSpPr>
        <p:spPr>
          <a:xfrm>
            <a:off x="3262741" y="5072012"/>
            <a:ext cx="1423702" cy="1100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«functionalRequirement»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id: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text: the second test text.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risk: 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verifyMethod: inspection</a:t>
            </a:r>
          </a:p>
        </p:txBody>
      </p:sp>
      <p:sp>
        <p:nvSpPr>
          <p:cNvPr id="27" name="test_entity"/>
          <p:cNvSpPr/>
          <p:nvPr/>
        </p:nvSpPr>
        <p:spPr>
          <a:xfrm>
            <a:off x="3396570" y="1256492"/>
            <a:ext cx="1156046" cy="778290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28" name="test_entity title"/>
          <p:cNvSpPr/>
          <p:nvPr/>
        </p:nvSpPr>
        <p:spPr>
          <a:xfrm>
            <a:off x="3396570" y="1256492"/>
            <a:ext cx="1156046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9" name="Divider"/>
          <p:cNvSpPr/>
          <p:nvPr/>
        </p:nvSpPr>
        <p:spPr>
          <a:xfrm>
            <a:off x="3396570" y="1555469"/>
            <a:ext cx="1156046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0" name="Text 20"/>
          <p:cNvSpPr txBox="1"/>
          <p:nvPr/>
        </p:nvSpPr>
        <p:spPr>
          <a:xfrm>
            <a:off x="3396570" y="1256492"/>
            <a:ext cx="1156046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test_entity</a:t>
            </a:r>
          </a:p>
        </p:txBody>
      </p:sp>
      <p:sp>
        <p:nvSpPr>
          <p:cNvPr id="31" name="Text 21"/>
          <p:cNvSpPr txBox="1"/>
          <p:nvPr/>
        </p:nvSpPr>
        <p:spPr>
          <a:xfrm>
            <a:off x="3491483" y="1560215"/>
            <a:ext cx="966220" cy="4745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«element»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type: simulation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requirementDiagram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requirement test_req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id: 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text: the test text.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risk: high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verifymethod: test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functionalRequirement test_req2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id: 1.1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text: the second test text.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risk: low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verifymethod: inspection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element test_entity {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type: simulation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test_entity - satisfies -&gt; test_req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test_req - traces -&gt; test_req2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test_req &lt;- derives - test_req2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rich-text</a:t>
            </a:r>
          </a:p>
        </p:txBody>
      </p:sp>
      <p:sp>
        <p:nvSpPr>
          <p:cNvPr id="12" name="Ligne1 Ligne2" descr="A"/>
          <p:cNvSpPr/>
          <p:nvPr/>
        </p:nvSpPr>
        <p:spPr>
          <a:xfrm>
            <a:off x="3402582" y="1028700"/>
            <a:ext cx="1144020" cy="998355"/>
          </a:xfrm>
          <a:prstGeom prst="rect">
            <a:avLst/>
          </a:prstGeom>
          <a:solidFill>
            <a:srgbClr val="E1BEE7"/>
          </a:solidFill>
          <a:ln w="1267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Ligne1</a:t>
            </a:r>
            <a:br/>
            <a:r>
              <a:rPr lang="en-US" sz="1200" dirty="0">
                <a:solidFill>
                  <a:srgbClr val="000000"/>
                </a:solidFill>
              </a:rPr>
              <a:t>Ligne2</a:t>
            </a:r>
          </a:p>
        </p:txBody>
      </p:sp>
      <p:sp>
        <p:nvSpPr>
          <p:cNvPr id="13" name="gras et italique et normal" descr="B"/>
          <p:cNvSpPr/>
          <p:nvPr/>
        </p:nvSpPr>
        <p:spPr>
          <a:xfrm>
            <a:off x="3103646" y="2787706"/>
            <a:ext cx="1741892" cy="1283599"/>
          </a:xfrm>
          <a:prstGeom prst="rect">
            <a:avLst/>
          </a:prstGeom>
          <a:solidFill>
            <a:srgbClr val="FFCDD2"/>
          </a:solidFill>
          <a:ln w="1267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00" dirty="0">
                <a:solidFill>
                  <a:srgbClr val="000000"/>
                </a:solidFill>
              </a:rPr>
              <a:t>gras</a:t>
            </a:r>
            <a:r>
              <a:rPr lang="en-US" sz="1200" dirty="0">
                <a:solidFill>
                  <a:srgbClr val="000000"/>
                </a:solidFill>
              </a:rPr>
              <a:t> et </a:t>
            </a:r>
            <a:r>
              <a:rPr lang="en-US" i="1" sz="1200" dirty="0">
                <a:solidFill>
                  <a:srgbClr val="000000"/>
                </a:solidFill>
              </a:rPr>
              <a:t>italique</a:t>
            </a:r>
            <a:r>
              <a:rPr lang="en-US" sz="1200" dirty="0">
                <a:solidFill>
                  <a:srgbClr val="000000"/>
                </a:solidFill>
              </a:rPr>
              <a:t> et normal</a:t>
            </a:r>
          </a:p>
        </p:txBody>
      </p:sp>
      <p:sp>
        <p:nvSpPr>
          <p:cNvPr id="14" name="Pas de **markup** ici, texte classique" descr="C"/>
          <p:cNvSpPr/>
          <p:nvPr/>
        </p:nvSpPr>
        <p:spPr>
          <a:xfrm>
            <a:off x="3137875" y="4831957"/>
            <a:ext cx="1673433" cy="1568843"/>
          </a:xfrm>
          <a:prstGeom prst="rect">
            <a:avLst/>
          </a:prstGeom>
          <a:solidFill>
            <a:srgbClr val="FFF9C4"/>
          </a:solidFill>
          <a:ln w="1267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8" tIns="45639" rIns="91278" bIns="45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0000"/>
                </a:solidFill>
              </a:rPr>
              <a:t>Pas de **markup** ici, texte classique</a:t>
            </a:r>
          </a:p>
        </p:txBody>
      </p:sp>
      <p:cxnSp>
        <p:nvCxnSpPr>
          <p:cNvPr id="15" name="A--B"/>
          <p:cNvCxnSpPr>
            <a:stCxn id="12" idx="2"/>
            <a:endCxn id="13" idx="0"/>
          </p:cNvCxnSpPr>
          <p:nvPr/>
        </p:nvCxnSpPr>
        <p:spPr>
          <a:xfrm>
            <a:off x="3974592" y="2027055"/>
            <a:ext cx="0" cy="760651"/>
          </a:xfrm>
          <a:prstGeom prst="line">
            <a:avLst/>
          </a:prstGeom>
          <a:ln w="126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geLabel"/>
          <p:cNvSpPr txBox="1"/>
          <p:nvPr/>
        </p:nvSpPr>
        <p:spPr>
          <a:xfrm>
            <a:off x="3725098" y="2293283"/>
            <a:ext cx="498987" cy="2281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8033" tIns="0" rIns="3803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17" name="B--C"/>
          <p:cNvCxnSpPr>
            <a:stCxn id="13" idx="2"/>
            <a:endCxn id="14" idx="0"/>
          </p:cNvCxnSpPr>
          <p:nvPr/>
        </p:nvCxnSpPr>
        <p:spPr>
          <a:xfrm>
            <a:off x="3974592" y="4071305"/>
            <a:ext cx="0" cy="760652"/>
          </a:xfrm>
          <a:prstGeom prst="line">
            <a:avLst/>
          </a:prstGeom>
          <a:ln w="126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A["Ligne1&lt;br/&gt;Ligne2"] --&gt;|"`**Oui**`"| B["`**gras** et _italique_ et normal`"]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C[Pas de **markup** ici, texte classique]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fill:#FFCDD2,stroke:#C62828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fill:#FFF9C4,stroke:#F9A825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rl-direction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6578611" y="3431212"/>
            <a:ext cx="913373" cy="567077"/>
          </a:xfrm>
          <a:prstGeom prst="rect">
            <a:avLst/>
          </a:prstGeom>
          <a:solidFill>
            <a:srgbClr val="FFCDD2"/>
          </a:solidFill>
          <a:ln w="10081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Traitement" descr="B"/>
          <p:cNvSpPr/>
          <p:nvPr/>
        </p:nvSpPr>
        <p:spPr>
          <a:xfrm>
            <a:off x="4624841" y="3431212"/>
            <a:ext cx="1348888" cy="567077"/>
          </a:xfrm>
          <a:prstGeom prst="rect">
            <a:avLst/>
          </a:prstGeom>
          <a:solidFill>
            <a:srgbClr val="FFF9C4"/>
          </a:solidFill>
          <a:ln w="10081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14" name="Valide?" descr="C"/>
          <p:cNvSpPr/>
          <p:nvPr/>
        </p:nvSpPr>
        <p:spPr>
          <a:xfrm>
            <a:off x="1975455" y="3147673"/>
            <a:ext cx="2044503" cy="1134155"/>
          </a:xfrm>
          <a:prstGeom prst="diamond">
            <a:avLst/>
          </a:prstGeom>
          <a:solidFill>
            <a:srgbClr val="BBDEFB"/>
          </a:solidFill>
          <a:ln w="10081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457200" y="2920842"/>
            <a:ext cx="913373" cy="567077"/>
          </a:xfrm>
          <a:prstGeom prst="rect">
            <a:avLst/>
          </a:prstGeom>
          <a:solidFill>
            <a:srgbClr val="C8E6C9"/>
          </a:solidFill>
          <a:ln w="10081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Sortie</a:t>
            </a:r>
          </a:p>
        </p:txBody>
      </p:sp>
      <p:sp>
        <p:nvSpPr>
          <p:cNvPr id="16" name="Erreur" descr="E"/>
          <p:cNvSpPr/>
          <p:nvPr/>
        </p:nvSpPr>
        <p:spPr>
          <a:xfrm>
            <a:off x="457200" y="3941581"/>
            <a:ext cx="913373" cy="567077"/>
          </a:xfrm>
          <a:prstGeom prst="rect">
            <a:avLst/>
          </a:prstGeom>
          <a:solidFill>
            <a:srgbClr val="FFE0B2"/>
          </a:solidFill>
          <a:ln w="10081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586" tIns="36293" rIns="72586" bIns="3629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Erreur</a:t>
            </a:r>
          </a:p>
        </p:txBody>
      </p:sp>
      <p:cxnSp>
        <p:nvCxnSpPr>
          <p:cNvPr id="17" name="A--B"/>
          <p:cNvCxnSpPr>
            <a:stCxn id="12" idx="1"/>
            <a:endCxn id="13" idx="3"/>
          </p:cNvCxnSpPr>
          <p:nvPr/>
        </p:nvCxnSpPr>
        <p:spPr>
          <a:xfrm flipH="1">
            <a:off x="5973729" y="3714750"/>
            <a:ext cx="604882" cy="0"/>
          </a:xfrm>
          <a:prstGeom prst="line">
            <a:avLst/>
          </a:prstGeom>
          <a:ln w="1008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1"/>
            <a:endCxn id="14" idx="3"/>
          </p:cNvCxnSpPr>
          <p:nvPr/>
        </p:nvCxnSpPr>
        <p:spPr>
          <a:xfrm flipH="1">
            <a:off x="4019958" y="3714750"/>
            <a:ext cx="604883" cy="0"/>
          </a:xfrm>
          <a:prstGeom prst="line">
            <a:avLst/>
          </a:prstGeom>
          <a:ln w="1008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1"/>
            <a:endCxn id="15" idx="3"/>
          </p:cNvCxnSpPr>
          <p:nvPr/>
        </p:nvCxnSpPr>
        <p:spPr>
          <a:xfrm flipH="1" flipV="1">
            <a:off x="1370573" y="3204381"/>
            <a:ext cx="604882" cy="510369"/>
          </a:xfrm>
          <a:prstGeom prst="line">
            <a:avLst/>
          </a:prstGeom>
          <a:ln w="1008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1481871" y="3368833"/>
            <a:ext cx="382286" cy="1814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244" tIns="0" rIns="30244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1" name="C--E"/>
          <p:cNvCxnSpPr>
            <a:stCxn id="14" idx="1"/>
            <a:endCxn id="16" idx="3"/>
          </p:cNvCxnSpPr>
          <p:nvPr/>
        </p:nvCxnSpPr>
        <p:spPr>
          <a:xfrm flipH="1">
            <a:off x="1370573" y="3714750"/>
            <a:ext cx="604882" cy="510370"/>
          </a:xfrm>
          <a:prstGeom prst="line">
            <a:avLst/>
          </a:prstGeom>
          <a:ln w="1008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Label"/>
          <p:cNvSpPr txBox="1"/>
          <p:nvPr/>
        </p:nvSpPr>
        <p:spPr>
          <a:xfrm>
            <a:off x="1481871" y="3879203"/>
            <a:ext cx="382286" cy="1814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0244" tIns="0" rIns="30244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non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RL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A[Entree] --&gt; B[Traitement]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C{Valide?}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--&gt;|oui| D[Sortie]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--&gt;|non| E[Erreur]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fill:#FFCDD2,stroke:#C62828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fill:#C8E6C9,stroke:#2E7D32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 fill:#FFE0B2,stroke:#E65100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sankey</a:t>
            </a:r>
          </a:p>
        </p:txBody>
      </p:sp>
      <p:sp>
        <p:nvSpPr>
          <p:cNvPr id="11" name="Shape 1"/>
          <p:cNvSpPr/>
          <p:nvPr/>
        </p:nvSpPr>
        <p:spPr>
          <a:xfrm>
            <a:off x="2952203" y="2213996"/>
            <a:ext cx="2044778" cy="117234"/>
          </a:xfrm>
          <a:custGeom>
            <a:avLst/>
            <a:gdLst/>
            <a:ahLst/>
            <a:cxnLst/>
            <a:rect l="0" t="0" r="0" b="0"/>
            <a:pathLst>
              <a:path w="2044778" h="117234">
                <a:moveTo>
                  <a:pt x="0" y="113450"/>
                </a:moveTo>
                <a:lnTo>
                  <a:pt x="180216" y="112176"/>
                </a:lnTo>
                <a:lnTo>
                  <a:pt x="339465" y="108576"/>
                </a:lnTo>
                <a:lnTo>
                  <a:pt x="480743" y="102981"/>
                </a:lnTo>
                <a:lnTo>
                  <a:pt x="607044" y="95724"/>
                </a:lnTo>
                <a:lnTo>
                  <a:pt x="721363" y="87137"/>
                </a:lnTo>
                <a:lnTo>
                  <a:pt x="826697" y="77554"/>
                </a:lnTo>
                <a:lnTo>
                  <a:pt x="926041" y="67306"/>
                </a:lnTo>
                <a:lnTo>
                  <a:pt x="1022389" y="56725"/>
                </a:lnTo>
                <a:lnTo>
                  <a:pt x="1118737" y="46145"/>
                </a:lnTo>
                <a:lnTo>
                  <a:pt x="1218081" y="35897"/>
                </a:lnTo>
                <a:lnTo>
                  <a:pt x="1323415" y="26313"/>
                </a:lnTo>
                <a:lnTo>
                  <a:pt x="1437734" y="17727"/>
                </a:lnTo>
                <a:lnTo>
                  <a:pt x="1564035" y="10470"/>
                </a:lnTo>
                <a:lnTo>
                  <a:pt x="1705313" y="4875"/>
                </a:lnTo>
                <a:lnTo>
                  <a:pt x="1864562" y="1274"/>
                </a:lnTo>
                <a:lnTo>
                  <a:pt x="2044778" y="0"/>
                </a:lnTo>
                <a:lnTo>
                  <a:pt x="2044778" y="3784"/>
                </a:lnTo>
                <a:lnTo>
                  <a:pt x="1864562" y="5058"/>
                </a:lnTo>
                <a:lnTo>
                  <a:pt x="1705313" y="8659"/>
                </a:lnTo>
                <a:lnTo>
                  <a:pt x="1564035" y="14254"/>
                </a:lnTo>
                <a:lnTo>
                  <a:pt x="1437734" y="21511"/>
                </a:lnTo>
                <a:lnTo>
                  <a:pt x="1323415" y="30097"/>
                </a:lnTo>
                <a:lnTo>
                  <a:pt x="1218081" y="39681"/>
                </a:lnTo>
                <a:lnTo>
                  <a:pt x="1118737" y="49929"/>
                </a:lnTo>
                <a:lnTo>
                  <a:pt x="1022389" y="60509"/>
                </a:lnTo>
                <a:lnTo>
                  <a:pt x="926041" y="71090"/>
                </a:lnTo>
                <a:lnTo>
                  <a:pt x="826697" y="81338"/>
                </a:lnTo>
                <a:lnTo>
                  <a:pt x="721363" y="90921"/>
                </a:lnTo>
                <a:lnTo>
                  <a:pt x="607044" y="99508"/>
                </a:lnTo>
                <a:lnTo>
                  <a:pt x="480743" y="106765"/>
                </a:lnTo>
                <a:lnTo>
                  <a:pt x="339465" y="112360"/>
                </a:lnTo>
                <a:lnTo>
                  <a:pt x="180216" y="115960"/>
                </a:lnTo>
                <a:lnTo>
                  <a:pt x="0" y="117234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3175">
            <a:solidFill>
              <a:srgbClr val="ED7D31"/>
            </a:solidFill>
          </a:ln>
        </p:spPr>
      </p:sp>
      <p:sp>
        <p:nvSpPr>
          <p:cNvPr id="12" name="Shape 2"/>
          <p:cNvSpPr/>
          <p:nvPr/>
        </p:nvSpPr>
        <p:spPr>
          <a:xfrm>
            <a:off x="776110" y="2327446"/>
            <a:ext cx="2044777" cy="1605117"/>
          </a:xfrm>
          <a:custGeom>
            <a:avLst/>
            <a:gdLst/>
            <a:ahLst/>
            <a:cxnLst/>
            <a:rect l="0" t="0" r="0" b="0"/>
            <a:pathLst>
              <a:path w="2044777" h="1605117">
                <a:moveTo>
                  <a:pt x="0" y="814537"/>
                </a:moveTo>
                <a:lnTo>
                  <a:pt x="180216" y="805389"/>
                </a:lnTo>
                <a:lnTo>
                  <a:pt x="339465" y="779537"/>
                </a:lnTo>
                <a:lnTo>
                  <a:pt x="480743" y="739367"/>
                </a:lnTo>
                <a:lnTo>
                  <a:pt x="607043" y="687265"/>
                </a:lnTo>
                <a:lnTo>
                  <a:pt x="721363" y="625618"/>
                </a:lnTo>
                <a:lnTo>
                  <a:pt x="826697" y="556812"/>
                </a:lnTo>
                <a:lnTo>
                  <a:pt x="926041" y="483234"/>
                </a:lnTo>
                <a:lnTo>
                  <a:pt x="1022389" y="407269"/>
                </a:lnTo>
                <a:lnTo>
                  <a:pt x="1118737" y="331303"/>
                </a:lnTo>
                <a:lnTo>
                  <a:pt x="1218080" y="257725"/>
                </a:lnTo>
                <a:lnTo>
                  <a:pt x="1323414" y="188919"/>
                </a:lnTo>
                <a:lnTo>
                  <a:pt x="1437734" y="127272"/>
                </a:lnTo>
                <a:lnTo>
                  <a:pt x="1564035" y="75170"/>
                </a:lnTo>
                <a:lnTo>
                  <a:pt x="1705312" y="35000"/>
                </a:lnTo>
                <a:lnTo>
                  <a:pt x="1864561" y="9148"/>
                </a:lnTo>
                <a:lnTo>
                  <a:pt x="2044777" y="0"/>
                </a:lnTo>
                <a:lnTo>
                  <a:pt x="2044777" y="790581"/>
                </a:lnTo>
                <a:lnTo>
                  <a:pt x="1864561" y="799728"/>
                </a:lnTo>
                <a:lnTo>
                  <a:pt x="1705312" y="825580"/>
                </a:lnTo>
                <a:lnTo>
                  <a:pt x="1564035" y="865750"/>
                </a:lnTo>
                <a:lnTo>
                  <a:pt x="1437734" y="917852"/>
                </a:lnTo>
                <a:lnTo>
                  <a:pt x="1323414" y="979499"/>
                </a:lnTo>
                <a:lnTo>
                  <a:pt x="1218080" y="1048305"/>
                </a:lnTo>
                <a:lnTo>
                  <a:pt x="1118737" y="1121884"/>
                </a:lnTo>
                <a:lnTo>
                  <a:pt x="1022389" y="1197849"/>
                </a:lnTo>
                <a:lnTo>
                  <a:pt x="926041" y="1273814"/>
                </a:lnTo>
                <a:lnTo>
                  <a:pt x="826697" y="1347393"/>
                </a:lnTo>
                <a:lnTo>
                  <a:pt x="721363" y="1416199"/>
                </a:lnTo>
                <a:lnTo>
                  <a:pt x="607043" y="1477846"/>
                </a:lnTo>
                <a:lnTo>
                  <a:pt x="480743" y="1529947"/>
                </a:lnTo>
                <a:lnTo>
                  <a:pt x="339465" y="1570117"/>
                </a:lnTo>
                <a:lnTo>
                  <a:pt x="180216" y="1595969"/>
                </a:lnTo>
                <a:lnTo>
                  <a:pt x="0" y="1605117"/>
                </a:lnTo>
                <a:close/>
              </a:path>
            </a:pathLst>
          </a:custGeom>
          <a:solidFill>
            <a:srgbClr val="4472C4">
              <a:alpha val="45000"/>
            </a:srgbClr>
          </a:solidFill>
          <a:ln w="3175">
            <a:solidFill>
              <a:srgbClr val="4472C4"/>
            </a:solidFill>
          </a:ln>
        </p:spPr>
      </p:sp>
      <p:sp>
        <p:nvSpPr>
          <p:cNvPr id="13" name="Shape 3"/>
          <p:cNvSpPr/>
          <p:nvPr/>
        </p:nvSpPr>
        <p:spPr>
          <a:xfrm>
            <a:off x="2952203" y="2331230"/>
            <a:ext cx="2044778" cy="347096"/>
          </a:xfrm>
          <a:custGeom>
            <a:avLst/>
            <a:gdLst/>
            <a:ahLst/>
            <a:cxnLst/>
            <a:rect l="0" t="0" r="0" b="0"/>
            <a:pathLst>
              <a:path w="2044778" h="347096">
                <a:moveTo>
                  <a:pt x="0" y="0"/>
                </a:moveTo>
                <a:lnTo>
                  <a:pt x="180216" y="1986"/>
                </a:lnTo>
                <a:lnTo>
                  <a:pt x="339465" y="7599"/>
                </a:lnTo>
                <a:lnTo>
                  <a:pt x="480743" y="16320"/>
                </a:lnTo>
                <a:lnTo>
                  <a:pt x="607044" y="27631"/>
                </a:lnTo>
                <a:lnTo>
                  <a:pt x="721363" y="41014"/>
                </a:lnTo>
                <a:lnTo>
                  <a:pt x="826697" y="55952"/>
                </a:lnTo>
                <a:lnTo>
                  <a:pt x="926041" y="71926"/>
                </a:lnTo>
                <a:lnTo>
                  <a:pt x="1022389" y="88417"/>
                </a:lnTo>
                <a:lnTo>
                  <a:pt x="1118737" y="104909"/>
                </a:lnTo>
                <a:lnTo>
                  <a:pt x="1218081" y="120883"/>
                </a:lnTo>
                <a:lnTo>
                  <a:pt x="1323415" y="135821"/>
                </a:lnTo>
                <a:lnTo>
                  <a:pt x="1437734" y="149204"/>
                </a:lnTo>
                <a:lnTo>
                  <a:pt x="1564035" y="160515"/>
                </a:lnTo>
                <a:lnTo>
                  <a:pt x="1705313" y="169236"/>
                </a:lnTo>
                <a:lnTo>
                  <a:pt x="1864562" y="174848"/>
                </a:lnTo>
                <a:lnTo>
                  <a:pt x="2044778" y="176834"/>
                </a:lnTo>
                <a:lnTo>
                  <a:pt x="2044778" y="347096"/>
                </a:lnTo>
                <a:lnTo>
                  <a:pt x="1864562" y="345110"/>
                </a:lnTo>
                <a:lnTo>
                  <a:pt x="1705313" y="339498"/>
                </a:lnTo>
                <a:lnTo>
                  <a:pt x="1564035" y="330777"/>
                </a:lnTo>
                <a:lnTo>
                  <a:pt x="1437734" y="319466"/>
                </a:lnTo>
                <a:lnTo>
                  <a:pt x="1323415" y="306082"/>
                </a:lnTo>
                <a:lnTo>
                  <a:pt x="1218081" y="291145"/>
                </a:lnTo>
                <a:lnTo>
                  <a:pt x="1118737" y="275171"/>
                </a:lnTo>
                <a:lnTo>
                  <a:pt x="1022389" y="258679"/>
                </a:lnTo>
                <a:lnTo>
                  <a:pt x="926041" y="242187"/>
                </a:lnTo>
                <a:lnTo>
                  <a:pt x="826697" y="226213"/>
                </a:lnTo>
                <a:lnTo>
                  <a:pt x="721363" y="211276"/>
                </a:lnTo>
                <a:lnTo>
                  <a:pt x="607044" y="197892"/>
                </a:lnTo>
                <a:lnTo>
                  <a:pt x="480743" y="186581"/>
                </a:lnTo>
                <a:lnTo>
                  <a:pt x="339465" y="177860"/>
                </a:lnTo>
                <a:lnTo>
                  <a:pt x="180216" y="172248"/>
                </a:lnTo>
                <a:lnTo>
                  <a:pt x="0" y="170262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3175">
            <a:solidFill>
              <a:srgbClr val="ED7D31"/>
            </a:solidFill>
          </a:ln>
        </p:spPr>
      </p:sp>
      <p:sp>
        <p:nvSpPr>
          <p:cNvPr id="14" name="Shape 4"/>
          <p:cNvSpPr/>
          <p:nvPr/>
        </p:nvSpPr>
        <p:spPr>
          <a:xfrm>
            <a:off x="2952203" y="2678326"/>
            <a:ext cx="2044778" cy="2423728"/>
          </a:xfrm>
          <a:custGeom>
            <a:avLst/>
            <a:gdLst/>
            <a:ahLst/>
            <a:cxnLst/>
            <a:rect l="0" t="0" r="0" b="0"/>
            <a:pathLst>
              <a:path w="2044778" h="2423728">
                <a:moveTo>
                  <a:pt x="0" y="1944730"/>
                </a:moveTo>
                <a:lnTo>
                  <a:pt x="180216" y="1922890"/>
                </a:lnTo>
                <a:lnTo>
                  <a:pt x="339465" y="1861167"/>
                </a:lnTo>
                <a:lnTo>
                  <a:pt x="480743" y="1765260"/>
                </a:lnTo>
                <a:lnTo>
                  <a:pt x="607044" y="1640866"/>
                </a:lnTo>
                <a:lnTo>
                  <a:pt x="721363" y="1493682"/>
                </a:lnTo>
                <a:lnTo>
                  <a:pt x="826697" y="1329405"/>
                </a:lnTo>
                <a:lnTo>
                  <a:pt x="926041" y="1153734"/>
                </a:lnTo>
                <a:lnTo>
                  <a:pt x="1022389" y="972365"/>
                </a:lnTo>
                <a:lnTo>
                  <a:pt x="1118737" y="790996"/>
                </a:lnTo>
                <a:lnTo>
                  <a:pt x="1218081" y="615325"/>
                </a:lnTo>
                <a:lnTo>
                  <a:pt x="1323415" y="451048"/>
                </a:lnTo>
                <a:lnTo>
                  <a:pt x="1437734" y="303864"/>
                </a:lnTo>
                <a:lnTo>
                  <a:pt x="1564035" y="179470"/>
                </a:lnTo>
                <a:lnTo>
                  <a:pt x="1705313" y="83563"/>
                </a:lnTo>
                <a:lnTo>
                  <a:pt x="1864562" y="21840"/>
                </a:lnTo>
                <a:lnTo>
                  <a:pt x="2044778" y="0"/>
                </a:lnTo>
                <a:lnTo>
                  <a:pt x="2044778" y="478998"/>
                </a:lnTo>
                <a:lnTo>
                  <a:pt x="1864562" y="500838"/>
                </a:lnTo>
                <a:lnTo>
                  <a:pt x="1705313" y="562561"/>
                </a:lnTo>
                <a:lnTo>
                  <a:pt x="1564035" y="658468"/>
                </a:lnTo>
                <a:lnTo>
                  <a:pt x="1437734" y="782862"/>
                </a:lnTo>
                <a:lnTo>
                  <a:pt x="1323415" y="930046"/>
                </a:lnTo>
                <a:lnTo>
                  <a:pt x="1218081" y="1094323"/>
                </a:lnTo>
                <a:lnTo>
                  <a:pt x="1118737" y="1269994"/>
                </a:lnTo>
                <a:lnTo>
                  <a:pt x="1022389" y="1451363"/>
                </a:lnTo>
                <a:lnTo>
                  <a:pt x="926041" y="1632732"/>
                </a:lnTo>
                <a:lnTo>
                  <a:pt x="826697" y="1808403"/>
                </a:lnTo>
                <a:lnTo>
                  <a:pt x="721363" y="1972680"/>
                </a:lnTo>
                <a:lnTo>
                  <a:pt x="607044" y="2119864"/>
                </a:lnTo>
                <a:lnTo>
                  <a:pt x="480743" y="2244258"/>
                </a:lnTo>
                <a:lnTo>
                  <a:pt x="339465" y="2340165"/>
                </a:lnTo>
                <a:lnTo>
                  <a:pt x="180216" y="2401888"/>
                </a:lnTo>
                <a:lnTo>
                  <a:pt x="0" y="2423728"/>
                </a:lnTo>
                <a:close/>
              </a:path>
            </a:pathLst>
          </a:custGeom>
          <a:solidFill>
            <a:srgbClr val="2E8B8B">
              <a:alpha val="45000"/>
            </a:srgbClr>
          </a:solidFill>
          <a:ln w="3175">
            <a:solidFill>
              <a:srgbClr val="2E8B8B"/>
            </a:solidFill>
          </a:ln>
        </p:spPr>
      </p:sp>
      <p:sp>
        <p:nvSpPr>
          <p:cNvPr id="15" name="Shape 5"/>
          <p:cNvSpPr/>
          <p:nvPr/>
        </p:nvSpPr>
        <p:spPr>
          <a:xfrm>
            <a:off x="2952203" y="2501492"/>
            <a:ext cx="4220871" cy="718564"/>
          </a:xfrm>
          <a:custGeom>
            <a:avLst/>
            <a:gdLst/>
            <a:ahLst/>
            <a:cxnLst/>
            <a:rect l="0" t="0" r="0" b="0"/>
            <a:pathLst>
              <a:path w="4220871" h="718564">
                <a:moveTo>
                  <a:pt x="0" y="0"/>
                </a:moveTo>
                <a:lnTo>
                  <a:pt x="372006" y="7358"/>
                </a:lnTo>
                <a:lnTo>
                  <a:pt x="700731" y="28152"/>
                </a:lnTo>
                <a:lnTo>
                  <a:pt x="992358" y="60463"/>
                </a:lnTo>
                <a:lnTo>
                  <a:pt x="1253071" y="102372"/>
                </a:lnTo>
                <a:lnTo>
                  <a:pt x="1489053" y="151958"/>
                </a:lnTo>
                <a:lnTo>
                  <a:pt x="1706485" y="207303"/>
                </a:lnTo>
                <a:lnTo>
                  <a:pt x="1911552" y="266487"/>
                </a:lnTo>
                <a:lnTo>
                  <a:pt x="2110436" y="327590"/>
                </a:lnTo>
                <a:lnTo>
                  <a:pt x="2309319" y="388693"/>
                </a:lnTo>
                <a:lnTo>
                  <a:pt x="2514386" y="447877"/>
                </a:lnTo>
                <a:lnTo>
                  <a:pt x="2731819" y="503222"/>
                </a:lnTo>
                <a:lnTo>
                  <a:pt x="2967800" y="552808"/>
                </a:lnTo>
                <a:lnTo>
                  <a:pt x="3228513" y="594716"/>
                </a:lnTo>
                <a:lnTo>
                  <a:pt x="3520140" y="627028"/>
                </a:lnTo>
                <a:lnTo>
                  <a:pt x="3848865" y="647822"/>
                </a:lnTo>
                <a:lnTo>
                  <a:pt x="4220871" y="655180"/>
                </a:lnTo>
                <a:lnTo>
                  <a:pt x="4220871" y="718564"/>
                </a:lnTo>
                <a:lnTo>
                  <a:pt x="3848865" y="711206"/>
                </a:lnTo>
                <a:lnTo>
                  <a:pt x="3520140" y="690411"/>
                </a:lnTo>
                <a:lnTo>
                  <a:pt x="3228513" y="658100"/>
                </a:lnTo>
                <a:lnTo>
                  <a:pt x="2967800" y="616192"/>
                </a:lnTo>
                <a:lnTo>
                  <a:pt x="2731819" y="566606"/>
                </a:lnTo>
                <a:lnTo>
                  <a:pt x="2514386" y="511261"/>
                </a:lnTo>
                <a:lnTo>
                  <a:pt x="2309319" y="452077"/>
                </a:lnTo>
                <a:lnTo>
                  <a:pt x="2110436" y="390974"/>
                </a:lnTo>
                <a:lnTo>
                  <a:pt x="1911552" y="329871"/>
                </a:lnTo>
                <a:lnTo>
                  <a:pt x="1706485" y="270687"/>
                </a:lnTo>
                <a:lnTo>
                  <a:pt x="1489053" y="215342"/>
                </a:lnTo>
                <a:lnTo>
                  <a:pt x="1253071" y="165756"/>
                </a:lnTo>
                <a:lnTo>
                  <a:pt x="992358" y="123847"/>
                </a:lnTo>
                <a:lnTo>
                  <a:pt x="700731" y="91536"/>
                </a:lnTo>
                <a:lnTo>
                  <a:pt x="372006" y="70742"/>
                </a:lnTo>
                <a:lnTo>
                  <a:pt x="0" y="63384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3175">
            <a:solidFill>
              <a:srgbClr val="ED7D31"/>
            </a:solidFill>
          </a:ln>
        </p:spPr>
      </p:sp>
      <p:sp>
        <p:nvSpPr>
          <p:cNvPr id="16" name="Shape 6"/>
          <p:cNvSpPr/>
          <p:nvPr/>
        </p:nvSpPr>
        <p:spPr>
          <a:xfrm>
            <a:off x="2952203" y="2564876"/>
            <a:ext cx="2044778" cy="2650628"/>
          </a:xfrm>
          <a:custGeom>
            <a:avLst/>
            <a:gdLst/>
            <a:ahLst/>
            <a:cxnLst/>
            <a:rect l="0" t="0" r="0" b="0"/>
            <a:pathLst>
              <a:path w="2044778" h="2650628">
                <a:moveTo>
                  <a:pt x="0" y="0"/>
                </a:moveTo>
                <a:lnTo>
                  <a:pt x="180216" y="9814"/>
                </a:lnTo>
                <a:lnTo>
                  <a:pt x="339465" y="37548"/>
                </a:lnTo>
                <a:lnTo>
                  <a:pt x="480743" y="80642"/>
                </a:lnTo>
                <a:lnTo>
                  <a:pt x="607044" y="136537"/>
                </a:lnTo>
                <a:lnTo>
                  <a:pt x="721363" y="202673"/>
                </a:lnTo>
                <a:lnTo>
                  <a:pt x="826697" y="276488"/>
                </a:lnTo>
                <a:lnTo>
                  <a:pt x="926041" y="355424"/>
                </a:lnTo>
                <a:lnTo>
                  <a:pt x="1022389" y="436920"/>
                </a:lnTo>
                <a:lnTo>
                  <a:pt x="1118737" y="518415"/>
                </a:lnTo>
                <a:lnTo>
                  <a:pt x="1218081" y="597351"/>
                </a:lnTo>
                <a:lnTo>
                  <a:pt x="1323415" y="671167"/>
                </a:lnTo>
                <a:lnTo>
                  <a:pt x="1437734" y="737302"/>
                </a:lnTo>
                <a:lnTo>
                  <a:pt x="1564035" y="793197"/>
                </a:lnTo>
                <a:lnTo>
                  <a:pt x="1705313" y="836292"/>
                </a:lnTo>
                <a:lnTo>
                  <a:pt x="1864562" y="864026"/>
                </a:lnTo>
                <a:lnTo>
                  <a:pt x="2044778" y="873839"/>
                </a:lnTo>
                <a:lnTo>
                  <a:pt x="2044778" y="2650628"/>
                </a:lnTo>
                <a:lnTo>
                  <a:pt x="1864562" y="2640814"/>
                </a:lnTo>
                <a:lnTo>
                  <a:pt x="1705313" y="2613080"/>
                </a:lnTo>
                <a:lnTo>
                  <a:pt x="1564035" y="2569986"/>
                </a:lnTo>
                <a:lnTo>
                  <a:pt x="1437734" y="2514091"/>
                </a:lnTo>
                <a:lnTo>
                  <a:pt x="1323415" y="2447955"/>
                </a:lnTo>
                <a:lnTo>
                  <a:pt x="1218081" y="2374140"/>
                </a:lnTo>
                <a:lnTo>
                  <a:pt x="1118737" y="2295204"/>
                </a:lnTo>
                <a:lnTo>
                  <a:pt x="1022389" y="2213708"/>
                </a:lnTo>
                <a:lnTo>
                  <a:pt x="926041" y="2132213"/>
                </a:lnTo>
                <a:lnTo>
                  <a:pt x="826697" y="2053277"/>
                </a:lnTo>
                <a:lnTo>
                  <a:pt x="721363" y="1979461"/>
                </a:lnTo>
                <a:lnTo>
                  <a:pt x="607044" y="1913326"/>
                </a:lnTo>
                <a:lnTo>
                  <a:pt x="480743" y="1857431"/>
                </a:lnTo>
                <a:lnTo>
                  <a:pt x="339465" y="1814336"/>
                </a:lnTo>
                <a:lnTo>
                  <a:pt x="180216" y="1786602"/>
                </a:lnTo>
                <a:lnTo>
                  <a:pt x="0" y="1776789"/>
                </a:lnTo>
                <a:close/>
              </a:path>
            </a:pathLst>
          </a:custGeom>
          <a:solidFill>
            <a:srgbClr val="ED7D31">
              <a:alpha val="45000"/>
            </a:srgbClr>
          </a:solidFill>
          <a:ln w="3175">
            <a:solidFill>
              <a:srgbClr val="ED7D31"/>
            </a:solidFill>
          </a:ln>
        </p:spPr>
      </p:sp>
      <p:sp>
        <p:nvSpPr>
          <p:cNvPr id="17" name="Shape 7"/>
          <p:cNvSpPr/>
          <p:nvPr/>
        </p:nvSpPr>
        <p:spPr>
          <a:xfrm>
            <a:off x="5128297" y="3438715"/>
            <a:ext cx="2044777" cy="834113"/>
          </a:xfrm>
          <a:custGeom>
            <a:avLst/>
            <a:gdLst/>
            <a:ahLst/>
            <a:cxnLst/>
            <a:rect l="0" t="0" r="0" b="0"/>
            <a:pathLst>
              <a:path w="2044777" h="834113">
                <a:moveTo>
                  <a:pt x="0" y="0"/>
                </a:moveTo>
                <a:lnTo>
                  <a:pt x="180216" y="3709"/>
                </a:lnTo>
                <a:lnTo>
                  <a:pt x="339465" y="14189"/>
                </a:lnTo>
                <a:lnTo>
                  <a:pt x="480742" y="30474"/>
                </a:lnTo>
                <a:lnTo>
                  <a:pt x="607043" y="51596"/>
                </a:lnTo>
                <a:lnTo>
                  <a:pt x="721363" y="76588"/>
                </a:lnTo>
                <a:lnTo>
                  <a:pt x="826697" y="104481"/>
                </a:lnTo>
                <a:lnTo>
                  <a:pt x="926040" y="134310"/>
                </a:lnTo>
                <a:lnTo>
                  <a:pt x="1022388" y="165106"/>
                </a:lnTo>
                <a:lnTo>
                  <a:pt x="1118736" y="195902"/>
                </a:lnTo>
                <a:lnTo>
                  <a:pt x="1218080" y="225731"/>
                </a:lnTo>
                <a:lnTo>
                  <a:pt x="1323414" y="253625"/>
                </a:lnTo>
                <a:lnTo>
                  <a:pt x="1437734" y="278616"/>
                </a:lnTo>
                <a:lnTo>
                  <a:pt x="1564034" y="299738"/>
                </a:lnTo>
                <a:lnTo>
                  <a:pt x="1705312" y="316023"/>
                </a:lnTo>
                <a:lnTo>
                  <a:pt x="1864561" y="326503"/>
                </a:lnTo>
                <a:lnTo>
                  <a:pt x="2044777" y="330212"/>
                </a:lnTo>
                <a:lnTo>
                  <a:pt x="2044777" y="834113"/>
                </a:lnTo>
                <a:lnTo>
                  <a:pt x="1864561" y="830405"/>
                </a:lnTo>
                <a:lnTo>
                  <a:pt x="1705312" y="819925"/>
                </a:lnTo>
                <a:lnTo>
                  <a:pt x="1564034" y="803640"/>
                </a:lnTo>
                <a:lnTo>
                  <a:pt x="1437734" y="782518"/>
                </a:lnTo>
                <a:lnTo>
                  <a:pt x="1323414" y="757526"/>
                </a:lnTo>
                <a:lnTo>
                  <a:pt x="1218080" y="729632"/>
                </a:lnTo>
                <a:lnTo>
                  <a:pt x="1118736" y="699804"/>
                </a:lnTo>
                <a:lnTo>
                  <a:pt x="1022388" y="669008"/>
                </a:lnTo>
                <a:lnTo>
                  <a:pt x="926040" y="638212"/>
                </a:lnTo>
                <a:lnTo>
                  <a:pt x="826697" y="608383"/>
                </a:lnTo>
                <a:lnTo>
                  <a:pt x="721363" y="580489"/>
                </a:lnTo>
                <a:lnTo>
                  <a:pt x="607043" y="555498"/>
                </a:lnTo>
                <a:lnTo>
                  <a:pt x="480742" y="534376"/>
                </a:lnTo>
                <a:lnTo>
                  <a:pt x="339465" y="518091"/>
                </a:lnTo>
                <a:lnTo>
                  <a:pt x="180216" y="507610"/>
                </a:lnTo>
                <a:lnTo>
                  <a:pt x="0" y="503902"/>
                </a:lnTo>
                <a:close/>
              </a:path>
            </a:pathLst>
          </a:custGeom>
          <a:solidFill>
            <a:srgbClr val="7030A0">
              <a:alpha val="45000"/>
            </a:srgbClr>
          </a:solidFill>
          <a:ln w="3175">
            <a:solidFill>
              <a:srgbClr val="7030A0"/>
            </a:solidFill>
          </a:ln>
        </p:spPr>
      </p:sp>
      <p:sp>
        <p:nvSpPr>
          <p:cNvPr id="18" name="Shape 8"/>
          <p:cNvSpPr/>
          <p:nvPr/>
        </p:nvSpPr>
        <p:spPr>
          <a:xfrm>
            <a:off x="5128297" y="2508064"/>
            <a:ext cx="2044777" cy="1260863"/>
          </a:xfrm>
          <a:custGeom>
            <a:avLst/>
            <a:gdLst/>
            <a:ahLst/>
            <a:cxnLst/>
            <a:rect l="0" t="0" r="0" b="0"/>
            <a:pathLst>
              <a:path w="2044777" h="1260863">
                <a:moveTo>
                  <a:pt x="0" y="0"/>
                </a:moveTo>
                <a:lnTo>
                  <a:pt x="180216" y="11299"/>
                </a:lnTo>
                <a:lnTo>
                  <a:pt x="339465" y="43229"/>
                </a:lnTo>
                <a:lnTo>
                  <a:pt x="480742" y="92845"/>
                </a:lnTo>
                <a:lnTo>
                  <a:pt x="607043" y="157197"/>
                </a:lnTo>
                <a:lnTo>
                  <a:pt x="721363" y="233339"/>
                </a:lnTo>
                <a:lnTo>
                  <a:pt x="826697" y="318324"/>
                </a:lnTo>
                <a:lnTo>
                  <a:pt x="926040" y="409203"/>
                </a:lnTo>
                <a:lnTo>
                  <a:pt x="1022388" y="503030"/>
                </a:lnTo>
                <a:lnTo>
                  <a:pt x="1118736" y="596857"/>
                </a:lnTo>
                <a:lnTo>
                  <a:pt x="1218080" y="687736"/>
                </a:lnTo>
                <a:lnTo>
                  <a:pt x="1323414" y="772721"/>
                </a:lnTo>
                <a:lnTo>
                  <a:pt x="1437734" y="848863"/>
                </a:lnTo>
                <a:lnTo>
                  <a:pt x="1564034" y="913215"/>
                </a:lnTo>
                <a:lnTo>
                  <a:pt x="1705312" y="962831"/>
                </a:lnTo>
                <a:lnTo>
                  <a:pt x="1864561" y="994761"/>
                </a:lnTo>
                <a:lnTo>
                  <a:pt x="2044777" y="1006060"/>
                </a:lnTo>
                <a:lnTo>
                  <a:pt x="2044777" y="1260863"/>
                </a:lnTo>
                <a:lnTo>
                  <a:pt x="1864561" y="1249564"/>
                </a:lnTo>
                <a:lnTo>
                  <a:pt x="1705312" y="1217634"/>
                </a:lnTo>
                <a:lnTo>
                  <a:pt x="1564034" y="1168019"/>
                </a:lnTo>
                <a:lnTo>
                  <a:pt x="1437734" y="1103666"/>
                </a:lnTo>
                <a:lnTo>
                  <a:pt x="1323414" y="1027524"/>
                </a:lnTo>
                <a:lnTo>
                  <a:pt x="1218080" y="942539"/>
                </a:lnTo>
                <a:lnTo>
                  <a:pt x="1118736" y="851660"/>
                </a:lnTo>
                <a:lnTo>
                  <a:pt x="1022388" y="757833"/>
                </a:lnTo>
                <a:lnTo>
                  <a:pt x="926040" y="664006"/>
                </a:lnTo>
                <a:lnTo>
                  <a:pt x="826697" y="573127"/>
                </a:lnTo>
                <a:lnTo>
                  <a:pt x="721363" y="488142"/>
                </a:lnTo>
                <a:lnTo>
                  <a:pt x="607043" y="412000"/>
                </a:lnTo>
                <a:lnTo>
                  <a:pt x="480742" y="347648"/>
                </a:lnTo>
                <a:lnTo>
                  <a:pt x="339465" y="298033"/>
                </a:lnTo>
                <a:lnTo>
                  <a:pt x="180216" y="266102"/>
                </a:lnTo>
                <a:lnTo>
                  <a:pt x="0" y="254803"/>
                </a:lnTo>
                <a:close/>
              </a:path>
            </a:pathLst>
          </a:custGeom>
          <a:solidFill>
            <a:srgbClr val="FFC000">
              <a:alpha val="45000"/>
            </a:srgbClr>
          </a:solidFill>
          <a:ln w="3175">
            <a:solidFill>
              <a:srgbClr val="FFC000"/>
            </a:solidFill>
          </a:ln>
        </p:spPr>
      </p:sp>
      <p:sp>
        <p:nvSpPr>
          <p:cNvPr id="19" name="Shape 9"/>
          <p:cNvSpPr/>
          <p:nvPr/>
        </p:nvSpPr>
        <p:spPr>
          <a:xfrm>
            <a:off x="5128297" y="2213996"/>
            <a:ext cx="2044777" cy="1300128"/>
          </a:xfrm>
          <a:custGeom>
            <a:avLst/>
            <a:gdLst/>
            <a:ahLst/>
            <a:cxnLst/>
            <a:rect l="0" t="0" r="0" b="0"/>
            <a:pathLst>
              <a:path w="2044777" h="1300128">
                <a:moveTo>
                  <a:pt x="0" y="0"/>
                </a:moveTo>
                <a:lnTo>
                  <a:pt x="180216" y="14459"/>
                </a:lnTo>
                <a:lnTo>
                  <a:pt x="339465" y="55320"/>
                </a:lnTo>
                <a:lnTo>
                  <a:pt x="480742" y="118813"/>
                </a:lnTo>
                <a:lnTo>
                  <a:pt x="607043" y="201164"/>
                </a:lnTo>
                <a:lnTo>
                  <a:pt x="721363" y="298603"/>
                </a:lnTo>
                <a:lnTo>
                  <a:pt x="826697" y="407358"/>
                </a:lnTo>
                <a:lnTo>
                  <a:pt x="926040" y="523656"/>
                </a:lnTo>
                <a:lnTo>
                  <a:pt x="1022388" y="643726"/>
                </a:lnTo>
                <a:lnTo>
                  <a:pt x="1118736" y="763796"/>
                </a:lnTo>
                <a:lnTo>
                  <a:pt x="1218080" y="880094"/>
                </a:lnTo>
                <a:lnTo>
                  <a:pt x="1323414" y="988848"/>
                </a:lnTo>
                <a:lnTo>
                  <a:pt x="1437734" y="1086287"/>
                </a:lnTo>
                <a:lnTo>
                  <a:pt x="1564034" y="1168638"/>
                </a:lnTo>
                <a:lnTo>
                  <a:pt x="1705312" y="1232131"/>
                </a:lnTo>
                <a:lnTo>
                  <a:pt x="1864561" y="1272992"/>
                </a:lnTo>
                <a:lnTo>
                  <a:pt x="2044777" y="1287451"/>
                </a:lnTo>
                <a:lnTo>
                  <a:pt x="2044777" y="1300128"/>
                </a:lnTo>
                <a:lnTo>
                  <a:pt x="1864561" y="1285669"/>
                </a:lnTo>
                <a:lnTo>
                  <a:pt x="1705312" y="1244808"/>
                </a:lnTo>
                <a:lnTo>
                  <a:pt x="1564034" y="1181315"/>
                </a:lnTo>
                <a:lnTo>
                  <a:pt x="1437734" y="1098964"/>
                </a:lnTo>
                <a:lnTo>
                  <a:pt x="1323414" y="1001525"/>
                </a:lnTo>
                <a:lnTo>
                  <a:pt x="1218080" y="892770"/>
                </a:lnTo>
                <a:lnTo>
                  <a:pt x="1118736" y="776472"/>
                </a:lnTo>
                <a:lnTo>
                  <a:pt x="1022388" y="656402"/>
                </a:lnTo>
                <a:lnTo>
                  <a:pt x="926040" y="536333"/>
                </a:lnTo>
                <a:lnTo>
                  <a:pt x="826697" y="420034"/>
                </a:lnTo>
                <a:lnTo>
                  <a:pt x="721363" y="311280"/>
                </a:lnTo>
                <a:lnTo>
                  <a:pt x="607043" y="213841"/>
                </a:lnTo>
                <a:lnTo>
                  <a:pt x="480742" y="131490"/>
                </a:lnTo>
                <a:lnTo>
                  <a:pt x="339465" y="67997"/>
                </a:lnTo>
                <a:lnTo>
                  <a:pt x="180216" y="27136"/>
                </a:lnTo>
                <a:lnTo>
                  <a:pt x="0" y="12677"/>
                </a:lnTo>
                <a:close/>
              </a:path>
            </a:pathLst>
          </a:custGeom>
          <a:solidFill>
            <a:srgbClr val="70AD47">
              <a:alpha val="45000"/>
            </a:srgbClr>
          </a:solidFill>
          <a:ln w="3175">
            <a:solidFill>
              <a:srgbClr val="70AD47"/>
            </a:solidFill>
          </a:ln>
        </p:spPr>
      </p:sp>
      <p:sp>
        <p:nvSpPr>
          <p:cNvPr id="20" name="Shape 10"/>
          <p:cNvSpPr/>
          <p:nvPr/>
        </p:nvSpPr>
        <p:spPr>
          <a:xfrm>
            <a:off x="776110" y="4213954"/>
            <a:ext cx="2044777" cy="482665"/>
          </a:xfrm>
          <a:custGeom>
            <a:avLst/>
            <a:gdLst/>
            <a:ahLst/>
            <a:cxnLst/>
            <a:rect l="0" t="0" r="0" b="0"/>
            <a:pathLst>
              <a:path w="2044777" h="482665">
                <a:moveTo>
                  <a:pt x="0" y="0"/>
                </a:moveTo>
                <a:lnTo>
                  <a:pt x="180216" y="4595"/>
                </a:lnTo>
                <a:lnTo>
                  <a:pt x="339465" y="17579"/>
                </a:lnTo>
                <a:lnTo>
                  <a:pt x="480743" y="37754"/>
                </a:lnTo>
                <a:lnTo>
                  <a:pt x="607043" y="63922"/>
                </a:lnTo>
                <a:lnTo>
                  <a:pt x="721363" y="94885"/>
                </a:lnTo>
                <a:lnTo>
                  <a:pt x="826697" y="129443"/>
                </a:lnTo>
                <a:lnTo>
                  <a:pt x="926041" y="166398"/>
                </a:lnTo>
                <a:lnTo>
                  <a:pt x="1022389" y="204551"/>
                </a:lnTo>
                <a:lnTo>
                  <a:pt x="1118737" y="242705"/>
                </a:lnTo>
                <a:lnTo>
                  <a:pt x="1218080" y="279660"/>
                </a:lnTo>
                <a:lnTo>
                  <a:pt x="1323414" y="314218"/>
                </a:lnTo>
                <a:lnTo>
                  <a:pt x="1437734" y="345180"/>
                </a:lnTo>
                <a:lnTo>
                  <a:pt x="1564035" y="371348"/>
                </a:lnTo>
                <a:lnTo>
                  <a:pt x="1705312" y="391523"/>
                </a:lnTo>
                <a:lnTo>
                  <a:pt x="1864561" y="404507"/>
                </a:lnTo>
                <a:lnTo>
                  <a:pt x="2044777" y="409102"/>
                </a:lnTo>
                <a:lnTo>
                  <a:pt x="2044777" y="482665"/>
                </a:lnTo>
                <a:lnTo>
                  <a:pt x="1864561" y="478071"/>
                </a:lnTo>
                <a:lnTo>
                  <a:pt x="1705312" y="465087"/>
                </a:lnTo>
                <a:lnTo>
                  <a:pt x="1564035" y="444911"/>
                </a:lnTo>
                <a:lnTo>
                  <a:pt x="1437734" y="418743"/>
                </a:lnTo>
                <a:lnTo>
                  <a:pt x="1323414" y="387781"/>
                </a:lnTo>
                <a:lnTo>
                  <a:pt x="1218080" y="353223"/>
                </a:lnTo>
                <a:lnTo>
                  <a:pt x="1118737" y="316268"/>
                </a:lnTo>
                <a:lnTo>
                  <a:pt x="1022389" y="278114"/>
                </a:lnTo>
                <a:lnTo>
                  <a:pt x="926041" y="239961"/>
                </a:lnTo>
                <a:lnTo>
                  <a:pt x="826697" y="203006"/>
                </a:lnTo>
                <a:lnTo>
                  <a:pt x="721363" y="168448"/>
                </a:lnTo>
                <a:lnTo>
                  <a:pt x="607043" y="137486"/>
                </a:lnTo>
                <a:lnTo>
                  <a:pt x="480743" y="111318"/>
                </a:lnTo>
                <a:lnTo>
                  <a:pt x="339465" y="91142"/>
                </a:lnTo>
                <a:lnTo>
                  <a:pt x="180216" y="78158"/>
                </a:lnTo>
                <a:lnTo>
                  <a:pt x="0" y="73564"/>
                </a:lnTo>
                <a:close/>
              </a:path>
            </a:pathLst>
          </a:custGeom>
          <a:solidFill>
            <a:srgbClr val="C00000">
              <a:alpha val="45000"/>
            </a:srgbClr>
          </a:solidFill>
          <a:ln w="3175">
            <a:solidFill>
              <a:srgbClr val="C00000"/>
            </a:solidFill>
          </a:ln>
        </p:spPr>
      </p:sp>
      <p:sp>
        <p:nvSpPr>
          <p:cNvPr id="21" name="Box 11"/>
          <p:cNvSpPr/>
          <p:nvPr/>
        </p:nvSpPr>
        <p:spPr>
          <a:xfrm>
            <a:off x="644794" y="3141983"/>
            <a:ext cx="131316" cy="79058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22" name="Box 12"/>
          <p:cNvSpPr/>
          <p:nvPr/>
        </p:nvSpPr>
        <p:spPr>
          <a:xfrm>
            <a:off x="2820887" y="2327446"/>
            <a:ext cx="131316" cy="2014218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4996981" y="2213996"/>
            <a:ext cx="131316" cy="12677"/>
          </a:xfrm>
          <a:prstGeom prst="rect">
            <a:avLst/>
          </a:prstGeom>
          <a:solidFill>
            <a:srgbClr val="70AD47"/>
          </a:solidFill>
          <a:ln>
            <a:noFill/>
          </a:ln>
        </p:spPr>
      </p:sp>
      <p:sp>
        <p:nvSpPr>
          <p:cNvPr id="24" name="Box 14"/>
          <p:cNvSpPr/>
          <p:nvPr/>
        </p:nvSpPr>
        <p:spPr>
          <a:xfrm>
            <a:off x="4996981" y="2508064"/>
            <a:ext cx="131316" cy="649260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4996981" y="3438715"/>
            <a:ext cx="131316" cy="1776789"/>
          </a:xfrm>
          <a:prstGeom prst="rect">
            <a:avLst/>
          </a:prstGeom>
          <a:solidFill>
            <a:srgbClr val="7030A0"/>
          </a:solidFill>
          <a:ln>
            <a:noFill/>
          </a:ln>
        </p:spPr>
      </p:sp>
      <p:sp>
        <p:nvSpPr>
          <p:cNvPr id="26" name="Box 16"/>
          <p:cNvSpPr/>
          <p:nvPr/>
        </p:nvSpPr>
        <p:spPr>
          <a:xfrm>
            <a:off x="7173074" y="3156672"/>
            <a:ext cx="131316" cy="63384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644794" y="4213954"/>
            <a:ext cx="131316" cy="73563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8" name="Box 18"/>
          <p:cNvSpPr/>
          <p:nvPr/>
        </p:nvSpPr>
        <p:spPr>
          <a:xfrm>
            <a:off x="2820887" y="4623056"/>
            <a:ext cx="131316" cy="478998"/>
          </a:xfrm>
          <a:prstGeom prst="rect">
            <a:avLst/>
          </a:prstGeom>
          <a:solidFill>
            <a:srgbClr val="2E8B8B"/>
          </a:solidFill>
          <a:ln>
            <a:noFill/>
          </a:ln>
        </p:spPr>
      </p:sp>
      <p:sp>
        <p:nvSpPr>
          <p:cNvPr id="29" name="Box 19"/>
          <p:cNvSpPr/>
          <p:nvPr/>
        </p:nvSpPr>
        <p:spPr>
          <a:xfrm>
            <a:off x="7173074" y="3501447"/>
            <a:ext cx="131316" cy="77138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0" name="Box 20"/>
          <p:cNvSpPr/>
          <p:nvPr/>
        </p:nvSpPr>
        <p:spPr>
          <a:xfrm>
            <a:off x="813629" y="3396577"/>
            <a:ext cx="1444476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Agricultural 'waste'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124.73</a:t>
            </a:r>
          </a:p>
        </p:txBody>
      </p:sp>
      <p:sp>
        <p:nvSpPr>
          <p:cNvPr id="31" name="Box 21"/>
          <p:cNvSpPr/>
          <p:nvPr/>
        </p:nvSpPr>
        <p:spPr>
          <a:xfrm>
            <a:off x="2989722" y="3193860"/>
            <a:ext cx="1069287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Bio-conversion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317.78</a:t>
            </a:r>
          </a:p>
        </p:txBody>
      </p:sp>
      <p:sp>
        <p:nvSpPr>
          <p:cNvPr id="32" name="Box 22"/>
          <p:cNvSpPr/>
          <p:nvPr/>
        </p:nvSpPr>
        <p:spPr>
          <a:xfrm>
            <a:off x="4424818" y="2079639"/>
            <a:ext cx="534644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Liquid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" name="Box 23"/>
          <p:cNvSpPr/>
          <p:nvPr/>
        </p:nvSpPr>
        <p:spPr>
          <a:xfrm>
            <a:off x="4452957" y="2691999"/>
            <a:ext cx="506504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Solid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102.43</a:t>
            </a:r>
          </a:p>
        </p:txBody>
      </p:sp>
      <p:sp>
        <p:nvSpPr>
          <p:cNvPr id="34" name="Box 24"/>
          <p:cNvSpPr/>
          <p:nvPr/>
        </p:nvSpPr>
        <p:spPr>
          <a:xfrm>
            <a:off x="4452957" y="4186414"/>
            <a:ext cx="506504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Gas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280.32</a:t>
            </a:r>
          </a:p>
        </p:txBody>
      </p:sp>
      <p:sp>
        <p:nvSpPr>
          <p:cNvPr id="35" name="Box 25"/>
          <p:cNvSpPr/>
          <p:nvPr/>
        </p:nvSpPr>
        <p:spPr>
          <a:xfrm>
            <a:off x="6600911" y="3047668"/>
            <a:ext cx="534644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Losses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36" name="Box 26"/>
          <p:cNvSpPr/>
          <p:nvPr/>
        </p:nvSpPr>
        <p:spPr>
          <a:xfrm>
            <a:off x="813629" y="4110040"/>
            <a:ext cx="900452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Coal imports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11.61</a:t>
            </a:r>
          </a:p>
        </p:txBody>
      </p:sp>
      <p:sp>
        <p:nvSpPr>
          <p:cNvPr id="37" name="Box 27"/>
          <p:cNvSpPr/>
          <p:nvPr/>
        </p:nvSpPr>
        <p:spPr>
          <a:xfrm>
            <a:off x="2989722" y="4721859"/>
            <a:ext cx="450226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Coal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75.57</a:t>
            </a:r>
          </a:p>
        </p:txBody>
      </p:sp>
      <p:sp>
        <p:nvSpPr>
          <p:cNvPr id="38" name="Box 28"/>
          <p:cNvSpPr/>
          <p:nvPr/>
        </p:nvSpPr>
        <p:spPr>
          <a:xfrm>
            <a:off x="6535253" y="3746442"/>
            <a:ext cx="600302" cy="281391"/>
          </a:xfrm>
          <a:prstGeom prst="rect">
            <a:avLst/>
          </a:prstGeom>
          <a:noFill/>
          <a:ln>
            <a:noFill/>
          </a:ln>
        </p:spPr>
        <p:txBody>
          <a:bodyPr wrap="none" lIns="18759" tIns="0" rIns="1875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Heating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121.7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sankey-beta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Agricultural 'waste',Bio-conversion,124.729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Bio-conversion,Liquid,0.597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Bio-conversion,Solid,26.862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Bio-conversion,Gas,280.322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Bio-conversion,Losses,10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Coal imports,Coal,11.606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Coal,Solid,75.571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Gas,Heating,79.5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Solid,Heating,40.2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Liquid,Heating,2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self-loop</a:t>
            </a:r>
          </a:p>
        </p:txBody>
      </p:sp>
      <p:sp>
        <p:nvSpPr>
          <p:cNvPr id="12" name="Depart" descr="A"/>
          <p:cNvSpPr/>
          <p:nvPr/>
        </p:nvSpPr>
        <p:spPr>
          <a:xfrm>
            <a:off x="2817846" y="1028700"/>
            <a:ext cx="1685584" cy="1046513"/>
          </a:xfrm>
          <a:prstGeom prst="rect">
            <a:avLst/>
          </a:prstGeom>
          <a:solidFill>
            <a:srgbClr val="FFF9C4"/>
          </a:solidFill>
          <a:ln w="1860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Depart</a:t>
            </a:r>
          </a:p>
        </p:txBody>
      </p:sp>
      <p:sp>
        <p:nvSpPr>
          <p:cNvPr id="13" name="En cours" descr="B"/>
          <p:cNvSpPr/>
          <p:nvPr/>
        </p:nvSpPr>
        <p:spPr>
          <a:xfrm>
            <a:off x="2667148" y="3191494"/>
            <a:ext cx="1986979" cy="1046513"/>
          </a:xfrm>
          <a:prstGeom prst="rect">
            <a:avLst/>
          </a:prstGeom>
          <a:solidFill>
            <a:srgbClr val="BBDEFB"/>
          </a:solidFill>
          <a:ln w="1860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En cours</a:t>
            </a:r>
          </a:p>
        </p:txBody>
      </p:sp>
      <p:sp>
        <p:nvSpPr>
          <p:cNvPr id="14" name="Fin" descr="C"/>
          <p:cNvSpPr/>
          <p:nvPr/>
        </p:nvSpPr>
        <p:spPr>
          <a:xfrm>
            <a:off x="3119242" y="5354287"/>
            <a:ext cx="1082792" cy="1046513"/>
          </a:xfrm>
          <a:prstGeom prst="rect">
            <a:avLst/>
          </a:prstGeom>
          <a:solidFill>
            <a:srgbClr val="C8E6C9"/>
          </a:solidFill>
          <a:ln w="1860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3954" tIns="66977" rIns="133954" bIns="669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758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5" name="A--B"/>
          <p:cNvCxnSpPr>
            <a:stCxn id="12" idx="2"/>
            <a:endCxn id="13" idx="0"/>
          </p:cNvCxnSpPr>
          <p:nvPr/>
        </p:nvCxnSpPr>
        <p:spPr>
          <a:xfrm>
            <a:off x="3660638" y="2075213"/>
            <a:ext cx="0" cy="1116281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--B"/>
          <p:cNvSpPr/>
          <p:nvPr/>
        </p:nvSpPr>
        <p:spPr>
          <a:xfrm>
            <a:off x="4654128" y="3191494"/>
            <a:ext cx="627908" cy="1046513"/>
          </a:xfrm>
          <a:custGeom>
            <a:avLst/>
            <a:gdLst/>
            <a:ahLst/>
            <a:cxnLst/>
            <a:rect l="0" t="0" r="0" b="0"/>
            <a:pathLst>
              <a:path w="428625" h="714375">
                <a:moveTo>
                  <a:pt x="0" y="105886"/>
                </a:moveTo>
                <a:lnTo>
                  <a:pt x="285750" y="0"/>
                </a:lnTo>
                <a:lnTo>
                  <a:pt x="357187" y="0"/>
                </a:lnTo>
                <a:lnTo>
                  <a:pt x="428625" y="357188"/>
                </a:lnTo>
                <a:lnTo>
                  <a:pt x="357187" y="714375"/>
                </a:lnTo>
                <a:lnTo>
                  <a:pt x="285750" y="714375"/>
                </a:lnTo>
                <a:lnTo>
                  <a:pt x="0" y="608489"/>
                </a:lnTo>
              </a:path>
            </a:pathLst>
          </a:cu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EdgeLabel"/>
          <p:cNvSpPr txBox="1"/>
          <p:nvPr/>
        </p:nvSpPr>
        <p:spPr>
          <a:xfrm>
            <a:off x="4768547" y="3547309"/>
            <a:ext cx="1026978" cy="33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55814" tIns="0" rIns="55814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2" dirty="0">
                <a:solidFill>
                  <a:srgbClr val="000000"/>
                </a:solidFill>
              </a:rPr>
              <a:t>retry</a:t>
            </a:r>
          </a:p>
        </p:txBody>
      </p:sp>
      <p:cxnSp>
        <p:nvCxnSpPr>
          <p:cNvPr id="18" name="B--C"/>
          <p:cNvCxnSpPr>
            <a:stCxn id="13" idx="2"/>
            <a:endCxn id="14" idx="0"/>
          </p:cNvCxnSpPr>
          <p:nvPr/>
        </p:nvCxnSpPr>
        <p:spPr>
          <a:xfrm>
            <a:off x="3660638" y="4238006"/>
            <a:ext cx="0" cy="1116281"/>
          </a:xfrm>
          <a:prstGeom prst="line">
            <a:avLst/>
          </a:prstGeom>
          <a:ln w="186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A[Depart] --&gt; B[En cours]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--&gt;|retry| 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C[Fin]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fill:#BBDEFB,stroke:#1565C0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fill:#C8E6C9,stroke:#2E7D32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sequence</a:t>
            </a:r>
          </a:p>
        </p:txBody>
      </p:sp>
      <p:sp>
        <p:nvSpPr>
          <p:cNvPr id="80" name="Participant U"/>
          <p:cNvSpPr/>
          <p:nvPr/>
        </p:nvSpPr>
        <p:spPr>
          <a:xfrm>
            <a:off x="1426820" y="1305256"/>
            <a:ext cx="622251" cy="235073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82" name="Participant U"/>
          <p:cNvSpPr/>
          <p:nvPr/>
        </p:nvSpPr>
        <p:spPr>
          <a:xfrm>
            <a:off x="1426820" y="6027449"/>
            <a:ext cx="622251" cy="235073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85" name="Participant W"/>
          <p:cNvSpPr/>
          <p:nvPr/>
        </p:nvSpPr>
        <p:spPr>
          <a:xfrm>
            <a:off x="2394766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87" name="Participant W"/>
          <p:cNvSpPr/>
          <p:nvPr/>
        </p:nvSpPr>
        <p:spPr>
          <a:xfrm>
            <a:off x="2394766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0" name="Participant API"/>
          <p:cNvSpPr/>
          <p:nvPr/>
        </p:nvSpPr>
        <p:spPr>
          <a:xfrm>
            <a:off x="3500990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2" name="Participant API"/>
          <p:cNvSpPr/>
          <p:nvPr/>
        </p:nvSpPr>
        <p:spPr>
          <a:xfrm>
            <a:off x="3500990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5" name="Participant DB"/>
          <p:cNvSpPr/>
          <p:nvPr/>
        </p:nvSpPr>
        <p:spPr>
          <a:xfrm>
            <a:off x="4468936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7" name="Participant DB"/>
          <p:cNvSpPr/>
          <p:nvPr/>
        </p:nvSpPr>
        <p:spPr>
          <a:xfrm>
            <a:off x="4468936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00" name="Participant M"/>
          <p:cNvSpPr/>
          <p:nvPr/>
        </p:nvSpPr>
        <p:spPr>
          <a:xfrm>
            <a:off x="5436882" y="521160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0" name="Block loop"/>
          <p:cNvSpPr/>
          <p:nvPr/>
        </p:nvSpPr>
        <p:spPr>
          <a:xfrm>
            <a:off x="2456991" y="3137439"/>
            <a:ext cx="1604025" cy="421748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1" name="Box 31"/>
          <p:cNvSpPr/>
          <p:nvPr/>
        </p:nvSpPr>
        <p:spPr>
          <a:xfrm>
            <a:off x="2456991" y="3137439"/>
            <a:ext cx="276556" cy="110622"/>
          </a:xfrm>
          <a:prstGeom prst="rect">
            <a:avLst/>
          </a:prstGeom>
          <a:solidFill>
            <a:srgbClr val="E6E6E6"/>
          </a:solidFill>
          <a:ln w="6914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loop</a:t>
            </a:r>
          </a:p>
        </p:txBody>
      </p:sp>
      <p:sp>
        <p:nvSpPr>
          <p:cNvPr id="42" name="Box 32"/>
          <p:cNvSpPr/>
          <p:nvPr/>
        </p:nvSpPr>
        <p:spPr>
          <a:xfrm>
            <a:off x="2775030" y="3137439"/>
            <a:ext cx="1244502" cy="110622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[Every minute]</a:t>
            </a:r>
          </a:p>
        </p:txBody>
      </p:sp>
      <p:sp>
        <p:nvSpPr>
          <p:cNvPr id="58" name="Block alt"/>
          <p:cNvSpPr/>
          <p:nvPr/>
        </p:nvSpPr>
        <p:spPr>
          <a:xfrm>
            <a:off x="2456991" y="3655982"/>
            <a:ext cx="1604025" cy="1209932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59" name="Box 49"/>
          <p:cNvSpPr/>
          <p:nvPr/>
        </p:nvSpPr>
        <p:spPr>
          <a:xfrm>
            <a:off x="2456991" y="3655982"/>
            <a:ext cx="235073" cy="110622"/>
          </a:xfrm>
          <a:prstGeom prst="rect">
            <a:avLst/>
          </a:prstGeom>
          <a:solidFill>
            <a:srgbClr val="E6E6E6"/>
          </a:solidFill>
          <a:ln w="6914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alt</a:t>
            </a:r>
          </a:p>
        </p:txBody>
      </p:sp>
      <p:sp>
        <p:nvSpPr>
          <p:cNvPr id="60" name="Box 50"/>
          <p:cNvSpPr/>
          <p:nvPr/>
        </p:nvSpPr>
        <p:spPr>
          <a:xfrm>
            <a:off x="2733547" y="3655982"/>
            <a:ext cx="1285985" cy="110622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[paid]</a:t>
            </a:r>
          </a:p>
        </p:txBody>
      </p:sp>
      <p:cxnSp>
        <p:nvCxnSpPr>
          <p:cNvPr id="61" name="Connector 51"/>
          <p:cNvCxnSpPr/>
          <p:nvPr/>
        </p:nvCxnSpPr>
        <p:spPr>
          <a:xfrm>
            <a:off x="2456991" y="4091558"/>
            <a:ext cx="1604025" cy="1"/>
          </a:xfrm>
          <a:prstGeom prst="line">
            <a:avLst/>
          </a:prstGeom>
          <a:ln w="6914">
            <a:solidFill>
              <a:srgbClr val="7F7F7F"/>
            </a:solidFill>
            <a:prstDash val="dash"/>
          </a:ln>
        </p:spPr>
      </p:cxnSp>
      <p:sp>
        <p:nvSpPr>
          <p:cNvPr id="62" name="Box 52"/>
          <p:cNvSpPr/>
          <p:nvPr/>
        </p:nvSpPr>
        <p:spPr>
          <a:xfrm>
            <a:off x="2498474" y="4105385"/>
            <a:ext cx="1521058" cy="96795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[failed]</a:t>
            </a:r>
          </a:p>
        </p:txBody>
      </p:sp>
      <p:cxnSp>
        <p:nvCxnSpPr>
          <p:cNvPr id="84" name="Connector 74"/>
          <p:cNvCxnSpPr/>
          <p:nvPr/>
        </p:nvCxnSpPr>
        <p:spPr>
          <a:xfrm>
            <a:off x="1737945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89" name="Connector 79"/>
          <p:cNvCxnSpPr/>
          <p:nvPr/>
        </p:nvCxnSpPr>
        <p:spPr>
          <a:xfrm>
            <a:off x="2705891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94" name="Connector 84"/>
          <p:cNvCxnSpPr/>
          <p:nvPr/>
        </p:nvCxnSpPr>
        <p:spPr>
          <a:xfrm>
            <a:off x="3812115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99" name="Connector 89"/>
          <p:cNvCxnSpPr/>
          <p:nvPr/>
        </p:nvCxnSpPr>
        <p:spPr>
          <a:xfrm>
            <a:off x="4780061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102" name="Connector 92"/>
          <p:cNvCxnSpPr/>
          <p:nvPr/>
        </p:nvCxnSpPr>
        <p:spPr>
          <a:xfrm>
            <a:off x="5748007" y="5446682"/>
            <a:ext cx="1" cy="200503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sp>
        <p:nvSpPr>
          <p:cNvPr id="47" name="Activation"/>
          <p:cNvSpPr/>
          <p:nvPr/>
        </p:nvSpPr>
        <p:spPr>
          <a:xfrm>
            <a:off x="3777546" y="2190235"/>
            <a:ext cx="69139" cy="1790700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79" name="Activation"/>
          <p:cNvSpPr/>
          <p:nvPr/>
        </p:nvSpPr>
        <p:spPr>
          <a:xfrm>
            <a:off x="2671322" y="1851454"/>
            <a:ext cx="69139" cy="4037717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34" name="Note"/>
          <p:cNvSpPr/>
          <p:nvPr/>
        </p:nvSpPr>
        <p:spPr>
          <a:xfrm>
            <a:off x="3742976" y="2916195"/>
            <a:ext cx="1106224" cy="152106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35" name="Box 25"/>
          <p:cNvSpPr/>
          <p:nvPr/>
        </p:nvSpPr>
        <p:spPr>
          <a:xfrm>
            <a:off x="3784460" y="2950764"/>
            <a:ext cx="1023257" cy="82967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Retried 3 times</a:t>
            </a:r>
          </a:p>
        </p:txBody>
      </p:sp>
      <p:sp>
        <p:nvSpPr>
          <p:cNvPr id="63" name="Note"/>
          <p:cNvSpPr/>
          <p:nvPr/>
        </p:nvSpPr>
        <p:spPr>
          <a:xfrm>
            <a:off x="2775030" y="4962709"/>
            <a:ext cx="898807" cy="152106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64" name="Box 54"/>
          <p:cNvSpPr/>
          <p:nvPr/>
        </p:nvSpPr>
        <p:spPr>
          <a:xfrm>
            <a:off x="2816514" y="4997278"/>
            <a:ext cx="815840" cy="82967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done</a:t>
            </a:r>
          </a:p>
        </p:txBody>
      </p:sp>
      <p:sp>
        <p:nvSpPr>
          <p:cNvPr id="11" name="Box 1"/>
          <p:cNvSpPr/>
          <p:nvPr/>
        </p:nvSpPr>
        <p:spPr>
          <a:xfrm>
            <a:off x="1288542" y="1070183"/>
            <a:ext cx="4908869" cy="124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50" dirty="0">
                <a:solidFill>
                  <a:srgbClr val="333333"/>
                </a:solidFill>
              </a:rPr>
              <a:t>Checkout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1737945" y="1851454"/>
            <a:ext cx="93337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3" name="Box 3"/>
          <p:cNvSpPr/>
          <p:nvPr/>
        </p:nvSpPr>
        <p:spPr>
          <a:xfrm>
            <a:off x="1765601" y="1706262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Place order</a:t>
            </a:r>
          </a:p>
        </p:txBody>
      </p:sp>
      <p:sp>
        <p:nvSpPr>
          <p:cNvPr id="14" name="Shape 4"/>
          <p:cNvSpPr/>
          <p:nvPr/>
        </p:nvSpPr>
        <p:spPr>
          <a:xfrm>
            <a:off x="1758687" y="1803057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15" name="Box 5"/>
          <p:cNvSpPr/>
          <p:nvPr/>
        </p:nvSpPr>
        <p:spPr>
          <a:xfrm>
            <a:off x="1758687" y="1803057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2740461" y="2093441"/>
            <a:ext cx="1071654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7" name="Box 7"/>
          <p:cNvSpPr/>
          <p:nvPr/>
        </p:nvSpPr>
        <p:spPr>
          <a:xfrm>
            <a:off x="2768117" y="1948249"/>
            <a:ext cx="1016343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POST /orders</a:t>
            </a:r>
          </a:p>
        </p:txBody>
      </p:sp>
      <p:sp>
        <p:nvSpPr>
          <p:cNvPr id="18" name="Shape 8"/>
          <p:cNvSpPr/>
          <p:nvPr/>
        </p:nvSpPr>
        <p:spPr>
          <a:xfrm>
            <a:off x="2761203" y="2045043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2761203" y="2045043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3846685" y="2335427"/>
            <a:ext cx="933376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1" name="Box 11"/>
          <p:cNvSpPr/>
          <p:nvPr/>
        </p:nvSpPr>
        <p:spPr>
          <a:xfrm>
            <a:off x="3874340" y="2190235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INSERT order</a:t>
            </a:r>
          </a:p>
        </p:txBody>
      </p:sp>
      <p:sp>
        <p:nvSpPr>
          <p:cNvPr id="22" name="Shape 12"/>
          <p:cNvSpPr/>
          <p:nvPr/>
        </p:nvSpPr>
        <p:spPr>
          <a:xfrm>
            <a:off x="3867427" y="2287030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3867427" y="2287030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24" name="Connector 14"/>
          <p:cNvCxnSpPr/>
          <p:nvPr/>
        </p:nvCxnSpPr>
        <p:spPr>
          <a:xfrm flipH="1">
            <a:off x="3846685" y="2577414"/>
            <a:ext cx="933376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5" name="Box 15"/>
          <p:cNvSpPr/>
          <p:nvPr/>
        </p:nvSpPr>
        <p:spPr>
          <a:xfrm>
            <a:off x="3874340" y="2432222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ok</a:t>
            </a:r>
          </a:p>
        </p:txBody>
      </p:sp>
      <p:sp>
        <p:nvSpPr>
          <p:cNvPr id="26" name="Shape 16"/>
          <p:cNvSpPr/>
          <p:nvPr/>
        </p:nvSpPr>
        <p:spPr>
          <a:xfrm>
            <a:off x="4662525" y="2529016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4662525" y="2529016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8" name="Connector 18"/>
          <p:cNvCxnSpPr/>
          <p:nvPr/>
        </p:nvCxnSpPr>
        <p:spPr>
          <a:xfrm flipH="1">
            <a:off x="2740461" y="2819400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29" name="Connector 19"/>
          <p:cNvCxnSpPr/>
          <p:nvPr/>
        </p:nvCxnSpPr>
        <p:spPr>
          <a:xfrm>
            <a:off x="2747375" y="2791744"/>
            <a:ext cx="55311" cy="55312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30" name="Connector 20"/>
          <p:cNvCxnSpPr/>
          <p:nvPr/>
        </p:nvCxnSpPr>
        <p:spPr>
          <a:xfrm flipV="1">
            <a:off x="2747375" y="2791744"/>
            <a:ext cx="55311" cy="55312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sp>
        <p:nvSpPr>
          <p:cNvPr id="31" name="Box 21"/>
          <p:cNvSpPr/>
          <p:nvPr/>
        </p:nvSpPr>
        <p:spPr>
          <a:xfrm>
            <a:off x="2768117" y="2674208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Payment declined</a:t>
            </a:r>
          </a:p>
        </p:txBody>
      </p:sp>
      <p:sp>
        <p:nvSpPr>
          <p:cNvPr id="32" name="Shape 22"/>
          <p:cNvSpPr/>
          <p:nvPr/>
        </p:nvSpPr>
        <p:spPr>
          <a:xfrm>
            <a:off x="3660010" y="2771003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33" name="Box 23"/>
          <p:cNvSpPr/>
          <p:nvPr/>
        </p:nvSpPr>
        <p:spPr>
          <a:xfrm>
            <a:off x="3660010" y="2771003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36" name="Connector 26"/>
          <p:cNvCxnSpPr/>
          <p:nvPr/>
        </p:nvCxnSpPr>
        <p:spPr>
          <a:xfrm>
            <a:off x="2740461" y="3462393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37" name="Box 27"/>
          <p:cNvSpPr/>
          <p:nvPr/>
        </p:nvSpPr>
        <p:spPr>
          <a:xfrm>
            <a:off x="2768117" y="3317201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poll status</a:t>
            </a:r>
          </a:p>
        </p:txBody>
      </p:sp>
      <p:sp>
        <p:nvSpPr>
          <p:cNvPr id="38" name="Shape 28"/>
          <p:cNvSpPr/>
          <p:nvPr/>
        </p:nvSpPr>
        <p:spPr>
          <a:xfrm>
            <a:off x="2761203" y="3413995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39" name="Box 29"/>
          <p:cNvSpPr/>
          <p:nvPr/>
        </p:nvSpPr>
        <p:spPr>
          <a:xfrm>
            <a:off x="2761203" y="3413995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43" name="Connector 33"/>
          <p:cNvCxnSpPr/>
          <p:nvPr/>
        </p:nvCxnSpPr>
        <p:spPr>
          <a:xfrm flipH="1">
            <a:off x="2740461" y="3980935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44" name="Box 34"/>
          <p:cNvSpPr/>
          <p:nvPr/>
        </p:nvSpPr>
        <p:spPr>
          <a:xfrm>
            <a:off x="2768117" y="3835743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200 OK</a:t>
            </a:r>
          </a:p>
        </p:txBody>
      </p:sp>
      <p:sp>
        <p:nvSpPr>
          <p:cNvPr id="45" name="Shape 35"/>
          <p:cNvSpPr/>
          <p:nvPr/>
        </p:nvSpPr>
        <p:spPr>
          <a:xfrm>
            <a:off x="3660010" y="393253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46" name="Box 36"/>
          <p:cNvSpPr/>
          <p:nvPr/>
        </p:nvSpPr>
        <p:spPr>
          <a:xfrm>
            <a:off x="3660010" y="393253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7</a:t>
            </a:r>
          </a:p>
        </p:txBody>
      </p:sp>
      <p:cxnSp>
        <p:nvCxnSpPr>
          <p:cNvPr id="48" name="Connector 38"/>
          <p:cNvCxnSpPr/>
          <p:nvPr/>
        </p:nvCxnSpPr>
        <p:spPr>
          <a:xfrm flipH="1">
            <a:off x="2740461" y="4388855"/>
            <a:ext cx="1071654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sm" len="sm"/>
          </a:ln>
        </p:spPr>
      </p:cxnSp>
      <p:sp>
        <p:nvSpPr>
          <p:cNvPr id="49" name="Box 39"/>
          <p:cNvSpPr/>
          <p:nvPr/>
        </p:nvSpPr>
        <p:spPr>
          <a:xfrm>
            <a:off x="2768117" y="4243663"/>
            <a:ext cx="1016343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402</a:t>
            </a:r>
          </a:p>
        </p:txBody>
      </p:sp>
      <p:sp>
        <p:nvSpPr>
          <p:cNvPr id="50" name="Shape 40"/>
          <p:cNvSpPr/>
          <p:nvPr/>
        </p:nvSpPr>
        <p:spPr>
          <a:xfrm>
            <a:off x="3694579" y="434045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51" name="Box 41"/>
          <p:cNvSpPr/>
          <p:nvPr/>
        </p:nvSpPr>
        <p:spPr>
          <a:xfrm>
            <a:off x="3694579" y="434045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8</a:t>
            </a:r>
          </a:p>
        </p:txBody>
      </p:sp>
      <p:cxnSp>
        <p:nvCxnSpPr>
          <p:cNvPr id="52" name="Connector 42"/>
          <p:cNvCxnSpPr/>
          <p:nvPr/>
        </p:nvCxnSpPr>
        <p:spPr>
          <a:xfrm>
            <a:off x="3812115" y="4630842"/>
            <a:ext cx="20741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53" name="Connector 43"/>
          <p:cNvCxnSpPr/>
          <p:nvPr/>
        </p:nvCxnSpPr>
        <p:spPr>
          <a:xfrm>
            <a:off x="4019532" y="4630842"/>
            <a:ext cx="1" cy="138278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54" name="Connector 44"/>
          <p:cNvCxnSpPr/>
          <p:nvPr/>
        </p:nvCxnSpPr>
        <p:spPr>
          <a:xfrm flipH="1">
            <a:off x="3812115" y="4769120"/>
            <a:ext cx="20741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55" name="Box 45"/>
          <p:cNvSpPr/>
          <p:nvPr/>
        </p:nvSpPr>
        <p:spPr>
          <a:xfrm>
            <a:off x="4061016" y="4485650"/>
            <a:ext cx="506789" cy="89881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log failure</a:t>
            </a:r>
          </a:p>
        </p:txBody>
      </p:sp>
      <p:sp>
        <p:nvSpPr>
          <p:cNvPr id="56" name="Shape 46"/>
          <p:cNvSpPr/>
          <p:nvPr/>
        </p:nvSpPr>
        <p:spPr>
          <a:xfrm>
            <a:off x="3819029" y="4582444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57" name="Box 47"/>
          <p:cNvSpPr/>
          <p:nvPr/>
        </p:nvSpPr>
        <p:spPr>
          <a:xfrm>
            <a:off x="3819029" y="4582444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9</a:t>
            </a:r>
          </a:p>
        </p:txBody>
      </p:sp>
      <p:cxnSp>
        <p:nvCxnSpPr>
          <p:cNvPr id="65" name="Connector 55"/>
          <p:cNvCxnSpPr/>
          <p:nvPr/>
        </p:nvCxnSpPr>
        <p:spPr>
          <a:xfrm>
            <a:off x="2740461" y="5329146"/>
            <a:ext cx="2696421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66" name="Box 56"/>
          <p:cNvSpPr/>
          <p:nvPr/>
        </p:nvSpPr>
        <p:spPr>
          <a:xfrm>
            <a:off x="2768117" y="5183954"/>
            <a:ext cx="2641110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send receipt</a:t>
            </a:r>
          </a:p>
        </p:txBody>
      </p:sp>
      <p:sp>
        <p:nvSpPr>
          <p:cNvPr id="67" name="Shape 57"/>
          <p:cNvSpPr/>
          <p:nvPr/>
        </p:nvSpPr>
        <p:spPr>
          <a:xfrm>
            <a:off x="2761203" y="528074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68" name="Box 58"/>
          <p:cNvSpPr/>
          <p:nvPr/>
        </p:nvSpPr>
        <p:spPr>
          <a:xfrm>
            <a:off x="2761203" y="528074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10</a:t>
            </a:r>
          </a:p>
        </p:txBody>
      </p:sp>
      <p:cxnSp>
        <p:nvCxnSpPr>
          <p:cNvPr id="69" name="Connector 59"/>
          <p:cNvCxnSpPr/>
          <p:nvPr/>
        </p:nvCxnSpPr>
        <p:spPr>
          <a:xfrm flipH="1">
            <a:off x="2740461" y="5647185"/>
            <a:ext cx="3007546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70" name="Box 60"/>
          <p:cNvSpPr/>
          <p:nvPr/>
        </p:nvSpPr>
        <p:spPr>
          <a:xfrm>
            <a:off x="2768117" y="5501993"/>
            <a:ext cx="295223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sent</a:t>
            </a:r>
          </a:p>
        </p:txBody>
      </p:sp>
      <p:sp>
        <p:nvSpPr>
          <p:cNvPr id="71" name="Shape 61"/>
          <p:cNvSpPr/>
          <p:nvPr/>
        </p:nvSpPr>
        <p:spPr>
          <a:xfrm>
            <a:off x="5630471" y="559878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72" name="Box 62"/>
          <p:cNvSpPr/>
          <p:nvPr/>
        </p:nvSpPr>
        <p:spPr>
          <a:xfrm>
            <a:off x="5630471" y="559878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11</a:t>
            </a:r>
          </a:p>
        </p:txBody>
      </p:sp>
      <p:cxnSp>
        <p:nvCxnSpPr>
          <p:cNvPr id="73" name="Connector 63"/>
          <p:cNvCxnSpPr/>
          <p:nvPr/>
        </p:nvCxnSpPr>
        <p:spPr>
          <a:xfrm>
            <a:off x="5699610" y="5598788"/>
            <a:ext cx="96795" cy="96794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74" name="Connector 64"/>
          <p:cNvCxnSpPr/>
          <p:nvPr/>
        </p:nvCxnSpPr>
        <p:spPr>
          <a:xfrm flipV="1">
            <a:off x="5699610" y="5598788"/>
            <a:ext cx="96795" cy="96794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75" name="Connector 65"/>
          <p:cNvCxnSpPr/>
          <p:nvPr/>
        </p:nvCxnSpPr>
        <p:spPr>
          <a:xfrm flipH="1">
            <a:off x="1737945" y="5889171"/>
            <a:ext cx="933377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76" name="Box 66"/>
          <p:cNvSpPr/>
          <p:nvPr/>
        </p:nvSpPr>
        <p:spPr>
          <a:xfrm>
            <a:off x="1765601" y="5743980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Confirmation</a:t>
            </a:r>
          </a:p>
        </p:txBody>
      </p:sp>
      <p:sp>
        <p:nvSpPr>
          <p:cNvPr id="77" name="Shape 67"/>
          <p:cNvSpPr/>
          <p:nvPr/>
        </p:nvSpPr>
        <p:spPr>
          <a:xfrm>
            <a:off x="2553786" y="5840774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78" name="Box 68"/>
          <p:cNvSpPr/>
          <p:nvPr/>
        </p:nvSpPr>
        <p:spPr>
          <a:xfrm>
            <a:off x="2553786" y="5840774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1" name="Box 71"/>
          <p:cNvSpPr/>
          <p:nvPr/>
        </p:nvSpPr>
        <p:spPr>
          <a:xfrm>
            <a:off x="1426820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User</a:t>
            </a:r>
          </a:p>
        </p:txBody>
      </p:sp>
      <p:sp>
        <p:nvSpPr>
          <p:cNvPr id="83" name="Box 73"/>
          <p:cNvSpPr/>
          <p:nvPr/>
        </p:nvSpPr>
        <p:spPr>
          <a:xfrm>
            <a:off x="1426820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User</a:t>
            </a:r>
          </a:p>
        </p:txBody>
      </p:sp>
      <p:sp>
        <p:nvSpPr>
          <p:cNvPr id="86" name="Box 76"/>
          <p:cNvSpPr/>
          <p:nvPr/>
        </p:nvSpPr>
        <p:spPr>
          <a:xfrm>
            <a:off x="2394766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Web App</a:t>
            </a:r>
          </a:p>
        </p:txBody>
      </p:sp>
      <p:sp>
        <p:nvSpPr>
          <p:cNvPr id="88" name="Box 78"/>
          <p:cNvSpPr/>
          <p:nvPr/>
        </p:nvSpPr>
        <p:spPr>
          <a:xfrm>
            <a:off x="2394766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Web App</a:t>
            </a:r>
          </a:p>
        </p:txBody>
      </p:sp>
      <p:sp>
        <p:nvSpPr>
          <p:cNvPr id="91" name="Box 81"/>
          <p:cNvSpPr/>
          <p:nvPr/>
        </p:nvSpPr>
        <p:spPr>
          <a:xfrm>
            <a:off x="3500990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API</a:t>
            </a:r>
          </a:p>
        </p:txBody>
      </p:sp>
      <p:sp>
        <p:nvSpPr>
          <p:cNvPr id="93" name="Box 83"/>
          <p:cNvSpPr/>
          <p:nvPr/>
        </p:nvSpPr>
        <p:spPr>
          <a:xfrm>
            <a:off x="3500990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API</a:t>
            </a:r>
          </a:p>
        </p:txBody>
      </p:sp>
      <p:sp>
        <p:nvSpPr>
          <p:cNvPr id="96" name="Box 86"/>
          <p:cNvSpPr/>
          <p:nvPr/>
        </p:nvSpPr>
        <p:spPr>
          <a:xfrm>
            <a:off x="4468936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Database</a:t>
            </a:r>
          </a:p>
        </p:txBody>
      </p:sp>
      <p:sp>
        <p:nvSpPr>
          <p:cNvPr id="98" name="Box 88"/>
          <p:cNvSpPr/>
          <p:nvPr/>
        </p:nvSpPr>
        <p:spPr>
          <a:xfrm>
            <a:off x="4468936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Database</a:t>
            </a:r>
          </a:p>
        </p:txBody>
      </p:sp>
      <p:sp>
        <p:nvSpPr>
          <p:cNvPr id="101" name="Box 91"/>
          <p:cNvSpPr/>
          <p:nvPr/>
        </p:nvSpPr>
        <p:spPr>
          <a:xfrm>
            <a:off x="5436882" y="528074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sequenceDiagram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title Checkout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autonumber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actor U as User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participant W as Web App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participant API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participant DB as Database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U-&gt;&gt;+W: Place order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W-&gt;&gt;API: POST /orders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activate API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API-&gt;&gt;DB: INSERT order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DB--&gt;&gt;API: ok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API-xW: Payment declined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Note over API,DB: Retried 3 times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loop Every minute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    W-)API: poll status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alt paid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    API--&gt;&gt;-W: 200 OK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else failed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    API--)W: 402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    API-&gt;&gt;API: log failure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Note right of W: done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create participant M as Mailer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W-&gt;&gt;M: send receipt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destroy M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M--&gt;&gt;W: sent</a:t>
            </a:r>
          </a:p>
          <a:p>
            <a:pPr algn="l"/>
            <a:r>
              <a:rPr lang="en-US" sz="1100" dirty="0">
                <a:solidFill>
                  <a:srgbClr val="1F2937"/>
                </a:solidFill>
                <a:latin typeface="Consolas"/>
                <a:cs typeface="Consolas"/>
              </a:rPr>
              <a:t>    W--&gt;&gt;-U: Confirmation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shapes-generic</a:t>
            </a:r>
          </a:p>
        </p:txBody>
      </p:sp>
      <p:sp>
        <p:nvSpPr>
          <p:cNvPr id="12" name="Document" descr="A1"/>
          <p:cNvSpPr/>
          <p:nvPr/>
        </p:nvSpPr>
        <p:spPr>
          <a:xfrm>
            <a:off x="1384215" y="1028700"/>
            <a:ext cx="283981" cy="142370"/>
          </a:xfrm>
          <a:prstGeom prst="flowChartDocument">
            <a:avLst/>
          </a:prstGeom>
          <a:solidFill>
            <a:srgbClr val="BBDEFB"/>
          </a:solidFill>
          <a:ln w="317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Document</a:t>
            </a:r>
          </a:p>
        </p:txBody>
      </p:sp>
      <p:sp>
        <p:nvSpPr>
          <p:cNvPr id="13" name="Carte" descr="A2"/>
          <p:cNvSpPr/>
          <p:nvPr/>
        </p:nvSpPr>
        <p:spPr>
          <a:xfrm>
            <a:off x="1425217" y="1322932"/>
            <a:ext cx="201976" cy="142370"/>
          </a:xfrm>
          <a:prstGeom prst="flowChartPunchedCard">
            <a:avLst/>
          </a:prstGeom>
          <a:solidFill>
            <a:srgbClr val="C8E6C9"/>
          </a:solidFill>
          <a:ln w="317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Carte</a:t>
            </a:r>
          </a:p>
        </p:txBody>
      </p:sp>
      <p:sp>
        <p:nvSpPr>
          <p:cNvPr id="14" name="Delai" descr="A3"/>
          <p:cNvSpPr/>
          <p:nvPr/>
        </p:nvSpPr>
        <p:spPr>
          <a:xfrm>
            <a:off x="1425217" y="1617163"/>
            <a:ext cx="201976" cy="142370"/>
          </a:xfrm>
          <a:prstGeom prst="flowChartDelay">
            <a:avLst/>
          </a:prstGeom>
          <a:solidFill>
            <a:srgbClr val="FFE0B2"/>
          </a:solidFill>
          <a:ln w="3175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Delai</a:t>
            </a:r>
          </a:p>
        </p:txBody>
      </p:sp>
      <p:sp>
        <p:nvSpPr>
          <p:cNvPr id="15" name="Extraction" descr="A4"/>
          <p:cNvSpPr/>
          <p:nvPr/>
        </p:nvSpPr>
        <p:spPr>
          <a:xfrm>
            <a:off x="1356880" y="1911395"/>
            <a:ext cx="338651" cy="142370"/>
          </a:xfrm>
          <a:prstGeom prst="flowChartExtract">
            <a:avLst/>
          </a:prstGeom>
          <a:solidFill>
            <a:srgbClr val="E1BEE7"/>
          </a:solidFill>
          <a:ln w="3175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Extraction</a:t>
            </a:r>
          </a:p>
        </p:txBody>
      </p:sp>
      <p:sp>
        <p:nvSpPr>
          <p:cNvPr id="16" name="Fichier manuel" descr="A5"/>
          <p:cNvSpPr/>
          <p:nvPr/>
        </p:nvSpPr>
        <p:spPr>
          <a:xfrm flipV="1">
            <a:off x="1397882" y="2205627"/>
            <a:ext cx="256646" cy="199318"/>
          </a:xfrm>
          <a:prstGeom prst="flowChartExtract">
            <a:avLst/>
          </a:prstGeom>
          <a:solidFill>
            <a:srgbClr val="FFCDD2"/>
          </a:solidFill>
          <a:ln w="3175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Fichier manuel</a:t>
            </a:r>
          </a:p>
        </p:txBody>
      </p:sp>
      <p:sp>
        <p:nvSpPr>
          <p:cNvPr id="17" name="Stockage interne" descr="A6"/>
          <p:cNvSpPr/>
          <p:nvPr/>
        </p:nvSpPr>
        <p:spPr>
          <a:xfrm>
            <a:off x="1384215" y="2556806"/>
            <a:ext cx="283981" cy="199318"/>
          </a:xfrm>
          <a:prstGeom prst="flowChartInternalStorage">
            <a:avLst/>
          </a:prstGeom>
          <a:solidFill>
            <a:srgbClr val="FFF9C4"/>
          </a:solidFill>
          <a:ln w="317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Stockage interne</a:t>
            </a:r>
          </a:p>
        </p:txBody>
      </p:sp>
      <p:sp>
        <p:nvSpPr>
          <p:cNvPr id="18" name="Collationnement" descr="A7"/>
          <p:cNvSpPr/>
          <p:nvPr/>
        </p:nvSpPr>
        <p:spPr>
          <a:xfrm>
            <a:off x="1288542" y="2907986"/>
            <a:ext cx="475326" cy="142370"/>
          </a:xfrm>
          <a:prstGeom prst="flowChartCollate">
            <a:avLst/>
          </a:prstGeom>
          <a:solidFill>
            <a:srgbClr val="BBDEFB"/>
          </a:solidFill>
          <a:ln w="317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Collationnement</a:t>
            </a:r>
          </a:p>
        </p:txBody>
      </p:sp>
      <p:sp>
        <p:nvSpPr>
          <p:cNvPr id="19" name="Affichage" descr="A8"/>
          <p:cNvSpPr/>
          <p:nvPr/>
        </p:nvSpPr>
        <p:spPr>
          <a:xfrm>
            <a:off x="1370547" y="3202217"/>
            <a:ext cx="311316" cy="142370"/>
          </a:xfrm>
          <a:prstGeom prst="flowChartDisplay">
            <a:avLst/>
          </a:prstGeom>
          <a:solidFill>
            <a:srgbClr val="C8E6C9"/>
          </a:solidFill>
          <a:ln w="317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Affichage</a:t>
            </a:r>
          </a:p>
        </p:txBody>
      </p:sp>
      <p:sp>
        <p:nvSpPr>
          <p:cNvPr id="20" name="Liaison" descr="A9"/>
          <p:cNvSpPr/>
          <p:nvPr/>
        </p:nvSpPr>
        <p:spPr>
          <a:xfrm>
            <a:off x="1397882" y="3496449"/>
            <a:ext cx="256646" cy="142370"/>
          </a:xfrm>
          <a:prstGeom prst="lightningBolt">
            <a:avLst/>
          </a:prstGeom>
          <a:solidFill>
            <a:srgbClr val="FFE0B2"/>
          </a:solidFill>
          <a:ln w="3175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Liaison</a:t>
            </a:r>
          </a:p>
        </p:txBody>
      </p:sp>
      <p:sp>
        <p:nvSpPr>
          <p:cNvPr id="21" name="Commentaire" descr="A10"/>
          <p:cNvSpPr/>
          <p:nvPr/>
        </p:nvSpPr>
        <p:spPr>
          <a:xfrm>
            <a:off x="1343212" y="3790681"/>
            <a:ext cx="365986" cy="142370"/>
          </a:xfrm>
          <a:prstGeom prst="leftBrace">
            <a:avLst/>
          </a:prstGeom>
          <a:solidFill>
            <a:srgbClr val="E1BEE7"/>
          </a:solidFill>
          <a:ln w="3175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Commentaire</a:t>
            </a:r>
          </a:p>
        </p:txBody>
      </p:sp>
      <p:sp>
        <p:nvSpPr>
          <p:cNvPr id="22" name="Double accolade" descr="A11"/>
          <p:cNvSpPr/>
          <p:nvPr/>
        </p:nvSpPr>
        <p:spPr>
          <a:xfrm>
            <a:off x="1386493" y="4084912"/>
            <a:ext cx="279425" cy="199318"/>
          </a:xfrm>
          <a:prstGeom prst="bracePair">
            <a:avLst/>
          </a:prstGeom>
          <a:solidFill>
            <a:srgbClr val="FFCDD2"/>
          </a:solidFill>
          <a:ln w="3175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Double accolade</a:t>
            </a:r>
          </a:p>
        </p:txBody>
      </p:sp>
      <p:sp>
        <p:nvSpPr>
          <p:cNvPr id="23" name="Resume" descr="A12"/>
          <p:cNvSpPr/>
          <p:nvPr/>
        </p:nvSpPr>
        <p:spPr>
          <a:xfrm>
            <a:off x="1411550" y="4436092"/>
            <a:ext cx="229311" cy="142370"/>
          </a:xfrm>
          <a:prstGeom prst="flowChartOr">
            <a:avLst/>
          </a:prstGeom>
          <a:solidFill>
            <a:srgbClr val="FFF9C4"/>
          </a:solidFill>
          <a:ln w="317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Resume</a:t>
            </a:r>
          </a:p>
        </p:txBody>
      </p:sp>
      <p:sp>
        <p:nvSpPr>
          <p:cNvPr id="24" name="Jonction" descr="A13"/>
          <p:cNvSpPr/>
          <p:nvPr/>
        </p:nvSpPr>
        <p:spPr>
          <a:xfrm>
            <a:off x="1384215" y="4730324"/>
            <a:ext cx="283981" cy="142370"/>
          </a:xfrm>
          <a:prstGeom prst="flowChartSummingJunction">
            <a:avLst/>
          </a:prstGeom>
          <a:solidFill>
            <a:srgbClr val="BBDEFB"/>
          </a:solidFill>
          <a:ln w="317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Jonction</a:t>
            </a:r>
          </a:p>
        </p:txBody>
      </p:sp>
      <p:sp>
        <p:nvSpPr>
          <p:cNvPr id="25" name="Bande papier" descr="A14"/>
          <p:cNvSpPr/>
          <p:nvPr/>
        </p:nvSpPr>
        <p:spPr>
          <a:xfrm>
            <a:off x="1336378" y="5024555"/>
            <a:ext cx="379654" cy="142370"/>
          </a:xfrm>
          <a:prstGeom prst="flowChartPunchedTape">
            <a:avLst/>
          </a:prstGeom>
          <a:solidFill>
            <a:srgbClr val="C8E6C9"/>
          </a:solidFill>
          <a:ln w="317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Bande papier</a:t>
            </a:r>
          </a:p>
        </p:txBody>
      </p:sp>
      <p:sp>
        <p:nvSpPr>
          <p:cNvPr id="26" name="Acces direct" descr="A15"/>
          <p:cNvSpPr/>
          <p:nvPr/>
        </p:nvSpPr>
        <p:spPr>
          <a:xfrm>
            <a:off x="1336378" y="5318787"/>
            <a:ext cx="379654" cy="142370"/>
          </a:xfrm>
          <a:prstGeom prst="flowChartMagneticDisk">
            <a:avLst/>
          </a:prstGeom>
          <a:solidFill>
            <a:srgbClr val="FFE0B2"/>
          </a:solidFill>
          <a:ln w="3175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Acces direct</a:t>
            </a:r>
          </a:p>
        </p:txBody>
      </p:sp>
      <p:sp>
        <p:nvSpPr>
          <p:cNvPr id="27" name="Disque" descr="A16"/>
          <p:cNvSpPr/>
          <p:nvPr/>
        </p:nvSpPr>
        <p:spPr>
          <a:xfrm>
            <a:off x="1411550" y="5613019"/>
            <a:ext cx="229311" cy="142370"/>
          </a:xfrm>
          <a:prstGeom prst="flowChartMagneticDrum">
            <a:avLst/>
          </a:prstGeom>
          <a:solidFill>
            <a:srgbClr val="E1BEE7"/>
          </a:solidFill>
          <a:ln w="3175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Disque</a:t>
            </a:r>
          </a:p>
        </p:txBody>
      </p:sp>
      <p:sp>
        <p:nvSpPr>
          <p:cNvPr id="28" name="Saisie manuelle" descr="A17"/>
          <p:cNvSpPr/>
          <p:nvPr/>
        </p:nvSpPr>
        <p:spPr>
          <a:xfrm>
            <a:off x="1386493" y="5907250"/>
            <a:ext cx="279425" cy="199318"/>
          </a:xfrm>
          <a:prstGeom prst="flowChartManualInput">
            <a:avLst/>
          </a:prstGeom>
          <a:solidFill>
            <a:srgbClr val="FFCDD2"/>
          </a:solidFill>
          <a:ln w="3175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Saisie manuelle</a:t>
            </a:r>
          </a:p>
        </p:txBody>
      </p:sp>
      <p:sp>
        <p:nvSpPr>
          <p:cNvPr id="29" name="Evenement" descr="A18"/>
          <p:cNvSpPr/>
          <p:nvPr/>
        </p:nvSpPr>
        <p:spPr>
          <a:xfrm>
            <a:off x="1370547" y="6258430"/>
            <a:ext cx="311316" cy="142370"/>
          </a:xfrm>
          <a:prstGeom prst="roundRect">
            <a:avLst/>
          </a:prstGeom>
          <a:solidFill>
            <a:srgbClr val="FFF9C4"/>
          </a:solidFill>
          <a:ln w="317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Evenement</a:t>
            </a:r>
          </a:p>
        </p:txBody>
      </p:sp>
      <p:cxnSp>
        <p:nvCxnSpPr>
          <p:cNvPr id="30" name="A1--A2"/>
          <p:cNvCxnSpPr>
            <a:stCxn id="12" idx="2"/>
            <a:endCxn id="13" idx="0"/>
          </p:cNvCxnSpPr>
          <p:nvPr/>
        </p:nvCxnSpPr>
        <p:spPr>
          <a:xfrm>
            <a:off x="1526205" y="1171070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2--A3"/>
          <p:cNvCxnSpPr>
            <a:stCxn id="13" idx="2"/>
            <a:endCxn id="14" idx="0"/>
          </p:cNvCxnSpPr>
          <p:nvPr/>
        </p:nvCxnSpPr>
        <p:spPr>
          <a:xfrm>
            <a:off x="1526205" y="1465302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3--A4"/>
          <p:cNvCxnSpPr>
            <a:stCxn id="14" idx="2"/>
            <a:endCxn id="15" idx="0"/>
          </p:cNvCxnSpPr>
          <p:nvPr/>
        </p:nvCxnSpPr>
        <p:spPr>
          <a:xfrm>
            <a:off x="1526205" y="1759533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4--A5"/>
          <p:cNvCxnSpPr>
            <a:stCxn id="15" idx="2"/>
            <a:endCxn id="16" idx="0"/>
          </p:cNvCxnSpPr>
          <p:nvPr/>
        </p:nvCxnSpPr>
        <p:spPr>
          <a:xfrm>
            <a:off x="1526205" y="2053765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5--A6"/>
          <p:cNvCxnSpPr>
            <a:stCxn id="16" idx="2"/>
            <a:endCxn id="17" idx="0"/>
          </p:cNvCxnSpPr>
          <p:nvPr/>
        </p:nvCxnSpPr>
        <p:spPr>
          <a:xfrm>
            <a:off x="1526205" y="2404945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6--A7"/>
          <p:cNvCxnSpPr>
            <a:stCxn id="17" idx="2"/>
            <a:endCxn id="18" idx="0"/>
          </p:cNvCxnSpPr>
          <p:nvPr/>
        </p:nvCxnSpPr>
        <p:spPr>
          <a:xfrm>
            <a:off x="1526205" y="2756124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7--A8"/>
          <p:cNvCxnSpPr>
            <a:stCxn id="18" idx="2"/>
            <a:endCxn id="19" idx="0"/>
          </p:cNvCxnSpPr>
          <p:nvPr/>
        </p:nvCxnSpPr>
        <p:spPr>
          <a:xfrm>
            <a:off x="1526205" y="3050356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8--A9"/>
          <p:cNvCxnSpPr>
            <a:stCxn id="19" idx="2"/>
            <a:endCxn id="20" idx="0"/>
          </p:cNvCxnSpPr>
          <p:nvPr/>
        </p:nvCxnSpPr>
        <p:spPr>
          <a:xfrm>
            <a:off x="1526205" y="3344588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9--A10"/>
          <p:cNvCxnSpPr>
            <a:stCxn id="20" idx="2"/>
            <a:endCxn id="21" idx="0"/>
          </p:cNvCxnSpPr>
          <p:nvPr/>
        </p:nvCxnSpPr>
        <p:spPr>
          <a:xfrm>
            <a:off x="1526205" y="3638819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10--A11"/>
          <p:cNvCxnSpPr>
            <a:stCxn id="21" idx="2"/>
            <a:endCxn id="22" idx="0"/>
          </p:cNvCxnSpPr>
          <p:nvPr/>
        </p:nvCxnSpPr>
        <p:spPr>
          <a:xfrm>
            <a:off x="1526205" y="3933051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11--A12"/>
          <p:cNvCxnSpPr>
            <a:stCxn id="22" idx="2"/>
            <a:endCxn id="23" idx="0"/>
          </p:cNvCxnSpPr>
          <p:nvPr/>
        </p:nvCxnSpPr>
        <p:spPr>
          <a:xfrm>
            <a:off x="1526205" y="4284231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A12--A13"/>
          <p:cNvCxnSpPr>
            <a:stCxn id="23" idx="2"/>
            <a:endCxn id="24" idx="0"/>
          </p:cNvCxnSpPr>
          <p:nvPr/>
        </p:nvCxnSpPr>
        <p:spPr>
          <a:xfrm>
            <a:off x="1526205" y="4578462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13--A14"/>
          <p:cNvCxnSpPr>
            <a:stCxn id="24" idx="2"/>
            <a:endCxn id="25" idx="0"/>
          </p:cNvCxnSpPr>
          <p:nvPr/>
        </p:nvCxnSpPr>
        <p:spPr>
          <a:xfrm>
            <a:off x="1526205" y="4872694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A14--A15"/>
          <p:cNvCxnSpPr>
            <a:stCxn id="25" idx="2"/>
            <a:endCxn id="26" idx="0"/>
          </p:cNvCxnSpPr>
          <p:nvPr/>
        </p:nvCxnSpPr>
        <p:spPr>
          <a:xfrm>
            <a:off x="1526205" y="5166925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A15--A16"/>
          <p:cNvCxnSpPr>
            <a:stCxn id="26" idx="2"/>
            <a:endCxn id="27" idx="0"/>
          </p:cNvCxnSpPr>
          <p:nvPr/>
        </p:nvCxnSpPr>
        <p:spPr>
          <a:xfrm>
            <a:off x="1526205" y="5461157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A16--A17"/>
          <p:cNvCxnSpPr>
            <a:stCxn id="27" idx="2"/>
            <a:endCxn id="28" idx="0"/>
          </p:cNvCxnSpPr>
          <p:nvPr/>
        </p:nvCxnSpPr>
        <p:spPr>
          <a:xfrm>
            <a:off x="1526205" y="5755389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A17--A18"/>
          <p:cNvCxnSpPr>
            <a:stCxn id="28" idx="2"/>
            <a:endCxn id="29" idx="0"/>
          </p:cNvCxnSpPr>
          <p:nvPr/>
        </p:nvCxnSpPr>
        <p:spPr>
          <a:xfrm>
            <a:off x="1526205" y="6106568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A1@{ shape: doc, label: "Document" } --&gt; A2@{ shape: card, label: "Carte"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A2 --&gt; A3@{ shape: delay, label: "Delai"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A3 --&gt; A4@{ shape: triangle, label: "Extraction"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A4 --&gt; A5@{ shape: flipped-triangle, label: "Fichier manuel"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A5 --&gt; A6@{ shape: win-pane, label: "Stockage interne"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A6 --&gt; A7@{ shape: hourglass, label: "Collationnement"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A7 --&gt; A8@{ shape: curv-trap, label: "Affichage"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A8 --&gt; A9@{ shape: com-link, label: "Liaison"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A9 --&gt; A10@{ shape: brace, label: "Commentaire"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A10 --&gt; A11@{ shape: braces, label: "Double accolade"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A11 --&gt; A12@{ shape: crossed-circle, label: "Resume"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A12 --&gt; A13@{ shape: junction, label: "Jonction"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A13 --&gt; A14@{ shape: paper-tape, label: "Bande papier"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A14 --&gt; A15@{ shape: das, label: "Acces direct"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A15 --&gt; A16@{ shape: disk, label: "Disque"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A16 --&gt; A17@{ shape: manual-input, label: "Saisie manuelle"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A17 --&gt; A18@{ shape: rounded, label: "Evenement" }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 fill:#BBDEFB,stroke:#1565C0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A2 fill:#C8E6C9,stroke:#2E7D32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A3 fill:#FFE0B2,stroke:#E65100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A4 fill:#E1BEE7,stroke:#6A1B9A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A5 fill:#FFCDD2,stroke:#C62828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A6 fill:#FFF9C4,stroke:#F9A825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A7 fill:#BBDEFB,stroke:#1565C0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A8 fill:#C8E6C9,stroke:#2E7D32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A9 fill:#FFE0B2,stroke:#E65100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A10 fill:#E1BEE7,stroke:#6A1B9A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A11 fill:#FFCDD2,stroke:#C62828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A12 fill:#FFF9C4,stroke:#F9A825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A13 fill:#BBDEFB,stroke:#1565C0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A14 fill:#C8E6C9,stroke:#2E7D32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A15 fill:#FFE0B2,stroke:#E65100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A16 fill:#E1BEE7,stroke:#6A1B9A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A17 fill:#FFCDD2,stroke:#C62828</a:t>
            </a:r>
          </a:p>
          <a:p>
            <a:pPr algn="l"/>
            <a:r>
              <a:rPr lang="en-US" sz="800" dirty="0">
                <a:solidFill>
                  <a:srgbClr val="1F2937"/>
                </a:solidFill>
                <a:latin typeface="Consolas"/>
                <a:cs typeface="Consolas"/>
              </a:rPr>
              <a:t>    style A18 fill:#FFF9C4,stroke:#F9A825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shapes</a:t>
            </a:r>
          </a:p>
        </p:txBody>
      </p:sp>
      <p:sp>
        <p:nvSpPr>
          <p:cNvPr id="12" name="Rectangle" descr="R"/>
          <p:cNvSpPr/>
          <p:nvPr/>
        </p:nvSpPr>
        <p:spPr>
          <a:xfrm>
            <a:off x="1498645" y="1028700"/>
            <a:ext cx="395966" cy="181082"/>
          </a:xfrm>
          <a:prstGeom prst="rect">
            <a:avLst/>
          </a:prstGeom>
          <a:solidFill>
            <a:srgbClr val="C8E6C9"/>
          </a:solidFill>
          <a:ln w="321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Rectangle</a:t>
            </a:r>
          </a:p>
        </p:txBody>
      </p:sp>
      <p:sp>
        <p:nvSpPr>
          <p:cNvPr id="13" name="Arrondi" descr="RR"/>
          <p:cNvSpPr/>
          <p:nvPr/>
        </p:nvSpPr>
        <p:spPr>
          <a:xfrm>
            <a:off x="1533413" y="1402936"/>
            <a:ext cx="326431" cy="181082"/>
          </a:xfrm>
          <a:prstGeom prst="roundRect">
            <a:avLst/>
          </a:prstGeom>
          <a:solidFill>
            <a:srgbClr val="FFE0B2"/>
          </a:solidFill>
          <a:ln w="321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Arrondi</a:t>
            </a:r>
          </a:p>
        </p:txBody>
      </p:sp>
      <p:sp>
        <p:nvSpPr>
          <p:cNvPr id="14" name="Stade" descr="ST"/>
          <p:cNvSpPr/>
          <p:nvPr/>
        </p:nvSpPr>
        <p:spPr>
          <a:xfrm>
            <a:off x="1568181" y="1777172"/>
            <a:ext cx="256895" cy="181082"/>
          </a:xfrm>
          <a:prstGeom prst="roundRect">
            <a:avLst/>
          </a:prstGeom>
          <a:solidFill>
            <a:srgbClr val="E1BEE7"/>
          </a:solidFill>
          <a:ln w="3219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Stade</a:t>
            </a:r>
          </a:p>
        </p:txBody>
      </p:sp>
      <p:sp>
        <p:nvSpPr>
          <p:cNvPr id="15" name="Losange" descr="DI"/>
          <p:cNvSpPr/>
          <p:nvPr/>
        </p:nvSpPr>
        <p:spPr>
          <a:xfrm>
            <a:off x="1370198" y="2151409"/>
            <a:ext cx="652861" cy="362164"/>
          </a:xfrm>
          <a:prstGeom prst="diamond">
            <a:avLst/>
          </a:prstGeom>
          <a:solidFill>
            <a:srgbClr val="FFCDD2"/>
          </a:solidFill>
          <a:ln w="3219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Losange</a:t>
            </a:r>
          </a:p>
        </p:txBody>
      </p:sp>
      <p:sp>
        <p:nvSpPr>
          <p:cNvPr id="16" name="Cylindre" descr="CY"/>
          <p:cNvSpPr/>
          <p:nvPr/>
        </p:nvSpPr>
        <p:spPr>
          <a:xfrm>
            <a:off x="1516029" y="2706727"/>
            <a:ext cx="361198" cy="181082"/>
          </a:xfrm>
          <a:prstGeom prst="can">
            <a:avLst/>
          </a:prstGeom>
          <a:solidFill>
            <a:srgbClr val="FFF9C4"/>
          </a:solidFill>
          <a:ln w="3219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Cylindre</a:t>
            </a:r>
          </a:p>
        </p:txBody>
      </p:sp>
      <p:sp>
        <p:nvSpPr>
          <p:cNvPr id="17" name="Ellipse" descr="EL"/>
          <p:cNvSpPr/>
          <p:nvPr/>
        </p:nvSpPr>
        <p:spPr>
          <a:xfrm>
            <a:off x="1533413" y="3080963"/>
            <a:ext cx="326431" cy="181082"/>
          </a:xfrm>
          <a:prstGeom prst="ellipse">
            <a:avLst/>
          </a:prstGeom>
          <a:solidFill>
            <a:srgbClr val="BBDEFB"/>
          </a:solidFill>
          <a:ln w="3219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Ellipse</a:t>
            </a:r>
          </a:p>
        </p:txBody>
      </p:sp>
      <p:sp>
        <p:nvSpPr>
          <p:cNvPr id="18" name="Hexagone" descr="HX"/>
          <p:cNvSpPr/>
          <p:nvPr/>
        </p:nvSpPr>
        <p:spPr>
          <a:xfrm>
            <a:off x="1452820" y="3455199"/>
            <a:ext cx="487618" cy="181082"/>
          </a:xfrm>
          <a:prstGeom prst="hexagon">
            <a:avLst/>
          </a:prstGeom>
          <a:solidFill>
            <a:srgbClr val="C8E6C9"/>
          </a:solidFill>
          <a:ln w="321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Hexagone</a:t>
            </a:r>
          </a:p>
        </p:txBody>
      </p:sp>
      <p:sp>
        <p:nvSpPr>
          <p:cNvPr id="19" name="Parallelogramme" descr="PA"/>
          <p:cNvSpPr/>
          <p:nvPr/>
        </p:nvSpPr>
        <p:spPr>
          <a:xfrm>
            <a:off x="1288542" y="3829435"/>
            <a:ext cx="816173" cy="181082"/>
          </a:xfrm>
          <a:prstGeom prst="parallelogram">
            <a:avLst/>
          </a:prstGeom>
          <a:solidFill>
            <a:srgbClr val="FFE0B2"/>
          </a:solidFill>
          <a:ln w="321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Parallelogramme</a:t>
            </a:r>
          </a:p>
        </p:txBody>
      </p:sp>
      <p:sp>
        <p:nvSpPr>
          <p:cNvPr id="20" name="Parallelogramme miroir" descr="PB"/>
          <p:cNvSpPr/>
          <p:nvPr/>
        </p:nvSpPr>
        <p:spPr>
          <a:xfrm flipH="1">
            <a:off x="1288542" y="4203671"/>
            <a:ext cx="816173" cy="253515"/>
          </a:xfrm>
          <a:prstGeom prst="parallelogram">
            <a:avLst/>
          </a:prstGeom>
          <a:solidFill>
            <a:srgbClr val="E1BEE7"/>
          </a:solidFill>
          <a:ln w="3219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Parallelogramme miroir</a:t>
            </a:r>
          </a:p>
        </p:txBody>
      </p:sp>
      <p:sp>
        <p:nvSpPr>
          <p:cNvPr id="21" name="Trapeze" descr="TA"/>
          <p:cNvSpPr/>
          <p:nvPr/>
        </p:nvSpPr>
        <p:spPr>
          <a:xfrm>
            <a:off x="1476288" y="4650340"/>
            <a:ext cx="440681" cy="181082"/>
          </a:xfrm>
          <a:prstGeom prst="trapezoid">
            <a:avLst/>
          </a:prstGeom>
          <a:solidFill>
            <a:srgbClr val="FFCDD2"/>
          </a:solidFill>
          <a:ln w="3219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Trapeze</a:t>
            </a:r>
          </a:p>
        </p:txBody>
      </p:sp>
      <p:sp>
        <p:nvSpPr>
          <p:cNvPr id="22" name="Trapeze miroir" descr="TB"/>
          <p:cNvSpPr/>
          <p:nvPr/>
        </p:nvSpPr>
        <p:spPr>
          <a:xfrm flipV="1">
            <a:off x="1476288" y="5024577"/>
            <a:ext cx="440681" cy="253515"/>
          </a:xfrm>
          <a:prstGeom prst="trapezoid">
            <a:avLst/>
          </a:prstGeom>
          <a:solidFill>
            <a:srgbClr val="FFF9C4"/>
          </a:solidFill>
          <a:ln w="3219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Trapeze miroir</a:t>
            </a:r>
          </a:p>
        </p:txBody>
      </p:sp>
      <p:sp>
        <p:nvSpPr>
          <p:cNvPr id="23" name="Sous-routine" descr="SR"/>
          <p:cNvSpPr/>
          <p:nvPr/>
        </p:nvSpPr>
        <p:spPr>
          <a:xfrm>
            <a:off x="1446494" y="5471246"/>
            <a:ext cx="500269" cy="181082"/>
          </a:xfrm>
          <a:prstGeom prst="flowChartPredefinedProcess">
            <a:avLst/>
          </a:prstGeom>
          <a:solidFill>
            <a:srgbClr val="BBDEFB"/>
          </a:solidFill>
          <a:ln w="3219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Sous-routine</a:t>
            </a:r>
          </a:p>
        </p:txBody>
      </p:sp>
      <p:sp>
        <p:nvSpPr>
          <p:cNvPr id="24" name="Double cercle" descr="DC"/>
          <p:cNvSpPr/>
          <p:nvPr/>
        </p:nvSpPr>
        <p:spPr>
          <a:xfrm>
            <a:off x="1437802" y="5845482"/>
            <a:ext cx="517653" cy="181082"/>
          </a:xfrm>
          <a:prstGeom prst="ellipse">
            <a:avLst/>
          </a:prstGeom>
          <a:solidFill>
            <a:srgbClr val="C8E6C9"/>
          </a:solidFill>
          <a:ln w="321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Double cercle</a:t>
            </a:r>
          </a:p>
        </p:txBody>
      </p:sp>
      <p:sp>
        <p:nvSpPr>
          <p:cNvPr id="25" name="Asymetrique" descr="AS"/>
          <p:cNvSpPr/>
          <p:nvPr/>
        </p:nvSpPr>
        <p:spPr>
          <a:xfrm>
            <a:off x="1463878" y="6219718"/>
            <a:ext cx="465502" cy="181082"/>
          </a:xfrm>
          <a:prstGeom prst="homePlate">
            <a:avLst/>
          </a:prstGeom>
          <a:solidFill>
            <a:srgbClr val="FFE0B2"/>
          </a:solidFill>
          <a:ln w="321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Asymetrique</a:t>
            </a:r>
          </a:p>
        </p:txBody>
      </p:sp>
      <p:cxnSp>
        <p:nvCxnSpPr>
          <p:cNvPr id="26" name="R--RR"/>
          <p:cNvCxnSpPr>
            <a:stCxn id="12" idx="2"/>
            <a:endCxn id="13" idx="0"/>
          </p:cNvCxnSpPr>
          <p:nvPr/>
        </p:nvCxnSpPr>
        <p:spPr>
          <a:xfrm>
            <a:off x="1696628" y="1209782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R--ST"/>
          <p:cNvCxnSpPr>
            <a:stCxn id="13" idx="2"/>
            <a:endCxn id="14" idx="0"/>
          </p:cNvCxnSpPr>
          <p:nvPr/>
        </p:nvCxnSpPr>
        <p:spPr>
          <a:xfrm>
            <a:off x="1696628" y="1584018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--DI"/>
          <p:cNvCxnSpPr>
            <a:stCxn id="14" idx="2"/>
            <a:endCxn id="15" idx="0"/>
          </p:cNvCxnSpPr>
          <p:nvPr/>
        </p:nvCxnSpPr>
        <p:spPr>
          <a:xfrm>
            <a:off x="1696628" y="1958254"/>
            <a:ext cx="0" cy="193155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I--CY"/>
          <p:cNvCxnSpPr>
            <a:stCxn id="15" idx="2"/>
            <a:endCxn id="16" idx="0"/>
          </p:cNvCxnSpPr>
          <p:nvPr/>
        </p:nvCxnSpPr>
        <p:spPr>
          <a:xfrm>
            <a:off x="1696628" y="2513573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Y--EL"/>
          <p:cNvCxnSpPr>
            <a:stCxn id="16" idx="2"/>
            <a:endCxn id="17" idx="0"/>
          </p:cNvCxnSpPr>
          <p:nvPr/>
        </p:nvCxnSpPr>
        <p:spPr>
          <a:xfrm>
            <a:off x="1696628" y="2887809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--HX"/>
          <p:cNvCxnSpPr>
            <a:stCxn id="17" idx="2"/>
            <a:endCxn id="18" idx="0"/>
          </p:cNvCxnSpPr>
          <p:nvPr/>
        </p:nvCxnSpPr>
        <p:spPr>
          <a:xfrm>
            <a:off x="1696628" y="3262045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HX--PA"/>
          <p:cNvCxnSpPr>
            <a:stCxn id="18" idx="2"/>
            <a:endCxn id="19" idx="0"/>
          </p:cNvCxnSpPr>
          <p:nvPr/>
        </p:nvCxnSpPr>
        <p:spPr>
          <a:xfrm>
            <a:off x="1696628" y="3636281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PA--PB"/>
          <p:cNvCxnSpPr>
            <a:stCxn id="19" idx="2"/>
            <a:endCxn id="20" idx="0"/>
          </p:cNvCxnSpPr>
          <p:nvPr/>
        </p:nvCxnSpPr>
        <p:spPr>
          <a:xfrm>
            <a:off x="1696628" y="4010517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PB--TA"/>
          <p:cNvCxnSpPr>
            <a:stCxn id="20" idx="2"/>
            <a:endCxn id="21" idx="0"/>
          </p:cNvCxnSpPr>
          <p:nvPr/>
        </p:nvCxnSpPr>
        <p:spPr>
          <a:xfrm>
            <a:off x="1696628" y="4457186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A--TB"/>
          <p:cNvCxnSpPr>
            <a:stCxn id="21" idx="2"/>
            <a:endCxn id="22" idx="0"/>
          </p:cNvCxnSpPr>
          <p:nvPr/>
        </p:nvCxnSpPr>
        <p:spPr>
          <a:xfrm>
            <a:off x="1696628" y="4831422"/>
            <a:ext cx="0" cy="193155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B--SR"/>
          <p:cNvCxnSpPr>
            <a:stCxn id="22" idx="2"/>
            <a:endCxn id="23" idx="0"/>
          </p:cNvCxnSpPr>
          <p:nvPr/>
        </p:nvCxnSpPr>
        <p:spPr>
          <a:xfrm>
            <a:off x="1696628" y="5278091"/>
            <a:ext cx="0" cy="193155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R--DC"/>
          <p:cNvCxnSpPr>
            <a:stCxn id="23" idx="2"/>
            <a:endCxn id="24" idx="0"/>
          </p:cNvCxnSpPr>
          <p:nvPr/>
        </p:nvCxnSpPr>
        <p:spPr>
          <a:xfrm>
            <a:off x="1696628" y="5652328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C--AS"/>
          <p:cNvCxnSpPr>
            <a:stCxn id="24" idx="2"/>
            <a:endCxn id="25" idx="0"/>
          </p:cNvCxnSpPr>
          <p:nvPr/>
        </p:nvCxnSpPr>
        <p:spPr>
          <a:xfrm>
            <a:off x="1696628" y="6026564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R[Rectangle]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RR(Arrondi)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ST([Stade])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DI{Losange}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CY[(Cylindre)]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EL((Ellipse))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R --&gt; RR --&gt; ST --&gt; DI --&gt; CY --&gt; EL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HX{{Hexagone}}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PA[/Parallelogramme/]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PB[\Parallelogramme miroir\]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TA[/Trapeze\]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TB[\Trapeze miroir/]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SR[[Sous-routine]]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DC(((Double cercle)))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AS&gt;Asymetrique]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EL --&gt; HX --&gt; PA --&gt; PB --&gt; TA --&gt; TB --&gt; SR --&gt; DC --&gt; AS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R fill:#C8E6C9,stroke:#2E7D32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RR fill:#FFE0B2,stroke:#E65100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ST fill:#E1BEE7,stroke:#6A1B9A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DI fill:#FFCDD2,stroke:#C62828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CY fill:#FFF9C4,stroke:#F9A825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EL fill:#BBDEFB,stroke:#1565C0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HX fill:#C8E6C9,stroke:#2E7D32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PA fill:#FFE0B2,stroke:#E65100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PB fill:#E1BEE7,stroke:#6A1B9A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TA fill:#FFCDD2,stroke:#C62828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TB fill:#FFF9C4,stroke:#F9A825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SR fill:#BBDEFB,stroke:#1565C0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DC fill:#C8E6C9,stroke:#2E7D32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  style AS fill:#FFE0B2,stroke:#E65100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state-diagram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4118338" y="1532334"/>
            <a:ext cx="1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2" name="Connector 2"/>
          <p:cNvCxnSpPr/>
          <p:nvPr/>
        </p:nvCxnSpPr>
        <p:spPr>
          <a:xfrm flipH="1">
            <a:off x="3045154" y="2683499"/>
            <a:ext cx="825526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3242074" y="2923325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fetch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2797496" y="3834663"/>
            <a:ext cx="1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5" name="Connector 5"/>
          <p:cNvCxnSpPr/>
          <p:nvPr/>
        </p:nvCxnSpPr>
        <p:spPr>
          <a:xfrm>
            <a:off x="2938744" y="4961845"/>
            <a:ext cx="498523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6" name="Text 6"/>
          <p:cNvSpPr txBox="1"/>
          <p:nvPr/>
        </p:nvSpPr>
        <p:spPr>
          <a:xfrm>
            <a:off x="3058500" y="5201671"/>
            <a:ext cx="259012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ok</a:t>
            </a:r>
          </a:p>
        </p:txBody>
      </p:sp>
      <p:cxnSp>
        <p:nvCxnSpPr>
          <p:cNvPr id="17" name="Connector 7"/>
          <p:cNvCxnSpPr/>
          <p:nvPr/>
        </p:nvCxnSpPr>
        <p:spPr>
          <a:xfrm>
            <a:off x="3001348" y="4856310"/>
            <a:ext cx="1738438" cy="838439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8" name="Text 8"/>
          <p:cNvSpPr txBox="1"/>
          <p:nvPr/>
        </p:nvSpPr>
        <p:spPr>
          <a:xfrm>
            <a:off x="3683504" y="5155616"/>
            <a:ext cx="374128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fail</a:t>
            </a:r>
          </a:p>
        </p:txBody>
      </p:sp>
      <p:cxnSp>
        <p:nvCxnSpPr>
          <p:cNvPr id="19" name="Connector 9"/>
          <p:cNvCxnSpPr/>
          <p:nvPr/>
        </p:nvCxnSpPr>
        <p:spPr>
          <a:xfrm flipV="1">
            <a:off x="3620275" y="2683499"/>
            <a:ext cx="464610" cy="299782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0" name="Text 10"/>
          <p:cNvSpPr txBox="1"/>
          <p:nvPr/>
        </p:nvSpPr>
        <p:spPr>
          <a:xfrm>
            <a:off x="3636737" y="4062498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reset</a:t>
            </a:r>
          </a:p>
        </p:txBody>
      </p:sp>
      <p:cxnSp>
        <p:nvCxnSpPr>
          <p:cNvPr id="21" name="Connector 11"/>
          <p:cNvCxnSpPr/>
          <p:nvPr/>
        </p:nvCxnSpPr>
        <p:spPr>
          <a:xfrm flipH="1" flipV="1">
            <a:off x="4183864" y="2683499"/>
            <a:ext cx="910092" cy="299782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2" name="Text 12"/>
          <p:cNvSpPr txBox="1"/>
          <p:nvPr/>
        </p:nvSpPr>
        <p:spPr>
          <a:xfrm>
            <a:off x="4423066" y="4062498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retry</a:t>
            </a:r>
          </a:p>
        </p:txBody>
      </p:sp>
      <p:cxnSp>
        <p:nvCxnSpPr>
          <p:cNvPr id="23" name="Connector 13"/>
          <p:cNvCxnSpPr/>
          <p:nvPr/>
        </p:nvCxnSpPr>
        <p:spPr>
          <a:xfrm flipH="1">
            <a:off x="3895437" y="2683499"/>
            <a:ext cx="174561" cy="77943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4" name="Shape 14"/>
          <p:cNvSpPr/>
          <p:nvPr/>
        </p:nvSpPr>
        <p:spPr>
          <a:xfrm>
            <a:off x="4010416" y="1316491"/>
            <a:ext cx="215843" cy="2158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5" name="Idle"/>
          <p:cNvSpPr/>
          <p:nvPr/>
        </p:nvSpPr>
        <p:spPr>
          <a:xfrm>
            <a:off x="3698642" y="2251812"/>
            <a:ext cx="839391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3698642" y="2251812"/>
            <a:ext cx="839391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Idle</a:t>
            </a:r>
          </a:p>
        </p:txBody>
      </p:sp>
      <p:sp>
        <p:nvSpPr>
          <p:cNvPr id="27" name="Loading"/>
          <p:cNvSpPr/>
          <p:nvPr/>
        </p:nvSpPr>
        <p:spPr>
          <a:xfrm>
            <a:off x="2370007" y="3402976"/>
            <a:ext cx="854980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28" name="Text 18"/>
          <p:cNvSpPr txBox="1"/>
          <p:nvPr/>
        </p:nvSpPr>
        <p:spPr>
          <a:xfrm>
            <a:off x="2370007" y="3402976"/>
            <a:ext cx="854980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Loading</a:t>
            </a:r>
          </a:p>
        </p:txBody>
      </p:sp>
      <p:sp>
        <p:nvSpPr>
          <p:cNvPr id="29" name="Shape 19"/>
          <p:cNvSpPr/>
          <p:nvPr/>
        </p:nvSpPr>
        <p:spPr>
          <a:xfrm>
            <a:off x="2593644" y="4554141"/>
            <a:ext cx="407704" cy="407704"/>
          </a:xfrm>
          <a:prstGeom prst="diamond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0" name="Success"/>
          <p:cNvSpPr/>
          <p:nvPr/>
        </p:nvSpPr>
        <p:spPr>
          <a:xfrm>
            <a:off x="3159334" y="5681322"/>
            <a:ext cx="854980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3159334" y="5681322"/>
            <a:ext cx="854980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Success</a:t>
            </a:r>
          </a:p>
        </p:txBody>
      </p:sp>
      <p:sp>
        <p:nvSpPr>
          <p:cNvPr id="32" name="Error"/>
          <p:cNvSpPr/>
          <p:nvPr/>
        </p:nvSpPr>
        <p:spPr>
          <a:xfrm>
            <a:off x="4739786" y="5681322"/>
            <a:ext cx="839391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3" name="Text 23"/>
          <p:cNvSpPr txBox="1"/>
          <p:nvPr/>
        </p:nvSpPr>
        <p:spPr>
          <a:xfrm>
            <a:off x="4739786" y="5681322"/>
            <a:ext cx="839391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Error</a:t>
            </a:r>
          </a:p>
        </p:txBody>
      </p:sp>
      <p:sp>
        <p:nvSpPr>
          <p:cNvPr id="34" name="Shape 24"/>
          <p:cNvSpPr/>
          <p:nvPr/>
        </p:nvSpPr>
        <p:spPr>
          <a:xfrm>
            <a:off x="3704639" y="3462933"/>
            <a:ext cx="311774" cy="311774"/>
          </a:xfrm>
          <a:prstGeom prst="ellipse">
            <a:avLst/>
          </a:prstGeom>
          <a:solidFill>
            <a:srgbClr val="FFFFFF"/>
          </a:solidFill>
          <a:ln w="11991">
            <a:solidFill>
              <a:srgbClr val="000000"/>
            </a:solidFill>
          </a:ln>
        </p:spPr>
      </p:sp>
      <p:sp>
        <p:nvSpPr>
          <p:cNvPr id="35" name="Shape 25"/>
          <p:cNvSpPr/>
          <p:nvPr/>
        </p:nvSpPr>
        <p:spPr>
          <a:xfrm>
            <a:off x="3791935" y="3550229"/>
            <a:ext cx="137180" cy="1371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stateDiagram-v2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[*] --&gt; Idle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Idle --&gt; Loading : fetch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Loading --&gt; choice1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state choice1 &lt;&lt;choice&gt;&gt;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choice1 --&gt; Success : ok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choice1 --&gt; Error : fail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Success --&gt; Idle : reset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Error --&gt; Idle : retry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Idle --&gt; [*]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subgraph</a:t>
            </a:r>
          </a:p>
        </p:txBody>
      </p:sp>
      <p:sp>
        <p:nvSpPr>
          <p:cNvPr id="17" name="Groupe externe (container)"/>
          <p:cNvSpPr/>
          <p:nvPr/>
        </p:nvSpPr>
        <p:spPr>
          <a:xfrm>
            <a:off x="1379019" y="1028700"/>
            <a:ext cx="1080703" cy="2098575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18" name="Groupe externe"/>
          <p:cNvSpPr/>
          <p:nvPr/>
        </p:nvSpPr>
        <p:spPr>
          <a:xfrm>
            <a:off x="1379019" y="1028700"/>
            <a:ext cx="1080703" cy="150796"/>
          </a:xfrm>
          <a:prstGeom prst="rect">
            <a:avLst/>
          </a:prstGeom>
          <a:noFill/>
          <a:ln w="0">
            <a:noFill/>
          </a:ln>
        </p:spPr>
        <p:txBody>
          <a:bodyPr lIns="60318" tIns="30159" rIns="60318" bIns="30159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Groupe externe</a:t>
            </a:r>
          </a:p>
        </p:txBody>
      </p:sp>
      <p:sp>
        <p:nvSpPr>
          <p:cNvPr id="19" name="Groupe interne (container)"/>
          <p:cNvSpPr/>
          <p:nvPr/>
        </p:nvSpPr>
        <p:spPr>
          <a:xfrm>
            <a:off x="1288542" y="3629927"/>
            <a:ext cx="1261658" cy="2098575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0" name="Groupe interne"/>
          <p:cNvSpPr/>
          <p:nvPr/>
        </p:nvSpPr>
        <p:spPr>
          <a:xfrm>
            <a:off x="1288542" y="3629927"/>
            <a:ext cx="1261658" cy="150796"/>
          </a:xfrm>
          <a:prstGeom prst="rect">
            <a:avLst/>
          </a:prstGeom>
          <a:noFill/>
          <a:ln w="0">
            <a:noFill/>
          </a:ln>
        </p:spPr>
        <p:txBody>
          <a:bodyPr lIns="60318" tIns="30159" rIns="60318" bIns="30159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Groupe interne</a:t>
            </a:r>
          </a:p>
        </p:txBody>
      </p:sp>
      <p:sp>
        <p:nvSpPr>
          <p:cNvPr id="12" name="Un" descr="A"/>
          <p:cNvSpPr/>
          <p:nvPr/>
        </p:nvSpPr>
        <p:spPr>
          <a:xfrm>
            <a:off x="1699461" y="1430822"/>
            <a:ext cx="439821" cy="471237"/>
          </a:xfrm>
          <a:prstGeom prst="rect">
            <a:avLst/>
          </a:prstGeom>
          <a:solidFill>
            <a:srgbClr val="FFE0B2"/>
          </a:solidFill>
          <a:ln w="837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Un</a:t>
            </a:r>
          </a:p>
        </p:txBody>
      </p:sp>
      <p:sp>
        <p:nvSpPr>
          <p:cNvPr id="13" name="Deux" descr="B"/>
          <p:cNvSpPr/>
          <p:nvPr/>
        </p:nvSpPr>
        <p:spPr>
          <a:xfrm>
            <a:off x="1630346" y="2404712"/>
            <a:ext cx="578051" cy="471237"/>
          </a:xfrm>
          <a:prstGeom prst="rect">
            <a:avLst/>
          </a:prstGeom>
          <a:solidFill>
            <a:srgbClr val="E1BEE7"/>
          </a:solidFill>
          <a:ln w="837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Deux</a:t>
            </a:r>
          </a:p>
        </p:txBody>
      </p:sp>
      <p:sp>
        <p:nvSpPr>
          <p:cNvPr id="14" name="Trois" descr="C"/>
          <p:cNvSpPr/>
          <p:nvPr/>
        </p:nvSpPr>
        <p:spPr>
          <a:xfrm>
            <a:off x="1585107" y="4032049"/>
            <a:ext cx="668528" cy="471237"/>
          </a:xfrm>
          <a:prstGeom prst="rect">
            <a:avLst/>
          </a:prstGeom>
          <a:solidFill>
            <a:srgbClr val="FFCDD2"/>
          </a:solidFill>
          <a:ln w="837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Trois</a:t>
            </a:r>
          </a:p>
        </p:txBody>
      </p:sp>
      <p:sp>
        <p:nvSpPr>
          <p:cNvPr id="15" name="Quatre" descr="D"/>
          <p:cNvSpPr/>
          <p:nvPr/>
        </p:nvSpPr>
        <p:spPr>
          <a:xfrm>
            <a:off x="1539868" y="5005939"/>
            <a:ext cx="759005" cy="471237"/>
          </a:xfrm>
          <a:prstGeom prst="rect">
            <a:avLst/>
          </a:prstGeom>
          <a:solidFill>
            <a:srgbClr val="FFF9C4"/>
          </a:solidFill>
          <a:ln w="837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Quatre</a:t>
            </a:r>
          </a:p>
        </p:txBody>
      </p:sp>
      <p:sp>
        <p:nvSpPr>
          <p:cNvPr id="16" name="Cinq" descr="E"/>
          <p:cNvSpPr/>
          <p:nvPr/>
        </p:nvSpPr>
        <p:spPr>
          <a:xfrm>
            <a:off x="1630346" y="5929563"/>
            <a:ext cx="578051" cy="471237"/>
          </a:xfrm>
          <a:prstGeom prst="rect">
            <a:avLst/>
          </a:prstGeom>
          <a:solidFill>
            <a:srgbClr val="BBDEFB"/>
          </a:solidFill>
          <a:ln w="837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Cinq</a:t>
            </a:r>
          </a:p>
        </p:txBody>
      </p:sp>
      <p:cxnSp>
        <p:nvCxnSpPr>
          <p:cNvPr id="21" name="A--B"/>
          <p:cNvCxnSpPr>
            <a:stCxn id="12" idx="2"/>
            <a:endCxn id="13" idx="0"/>
          </p:cNvCxnSpPr>
          <p:nvPr/>
        </p:nvCxnSpPr>
        <p:spPr>
          <a:xfrm>
            <a:off x="1919371" y="1902059"/>
            <a:ext cx="0" cy="502653"/>
          </a:xfrm>
          <a:prstGeom prst="line">
            <a:avLst/>
          </a:prstGeom>
          <a:ln w="83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--D"/>
          <p:cNvCxnSpPr>
            <a:stCxn id="14" idx="2"/>
            <a:endCxn id="15" idx="0"/>
          </p:cNvCxnSpPr>
          <p:nvPr/>
        </p:nvCxnSpPr>
        <p:spPr>
          <a:xfrm>
            <a:off x="1919371" y="4503286"/>
            <a:ext cx="0" cy="502653"/>
          </a:xfrm>
          <a:prstGeom prst="line">
            <a:avLst/>
          </a:prstGeom>
          <a:ln w="83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2"/>
            <a:endCxn id="14" idx="0"/>
          </p:cNvCxnSpPr>
          <p:nvPr/>
        </p:nvCxnSpPr>
        <p:spPr>
          <a:xfrm>
            <a:off x="1919371" y="2875948"/>
            <a:ext cx="0" cy="1156101"/>
          </a:xfrm>
          <a:prstGeom prst="line">
            <a:avLst/>
          </a:prstGeom>
          <a:ln w="83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--E"/>
          <p:cNvCxnSpPr>
            <a:stCxn id="15" idx="2"/>
            <a:endCxn id="16" idx="0"/>
          </p:cNvCxnSpPr>
          <p:nvPr/>
        </p:nvCxnSpPr>
        <p:spPr>
          <a:xfrm>
            <a:off x="1919371" y="5477176"/>
            <a:ext cx="0" cy="452387"/>
          </a:xfrm>
          <a:prstGeom prst="line">
            <a:avLst/>
          </a:prstGeom>
          <a:ln w="83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subgraph Externe[Groupe externe]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A[Un] --&gt; B[Deux]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subgraph Interne[Groupe interne]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C[Trois] --&gt; D[Quatre]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B --&gt; 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end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 --&gt; E[Cinq]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A fill:#FFE0B2,stroke:#E65100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B fill:#E1BEE7,stroke:#6A1B9A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C fill:#FFCDD2,stroke:#C62828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D fill:#FFF9C4,stroke:#F9A825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style E fill:#BBDEFB,stroke:#1565C0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swimlane</a:t>
            </a:r>
          </a:p>
        </p:txBody>
      </p:sp>
      <p:sp>
        <p:nvSpPr>
          <p:cNvPr id="17" name="Customer (container)"/>
          <p:cNvSpPr/>
          <p:nvPr/>
        </p:nvSpPr>
        <p:spPr>
          <a:xfrm>
            <a:off x="457200" y="2780987"/>
            <a:ext cx="7034784" cy="779224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18" name="Customer"/>
          <p:cNvSpPr/>
          <p:nvPr/>
        </p:nvSpPr>
        <p:spPr>
          <a:xfrm>
            <a:off x="457200" y="2780987"/>
            <a:ext cx="7034784" cy="104477"/>
          </a:xfrm>
          <a:prstGeom prst="rect">
            <a:avLst/>
          </a:prstGeom>
          <a:noFill/>
          <a:ln w="0">
            <a:noFill/>
          </a:ln>
        </p:spPr>
        <p:txBody>
          <a:bodyPr lIns="41791" tIns="20895" rIns="41791" bIns="20895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19" name="Store (container)"/>
          <p:cNvSpPr/>
          <p:nvPr/>
        </p:nvSpPr>
        <p:spPr>
          <a:xfrm>
            <a:off x="1787540" y="3542798"/>
            <a:ext cx="2806948" cy="1105715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0" name="Store"/>
          <p:cNvSpPr/>
          <p:nvPr/>
        </p:nvSpPr>
        <p:spPr>
          <a:xfrm>
            <a:off x="1787540" y="3542798"/>
            <a:ext cx="2806948" cy="104477"/>
          </a:xfrm>
          <a:prstGeom prst="rect">
            <a:avLst/>
          </a:prstGeom>
          <a:noFill/>
          <a:ln w="0">
            <a:noFill/>
          </a:ln>
        </p:spPr>
        <p:txBody>
          <a:bodyPr lIns="41791" tIns="20895" rIns="41791" bIns="20895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Store</a:t>
            </a:r>
          </a:p>
        </p:txBody>
      </p:sp>
      <p:sp>
        <p:nvSpPr>
          <p:cNvPr id="21" name="Carrier (container)"/>
          <p:cNvSpPr/>
          <p:nvPr/>
        </p:nvSpPr>
        <p:spPr>
          <a:xfrm>
            <a:off x="4942745" y="3706044"/>
            <a:ext cx="1218898" cy="779224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2" name="Carrier"/>
          <p:cNvSpPr/>
          <p:nvPr/>
        </p:nvSpPr>
        <p:spPr>
          <a:xfrm>
            <a:off x="4942745" y="3706044"/>
            <a:ext cx="1218898" cy="104477"/>
          </a:xfrm>
          <a:prstGeom prst="rect">
            <a:avLst/>
          </a:prstGeom>
          <a:noFill/>
          <a:ln w="0">
            <a:noFill/>
          </a:ln>
        </p:spPr>
        <p:txBody>
          <a:bodyPr lIns="41791" tIns="20895" rIns="41791" bIns="20895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Carrier</a:t>
            </a:r>
          </a:p>
        </p:txBody>
      </p:sp>
      <p:sp>
        <p:nvSpPr>
          <p:cNvPr id="12" name="Place order" descr="Order"/>
          <p:cNvSpPr/>
          <p:nvPr/>
        </p:nvSpPr>
        <p:spPr>
          <a:xfrm>
            <a:off x="631328" y="3059592"/>
            <a:ext cx="807955" cy="326491"/>
          </a:xfrm>
          <a:prstGeom prst="rect">
            <a:avLst/>
          </a:prstGeom>
          <a:solidFill>
            <a:srgbClr val="E1BEE7"/>
          </a:solidFill>
          <a:ln w="580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791" tIns="20895" rIns="41791" bIns="208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Place order</a:t>
            </a:r>
          </a:p>
        </p:txBody>
      </p:sp>
      <p:sp>
        <p:nvSpPr>
          <p:cNvPr id="13" name="Pay invoice" descr="Pay"/>
          <p:cNvSpPr/>
          <p:nvPr/>
        </p:nvSpPr>
        <p:spPr>
          <a:xfrm>
            <a:off x="6509900" y="3059592"/>
            <a:ext cx="807955" cy="326491"/>
          </a:xfrm>
          <a:prstGeom prst="roundRect">
            <a:avLst/>
          </a:prstGeom>
          <a:solidFill>
            <a:srgbClr val="FFCDD2"/>
          </a:solidFill>
          <a:ln w="580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791" tIns="20895" rIns="41791" bIns="208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Pay invoice</a:t>
            </a:r>
          </a:p>
        </p:txBody>
      </p:sp>
      <p:sp>
        <p:nvSpPr>
          <p:cNvPr id="14" name="Pack items" descr="Pack"/>
          <p:cNvSpPr/>
          <p:nvPr/>
        </p:nvSpPr>
        <p:spPr>
          <a:xfrm>
            <a:off x="3675091" y="3984649"/>
            <a:ext cx="745269" cy="326491"/>
          </a:xfrm>
          <a:prstGeom prst="rect">
            <a:avLst/>
          </a:prstGeom>
          <a:solidFill>
            <a:srgbClr val="FFF9C4"/>
          </a:solidFill>
          <a:ln w="580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791" tIns="20895" rIns="41791" bIns="208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Pack items</a:t>
            </a:r>
          </a:p>
        </p:txBody>
      </p:sp>
      <p:sp>
        <p:nvSpPr>
          <p:cNvPr id="15" name="In stock?" descr="Decision"/>
          <p:cNvSpPr/>
          <p:nvPr/>
        </p:nvSpPr>
        <p:spPr>
          <a:xfrm>
            <a:off x="1961669" y="3821404"/>
            <a:ext cx="1365166" cy="652981"/>
          </a:xfrm>
          <a:prstGeom prst="diamond">
            <a:avLst/>
          </a:prstGeom>
          <a:solidFill>
            <a:srgbClr val="BBDEFB"/>
          </a:solidFill>
          <a:ln w="580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791" tIns="20895" rIns="41791" bIns="208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In stock?</a:t>
            </a:r>
          </a:p>
        </p:txBody>
      </p:sp>
      <p:sp>
        <p:nvSpPr>
          <p:cNvPr id="16" name="Ship package" descr="Ship"/>
          <p:cNvSpPr/>
          <p:nvPr/>
        </p:nvSpPr>
        <p:spPr>
          <a:xfrm>
            <a:off x="5116874" y="3984649"/>
            <a:ext cx="870642" cy="326491"/>
          </a:xfrm>
          <a:prstGeom prst="roundRect">
            <a:avLst/>
          </a:prstGeom>
          <a:solidFill>
            <a:srgbClr val="C8E6C9"/>
          </a:solidFill>
          <a:ln w="580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791" tIns="20895" rIns="41791" bIns="208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Ship package</a:t>
            </a:r>
          </a:p>
        </p:txBody>
      </p:sp>
      <p:cxnSp>
        <p:nvCxnSpPr>
          <p:cNvPr id="23" name="Order--Decision"/>
          <p:cNvCxnSpPr>
            <a:stCxn id="12" idx="3"/>
            <a:endCxn id="15" idx="1"/>
          </p:cNvCxnSpPr>
          <p:nvPr/>
        </p:nvCxnSpPr>
        <p:spPr>
          <a:xfrm>
            <a:off x="1439284" y="3222838"/>
            <a:ext cx="522385" cy="925056"/>
          </a:xfrm>
          <a:prstGeom prst="line">
            <a:avLst/>
          </a:prstGeom>
          <a:ln w="58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ecision--Pack"/>
          <p:cNvCxnSpPr>
            <a:stCxn id="15" idx="3"/>
            <a:endCxn id="14" idx="1"/>
          </p:cNvCxnSpPr>
          <p:nvPr/>
        </p:nvCxnSpPr>
        <p:spPr>
          <a:xfrm>
            <a:off x="3326835" y="4147894"/>
            <a:ext cx="348256" cy="0"/>
          </a:xfrm>
          <a:prstGeom prst="line">
            <a:avLst/>
          </a:prstGeom>
          <a:ln w="58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Label"/>
          <p:cNvSpPr txBox="1"/>
          <p:nvPr/>
        </p:nvSpPr>
        <p:spPr>
          <a:xfrm>
            <a:off x="3386735" y="4095656"/>
            <a:ext cx="228456" cy="1044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7413" tIns="0" rIns="1741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Yes</a:t>
            </a:r>
          </a:p>
        </p:txBody>
      </p:sp>
      <p:cxnSp>
        <p:nvCxnSpPr>
          <p:cNvPr id="26" name="Decision--Order"/>
          <p:cNvCxnSpPr>
            <a:stCxn id="15" idx="1"/>
            <a:endCxn id="12" idx="3"/>
          </p:cNvCxnSpPr>
          <p:nvPr/>
        </p:nvCxnSpPr>
        <p:spPr>
          <a:xfrm flipH="1" flipV="1">
            <a:off x="1439284" y="3222838"/>
            <a:ext cx="522385" cy="925056"/>
          </a:xfrm>
          <a:prstGeom prst="line">
            <a:avLst/>
          </a:prstGeom>
          <a:ln w="58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1604706" y="3633127"/>
            <a:ext cx="191541" cy="1044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7413" tIns="0" rIns="1741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No</a:t>
            </a:r>
          </a:p>
        </p:txBody>
      </p:sp>
      <p:cxnSp>
        <p:nvCxnSpPr>
          <p:cNvPr id="28" name="Pack--Ship"/>
          <p:cNvCxnSpPr>
            <a:stCxn id="14" idx="3"/>
            <a:endCxn id="16" idx="1"/>
          </p:cNvCxnSpPr>
          <p:nvPr/>
        </p:nvCxnSpPr>
        <p:spPr>
          <a:xfrm>
            <a:off x="4420360" y="4147894"/>
            <a:ext cx="696514" cy="0"/>
          </a:xfrm>
          <a:prstGeom prst="line">
            <a:avLst/>
          </a:prstGeom>
          <a:ln w="58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hip--Pay"/>
          <p:cNvCxnSpPr>
            <a:stCxn id="16" idx="3"/>
            <a:endCxn id="13" idx="1"/>
          </p:cNvCxnSpPr>
          <p:nvPr/>
        </p:nvCxnSpPr>
        <p:spPr>
          <a:xfrm flipV="1">
            <a:off x="5987515" y="3222838"/>
            <a:ext cx="522385" cy="925056"/>
          </a:xfrm>
          <a:prstGeom prst="line">
            <a:avLst/>
          </a:prstGeom>
          <a:ln w="580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swimlane-beta LR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subgraph Customer[Customer]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Order[Place order]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Pay(Pay invoice)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end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subgraph Store[Store]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Pack[Pack items]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Decision{In stock?}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end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subgraph Carrier[Carrier]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Ship([Ship package])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end</a:t>
            </a:r>
          </a:p>
          <a:p>
            <a:endParaRPr lang="en-US" sz="1200" dirty="0"/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Order --&gt; Decision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Decision --&gt;|Yes| Pack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Decision --&gt;|No| Order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Pack --&gt; Ship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Ship --&gt; Pay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style Order fill:#E1BEE7,stroke:#6A1B9A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style Pay fill:#FFCDD2,stroke:#C62828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style Pack fill:#FFF9C4,stroke:#F9A825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style Decision fill:#BBDEFB,stroke:#1565C0</a:t>
            </a:r>
          </a:p>
          <a:p>
            <a:pPr algn="l"/>
            <a:r>
              <a:rPr lang="en-US" sz="1200" dirty="0">
                <a:solidFill>
                  <a:srgbClr val="1F2937"/>
                </a:solidFill>
                <a:latin typeface="Consolas"/>
                <a:cs typeface="Consolas"/>
              </a:rPr>
              <a:t>    style Ship fill:#C8E6C9,stroke:#2E7D32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timeline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1592845"/>
            <a:ext cx="7034784" cy="4205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England's History Timeline</a:t>
            </a:r>
          </a:p>
        </p:txBody>
      </p:sp>
      <p:sp>
        <p:nvSpPr>
          <p:cNvPr id="12" name="Box 2"/>
          <p:cNvSpPr/>
          <p:nvPr/>
        </p:nvSpPr>
        <p:spPr>
          <a:xfrm>
            <a:off x="743944" y="2156775"/>
            <a:ext cx="3173299" cy="3249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FFFFFF"/>
                </a:solidFill>
              </a:rPr>
              <a:t>Stone Age</a:t>
            </a:r>
          </a:p>
        </p:txBody>
      </p:sp>
      <p:sp>
        <p:nvSpPr>
          <p:cNvPr id="13" name="Box 3"/>
          <p:cNvSpPr/>
          <p:nvPr/>
        </p:nvSpPr>
        <p:spPr>
          <a:xfrm>
            <a:off x="4031941" y="2156775"/>
            <a:ext cx="3173299" cy="3249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FFFFFF"/>
                </a:solidFill>
              </a:rPr>
              <a:t>Bronze Age</a:t>
            </a:r>
          </a:p>
        </p:txBody>
      </p:sp>
      <p:sp>
        <p:nvSpPr>
          <p:cNvPr id="14" name="Box 4"/>
          <p:cNvSpPr/>
          <p:nvPr/>
        </p:nvSpPr>
        <p:spPr>
          <a:xfrm>
            <a:off x="743944" y="2558216"/>
            <a:ext cx="1529301" cy="353651"/>
          </a:xfrm>
          <a:prstGeom prst="rect">
            <a:avLst/>
          </a:prstGeom>
          <a:solidFill>
            <a:srgbClr val="6087C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7600 BC</a:t>
            </a:r>
          </a:p>
        </p:txBody>
      </p:sp>
      <p:sp>
        <p:nvSpPr>
          <p:cNvPr id="15" name="Box 5"/>
          <p:cNvSpPr/>
          <p:nvPr/>
        </p:nvSpPr>
        <p:spPr>
          <a:xfrm>
            <a:off x="2387942" y="2558216"/>
            <a:ext cx="1529301" cy="353651"/>
          </a:xfrm>
          <a:prstGeom prst="rect">
            <a:avLst/>
          </a:prstGeom>
          <a:solidFill>
            <a:srgbClr val="6087C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6000 BC</a:t>
            </a:r>
          </a:p>
        </p:txBody>
      </p:sp>
      <p:sp>
        <p:nvSpPr>
          <p:cNvPr id="16" name="Box 6"/>
          <p:cNvSpPr/>
          <p:nvPr/>
        </p:nvSpPr>
        <p:spPr>
          <a:xfrm>
            <a:off x="4031941" y="2558216"/>
            <a:ext cx="1529301" cy="353651"/>
          </a:xfrm>
          <a:prstGeom prst="rect">
            <a:avLst/>
          </a:prstGeom>
          <a:solidFill>
            <a:srgbClr val="F0915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2300 BC</a:t>
            </a:r>
          </a:p>
        </p:txBody>
      </p:sp>
      <p:sp>
        <p:nvSpPr>
          <p:cNvPr id="17" name="Box 7"/>
          <p:cNvSpPr/>
          <p:nvPr/>
        </p:nvSpPr>
        <p:spPr>
          <a:xfrm>
            <a:off x="5675939" y="2558216"/>
            <a:ext cx="1529301" cy="353651"/>
          </a:xfrm>
          <a:prstGeom prst="rect">
            <a:avLst/>
          </a:prstGeom>
          <a:solidFill>
            <a:srgbClr val="F0915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2200 BC</a:t>
            </a:r>
          </a:p>
        </p:txBody>
      </p:sp>
      <p:sp>
        <p:nvSpPr>
          <p:cNvPr id="18" name="Box 8"/>
          <p:cNvSpPr/>
          <p:nvPr/>
        </p:nvSpPr>
        <p:spPr>
          <a:xfrm>
            <a:off x="743944" y="2911867"/>
            <a:ext cx="6461296" cy="57349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743944" y="3045681"/>
            <a:ext cx="1529301" cy="841115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Britain's oldest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known house was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built in Orkney,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Scotland</a:t>
            </a:r>
          </a:p>
        </p:txBody>
      </p:sp>
      <p:sp>
        <p:nvSpPr>
          <p:cNvPr id="20" name="Box 10"/>
          <p:cNvSpPr/>
          <p:nvPr/>
        </p:nvSpPr>
        <p:spPr>
          <a:xfrm>
            <a:off x="2387942" y="3045681"/>
            <a:ext cx="1529301" cy="1166092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Sea levels rise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Britain becomes 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island.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 people who live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here are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hunter-gatherers.</a:t>
            </a:r>
          </a:p>
        </p:txBody>
      </p:sp>
      <p:sp>
        <p:nvSpPr>
          <p:cNvPr id="21" name="Box 11"/>
          <p:cNvSpPr/>
          <p:nvPr/>
        </p:nvSpPr>
        <p:spPr>
          <a:xfrm>
            <a:off x="4031941" y="3045681"/>
            <a:ext cx="1529301" cy="1003604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People arrive from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Europe and settle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in Britain.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They bring farming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and metalworking.</a:t>
            </a:r>
          </a:p>
        </p:txBody>
      </p:sp>
      <p:sp>
        <p:nvSpPr>
          <p:cNvPr id="22" name="Box 12"/>
          <p:cNvSpPr/>
          <p:nvPr/>
        </p:nvSpPr>
        <p:spPr>
          <a:xfrm>
            <a:off x="4031941" y="4125750"/>
            <a:ext cx="1529301" cy="841115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New styles of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pottery and ways of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burying the dead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appear.</a:t>
            </a:r>
          </a:p>
        </p:txBody>
      </p:sp>
      <p:sp>
        <p:nvSpPr>
          <p:cNvPr id="23" name="Box 13"/>
          <p:cNvSpPr/>
          <p:nvPr/>
        </p:nvSpPr>
        <p:spPr>
          <a:xfrm>
            <a:off x="5675939" y="3045681"/>
            <a:ext cx="1529301" cy="1328580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 last major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building works are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completed at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Stonehenge.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People now bury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their dead in stone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circles.</a:t>
            </a:r>
          </a:p>
        </p:txBody>
      </p:sp>
      <p:sp>
        <p:nvSpPr>
          <p:cNvPr id="24" name="Box 14"/>
          <p:cNvSpPr/>
          <p:nvPr/>
        </p:nvSpPr>
        <p:spPr>
          <a:xfrm>
            <a:off x="5675939" y="4450726"/>
            <a:ext cx="1529301" cy="1166092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 first metal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objects are made 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Britain.Some other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nice things happen.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it is a good time to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be alive.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timeline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title England's History Timeline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section Stone Age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7600 BC : Britain's oldest known house was built in Orkney, Scotland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6000 BC : Sea levels rise and Britain becomes an island.&lt;br&gt; The people who live here are hunter-gatherers.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section Bronze Age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2300 BC : People arrive from Europe and settle in Britain. &lt;br&gt;They bring farming and metalworking.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      : New styles of pottery and ways of burying the dead appear.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2200 BC : The last major building works are completed at Stonehenge.&lt;br&gt; People now bury their dead in stone circles.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      : The first metal objects are made in Britain.Some other nice things happen. it is a good time to be alive.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tree-view</a:t>
            </a:r>
          </a:p>
        </p:txBody>
      </p:sp>
      <p:sp>
        <p:nvSpPr>
          <p:cNvPr id="11" name="Box 1"/>
          <p:cNvSpPr/>
          <p:nvPr/>
        </p:nvSpPr>
        <p:spPr>
          <a:xfrm>
            <a:off x="2036454" y="1768570"/>
            <a:ext cx="32168" cy="3216826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2" name="Box 2"/>
          <p:cNvSpPr/>
          <p:nvPr/>
        </p:nvSpPr>
        <p:spPr>
          <a:xfrm>
            <a:off x="1875613" y="1446887"/>
            <a:ext cx="154407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packages/</a:t>
            </a:r>
          </a:p>
        </p:txBody>
      </p:sp>
      <p:sp>
        <p:nvSpPr>
          <p:cNvPr id="13" name="Box 3"/>
          <p:cNvSpPr/>
          <p:nvPr/>
        </p:nvSpPr>
        <p:spPr>
          <a:xfrm>
            <a:off x="2036454" y="2025916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4" name="Box 4"/>
          <p:cNvSpPr/>
          <p:nvPr/>
        </p:nvSpPr>
        <p:spPr>
          <a:xfrm>
            <a:off x="2454642" y="2186757"/>
            <a:ext cx="32168" cy="1962264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5" name="Box 5"/>
          <p:cNvSpPr/>
          <p:nvPr/>
        </p:nvSpPr>
        <p:spPr>
          <a:xfrm>
            <a:off x="2293800" y="1865075"/>
            <a:ext cx="99721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core/</a:t>
            </a:r>
          </a:p>
        </p:txBody>
      </p:sp>
      <p:sp>
        <p:nvSpPr>
          <p:cNvPr id="16" name="Box 6"/>
          <p:cNvSpPr/>
          <p:nvPr/>
        </p:nvSpPr>
        <p:spPr>
          <a:xfrm>
            <a:off x="3291016" y="1865075"/>
            <a:ext cx="133498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2026" dirty="0">
                <a:solidFill>
                  <a:srgbClr val="595959"/>
                </a:solidFill>
              </a:rPr>
              <a:t>the moat</a:t>
            </a:r>
          </a:p>
        </p:txBody>
      </p:sp>
      <p:sp>
        <p:nvSpPr>
          <p:cNvPr id="17" name="Box 7"/>
          <p:cNvSpPr/>
          <p:nvPr/>
        </p:nvSpPr>
        <p:spPr>
          <a:xfrm>
            <a:off x="2454642" y="2444104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8" name="Box 8"/>
          <p:cNvSpPr/>
          <p:nvPr/>
        </p:nvSpPr>
        <p:spPr>
          <a:xfrm>
            <a:off x="2872829" y="2604945"/>
            <a:ext cx="32168" cy="1125889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2711988" y="2283262"/>
            <a:ext cx="86854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src/</a:t>
            </a:r>
          </a:p>
        </p:txBody>
      </p:sp>
      <p:sp>
        <p:nvSpPr>
          <p:cNvPr id="20" name="Box 10"/>
          <p:cNvSpPr/>
          <p:nvPr/>
        </p:nvSpPr>
        <p:spPr>
          <a:xfrm>
            <a:off x="2872829" y="2862291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1" name="Box 11"/>
          <p:cNvSpPr/>
          <p:nvPr/>
        </p:nvSpPr>
        <p:spPr>
          <a:xfrm>
            <a:off x="3130175" y="2701450"/>
            <a:ext cx="127064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parser/</a:t>
            </a:r>
          </a:p>
        </p:txBody>
      </p:sp>
      <p:sp>
        <p:nvSpPr>
          <p:cNvPr id="22" name="Box 12"/>
          <p:cNvSpPr/>
          <p:nvPr/>
        </p:nvSpPr>
        <p:spPr>
          <a:xfrm>
            <a:off x="2872829" y="3280478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3130175" y="3119637"/>
            <a:ext cx="181750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translator/</a:t>
            </a:r>
          </a:p>
        </p:txBody>
      </p:sp>
      <p:sp>
        <p:nvSpPr>
          <p:cNvPr id="24" name="Box 14"/>
          <p:cNvSpPr/>
          <p:nvPr/>
        </p:nvSpPr>
        <p:spPr>
          <a:xfrm>
            <a:off x="2872829" y="3698666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3130175" y="3537825"/>
            <a:ext cx="1415404" cy="353851"/>
          </a:xfrm>
          <a:prstGeom prst="rect">
            <a:avLst/>
          </a:prstGeom>
          <a:solidFill>
            <a:srgbClr val="FFF2CC"/>
          </a:solidFill>
          <a:ln w="16084">
            <a:solidFill>
              <a:srgbClr val="BF9000"/>
            </a:solidFill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index.ts</a:t>
            </a:r>
          </a:p>
        </p:txBody>
      </p:sp>
      <p:sp>
        <p:nvSpPr>
          <p:cNvPr id="26" name="Box 16"/>
          <p:cNvSpPr/>
          <p:nvPr/>
        </p:nvSpPr>
        <p:spPr>
          <a:xfrm>
            <a:off x="2454642" y="4116853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2711988" y="3956012"/>
            <a:ext cx="1946180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package.json</a:t>
            </a:r>
          </a:p>
        </p:txBody>
      </p:sp>
      <p:sp>
        <p:nvSpPr>
          <p:cNvPr id="28" name="Box 18"/>
          <p:cNvSpPr/>
          <p:nvPr/>
        </p:nvSpPr>
        <p:spPr>
          <a:xfrm>
            <a:off x="2036454" y="4535041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9" name="Box 19"/>
          <p:cNvSpPr/>
          <p:nvPr/>
        </p:nvSpPr>
        <p:spPr>
          <a:xfrm>
            <a:off x="2293800" y="4374199"/>
            <a:ext cx="86854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cli/</a:t>
            </a:r>
          </a:p>
        </p:txBody>
      </p:sp>
      <p:sp>
        <p:nvSpPr>
          <p:cNvPr id="30" name="Box 20"/>
          <p:cNvSpPr/>
          <p:nvPr/>
        </p:nvSpPr>
        <p:spPr>
          <a:xfrm>
            <a:off x="2036454" y="4953228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1" name="Box 21"/>
          <p:cNvSpPr/>
          <p:nvPr/>
        </p:nvSpPr>
        <p:spPr>
          <a:xfrm>
            <a:off x="2293800" y="4792387"/>
            <a:ext cx="228394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README file.md</a:t>
            </a:r>
          </a:p>
        </p:txBody>
      </p:sp>
      <p:sp>
        <p:nvSpPr>
          <p:cNvPr id="32" name="Box 22"/>
          <p:cNvSpPr/>
          <p:nvPr/>
        </p:nvSpPr>
        <p:spPr>
          <a:xfrm>
            <a:off x="4577747" y="4792387"/>
            <a:ext cx="1753170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2026" dirty="0">
                <a:solidFill>
                  <a:srgbClr val="595959"/>
                </a:solidFill>
              </a:rPr>
              <a:t>quick start</a:t>
            </a:r>
          </a:p>
        </p:txBody>
      </p:sp>
      <p:sp>
        <p:nvSpPr>
          <p:cNvPr id="33" name="Box 23"/>
          <p:cNvSpPr/>
          <p:nvPr/>
        </p:nvSpPr>
        <p:spPr>
          <a:xfrm>
            <a:off x="2036454" y="5532257"/>
            <a:ext cx="32168" cy="289514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1875613" y="5210574"/>
            <a:ext cx="99721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docs/</a:t>
            </a:r>
          </a:p>
        </p:txBody>
      </p:sp>
      <p:sp>
        <p:nvSpPr>
          <p:cNvPr id="35" name="Box 25"/>
          <p:cNvSpPr/>
          <p:nvPr/>
        </p:nvSpPr>
        <p:spPr>
          <a:xfrm>
            <a:off x="2036454" y="5789603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6" name="Box 26"/>
          <p:cNvSpPr/>
          <p:nvPr/>
        </p:nvSpPr>
        <p:spPr>
          <a:xfrm>
            <a:off x="2293800" y="5628762"/>
            <a:ext cx="114197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specs/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treeView-beta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"packages/"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"core/" ## the moat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"src/"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    parser/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    translator/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    index.ts:::highlight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package.json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cli/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"README file.md" ## quick start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docs/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specs/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tree</a:t>
            </a:r>
          </a:p>
        </p:txBody>
      </p:sp>
      <p:sp>
        <p:nvSpPr>
          <p:cNvPr id="12" name="Racine" descr="Racine"/>
          <p:cNvSpPr/>
          <p:nvPr/>
        </p:nvSpPr>
        <p:spPr>
          <a:xfrm>
            <a:off x="2761169" y="2236370"/>
            <a:ext cx="927731" cy="575992"/>
          </a:xfrm>
          <a:prstGeom prst="rect">
            <a:avLst/>
          </a:prstGeom>
          <a:solidFill>
            <a:srgbClr val="FFCDD2"/>
          </a:solidFill>
          <a:ln w="10240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727" tIns="36863" rIns="73727" bIns="368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Racine</a:t>
            </a:r>
          </a:p>
        </p:txBody>
      </p:sp>
      <p:sp>
        <p:nvSpPr>
          <p:cNvPr id="13" name="Noeud L1" descr="N1"/>
          <p:cNvSpPr/>
          <p:nvPr/>
        </p:nvSpPr>
        <p:spPr>
          <a:xfrm>
            <a:off x="1171737" y="3426754"/>
            <a:ext cx="1108362" cy="575992"/>
          </a:xfrm>
          <a:prstGeom prst="rect">
            <a:avLst/>
          </a:prstGeom>
          <a:solidFill>
            <a:srgbClr val="FFF9C4"/>
          </a:solidFill>
          <a:ln w="10240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727" tIns="36863" rIns="73727" bIns="368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Noeud L1</a:t>
            </a:r>
          </a:p>
        </p:txBody>
      </p:sp>
      <p:sp>
        <p:nvSpPr>
          <p:cNvPr id="14" name="Feuille" descr="N1a"/>
          <p:cNvSpPr/>
          <p:nvPr/>
        </p:nvSpPr>
        <p:spPr>
          <a:xfrm>
            <a:off x="457200" y="4617138"/>
            <a:ext cx="1038322" cy="575992"/>
          </a:xfrm>
          <a:prstGeom prst="rect">
            <a:avLst/>
          </a:prstGeom>
          <a:solidFill>
            <a:srgbClr val="BBDEFB"/>
          </a:solidFill>
          <a:ln w="10240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727" tIns="36863" rIns="73727" bIns="368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Feuille</a:t>
            </a:r>
          </a:p>
        </p:txBody>
      </p:sp>
      <p:sp>
        <p:nvSpPr>
          <p:cNvPr id="15" name="Feuille" descr="N1b"/>
          <p:cNvSpPr/>
          <p:nvPr/>
        </p:nvSpPr>
        <p:spPr>
          <a:xfrm>
            <a:off x="1956316" y="4617138"/>
            <a:ext cx="1038322" cy="575992"/>
          </a:xfrm>
          <a:prstGeom prst="rect">
            <a:avLst/>
          </a:prstGeom>
          <a:solidFill>
            <a:srgbClr val="C8E6C9"/>
          </a:solidFill>
          <a:ln w="10240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727" tIns="36863" rIns="73727" bIns="368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Feuille</a:t>
            </a:r>
          </a:p>
        </p:txBody>
      </p:sp>
      <p:sp>
        <p:nvSpPr>
          <p:cNvPr id="16" name="Noeud L1 bis" descr="N2"/>
          <p:cNvSpPr/>
          <p:nvPr/>
        </p:nvSpPr>
        <p:spPr>
          <a:xfrm>
            <a:off x="4725993" y="3426754"/>
            <a:ext cx="1495429" cy="575992"/>
          </a:xfrm>
          <a:prstGeom prst="rect">
            <a:avLst/>
          </a:prstGeom>
          <a:solidFill>
            <a:srgbClr val="FFE0B2"/>
          </a:solidFill>
          <a:ln w="10240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727" tIns="36863" rIns="73727" bIns="368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Noeud L1 bis</a:t>
            </a:r>
          </a:p>
        </p:txBody>
      </p:sp>
      <p:sp>
        <p:nvSpPr>
          <p:cNvPr id="17" name="Feuille" descr="N2a"/>
          <p:cNvSpPr/>
          <p:nvPr/>
        </p:nvSpPr>
        <p:spPr>
          <a:xfrm>
            <a:off x="3455431" y="4617138"/>
            <a:ext cx="1038322" cy="575992"/>
          </a:xfrm>
          <a:prstGeom prst="rect">
            <a:avLst/>
          </a:prstGeom>
          <a:solidFill>
            <a:srgbClr val="E1BEE7"/>
          </a:solidFill>
          <a:ln w="10240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727" tIns="36863" rIns="73727" bIns="368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Feuille</a:t>
            </a:r>
          </a:p>
        </p:txBody>
      </p:sp>
      <p:sp>
        <p:nvSpPr>
          <p:cNvPr id="18" name="Feuille" descr="N2b"/>
          <p:cNvSpPr/>
          <p:nvPr/>
        </p:nvSpPr>
        <p:spPr>
          <a:xfrm>
            <a:off x="4954547" y="4617138"/>
            <a:ext cx="1038322" cy="575992"/>
          </a:xfrm>
          <a:prstGeom prst="rect">
            <a:avLst/>
          </a:prstGeom>
          <a:solidFill>
            <a:srgbClr val="FFCDD2"/>
          </a:solidFill>
          <a:ln w="10240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727" tIns="36863" rIns="73727" bIns="368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Feuille</a:t>
            </a:r>
          </a:p>
        </p:txBody>
      </p:sp>
      <p:sp>
        <p:nvSpPr>
          <p:cNvPr id="19" name="Feuille" descr="N2c"/>
          <p:cNvSpPr/>
          <p:nvPr/>
        </p:nvSpPr>
        <p:spPr>
          <a:xfrm>
            <a:off x="6453662" y="4617138"/>
            <a:ext cx="1038322" cy="575992"/>
          </a:xfrm>
          <a:prstGeom prst="rect">
            <a:avLst/>
          </a:prstGeom>
          <a:solidFill>
            <a:srgbClr val="FFF9C4"/>
          </a:solidFill>
          <a:ln w="10240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727" tIns="36863" rIns="73727" bIns="3686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Feuille</a:t>
            </a:r>
          </a:p>
        </p:txBody>
      </p:sp>
      <p:cxnSp>
        <p:nvCxnSpPr>
          <p:cNvPr id="20" name="Racine--N1"/>
          <p:cNvCxnSpPr>
            <a:stCxn id="12" idx="1"/>
            <a:endCxn id="13" idx="3"/>
          </p:cNvCxnSpPr>
          <p:nvPr/>
        </p:nvCxnSpPr>
        <p:spPr>
          <a:xfrm flipH="1">
            <a:off x="2280100" y="2524366"/>
            <a:ext cx="481069" cy="1190384"/>
          </a:xfrm>
          <a:prstGeom prst="line">
            <a:avLst/>
          </a:prstGeom>
          <a:ln w="102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1--N1a"/>
          <p:cNvCxnSpPr>
            <a:stCxn id="13" idx="2"/>
            <a:endCxn id="14" idx="0"/>
          </p:cNvCxnSpPr>
          <p:nvPr/>
        </p:nvCxnSpPr>
        <p:spPr>
          <a:xfrm flipH="1">
            <a:off x="976361" y="4002746"/>
            <a:ext cx="749558" cy="614392"/>
          </a:xfrm>
          <a:prstGeom prst="line">
            <a:avLst/>
          </a:prstGeom>
          <a:ln w="102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1--N1b"/>
          <p:cNvCxnSpPr>
            <a:stCxn id="13" idx="2"/>
            <a:endCxn id="15" idx="0"/>
          </p:cNvCxnSpPr>
          <p:nvPr/>
        </p:nvCxnSpPr>
        <p:spPr>
          <a:xfrm>
            <a:off x="1725919" y="4002746"/>
            <a:ext cx="749557" cy="614392"/>
          </a:xfrm>
          <a:prstGeom prst="line">
            <a:avLst/>
          </a:prstGeom>
          <a:ln w="102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acine--N2"/>
          <p:cNvCxnSpPr>
            <a:stCxn id="12" idx="3"/>
            <a:endCxn id="16" idx="1"/>
          </p:cNvCxnSpPr>
          <p:nvPr/>
        </p:nvCxnSpPr>
        <p:spPr>
          <a:xfrm>
            <a:off x="3688900" y="2524366"/>
            <a:ext cx="1037093" cy="1190384"/>
          </a:xfrm>
          <a:prstGeom prst="line">
            <a:avLst/>
          </a:prstGeom>
          <a:ln w="102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2--N2a"/>
          <p:cNvCxnSpPr>
            <a:stCxn id="16" idx="1"/>
            <a:endCxn id="17" idx="3"/>
          </p:cNvCxnSpPr>
          <p:nvPr/>
        </p:nvCxnSpPr>
        <p:spPr>
          <a:xfrm flipH="1">
            <a:off x="4493753" y="3714750"/>
            <a:ext cx="232240" cy="1190384"/>
          </a:xfrm>
          <a:prstGeom prst="line">
            <a:avLst/>
          </a:prstGeom>
          <a:ln w="102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2--N2b"/>
          <p:cNvCxnSpPr>
            <a:stCxn id="16" idx="2"/>
            <a:endCxn id="18" idx="0"/>
          </p:cNvCxnSpPr>
          <p:nvPr/>
        </p:nvCxnSpPr>
        <p:spPr>
          <a:xfrm>
            <a:off x="5473708" y="4002746"/>
            <a:ext cx="0" cy="614392"/>
          </a:xfrm>
          <a:prstGeom prst="line">
            <a:avLst/>
          </a:prstGeom>
          <a:ln w="102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2--N2c"/>
          <p:cNvCxnSpPr>
            <a:stCxn id="16" idx="3"/>
            <a:endCxn id="19" idx="1"/>
          </p:cNvCxnSpPr>
          <p:nvPr/>
        </p:nvCxnSpPr>
        <p:spPr>
          <a:xfrm>
            <a:off x="6221422" y="3714750"/>
            <a:ext cx="232240" cy="1190384"/>
          </a:xfrm>
          <a:prstGeom prst="line">
            <a:avLst/>
          </a:prstGeom>
          <a:ln w="10240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Racine[Racine] --&gt; N1[Noeud L1] --&gt; N1a[Feuille]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N1 --&gt; N1b[Feuille]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Racine --&gt; N2[Noeud L1 bis]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N2 --&gt; N2a[Feuille]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N2 --&gt; N2b[Feuille]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N2 --&gt; N2c[Feuille]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style Racine fill:#FFCDD2,stroke:#C62828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style N1 fill:#FFF9C4,stroke:#F9A825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style N1a fill:#BBDEFB,stroke:#1565C0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style N1b fill:#C8E6C9,stroke:#2E7D32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style N2 fill:#FFE0B2,stroke:#E65100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style N2a fill:#E1BEE7,stroke:#6A1B9A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style N2b fill:#FFCDD2,stroke:#C62828</a:t>
            </a:r>
          </a:p>
          <a:p>
            <a:pPr algn="l"/>
            <a:r>
              <a:rPr lang="en-US" sz="1350" dirty="0">
                <a:solidFill>
                  <a:srgbClr val="1F2937"/>
                </a:solidFill>
                <a:latin typeface="Consolas"/>
                <a:cs typeface="Consolas"/>
              </a:rPr>
              <a:t>    style N2c fill:#FFF9C4,stroke:#F9A825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treemap</a:t>
            </a:r>
          </a:p>
        </p:txBody>
      </p:sp>
      <p:sp>
        <p:nvSpPr>
          <p:cNvPr id="11" name="Box 1"/>
          <p:cNvSpPr/>
          <p:nvPr/>
        </p:nvSpPr>
        <p:spPr>
          <a:xfrm>
            <a:off x="633070" y="1582331"/>
            <a:ext cx="5118928" cy="4264838"/>
          </a:xfrm>
          <a:prstGeom prst="rect">
            <a:avLst/>
          </a:prstGeom>
          <a:solidFill>
            <a:srgbClr val="ABC0E4"/>
          </a:solidFill>
          <a:ln w="10992">
            <a:solidFill>
              <a:srgbClr val="FFFFFF"/>
            </a:solidFill>
          </a:ln>
        </p:spPr>
      </p:sp>
      <p:sp>
        <p:nvSpPr>
          <p:cNvPr id="12" name="Box 2"/>
          <p:cNvSpPr/>
          <p:nvPr/>
        </p:nvSpPr>
        <p:spPr>
          <a:xfrm>
            <a:off x="633070" y="1582331"/>
            <a:ext cx="5118928" cy="241821"/>
          </a:xfrm>
          <a:prstGeom prst="rect">
            <a:avLst/>
          </a:prstGeom>
          <a:solidFill>
            <a:srgbClr val="698ED0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54" dirty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13" name="Box 3"/>
          <p:cNvSpPr/>
          <p:nvPr/>
        </p:nvSpPr>
        <p:spPr>
          <a:xfrm>
            <a:off x="677037" y="1868119"/>
            <a:ext cx="2794996" cy="3935082"/>
          </a:xfrm>
          <a:prstGeom prst="rect">
            <a:avLst/>
          </a:prstGeom>
          <a:solidFill>
            <a:srgbClr val="C1D0EC"/>
          </a:solidFill>
          <a:ln w="10992">
            <a:solidFill>
              <a:srgbClr val="FFFFFF"/>
            </a:solidFill>
          </a:ln>
        </p:spPr>
      </p:sp>
      <p:sp>
        <p:nvSpPr>
          <p:cNvPr id="14" name="Box 4"/>
          <p:cNvSpPr/>
          <p:nvPr/>
        </p:nvSpPr>
        <p:spPr>
          <a:xfrm>
            <a:off x="677037" y="1868119"/>
            <a:ext cx="2794996" cy="241821"/>
          </a:xfrm>
          <a:prstGeom prst="rect">
            <a:avLst/>
          </a:prstGeom>
          <a:solidFill>
            <a:srgbClr val="85A3D9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54" dirty="0">
                <a:solidFill>
                  <a:srgbClr val="000000"/>
                </a:solidFill>
              </a:rPr>
              <a:t>Electronics</a:t>
            </a:r>
          </a:p>
        </p:txBody>
      </p:sp>
      <p:sp>
        <p:nvSpPr>
          <p:cNvPr id="15" name="Box 5"/>
          <p:cNvSpPr/>
          <p:nvPr/>
        </p:nvSpPr>
        <p:spPr>
          <a:xfrm>
            <a:off x="721004" y="2153907"/>
            <a:ext cx="2707061" cy="1802663"/>
          </a:xfrm>
          <a:prstGeom prst="rect">
            <a:avLst/>
          </a:prstGeom>
          <a:solidFill>
            <a:srgbClr val="BECEEA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Phones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50</a:t>
            </a:r>
          </a:p>
        </p:txBody>
      </p:sp>
      <p:sp>
        <p:nvSpPr>
          <p:cNvPr id="16" name="Box 6"/>
          <p:cNvSpPr/>
          <p:nvPr/>
        </p:nvSpPr>
        <p:spPr>
          <a:xfrm>
            <a:off x="721004" y="3956571"/>
            <a:ext cx="1624237" cy="1802663"/>
          </a:xfrm>
          <a:prstGeom prst="rect">
            <a:avLst/>
          </a:prstGeom>
          <a:solidFill>
            <a:srgbClr val="BECEEA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Computers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17" name="Box 7"/>
          <p:cNvSpPr/>
          <p:nvPr/>
        </p:nvSpPr>
        <p:spPr>
          <a:xfrm>
            <a:off x="2345241" y="3956571"/>
            <a:ext cx="1082825" cy="1802663"/>
          </a:xfrm>
          <a:prstGeom prst="rect">
            <a:avLst/>
          </a:prstGeom>
          <a:solidFill>
            <a:srgbClr val="BECEEA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Accessories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18" name="Box 8"/>
          <p:cNvSpPr/>
          <p:nvPr/>
        </p:nvSpPr>
        <p:spPr>
          <a:xfrm>
            <a:off x="3472033" y="1868119"/>
            <a:ext cx="2235997" cy="3935082"/>
          </a:xfrm>
          <a:prstGeom prst="rect">
            <a:avLst/>
          </a:prstGeom>
          <a:solidFill>
            <a:srgbClr val="C1D0EC"/>
          </a:solidFill>
          <a:ln w="10992">
            <a:solidFill>
              <a:srgbClr val="FFFFFF"/>
            </a:solidFill>
          </a:ln>
        </p:spPr>
      </p:sp>
      <p:sp>
        <p:nvSpPr>
          <p:cNvPr id="19" name="Box 9"/>
          <p:cNvSpPr/>
          <p:nvPr/>
        </p:nvSpPr>
        <p:spPr>
          <a:xfrm>
            <a:off x="3472033" y="1868119"/>
            <a:ext cx="2235997" cy="241821"/>
          </a:xfrm>
          <a:prstGeom prst="rect">
            <a:avLst/>
          </a:prstGeom>
          <a:solidFill>
            <a:srgbClr val="85A3D9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54" dirty="0">
                <a:solidFill>
                  <a:srgbClr val="000000"/>
                </a:solidFill>
              </a:rPr>
              <a:t>Clothing</a:t>
            </a:r>
          </a:p>
        </p:txBody>
      </p:sp>
      <p:sp>
        <p:nvSpPr>
          <p:cNvPr id="20" name="Box 10"/>
          <p:cNvSpPr/>
          <p:nvPr/>
        </p:nvSpPr>
        <p:spPr>
          <a:xfrm>
            <a:off x="3516000" y="2153907"/>
            <a:ext cx="2148063" cy="1802663"/>
          </a:xfrm>
          <a:prstGeom prst="rect">
            <a:avLst/>
          </a:prstGeom>
          <a:solidFill>
            <a:srgbClr val="BECEEA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Men's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1" name="Box 11"/>
          <p:cNvSpPr/>
          <p:nvPr/>
        </p:nvSpPr>
        <p:spPr>
          <a:xfrm>
            <a:off x="3516000" y="3956571"/>
            <a:ext cx="2148063" cy="1802663"/>
          </a:xfrm>
          <a:prstGeom prst="rect">
            <a:avLst/>
          </a:prstGeom>
          <a:solidFill>
            <a:srgbClr val="FF9966"/>
          </a:solidFill>
          <a:ln w="10992">
            <a:solidFill>
              <a:srgbClr val="333333"/>
            </a:solidFill>
          </a:ln>
        </p:spPr>
      </p:sp>
      <p:sp>
        <p:nvSpPr>
          <p:cNvPr id="22" name="Box 12"/>
          <p:cNvSpPr/>
          <p:nvPr/>
        </p:nvSpPr>
        <p:spPr>
          <a:xfrm>
            <a:off x="3516000" y="3956571"/>
            <a:ext cx="2148063" cy="241821"/>
          </a:xfrm>
          <a:prstGeom prst="rect">
            <a:avLst/>
          </a:prstGeom>
          <a:solidFill>
            <a:srgbClr val="FF9966"/>
          </a:solidFill>
          <a:ln w="10992">
            <a:solidFill>
              <a:srgbClr val="333333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54" dirty="0">
                <a:solidFill>
                  <a:srgbClr val="000000"/>
                </a:solidFill>
              </a:rPr>
              <a:t>Women's</a:t>
            </a:r>
          </a:p>
        </p:txBody>
      </p:sp>
      <p:sp>
        <p:nvSpPr>
          <p:cNvPr id="23" name="Box 13"/>
          <p:cNvSpPr/>
          <p:nvPr/>
        </p:nvSpPr>
        <p:spPr>
          <a:xfrm>
            <a:off x="3559968" y="4242359"/>
            <a:ext cx="1287580" cy="1472908"/>
          </a:xfrm>
          <a:prstGeom prst="rect">
            <a:avLst/>
          </a:prstGeom>
          <a:solidFill>
            <a:srgbClr val="DAE3F3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Dresses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4" name="Box 14"/>
          <p:cNvSpPr/>
          <p:nvPr/>
        </p:nvSpPr>
        <p:spPr>
          <a:xfrm>
            <a:off x="4847548" y="4242359"/>
            <a:ext cx="772548" cy="1472908"/>
          </a:xfrm>
          <a:prstGeom prst="rect">
            <a:avLst/>
          </a:prstGeom>
          <a:solidFill>
            <a:srgbClr val="DAE3F3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Tops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25" name="Box 15"/>
          <p:cNvSpPr/>
          <p:nvPr/>
        </p:nvSpPr>
        <p:spPr>
          <a:xfrm>
            <a:off x="5751998" y="1582331"/>
            <a:ext cx="1564117" cy="4264838"/>
          </a:xfrm>
          <a:prstGeom prst="rect">
            <a:avLst/>
          </a:prstGeom>
          <a:solidFill>
            <a:srgbClr val="F7C5A2"/>
          </a:solidFill>
          <a:ln w="10992">
            <a:solidFill>
              <a:srgbClr val="FFFFFF"/>
            </a:solidFill>
          </a:ln>
        </p:spPr>
      </p:sp>
      <p:sp>
        <p:nvSpPr>
          <p:cNvPr id="26" name="Box 16"/>
          <p:cNvSpPr/>
          <p:nvPr/>
        </p:nvSpPr>
        <p:spPr>
          <a:xfrm>
            <a:off x="5751998" y="1582331"/>
            <a:ext cx="1564117" cy="241821"/>
          </a:xfrm>
          <a:prstGeom prst="rect">
            <a:avLst/>
          </a:prstGeom>
          <a:solidFill>
            <a:srgbClr val="F1975A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54" dirty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27" name="Box 17"/>
          <p:cNvSpPr/>
          <p:nvPr/>
        </p:nvSpPr>
        <p:spPr>
          <a:xfrm>
            <a:off x="5795965" y="1868119"/>
            <a:ext cx="1476182" cy="2504143"/>
          </a:xfrm>
          <a:prstGeom prst="rect">
            <a:avLst/>
          </a:prstGeom>
          <a:solidFill>
            <a:srgbClr val="F6BE98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Support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35</a:t>
            </a:r>
          </a:p>
        </p:txBody>
      </p:sp>
      <p:sp>
        <p:nvSpPr>
          <p:cNvPr id="28" name="Box 18"/>
          <p:cNvSpPr/>
          <p:nvPr/>
        </p:nvSpPr>
        <p:spPr>
          <a:xfrm>
            <a:off x="5795965" y="4372262"/>
            <a:ext cx="885709" cy="1430939"/>
          </a:xfrm>
          <a:prstGeom prst="rect">
            <a:avLst/>
          </a:prstGeom>
          <a:solidFill>
            <a:srgbClr val="F6BE98"/>
          </a:solidFill>
          <a:ln w="10992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Consulting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4" dirty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29" name="Box 19"/>
          <p:cNvSpPr/>
          <p:nvPr/>
        </p:nvSpPr>
        <p:spPr>
          <a:xfrm>
            <a:off x="6681674" y="4372262"/>
            <a:ext cx="590473" cy="1430939"/>
          </a:xfrm>
          <a:prstGeom prst="rect">
            <a:avLst/>
          </a:prstGeom>
          <a:solidFill>
            <a:srgbClr val="F6BE98"/>
          </a:solidFill>
          <a:ln w="10992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23" dirty="0">
                <a:solidFill>
                  <a:srgbClr val="000000"/>
                </a:solidFill>
              </a:rPr>
              <a:t>Training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23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treemap-beta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"Products"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"Electronics"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"Phones": 50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"Computers": 30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"Accessories": 20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"Clothing"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"Men's": 40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"Women's":::important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"Dresses": 25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        "Tops": 15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"Services"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"Support": 35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"Consulting": 12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"Training": 8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classDef important fill:#f96,stroke:#333,color:#000;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venn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1389390" y="1028700"/>
            <a:ext cx="5170404" cy="426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25" dirty="0">
                <a:solidFill>
                  <a:srgbClr val="000000"/>
                </a:solidFill>
              </a:rPr>
              <a:t>Skills coverage</a:t>
            </a:r>
          </a:p>
        </p:txBody>
      </p:sp>
      <p:sp>
        <p:nvSpPr>
          <p:cNvPr id="12" name="Set 2"/>
          <p:cNvSpPr/>
          <p:nvPr/>
        </p:nvSpPr>
        <p:spPr>
          <a:xfrm>
            <a:off x="2713991" y="1940212"/>
            <a:ext cx="2521202" cy="2521202"/>
          </a:xfrm>
          <a:prstGeom prst="ellipse">
            <a:avLst/>
          </a:prstGeom>
          <a:solidFill>
            <a:srgbClr val="BBDEFB">
              <a:alpha val="60000"/>
            </a:srgbClr>
          </a:solidFill>
          <a:ln w="19394">
            <a:solidFill>
              <a:srgbClr val="BBDEFB"/>
            </a:solidFill>
          </a:ln>
        </p:spPr>
      </p:sp>
      <p:sp>
        <p:nvSpPr>
          <p:cNvPr id="13" name="Set 3"/>
          <p:cNvSpPr/>
          <p:nvPr/>
        </p:nvSpPr>
        <p:spPr>
          <a:xfrm>
            <a:off x="1874237" y="3394751"/>
            <a:ext cx="2521202" cy="2521202"/>
          </a:xfrm>
          <a:prstGeom prst="ellipse">
            <a:avLst/>
          </a:prstGeom>
          <a:solidFill>
            <a:srgbClr val="C8E6C9">
              <a:alpha val="60000"/>
            </a:srgbClr>
          </a:solidFill>
          <a:ln w="19394">
            <a:solidFill>
              <a:srgbClr val="C8E6C9"/>
            </a:solidFill>
          </a:ln>
        </p:spPr>
      </p:sp>
      <p:sp>
        <p:nvSpPr>
          <p:cNvPr id="14" name="Set 4"/>
          <p:cNvSpPr/>
          <p:nvPr/>
        </p:nvSpPr>
        <p:spPr>
          <a:xfrm>
            <a:off x="3553745" y="3394751"/>
            <a:ext cx="2521202" cy="2521202"/>
          </a:xfrm>
          <a:prstGeom prst="ellipse">
            <a:avLst/>
          </a:prstGeom>
          <a:solidFill>
            <a:srgbClr val="FFE0B2">
              <a:alpha val="60000"/>
            </a:srgbClr>
          </a:solidFill>
          <a:ln w="19394">
            <a:solidFill>
              <a:srgbClr val="FFE0B2"/>
            </a:solidFill>
          </a:ln>
        </p:spPr>
      </p:sp>
      <p:sp>
        <p:nvSpPr>
          <p:cNvPr id="15" name="Text 5"/>
          <p:cNvSpPr txBox="1"/>
          <p:nvPr/>
        </p:nvSpPr>
        <p:spPr>
          <a:xfrm>
            <a:off x="3702593" y="2420210"/>
            <a:ext cx="543998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Design</a:t>
            </a:r>
          </a:p>
        </p:txBody>
      </p:sp>
      <p:sp>
        <p:nvSpPr>
          <p:cNvPr id="16" name="Text 6"/>
          <p:cNvSpPr txBox="1"/>
          <p:nvPr/>
        </p:nvSpPr>
        <p:spPr>
          <a:xfrm>
            <a:off x="2338037" y="4914753"/>
            <a:ext cx="392726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17" name="Text 7"/>
          <p:cNvSpPr txBox="1"/>
          <p:nvPr/>
        </p:nvSpPr>
        <p:spPr>
          <a:xfrm>
            <a:off x="5104967" y="4914753"/>
            <a:ext cx="619634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Writing</a:t>
            </a:r>
          </a:p>
        </p:txBody>
      </p:sp>
      <p:sp>
        <p:nvSpPr>
          <p:cNvPr id="18" name="Text 8"/>
          <p:cNvSpPr txBox="1"/>
          <p:nvPr/>
        </p:nvSpPr>
        <p:spPr>
          <a:xfrm>
            <a:off x="2847366" y="3692928"/>
            <a:ext cx="868845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Design+Code</a:t>
            </a:r>
          </a:p>
        </p:txBody>
      </p:sp>
      <p:sp>
        <p:nvSpPr>
          <p:cNvPr id="19" name="Text 9"/>
          <p:cNvSpPr txBox="1"/>
          <p:nvPr/>
        </p:nvSpPr>
        <p:spPr>
          <a:xfrm>
            <a:off x="3505261" y="4892928"/>
            <a:ext cx="938663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Code+Writing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4128246" y="3692928"/>
            <a:ext cx="1078299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Design+Writing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3633260" y="4092930"/>
            <a:ext cx="682664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All three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venn-beta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title Skills coverage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set A ["Design"]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set B ["Code"]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set C ["Writing"]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union A,B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text ["Design+Code"]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union B,C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text ["Code+Writing"]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union A,C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text ["Design+Writing"]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union A,B,C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text ["All three"]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style A fill:#BBDEFB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style B fill:#C8E6C9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style C fill:#FFE0B2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wardley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1505828"/>
            <a:ext cx="7034784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Tea Shop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794870" y="5628211"/>
            <a:ext cx="6359444" cy="1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cxnSp>
        <p:nvCxnSpPr>
          <p:cNvPr id="13" name="Connector 3"/>
          <p:cNvCxnSpPr/>
          <p:nvPr/>
        </p:nvCxnSpPr>
        <p:spPr>
          <a:xfrm>
            <a:off x="794870" y="1885706"/>
            <a:ext cx="1" cy="3742505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sp>
        <p:nvSpPr>
          <p:cNvPr id="14" name="Box 4"/>
          <p:cNvSpPr/>
          <p:nvPr/>
        </p:nvSpPr>
        <p:spPr>
          <a:xfrm>
            <a:off x="794870" y="1716871"/>
            <a:ext cx="844174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750" dirty="0">
                <a:solidFill>
                  <a:srgbClr val="000000"/>
                </a:solidFill>
              </a:rPr>
              <a:t>Visibility</a:t>
            </a:r>
          </a:p>
        </p:txBody>
      </p:sp>
      <p:sp>
        <p:nvSpPr>
          <p:cNvPr id="15" name="Box 5"/>
          <p:cNvSpPr/>
          <p:nvPr/>
        </p:nvSpPr>
        <p:spPr>
          <a:xfrm>
            <a:off x="794870" y="5797046"/>
            <a:ext cx="6359445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750" dirty="0">
                <a:solidFill>
                  <a:srgbClr val="000000"/>
                </a:solidFill>
              </a:rPr>
              <a:t>Evolution</a:t>
            </a:r>
          </a:p>
        </p:txBody>
      </p:sp>
      <p:sp>
        <p:nvSpPr>
          <p:cNvPr id="16" name="Box 6"/>
          <p:cNvSpPr/>
          <p:nvPr/>
        </p:nvSpPr>
        <p:spPr>
          <a:xfrm>
            <a:off x="794870" y="5656350"/>
            <a:ext cx="1589861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Genesis</a:t>
            </a:r>
          </a:p>
        </p:txBody>
      </p:sp>
      <p:cxnSp>
        <p:nvCxnSpPr>
          <p:cNvPr id="17" name="Connector 7"/>
          <p:cNvCxnSpPr/>
          <p:nvPr/>
        </p:nvCxnSpPr>
        <p:spPr>
          <a:xfrm>
            <a:off x="2384731" y="1885706"/>
            <a:ext cx="1" cy="3742505"/>
          </a:xfrm>
          <a:prstGeom prst="line">
            <a:avLst/>
          </a:prstGeom>
          <a:ln w="7035">
            <a:solidFill>
              <a:srgbClr val="808080"/>
            </a:solidFill>
            <a:prstDash val="dash"/>
          </a:ln>
        </p:spPr>
      </p:cxnSp>
      <p:sp>
        <p:nvSpPr>
          <p:cNvPr id="18" name="Box 8"/>
          <p:cNvSpPr/>
          <p:nvPr/>
        </p:nvSpPr>
        <p:spPr>
          <a:xfrm>
            <a:off x="2384731" y="5656350"/>
            <a:ext cx="1589861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Custom Built</a:t>
            </a:r>
          </a:p>
        </p:txBody>
      </p:sp>
      <p:cxnSp>
        <p:nvCxnSpPr>
          <p:cNvPr id="19" name="Connector 9"/>
          <p:cNvCxnSpPr/>
          <p:nvPr/>
        </p:nvCxnSpPr>
        <p:spPr>
          <a:xfrm>
            <a:off x="3974592" y="1885706"/>
            <a:ext cx="1" cy="3742505"/>
          </a:xfrm>
          <a:prstGeom prst="line">
            <a:avLst/>
          </a:prstGeom>
          <a:ln w="7035">
            <a:solidFill>
              <a:srgbClr val="808080"/>
            </a:solidFill>
            <a:prstDash val="dash"/>
          </a:ln>
        </p:spPr>
      </p:cxnSp>
      <p:sp>
        <p:nvSpPr>
          <p:cNvPr id="20" name="Box 10"/>
          <p:cNvSpPr/>
          <p:nvPr/>
        </p:nvSpPr>
        <p:spPr>
          <a:xfrm>
            <a:off x="3974592" y="5656350"/>
            <a:ext cx="1589861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Product</a:t>
            </a:r>
          </a:p>
        </p:txBody>
      </p:sp>
      <p:cxnSp>
        <p:nvCxnSpPr>
          <p:cNvPr id="21" name="Connector 11"/>
          <p:cNvCxnSpPr/>
          <p:nvPr/>
        </p:nvCxnSpPr>
        <p:spPr>
          <a:xfrm>
            <a:off x="5564453" y="1885706"/>
            <a:ext cx="1" cy="3742505"/>
          </a:xfrm>
          <a:prstGeom prst="line">
            <a:avLst/>
          </a:prstGeom>
          <a:ln w="7035">
            <a:solidFill>
              <a:srgbClr val="808080"/>
            </a:solidFill>
            <a:prstDash val="dash"/>
          </a:ln>
        </p:spPr>
      </p:cxnSp>
      <p:sp>
        <p:nvSpPr>
          <p:cNvPr id="22" name="Box 12"/>
          <p:cNvSpPr/>
          <p:nvPr/>
        </p:nvSpPr>
        <p:spPr>
          <a:xfrm>
            <a:off x="5564453" y="5656350"/>
            <a:ext cx="1589861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Commodity</a:t>
            </a:r>
          </a:p>
        </p:txBody>
      </p:sp>
      <p:sp>
        <p:nvSpPr>
          <p:cNvPr id="23" name="Pipeline"/>
          <p:cNvSpPr/>
          <p:nvPr/>
        </p:nvSpPr>
        <p:spPr>
          <a:xfrm>
            <a:off x="3614692" y="3934517"/>
            <a:ext cx="1355744" cy="168835"/>
          </a:xfrm>
          <a:prstGeom prst="round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24" name="Connector 14"/>
          <p:cNvCxnSpPr/>
          <p:nvPr/>
        </p:nvCxnSpPr>
        <p:spPr>
          <a:xfrm>
            <a:off x="3720214" y="4018934"/>
            <a:ext cx="1144700" cy="1"/>
          </a:xfrm>
          <a:prstGeom prst="line">
            <a:avLst/>
          </a:prstGeom>
          <a:ln w="7035">
            <a:solidFill>
              <a:srgbClr val="000000"/>
            </a:solidFill>
            <a:prstDash val="dash"/>
          </a:ln>
        </p:spPr>
      </p:cxnSp>
      <p:cxnSp>
        <p:nvCxnSpPr>
          <p:cNvPr id="25" name="Connector 15"/>
          <p:cNvCxnSpPr/>
          <p:nvPr/>
        </p:nvCxnSpPr>
        <p:spPr>
          <a:xfrm flipH="1">
            <a:off x="4682901" y="2114119"/>
            <a:ext cx="109649" cy="516226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cxnSp>
        <p:nvCxnSpPr>
          <p:cNvPr id="26" name="Connector 16"/>
          <p:cNvCxnSpPr/>
          <p:nvPr/>
        </p:nvCxnSpPr>
        <p:spPr>
          <a:xfrm flipH="1">
            <a:off x="4711054" y="2093282"/>
            <a:ext cx="1007259" cy="557899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cxnSp>
        <p:nvCxnSpPr>
          <p:cNvPr id="27" name="Connector 17"/>
          <p:cNvCxnSpPr/>
          <p:nvPr/>
        </p:nvCxnSpPr>
        <p:spPr>
          <a:xfrm>
            <a:off x="4715458" y="2680216"/>
            <a:ext cx="998452" cy="207383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cxnSp>
        <p:nvCxnSpPr>
          <p:cNvPr id="28" name="Connector 18"/>
          <p:cNvCxnSpPr/>
          <p:nvPr/>
        </p:nvCxnSpPr>
        <p:spPr>
          <a:xfrm>
            <a:off x="4712319" y="2689611"/>
            <a:ext cx="1195513" cy="562843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cxnSp>
        <p:nvCxnSpPr>
          <p:cNvPr id="29" name="Connector 19"/>
          <p:cNvCxnSpPr/>
          <p:nvPr/>
        </p:nvCxnSpPr>
        <p:spPr>
          <a:xfrm>
            <a:off x="4706510" y="2698710"/>
            <a:ext cx="1143537" cy="956321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cxnSp>
        <p:nvCxnSpPr>
          <p:cNvPr id="30" name="Connector 20"/>
          <p:cNvCxnSpPr/>
          <p:nvPr/>
        </p:nvCxnSpPr>
        <p:spPr>
          <a:xfrm>
            <a:off x="5892382" y="3723126"/>
            <a:ext cx="107275" cy="441916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cxnSp>
        <p:nvCxnSpPr>
          <p:cNvPr id="31" name="Connector 21"/>
          <p:cNvCxnSpPr/>
          <p:nvPr/>
        </p:nvCxnSpPr>
        <p:spPr>
          <a:xfrm flipH="1">
            <a:off x="4339721" y="3688438"/>
            <a:ext cx="1500973" cy="227670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sp>
        <p:nvSpPr>
          <p:cNvPr id="32" name="Box 22"/>
          <p:cNvSpPr/>
          <p:nvPr/>
        </p:nvSpPr>
        <p:spPr>
          <a:xfrm>
            <a:off x="4964384" y="3822993"/>
            <a:ext cx="267322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boils</a:t>
            </a:r>
          </a:p>
        </p:txBody>
      </p:sp>
      <p:cxnSp>
        <p:nvCxnSpPr>
          <p:cNvPr id="33" name="Connector 23"/>
          <p:cNvCxnSpPr/>
          <p:nvPr/>
        </p:nvCxnSpPr>
        <p:spPr>
          <a:xfrm>
            <a:off x="4320353" y="3962025"/>
            <a:ext cx="901536" cy="1257631"/>
          </a:xfrm>
          <a:prstGeom prst="line">
            <a:avLst/>
          </a:prstGeom>
          <a:ln w="7035">
            <a:solidFill>
              <a:srgbClr val="000000"/>
            </a:solidFill>
            <a:prstDash val="dash"/>
          </a:ln>
        </p:spPr>
      </p:cxnSp>
      <p:cxnSp>
        <p:nvCxnSpPr>
          <p:cNvPr id="34" name="Connector 24"/>
          <p:cNvCxnSpPr/>
          <p:nvPr/>
        </p:nvCxnSpPr>
        <p:spPr>
          <a:xfrm>
            <a:off x="2107844" y="4515131"/>
            <a:ext cx="3097551" cy="729158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cxnSp>
        <p:nvCxnSpPr>
          <p:cNvPr id="35" name="Connector 25"/>
          <p:cNvCxnSpPr/>
          <p:nvPr/>
        </p:nvCxnSpPr>
        <p:spPr>
          <a:xfrm>
            <a:off x="5948882" y="3312544"/>
            <a:ext cx="57870" cy="851404"/>
          </a:xfrm>
          <a:prstGeom prst="line">
            <a:avLst/>
          </a:prstGeom>
          <a:ln w="7035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6" name="Connector 26"/>
          <p:cNvCxnSpPr/>
          <p:nvPr/>
        </p:nvCxnSpPr>
        <p:spPr>
          <a:xfrm>
            <a:off x="4334773" y="3923261"/>
            <a:ext cx="402952" cy="1"/>
          </a:xfrm>
          <a:prstGeom prst="line">
            <a:avLst/>
          </a:prstGeom>
          <a:ln w="7035">
            <a:solidFill>
              <a:srgbClr val="DC3545"/>
            </a:solidFill>
            <a:prstDash val="dash"/>
            <a:tailEnd type="triangle" w="sm" len="sm"/>
          </a:ln>
        </p:spPr>
      </p:cxnSp>
      <p:sp>
        <p:nvSpPr>
          <p:cNvPr id="37" name="Shape 27"/>
          <p:cNvSpPr/>
          <p:nvPr/>
        </p:nvSpPr>
        <p:spPr>
          <a:xfrm>
            <a:off x="4759111" y="2030623"/>
            <a:ext cx="84417" cy="84417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</p:sp>
      <p:sp>
        <p:nvSpPr>
          <p:cNvPr id="38" name="Box 28"/>
          <p:cNvSpPr/>
          <p:nvPr/>
        </p:nvSpPr>
        <p:spPr>
          <a:xfrm>
            <a:off x="4885737" y="1932136"/>
            <a:ext cx="513539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Business</a:t>
            </a:r>
          </a:p>
        </p:txBody>
      </p:sp>
      <p:sp>
        <p:nvSpPr>
          <p:cNvPr id="39" name="Shape 29"/>
          <p:cNvSpPr/>
          <p:nvPr/>
        </p:nvSpPr>
        <p:spPr>
          <a:xfrm>
            <a:off x="5713028" y="2030623"/>
            <a:ext cx="84417" cy="84417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</p:sp>
      <p:sp>
        <p:nvSpPr>
          <p:cNvPr id="40" name="Box 30"/>
          <p:cNvSpPr/>
          <p:nvPr/>
        </p:nvSpPr>
        <p:spPr>
          <a:xfrm>
            <a:off x="5839654" y="1932136"/>
            <a:ext cx="400983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Public</a:t>
            </a:r>
          </a:p>
        </p:txBody>
      </p:sp>
      <p:sp>
        <p:nvSpPr>
          <p:cNvPr id="41" name="Shape 31"/>
          <p:cNvSpPr/>
          <p:nvPr/>
        </p:nvSpPr>
        <p:spPr>
          <a:xfrm>
            <a:off x="4631922" y="2629423"/>
            <a:ext cx="84417" cy="8441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2" name="Box 32"/>
          <p:cNvSpPr/>
          <p:nvPr/>
        </p:nvSpPr>
        <p:spPr>
          <a:xfrm>
            <a:off x="4160592" y="2685702"/>
            <a:ext cx="492435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Cup of Tea</a:t>
            </a:r>
          </a:p>
        </p:txBody>
      </p:sp>
      <p:sp>
        <p:nvSpPr>
          <p:cNvPr id="43" name="Shape 33"/>
          <p:cNvSpPr/>
          <p:nvPr/>
        </p:nvSpPr>
        <p:spPr>
          <a:xfrm>
            <a:off x="5713028" y="2853974"/>
            <a:ext cx="84417" cy="8441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4" name="Box 34"/>
          <p:cNvSpPr/>
          <p:nvPr/>
        </p:nvSpPr>
        <p:spPr>
          <a:xfrm>
            <a:off x="5839654" y="2839904"/>
            <a:ext cx="204009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Cup</a:t>
            </a:r>
          </a:p>
        </p:txBody>
      </p:sp>
      <p:sp>
        <p:nvSpPr>
          <p:cNvPr id="45" name="Shape 35"/>
          <p:cNvSpPr/>
          <p:nvPr/>
        </p:nvSpPr>
        <p:spPr>
          <a:xfrm>
            <a:off x="5903811" y="3228224"/>
            <a:ext cx="84417" cy="8441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6" name="Box 36"/>
          <p:cNvSpPr/>
          <p:nvPr/>
        </p:nvSpPr>
        <p:spPr>
          <a:xfrm>
            <a:off x="6030437" y="3214155"/>
            <a:ext cx="204009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Tea</a:t>
            </a:r>
          </a:p>
        </p:txBody>
      </p:sp>
      <p:sp>
        <p:nvSpPr>
          <p:cNvPr id="47" name="Shape 37"/>
          <p:cNvSpPr/>
          <p:nvPr/>
        </p:nvSpPr>
        <p:spPr>
          <a:xfrm>
            <a:off x="5840217" y="3639900"/>
            <a:ext cx="84417" cy="8441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8" name="Box 38"/>
          <p:cNvSpPr/>
          <p:nvPr/>
        </p:nvSpPr>
        <p:spPr>
          <a:xfrm>
            <a:off x="5966843" y="3625830"/>
            <a:ext cx="471331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Hot Water</a:t>
            </a:r>
          </a:p>
        </p:txBody>
      </p:sp>
      <p:sp>
        <p:nvSpPr>
          <p:cNvPr id="49" name="Shape 39"/>
          <p:cNvSpPr/>
          <p:nvPr/>
        </p:nvSpPr>
        <p:spPr>
          <a:xfrm>
            <a:off x="5954743" y="4151188"/>
            <a:ext cx="109743" cy="109743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0" name="Box 40"/>
          <p:cNvSpPr/>
          <p:nvPr/>
        </p:nvSpPr>
        <p:spPr>
          <a:xfrm>
            <a:off x="6094032" y="4149781"/>
            <a:ext cx="302496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Water</a:t>
            </a:r>
          </a:p>
        </p:txBody>
      </p:sp>
      <p:sp>
        <p:nvSpPr>
          <p:cNvPr id="51" name="Pipeline parent"/>
          <p:cNvSpPr/>
          <p:nvPr/>
        </p:nvSpPr>
        <p:spPr>
          <a:xfrm>
            <a:off x="4258797" y="3889494"/>
            <a:ext cx="67534" cy="6753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52" name="Connector 42"/>
          <p:cNvCxnSpPr/>
          <p:nvPr/>
        </p:nvCxnSpPr>
        <p:spPr>
          <a:xfrm>
            <a:off x="4362912" y="3881052"/>
            <a:ext cx="1" cy="84418"/>
          </a:xfrm>
          <a:prstGeom prst="line">
            <a:avLst/>
          </a:prstGeom>
          <a:ln w="7035">
            <a:solidFill>
              <a:srgbClr val="000000"/>
            </a:solidFill>
            <a:prstDash val="solid"/>
          </a:ln>
        </p:spPr>
      </p:cxnSp>
      <p:sp>
        <p:nvSpPr>
          <p:cNvPr id="53" name="Box 43"/>
          <p:cNvSpPr/>
          <p:nvPr/>
        </p:nvSpPr>
        <p:spPr>
          <a:xfrm>
            <a:off x="4376982" y="3866983"/>
            <a:ext cx="344704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Kettle</a:t>
            </a:r>
          </a:p>
        </p:txBody>
      </p:sp>
      <p:sp>
        <p:nvSpPr>
          <p:cNvPr id="54" name="Shape 44"/>
          <p:cNvSpPr/>
          <p:nvPr/>
        </p:nvSpPr>
        <p:spPr>
          <a:xfrm>
            <a:off x="2011887" y="4450588"/>
            <a:ext cx="109743" cy="97080"/>
          </a:xfrm>
          <a:custGeom>
            <a:avLst/>
            <a:gdLst/>
            <a:ahLst/>
            <a:cxnLst/>
            <a:rect l="0" t="0" r="0" b="0"/>
            <a:pathLst>
              <a:path w="109743" h="97080">
                <a:moveTo>
                  <a:pt x="54872" y="0"/>
                </a:moveTo>
                <a:lnTo>
                  <a:pt x="109743" y="97080"/>
                </a:lnTo>
                <a:lnTo>
                  <a:pt x="0" y="9708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7035">
            <a:solidFill>
              <a:srgbClr val="000000"/>
            </a:solidFill>
          </a:ln>
        </p:spPr>
      </p:sp>
      <p:sp>
        <p:nvSpPr>
          <p:cNvPr id="55" name="Box 45"/>
          <p:cNvSpPr/>
          <p:nvPr/>
        </p:nvSpPr>
        <p:spPr>
          <a:xfrm>
            <a:off x="2151176" y="4449181"/>
            <a:ext cx="344704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Boiler</a:t>
            </a:r>
          </a:p>
        </p:txBody>
      </p:sp>
      <p:sp>
        <p:nvSpPr>
          <p:cNvPr id="56" name="Outsource"/>
          <p:cNvSpPr/>
          <p:nvPr/>
        </p:nvSpPr>
        <p:spPr>
          <a:xfrm>
            <a:off x="5204272" y="5211752"/>
            <a:ext cx="84417" cy="8441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7" name="Box 47"/>
          <p:cNvSpPr/>
          <p:nvPr/>
        </p:nvSpPr>
        <p:spPr>
          <a:xfrm>
            <a:off x="5330898" y="5197682"/>
            <a:ext cx="302496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Power</a:t>
            </a:r>
          </a:p>
        </p:txBody>
      </p:sp>
      <p:sp>
        <p:nvSpPr>
          <p:cNvPr id="58" name="Shape 48"/>
          <p:cNvSpPr/>
          <p:nvPr/>
        </p:nvSpPr>
        <p:spPr>
          <a:xfrm>
            <a:off x="4822706" y="3976725"/>
            <a:ext cx="84417" cy="8441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9" name="Box 49"/>
          <p:cNvSpPr/>
          <p:nvPr/>
        </p:nvSpPr>
        <p:spPr>
          <a:xfrm>
            <a:off x="4949332" y="3962656"/>
            <a:ext cx="745687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Electric Kettle</a:t>
            </a:r>
          </a:p>
        </p:txBody>
      </p:sp>
      <p:sp>
        <p:nvSpPr>
          <p:cNvPr id="60" name="Shape 50"/>
          <p:cNvSpPr/>
          <p:nvPr/>
        </p:nvSpPr>
        <p:spPr>
          <a:xfrm>
            <a:off x="3678006" y="3976725"/>
            <a:ext cx="84417" cy="8441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1" name="Box 51"/>
          <p:cNvSpPr/>
          <p:nvPr/>
        </p:nvSpPr>
        <p:spPr>
          <a:xfrm>
            <a:off x="3804632" y="3962656"/>
            <a:ext cx="513539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Gas Kettle</a:t>
            </a:r>
          </a:p>
        </p:txBody>
      </p:sp>
      <p:sp>
        <p:nvSpPr>
          <p:cNvPr id="62" name="Box 52"/>
          <p:cNvSpPr/>
          <p:nvPr/>
        </p:nvSpPr>
        <p:spPr>
          <a:xfrm>
            <a:off x="3656620" y="5309957"/>
            <a:ext cx="2307409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650" dirty="0">
                <a:solidFill>
                  <a:srgbClr val="595959"/>
                </a:solidFill>
              </a:rPr>
              <a:t>Standardising power allows Kettles to evolve faster</a:t>
            </a:r>
          </a:p>
        </p:txBody>
      </p:sp>
      <p:cxnSp>
        <p:nvCxnSpPr>
          <p:cNvPr id="63" name="Connector 53"/>
          <p:cNvCxnSpPr/>
          <p:nvPr/>
        </p:nvCxnSpPr>
        <p:spPr>
          <a:xfrm>
            <a:off x="2547938" y="3307858"/>
            <a:ext cx="309530" cy="1"/>
          </a:xfrm>
          <a:prstGeom prst="line">
            <a:avLst/>
          </a:prstGeom>
          <a:ln w="7035">
            <a:solidFill>
              <a:srgbClr val="DC3545"/>
            </a:solidFill>
            <a:prstDash val="solid"/>
            <a:tailEnd type="triangle" w="sm" len="sm"/>
          </a:ln>
        </p:spPr>
      </p:cxnSp>
      <p:sp>
        <p:nvSpPr>
          <p:cNvPr id="64" name="Box 54"/>
          <p:cNvSpPr/>
          <p:nvPr/>
        </p:nvSpPr>
        <p:spPr>
          <a:xfrm>
            <a:off x="2421312" y="3350067"/>
            <a:ext cx="562783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Open Source</a:t>
            </a:r>
          </a:p>
        </p:txBody>
      </p:sp>
      <p:sp>
        <p:nvSpPr>
          <p:cNvPr id="65" name="Shape 55"/>
          <p:cNvSpPr/>
          <p:nvPr/>
        </p:nvSpPr>
        <p:spPr>
          <a:xfrm>
            <a:off x="2646425" y="4823432"/>
            <a:ext cx="112557" cy="11255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6" name="Box 56"/>
          <p:cNvSpPr/>
          <p:nvPr/>
        </p:nvSpPr>
        <p:spPr>
          <a:xfrm>
            <a:off x="2646425" y="4823432"/>
            <a:ext cx="112557" cy="105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7" name="Annotations"/>
          <p:cNvSpPr/>
          <p:nvPr/>
        </p:nvSpPr>
        <p:spPr>
          <a:xfrm>
            <a:off x="922059" y="5179111"/>
            <a:ext cx="1097426" cy="161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8" name="Box 58"/>
          <p:cNvSpPr/>
          <p:nvPr/>
        </p:nvSpPr>
        <p:spPr>
          <a:xfrm>
            <a:off x="950198" y="5207250"/>
            <a:ext cx="1041148" cy="105522"/>
          </a:xfrm>
          <a:prstGeom prst="rect">
            <a:avLst/>
          </a:prstGeom>
          <a:noFill/>
          <a:ln>
            <a:noFill/>
          </a:ln>
        </p:spPr>
        <p:txBody>
          <a:bodyPr wrap="none" lIns="14070" tIns="0" rIns="1407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1. Standardising power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wardley-beta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title Tea Shop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size [1000, 640]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anchor Business [0.95, 0.63]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anchor Public [0.95, 0.78]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component Cup of Tea [0.79, 0.61] label [-85, 10]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component Cup [0.73, 0.78]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component Tea [0.63, 0.81]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component Hot Water [0.52, 0.80]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component Water [0.38, 0.82] (buy)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component Kettle [0.43, 0.35] (inertia)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component Boiler [0.30, 0.20] (build)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component Power [0.1, 0.7] (outsource)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pipeline Kettle {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component "Electric Kettle" [0.64]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  component "Gas Kettle" [0.46]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}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Business-&gt;Cup of Tea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Public-&gt;Cup of Tea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Cup of Tea-&gt;Cup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Cup of Tea-&gt;Tea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Cup of Tea-&gt;Hot Water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Hot Water-&gt;Water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Hot Water-&gt;Kettle; boils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Kettle -.-&gt; Power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Boiler -&gt; Power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Tea +&lt;&gt; Water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evolve Kettle 0.62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note "Standardising power allows Kettles to evolve faster" [0.07, 0.45]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annotations [0.12, 0.02]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annotation 1,[0.20,0.30] "Standardising power"</a:t>
            </a:r>
          </a:p>
          <a:p>
            <a:pPr algn="l"/>
            <a:r>
              <a:rPr lang="en-US" sz="1000" dirty="0">
                <a:solidFill>
                  <a:srgbClr val="1F2937"/>
                </a:solidFill>
                <a:latin typeface="Consolas"/>
                <a:cs typeface="Consolas"/>
              </a:rPr>
              <a:t>accelerator "Open Source" [0.62, 0.30]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xychart-horizontal</a:t>
            </a:r>
          </a:p>
        </p:txBody>
      </p:sp>
      <p:sp>
        <p:nvSpPr>
          <p:cNvPr id="11" name="Box 1"/>
          <p:cNvSpPr/>
          <p:nvPr/>
        </p:nvSpPr>
        <p:spPr>
          <a:xfrm>
            <a:off x="1435589" y="1146337"/>
            <a:ext cx="5078007" cy="352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38" dirty="0">
                <a:solidFill>
                  <a:srgbClr val="000000"/>
                </a:solidFill>
              </a:rPr>
              <a:t>Team velocity</a:t>
            </a:r>
          </a:p>
        </p:txBody>
      </p:sp>
      <p:sp>
        <p:nvSpPr>
          <p:cNvPr id="12" name="Box 2"/>
          <p:cNvSpPr/>
          <p:nvPr/>
        </p:nvSpPr>
        <p:spPr>
          <a:xfrm>
            <a:off x="1964956" y="1558068"/>
            <a:ext cx="117637" cy="117637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3" name="Box 3"/>
          <p:cNvSpPr/>
          <p:nvPr/>
        </p:nvSpPr>
        <p:spPr>
          <a:xfrm>
            <a:off x="2121806" y="1499249"/>
            <a:ext cx="607792" cy="215668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Planned</a:t>
            </a:r>
          </a:p>
        </p:txBody>
      </p:sp>
      <p:sp>
        <p:nvSpPr>
          <p:cNvPr id="14" name="Box 4"/>
          <p:cNvSpPr/>
          <p:nvPr/>
        </p:nvSpPr>
        <p:spPr>
          <a:xfrm>
            <a:off x="2866841" y="1558068"/>
            <a:ext cx="117637" cy="117637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5" name="Box 5"/>
          <p:cNvSpPr/>
          <p:nvPr/>
        </p:nvSpPr>
        <p:spPr>
          <a:xfrm>
            <a:off x="3023691" y="1499249"/>
            <a:ext cx="392124" cy="215668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6" name="Box 6"/>
          <p:cNvSpPr/>
          <p:nvPr/>
        </p:nvSpPr>
        <p:spPr>
          <a:xfrm>
            <a:off x="1964956" y="1754130"/>
            <a:ext cx="4117303" cy="215668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29" dirty="0">
                <a:solidFill>
                  <a:srgbClr val="000000"/>
                </a:solidFill>
              </a:rPr>
              <a:t>Sprint</a:t>
            </a:r>
          </a:p>
        </p:txBody>
      </p:sp>
      <p:sp>
        <p:nvSpPr>
          <p:cNvPr id="17" name="Shape 7"/>
          <p:cNvSpPr/>
          <p:nvPr/>
        </p:nvSpPr>
        <p:spPr>
          <a:xfrm>
            <a:off x="1964956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18" name="Box 8"/>
          <p:cNvSpPr/>
          <p:nvPr/>
        </p:nvSpPr>
        <p:spPr>
          <a:xfrm>
            <a:off x="1670863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9" name="Shape 9"/>
          <p:cNvSpPr/>
          <p:nvPr/>
        </p:nvSpPr>
        <p:spPr>
          <a:xfrm>
            <a:off x="2994282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20" name="Box 10"/>
          <p:cNvSpPr/>
          <p:nvPr/>
        </p:nvSpPr>
        <p:spPr>
          <a:xfrm>
            <a:off x="2700189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21" name="Shape 11"/>
          <p:cNvSpPr/>
          <p:nvPr/>
        </p:nvSpPr>
        <p:spPr>
          <a:xfrm>
            <a:off x="4023608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22" name="Box 12"/>
          <p:cNvSpPr/>
          <p:nvPr/>
        </p:nvSpPr>
        <p:spPr>
          <a:xfrm>
            <a:off x="3729514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23" name="Shape 13"/>
          <p:cNvSpPr/>
          <p:nvPr/>
        </p:nvSpPr>
        <p:spPr>
          <a:xfrm>
            <a:off x="5052933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24" name="Box 14"/>
          <p:cNvSpPr/>
          <p:nvPr/>
        </p:nvSpPr>
        <p:spPr>
          <a:xfrm>
            <a:off x="4758840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25" name="Shape 15"/>
          <p:cNvSpPr/>
          <p:nvPr/>
        </p:nvSpPr>
        <p:spPr>
          <a:xfrm>
            <a:off x="6082259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26" name="Box 16"/>
          <p:cNvSpPr/>
          <p:nvPr/>
        </p:nvSpPr>
        <p:spPr>
          <a:xfrm>
            <a:off x="5788166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7" name="Box 17"/>
          <p:cNvSpPr/>
          <p:nvPr/>
        </p:nvSpPr>
        <p:spPr>
          <a:xfrm>
            <a:off x="1553226" y="2538378"/>
            <a:ext cx="333305" cy="176456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28" name="Box 18"/>
          <p:cNvSpPr/>
          <p:nvPr/>
        </p:nvSpPr>
        <p:spPr>
          <a:xfrm>
            <a:off x="1553226" y="3420657"/>
            <a:ext cx="333305" cy="176456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S2</a:t>
            </a:r>
          </a:p>
        </p:txBody>
      </p:sp>
      <p:sp>
        <p:nvSpPr>
          <p:cNvPr id="29" name="Box 19"/>
          <p:cNvSpPr/>
          <p:nvPr/>
        </p:nvSpPr>
        <p:spPr>
          <a:xfrm>
            <a:off x="1553226" y="4302936"/>
            <a:ext cx="333305" cy="176456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S3</a:t>
            </a:r>
          </a:p>
        </p:txBody>
      </p:sp>
      <p:sp>
        <p:nvSpPr>
          <p:cNvPr id="30" name="Box 20"/>
          <p:cNvSpPr/>
          <p:nvPr/>
        </p:nvSpPr>
        <p:spPr>
          <a:xfrm>
            <a:off x="1553226" y="5185215"/>
            <a:ext cx="333305" cy="176456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S4</a:t>
            </a:r>
          </a:p>
        </p:txBody>
      </p:sp>
      <p:sp>
        <p:nvSpPr>
          <p:cNvPr id="31" name="Box 21"/>
          <p:cNvSpPr/>
          <p:nvPr/>
        </p:nvSpPr>
        <p:spPr>
          <a:xfrm>
            <a:off x="1964956" y="2317808"/>
            <a:ext cx="3087977" cy="6175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2" name="Box 22"/>
          <p:cNvSpPr/>
          <p:nvPr/>
        </p:nvSpPr>
        <p:spPr>
          <a:xfrm>
            <a:off x="1964956" y="3200088"/>
            <a:ext cx="3293842" cy="6175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3" name="Box 23"/>
          <p:cNvSpPr/>
          <p:nvPr/>
        </p:nvSpPr>
        <p:spPr>
          <a:xfrm>
            <a:off x="1964956" y="4082367"/>
            <a:ext cx="2882112" cy="6175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1964956" y="4964646"/>
            <a:ext cx="3602641" cy="6175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5" name="Shape 25"/>
          <p:cNvSpPr/>
          <p:nvPr/>
        </p:nvSpPr>
        <p:spPr>
          <a:xfrm>
            <a:off x="4538271" y="2626606"/>
            <a:ext cx="1132258" cy="2646838"/>
          </a:xfrm>
          <a:custGeom>
            <a:avLst/>
            <a:gdLst/>
            <a:ahLst/>
            <a:cxnLst/>
            <a:rect l="0" t="0" r="0" b="0"/>
            <a:pathLst>
              <a:path w="1100137" h="2571750" fill="none">
                <a:moveTo>
                  <a:pt x="0" y="0"/>
                </a:moveTo>
                <a:lnTo>
                  <a:pt x="600075" y="857250"/>
                </a:lnTo>
                <a:lnTo>
                  <a:pt x="200025" y="1714500"/>
                </a:lnTo>
                <a:lnTo>
                  <a:pt x="1100137" y="2571750"/>
                </a:lnTo>
              </a:path>
            </a:pathLst>
          </a:custGeom>
          <a:noFill/>
          <a:ln w="29409">
            <a:solidFill>
              <a:srgbClr val="ED7D31"/>
            </a:solidFill>
          </a:ln>
        </p:spPr>
      </p:sp>
      <p:sp>
        <p:nvSpPr>
          <p:cNvPr id="36" name="Box 26"/>
          <p:cNvSpPr/>
          <p:nvPr/>
        </p:nvSpPr>
        <p:spPr>
          <a:xfrm>
            <a:off x="4508862" y="2597196"/>
            <a:ext cx="58819" cy="58819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7" name="Box 27"/>
          <p:cNvSpPr/>
          <p:nvPr/>
        </p:nvSpPr>
        <p:spPr>
          <a:xfrm>
            <a:off x="4347110" y="2410937"/>
            <a:ext cx="382321" cy="15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26" dirty="0">
                <a:solidFill>
                  <a:srgbClr val="404040"/>
                </a:solidFill>
              </a:rPr>
              <a:t>late</a:t>
            </a:r>
          </a:p>
        </p:txBody>
      </p:sp>
      <p:sp>
        <p:nvSpPr>
          <p:cNvPr id="38" name="Box 28"/>
          <p:cNvSpPr/>
          <p:nvPr/>
        </p:nvSpPr>
        <p:spPr>
          <a:xfrm>
            <a:off x="5126457" y="3479476"/>
            <a:ext cx="58819" cy="58819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9" name="Box 29"/>
          <p:cNvSpPr/>
          <p:nvPr/>
        </p:nvSpPr>
        <p:spPr>
          <a:xfrm>
            <a:off x="4714727" y="4361755"/>
            <a:ext cx="58819" cy="58819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0" name="Box 30"/>
          <p:cNvSpPr/>
          <p:nvPr/>
        </p:nvSpPr>
        <p:spPr>
          <a:xfrm>
            <a:off x="5641119" y="5244034"/>
            <a:ext cx="58819" cy="58819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1" name="Shape 31"/>
          <p:cNvSpPr/>
          <p:nvPr/>
        </p:nvSpPr>
        <p:spPr>
          <a:xfrm>
            <a:off x="1964956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29409">
            <a:solidFill>
              <a:srgbClr val="595959"/>
            </a:solidFill>
          </a:ln>
        </p:spPr>
      </p:sp>
      <p:sp>
        <p:nvSpPr>
          <p:cNvPr id="42" name="Box 32"/>
          <p:cNvSpPr/>
          <p:nvPr/>
        </p:nvSpPr>
        <p:spPr>
          <a:xfrm>
            <a:off x="1964956" y="5949857"/>
            <a:ext cx="4117303" cy="2156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29" dirty="0">
                <a:solidFill>
                  <a:srgbClr val="000000"/>
                </a:solidFill>
              </a:rPr>
              <a:t>Points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xychart horizontal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title "Team velocity"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x-axis "Sprint" ["S1", "S2", "S3", "S4"]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y-axis "Points" 0 --&gt; 40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bar "Planned" [30, 32, 28, 35]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line "Done" [25 "late", 31, 27, 36]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xychart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1860207"/>
            <a:ext cx="7034784" cy="3209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200" dirty="0">
                <a:solidFill>
                  <a:srgbClr val="000000"/>
                </a:solidFill>
              </a:rPr>
              <a:t>Sales Revenue</a:t>
            </a:r>
          </a:p>
        </p:txBody>
      </p:sp>
      <p:sp>
        <p:nvSpPr>
          <p:cNvPr id="12" name="Box 2"/>
          <p:cNvSpPr/>
          <p:nvPr/>
        </p:nvSpPr>
        <p:spPr>
          <a:xfrm>
            <a:off x="1108074" y="2181186"/>
            <a:ext cx="5991603" cy="196154"/>
          </a:xfrm>
          <a:prstGeom prst="rect">
            <a:avLst/>
          </a:prstGeom>
          <a:noFill/>
          <a:ln>
            <a:noFill/>
          </a:ln>
        </p:spPr>
        <p:txBody>
          <a:bodyPr wrap="none" lIns="17832" tIns="0" rIns="17832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950" dirty="0">
                <a:solidFill>
                  <a:srgbClr val="000000"/>
                </a:solidFill>
              </a:rPr>
              <a:t>Revenue (in $)</a:t>
            </a:r>
          </a:p>
        </p:txBody>
      </p:sp>
      <p:sp>
        <p:nvSpPr>
          <p:cNvPr id="13" name="Shape 3"/>
          <p:cNvSpPr/>
          <p:nvPr/>
        </p:nvSpPr>
        <p:spPr>
          <a:xfrm>
            <a:off x="1108074" y="5248316"/>
            <a:ext cx="5991603" cy="1"/>
          </a:xfrm>
          <a:custGeom>
            <a:avLst/>
            <a:gdLst/>
            <a:ahLst/>
            <a:cxnLst/>
            <a:rect l="0" t="0" r="0" b="0"/>
            <a:pathLst>
              <a:path w="5991603" h="1" fill="none">
                <a:moveTo>
                  <a:pt x="0" y="0"/>
                </a:moveTo>
                <a:lnTo>
                  <a:pt x="5991603" y="0"/>
                </a:lnTo>
              </a:path>
            </a:pathLst>
          </a:custGeom>
          <a:noFill/>
          <a:ln w="8916">
            <a:solidFill>
              <a:srgbClr val="D9D9D9"/>
            </a:solidFill>
          </a:ln>
        </p:spPr>
      </p:sp>
      <p:sp>
        <p:nvSpPr>
          <p:cNvPr id="14" name="Box 4"/>
          <p:cNvSpPr/>
          <p:nvPr/>
        </p:nvSpPr>
        <p:spPr>
          <a:xfrm>
            <a:off x="501780" y="5168071"/>
            <a:ext cx="534965" cy="160489"/>
          </a:xfrm>
          <a:prstGeom prst="rect">
            <a:avLst/>
          </a:prstGeom>
          <a:noFill/>
          <a:ln>
            <a:noFill/>
          </a:ln>
        </p:spPr>
        <p:txBody>
          <a:bodyPr wrap="none" lIns="17832" tIns="0" rIns="17832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4000</a:t>
            </a:r>
          </a:p>
        </p:txBody>
      </p:sp>
      <p:sp>
        <p:nvSpPr>
          <p:cNvPr id="15" name="Shape 5"/>
          <p:cNvSpPr/>
          <p:nvPr/>
        </p:nvSpPr>
        <p:spPr>
          <a:xfrm>
            <a:off x="1108074" y="4484081"/>
            <a:ext cx="5991603" cy="1"/>
          </a:xfrm>
          <a:custGeom>
            <a:avLst/>
            <a:gdLst/>
            <a:ahLst/>
            <a:cxnLst/>
            <a:rect l="0" t="0" r="0" b="0"/>
            <a:pathLst>
              <a:path w="5991603" h="1" fill="none">
                <a:moveTo>
                  <a:pt x="0" y="0"/>
                </a:moveTo>
                <a:lnTo>
                  <a:pt x="5991603" y="0"/>
                </a:lnTo>
              </a:path>
            </a:pathLst>
          </a:custGeom>
          <a:noFill/>
          <a:ln w="8916">
            <a:solidFill>
              <a:srgbClr val="D9D9D9"/>
            </a:solidFill>
          </a:ln>
        </p:spPr>
      </p:sp>
      <p:sp>
        <p:nvSpPr>
          <p:cNvPr id="16" name="Box 6"/>
          <p:cNvSpPr/>
          <p:nvPr/>
        </p:nvSpPr>
        <p:spPr>
          <a:xfrm>
            <a:off x="501780" y="4403836"/>
            <a:ext cx="534965" cy="160489"/>
          </a:xfrm>
          <a:prstGeom prst="rect">
            <a:avLst/>
          </a:prstGeom>
          <a:noFill/>
          <a:ln>
            <a:noFill/>
          </a:ln>
        </p:spPr>
        <p:txBody>
          <a:bodyPr wrap="none" lIns="17832" tIns="0" rIns="17832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6000</a:t>
            </a:r>
          </a:p>
        </p:txBody>
      </p:sp>
      <p:sp>
        <p:nvSpPr>
          <p:cNvPr id="17" name="Shape 7"/>
          <p:cNvSpPr/>
          <p:nvPr/>
        </p:nvSpPr>
        <p:spPr>
          <a:xfrm>
            <a:off x="1108074" y="3719846"/>
            <a:ext cx="5991603" cy="1"/>
          </a:xfrm>
          <a:custGeom>
            <a:avLst/>
            <a:gdLst/>
            <a:ahLst/>
            <a:cxnLst/>
            <a:rect l="0" t="0" r="0" b="0"/>
            <a:pathLst>
              <a:path w="5991603" h="1" fill="none">
                <a:moveTo>
                  <a:pt x="0" y="0"/>
                </a:moveTo>
                <a:lnTo>
                  <a:pt x="5991603" y="0"/>
                </a:lnTo>
              </a:path>
            </a:pathLst>
          </a:custGeom>
          <a:noFill/>
          <a:ln w="8916">
            <a:solidFill>
              <a:srgbClr val="D9D9D9"/>
            </a:solidFill>
          </a:ln>
        </p:spPr>
      </p:sp>
      <p:sp>
        <p:nvSpPr>
          <p:cNvPr id="18" name="Box 8"/>
          <p:cNvSpPr/>
          <p:nvPr/>
        </p:nvSpPr>
        <p:spPr>
          <a:xfrm>
            <a:off x="501780" y="3639601"/>
            <a:ext cx="534965" cy="160489"/>
          </a:xfrm>
          <a:prstGeom prst="rect">
            <a:avLst/>
          </a:prstGeom>
          <a:noFill/>
          <a:ln>
            <a:noFill/>
          </a:ln>
        </p:spPr>
        <p:txBody>
          <a:bodyPr wrap="none" lIns="17832" tIns="0" rIns="17832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8000</a:t>
            </a:r>
          </a:p>
        </p:txBody>
      </p:sp>
      <p:sp>
        <p:nvSpPr>
          <p:cNvPr id="19" name="Shape 9"/>
          <p:cNvSpPr/>
          <p:nvPr/>
        </p:nvSpPr>
        <p:spPr>
          <a:xfrm>
            <a:off x="1108074" y="2955611"/>
            <a:ext cx="5991603" cy="1"/>
          </a:xfrm>
          <a:custGeom>
            <a:avLst/>
            <a:gdLst/>
            <a:ahLst/>
            <a:cxnLst/>
            <a:rect l="0" t="0" r="0" b="0"/>
            <a:pathLst>
              <a:path w="5991603" h="1" fill="none">
                <a:moveTo>
                  <a:pt x="0" y="0"/>
                </a:moveTo>
                <a:lnTo>
                  <a:pt x="5991603" y="0"/>
                </a:lnTo>
              </a:path>
            </a:pathLst>
          </a:custGeom>
          <a:noFill/>
          <a:ln w="8916">
            <a:solidFill>
              <a:srgbClr val="D9D9D9"/>
            </a:solidFill>
          </a:ln>
        </p:spPr>
      </p:sp>
      <p:sp>
        <p:nvSpPr>
          <p:cNvPr id="20" name="Box 10"/>
          <p:cNvSpPr/>
          <p:nvPr/>
        </p:nvSpPr>
        <p:spPr>
          <a:xfrm>
            <a:off x="501780" y="2875366"/>
            <a:ext cx="534965" cy="160489"/>
          </a:xfrm>
          <a:prstGeom prst="rect">
            <a:avLst/>
          </a:prstGeom>
          <a:noFill/>
          <a:ln>
            <a:noFill/>
          </a:ln>
        </p:spPr>
        <p:txBody>
          <a:bodyPr wrap="none" lIns="17832" tIns="0" rIns="17832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10000</a:t>
            </a:r>
          </a:p>
        </p:txBody>
      </p:sp>
      <p:sp>
        <p:nvSpPr>
          <p:cNvPr id="21" name="Box 11"/>
          <p:cNvSpPr/>
          <p:nvPr/>
        </p:nvSpPr>
        <p:spPr>
          <a:xfrm>
            <a:off x="1108074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jan</a:t>
            </a:r>
          </a:p>
        </p:txBody>
      </p:sp>
      <p:sp>
        <p:nvSpPr>
          <p:cNvPr id="22" name="Box 12"/>
          <p:cNvSpPr/>
          <p:nvPr/>
        </p:nvSpPr>
        <p:spPr>
          <a:xfrm>
            <a:off x="1607374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feb</a:t>
            </a:r>
          </a:p>
        </p:txBody>
      </p:sp>
      <p:sp>
        <p:nvSpPr>
          <p:cNvPr id="23" name="Box 13"/>
          <p:cNvSpPr/>
          <p:nvPr/>
        </p:nvSpPr>
        <p:spPr>
          <a:xfrm>
            <a:off x="2106674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mar</a:t>
            </a:r>
          </a:p>
        </p:txBody>
      </p:sp>
      <p:sp>
        <p:nvSpPr>
          <p:cNvPr id="24" name="Box 14"/>
          <p:cNvSpPr/>
          <p:nvPr/>
        </p:nvSpPr>
        <p:spPr>
          <a:xfrm>
            <a:off x="2605974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apr</a:t>
            </a:r>
          </a:p>
        </p:txBody>
      </p:sp>
      <p:sp>
        <p:nvSpPr>
          <p:cNvPr id="25" name="Box 15"/>
          <p:cNvSpPr/>
          <p:nvPr/>
        </p:nvSpPr>
        <p:spPr>
          <a:xfrm>
            <a:off x="3105275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may</a:t>
            </a:r>
          </a:p>
        </p:txBody>
      </p:sp>
      <p:sp>
        <p:nvSpPr>
          <p:cNvPr id="26" name="Box 16"/>
          <p:cNvSpPr/>
          <p:nvPr/>
        </p:nvSpPr>
        <p:spPr>
          <a:xfrm>
            <a:off x="3604575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jun</a:t>
            </a:r>
          </a:p>
        </p:txBody>
      </p:sp>
      <p:sp>
        <p:nvSpPr>
          <p:cNvPr id="27" name="Box 17"/>
          <p:cNvSpPr/>
          <p:nvPr/>
        </p:nvSpPr>
        <p:spPr>
          <a:xfrm>
            <a:off x="4103875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jul</a:t>
            </a:r>
          </a:p>
        </p:txBody>
      </p:sp>
      <p:sp>
        <p:nvSpPr>
          <p:cNvPr id="28" name="Box 18"/>
          <p:cNvSpPr/>
          <p:nvPr/>
        </p:nvSpPr>
        <p:spPr>
          <a:xfrm>
            <a:off x="4603175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aug</a:t>
            </a:r>
          </a:p>
        </p:txBody>
      </p:sp>
      <p:sp>
        <p:nvSpPr>
          <p:cNvPr id="29" name="Box 19"/>
          <p:cNvSpPr/>
          <p:nvPr/>
        </p:nvSpPr>
        <p:spPr>
          <a:xfrm>
            <a:off x="5102476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sep</a:t>
            </a:r>
          </a:p>
        </p:txBody>
      </p:sp>
      <p:sp>
        <p:nvSpPr>
          <p:cNvPr id="30" name="Box 20"/>
          <p:cNvSpPr/>
          <p:nvPr/>
        </p:nvSpPr>
        <p:spPr>
          <a:xfrm>
            <a:off x="5601776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oct</a:t>
            </a:r>
          </a:p>
        </p:txBody>
      </p:sp>
      <p:sp>
        <p:nvSpPr>
          <p:cNvPr id="31" name="Box 21"/>
          <p:cNvSpPr/>
          <p:nvPr/>
        </p:nvSpPr>
        <p:spPr>
          <a:xfrm>
            <a:off x="6101076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nov</a:t>
            </a:r>
          </a:p>
        </p:txBody>
      </p:sp>
      <p:sp>
        <p:nvSpPr>
          <p:cNvPr id="32" name="Box 22"/>
          <p:cNvSpPr/>
          <p:nvPr/>
        </p:nvSpPr>
        <p:spPr>
          <a:xfrm>
            <a:off x="6600376" y="5283980"/>
            <a:ext cx="499300" cy="1604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50" dirty="0">
                <a:solidFill>
                  <a:srgbClr val="000000"/>
                </a:solidFill>
              </a:rPr>
              <a:t>dec</a:t>
            </a:r>
          </a:p>
        </p:txBody>
      </p:sp>
      <p:sp>
        <p:nvSpPr>
          <p:cNvPr id="33" name="Box 23"/>
          <p:cNvSpPr/>
          <p:nvPr/>
        </p:nvSpPr>
        <p:spPr>
          <a:xfrm>
            <a:off x="1182969" y="4866198"/>
            <a:ext cx="349510" cy="382118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1682269" y="4484081"/>
            <a:ext cx="349510" cy="76423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5" name="Box 25"/>
          <p:cNvSpPr/>
          <p:nvPr/>
        </p:nvSpPr>
        <p:spPr>
          <a:xfrm>
            <a:off x="2181569" y="3910904"/>
            <a:ext cx="349510" cy="133741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6" name="Box 26"/>
          <p:cNvSpPr/>
          <p:nvPr/>
        </p:nvSpPr>
        <p:spPr>
          <a:xfrm>
            <a:off x="2680869" y="3643422"/>
            <a:ext cx="349510" cy="160489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7" name="Box 27"/>
          <p:cNvSpPr/>
          <p:nvPr/>
        </p:nvSpPr>
        <p:spPr>
          <a:xfrm>
            <a:off x="3180170" y="3146669"/>
            <a:ext cx="349510" cy="2101646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8" name="Box 28"/>
          <p:cNvSpPr/>
          <p:nvPr/>
        </p:nvSpPr>
        <p:spPr>
          <a:xfrm>
            <a:off x="3679470" y="2764552"/>
            <a:ext cx="349510" cy="248376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9" name="Box 29"/>
          <p:cNvSpPr/>
          <p:nvPr/>
        </p:nvSpPr>
        <p:spPr>
          <a:xfrm>
            <a:off x="4178770" y="2573493"/>
            <a:ext cx="349510" cy="2674823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0" name="Box 30"/>
          <p:cNvSpPr/>
          <p:nvPr/>
        </p:nvSpPr>
        <p:spPr>
          <a:xfrm>
            <a:off x="4678070" y="2879187"/>
            <a:ext cx="349510" cy="2369129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1" name="Box 31"/>
          <p:cNvSpPr/>
          <p:nvPr/>
        </p:nvSpPr>
        <p:spPr>
          <a:xfrm>
            <a:off x="5177371" y="3261305"/>
            <a:ext cx="349510" cy="198701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2" name="Box 32"/>
          <p:cNvSpPr/>
          <p:nvPr/>
        </p:nvSpPr>
        <p:spPr>
          <a:xfrm>
            <a:off x="5676671" y="3528787"/>
            <a:ext cx="349510" cy="1719529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3" name="Box 33"/>
          <p:cNvSpPr/>
          <p:nvPr/>
        </p:nvSpPr>
        <p:spPr>
          <a:xfrm>
            <a:off x="6175971" y="4101963"/>
            <a:ext cx="349510" cy="1146353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4" name="Box 34"/>
          <p:cNvSpPr/>
          <p:nvPr/>
        </p:nvSpPr>
        <p:spPr>
          <a:xfrm>
            <a:off x="6675271" y="4484081"/>
            <a:ext cx="349510" cy="76423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5" name="Shape 35"/>
          <p:cNvSpPr/>
          <p:nvPr/>
        </p:nvSpPr>
        <p:spPr>
          <a:xfrm>
            <a:off x="1357724" y="2573493"/>
            <a:ext cx="5492303" cy="2292705"/>
          </a:xfrm>
          <a:custGeom>
            <a:avLst/>
            <a:gdLst/>
            <a:ahLst/>
            <a:cxnLst/>
            <a:rect l="0" t="0" r="0" b="0"/>
            <a:pathLst>
              <a:path w="5492303" h="2292705" fill="none">
                <a:moveTo>
                  <a:pt x="0" y="2292705"/>
                </a:moveTo>
                <a:lnTo>
                  <a:pt x="499300" y="1910588"/>
                </a:lnTo>
                <a:lnTo>
                  <a:pt x="998600" y="1337411"/>
                </a:lnTo>
                <a:lnTo>
                  <a:pt x="1497900" y="1069929"/>
                </a:lnTo>
                <a:lnTo>
                  <a:pt x="1997201" y="573176"/>
                </a:lnTo>
                <a:lnTo>
                  <a:pt x="2496501" y="191059"/>
                </a:lnTo>
                <a:lnTo>
                  <a:pt x="2995801" y="0"/>
                </a:lnTo>
                <a:lnTo>
                  <a:pt x="3495101" y="305694"/>
                </a:lnTo>
                <a:lnTo>
                  <a:pt x="3994402" y="687812"/>
                </a:lnTo>
                <a:lnTo>
                  <a:pt x="4493702" y="955294"/>
                </a:lnTo>
                <a:lnTo>
                  <a:pt x="4993002" y="1528470"/>
                </a:lnTo>
                <a:lnTo>
                  <a:pt x="5492303" y="1910588"/>
                </a:lnTo>
              </a:path>
            </a:pathLst>
          </a:custGeom>
          <a:noFill/>
          <a:ln w="26748">
            <a:solidFill>
              <a:srgbClr val="ED7D31"/>
            </a:solidFill>
          </a:ln>
        </p:spPr>
      </p:sp>
      <p:sp>
        <p:nvSpPr>
          <p:cNvPr id="46" name="Box 36"/>
          <p:cNvSpPr/>
          <p:nvPr/>
        </p:nvSpPr>
        <p:spPr>
          <a:xfrm>
            <a:off x="1330975" y="4839450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7" name="Box 37"/>
          <p:cNvSpPr/>
          <p:nvPr/>
        </p:nvSpPr>
        <p:spPr>
          <a:xfrm>
            <a:off x="1830276" y="4457332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8" name="Box 38"/>
          <p:cNvSpPr/>
          <p:nvPr/>
        </p:nvSpPr>
        <p:spPr>
          <a:xfrm>
            <a:off x="2329576" y="3884156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9" name="Box 39"/>
          <p:cNvSpPr/>
          <p:nvPr/>
        </p:nvSpPr>
        <p:spPr>
          <a:xfrm>
            <a:off x="2828876" y="3616674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0" name="Box 40"/>
          <p:cNvSpPr/>
          <p:nvPr/>
        </p:nvSpPr>
        <p:spPr>
          <a:xfrm>
            <a:off x="3328176" y="3119921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1" name="Box 41"/>
          <p:cNvSpPr/>
          <p:nvPr/>
        </p:nvSpPr>
        <p:spPr>
          <a:xfrm>
            <a:off x="3827477" y="2737804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2" name="Box 42"/>
          <p:cNvSpPr/>
          <p:nvPr/>
        </p:nvSpPr>
        <p:spPr>
          <a:xfrm>
            <a:off x="4326777" y="2546745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3" name="Box 43"/>
          <p:cNvSpPr/>
          <p:nvPr/>
        </p:nvSpPr>
        <p:spPr>
          <a:xfrm>
            <a:off x="4826077" y="2852439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4" name="Box 44"/>
          <p:cNvSpPr/>
          <p:nvPr/>
        </p:nvSpPr>
        <p:spPr>
          <a:xfrm>
            <a:off x="5325378" y="3234556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5" name="Box 45"/>
          <p:cNvSpPr/>
          <p:nvPr/>
        </p:nvSpPr>
        <p:spPr>
          <a:xfrm>
            <a:off x="5824678" y="3502039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6" name="Box 46"/>
          <p:cNvSpPr/>
          <p:nvPr/>
        </p:nvSpPr>
        <p:spPr>
          <a:xfrm>
            <a:off x="6323978" y="4075215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7" name="Box 47"/>
          <p:cNvSpPr/>
          <p:nvPr/>
        </p:nvSpPr>
        <p:spPr>
          <a:xfrm>
            <a:off x="6823278" y="4457332"/>
            <a:ext cx="53496" cy="5349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8" name="Shape 48"/>
          <p:cNvSpPr/>
          <p:nvPr/>
        </p:nvSpPr>
        <p:spPr>
          <a:xfrm>
            <a:off x="1108074" y="5248316"/>
            <a:ext cx="5991603" cy="1"/>
          </a:xfrm>
          <a:custGeom>
            <a:avLst/>
            <a:gdLst/>
            <a:ahLst/>
            <a:cxnLst/>
            <a:rect l="0" t="0" r="0" b="0"/>
            <a:pathLst>
              <a:path w="5991603" h="1" fill="none">
                <a:moveTo>
                  <a:pt x="0" y="0"/>
                </a:moveTo>
                <a:lnTo>
                  <a:pt x="5991603" y="0"/>
                </a:lnTo>
              </a:path>
            </a:pathLst>
          </a:custGeom>
          <a:noFill/>
          <a:ln w="26748">
            <a:solidFill>
              <a:srgbClr val="595959"/>
            </a:solidFill>
          </a:ln>
        </p:spPr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xychart-beta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title "Sales Revenue"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x-axis [jan, feb, mar, apr, may, jun, jul, aug, sep, oct, nov, dec]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y-axis "Revenue (in $)" 4000 --&gt; 11000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bar [5000, 6000, 7500, 8200, 9500, 10500, 11000, 10200, 9200, 8500, 7000, 6000]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line [5000, 6000, 7500, 8200, 9500, 10500, 11000, 10200, 9200, 8500, 7000, 6000]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zenuml</a:t>
            </a:r>
          </a:p>
        </p:txBody>
      </p:sp>
      <p:sp>
        <p:nvSpPr>
          <p:cNvPr id="53" name="Participant _starter"/>
          <p:cNvSpPr/>
          <p:nvPr/>
        </p:nvSpPr>
        <p:spPr>
          <a:xfrm>
            <a:off x="1423350" y="1298316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55" name="Participant _starter"/>
          <p:cNvSpPr/>
          <p:nvPr/>
        </p:nvSpPr>
        <p:spPr>
          <a:xfrm>
            <a:off x="1423350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58" name="Participant Client"/>
          <p:cNvSpPr/>
          <p:nvPr/>
        </p:nvSpPr>
        <p:spPr>
          <a:xfrm>
            <a:off x="2367006" y="1298316"/>
            <a:ext cx="606636" cy="229174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60" name="Participant Client"/>
          <p:cNvSpPr/>
          <p:nvPr/>
        </p:nvSpPr>
        <p:spPr>
          <a:xfrm>
            <a:off x="2367006" y="6036818"/>
            <a:ext cx="606636" cy="229174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63" name="Participant DB"/>
          <p:cNvSpPr/>
          <p:nvPr/>
        </p:nvSpPr>
        <p:spPr>
          <a:xfrm>
            <a:off x="3310662" y="1298316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65" name="Participant DB"/>
          <p:cNvSpPr/>
          <p:nvPr/>
        </p:nvSpPr>
        <p:spPr>
          <a:xfrm>
            <a:off x="3310662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68" name="Participant Booking"/>
          <p:cNvSpPr/>
          <p:nvPr/>
        </p:nvSpPr>
        <p:spPr>
          <a:xfrm>
            <a:off x="4146809" y="1298316"/>
            <a:ext cx="821655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0" name="Participant Booking"/>
          <p:cNvSpPr/>
          <p:nvPr/>
        </p:nvSpPr>
        <p:spPr>
          <a:xfrm>
            <a:off x="4146809" y="6036818"/>
            <a:ext cx="821655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3" name="Participant Mailer"/>
          <p:cNvSpPr/>
          <p:nvPr/>
        </p:nvSpPr>
        <p:spPr>
          <a:xfrm>
            <a:off x="5197975" y="3071042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5" name="Participant Mailer"/>
          <p:cNvSpPr/>
          <p:nvPr/>
        </p:nvSpPr>
        <p:spPr>
          <a:xfrm>
            <a:off x="5197975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7" name="Block alt"/>
          <p:cNvSpPr/>
          <p:nvPr/>
        </p:nvSpPr>
        <p:spPr>
          <a:xfrm>
            <a:off x="2427670" y="2397002"/>
            <a:ext cx="3316278" cy="1354821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28" name="Box 18"/>
          <p:cNvSpPr/>
          <p:nvPr/>
        </p:nvSpPr>
        <p:spPr>
          <a:xfrm>
            <a:off x="2427670" y="2397002"/>
            <a:ext cx="229174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alt</a:t>
            </a:r>
          </a:p>
        </p:txBody>
      </p:sp>
      <p:sp>
        <p:nvSpPr>
          <p:cNvPr id="29" name="Box 19"/>
          <p:cNvSpPr/>
          <p:nvPr/>
        </p:nvSpPr>
        <p:spPr>
          <a:xfrm>
            <a:off x="2697286" y="2397002"/>
            <a:ext cx="3006219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[available]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2427670" y="3367619"/>
            <a:ext cx="3316277" cy="1"/>
          </a:xfrm>
          <a:prstGeom prst="line">
            <a:avLst/>
          </a:prstGeom>
          <a:ln w="6740">
            <a:solidFill>
              <a:srgbClr val="7F7F7F"/>
            </a:solidFill>
            <a:prstDash val="dash"/>
          </a:ln>
        </p:spPr>
      </p:cxnSp>
      <p:sp>
        <p:nvSpPr>
          <p:cNvPr id="31" name="Box 21"/>
          <p:cNvSpPr/>
          <p:nvPr/>
        </p:nvSpPr>
        <p:spPr>
          <a:xfrm>
            <a:off x="2468112" y="3381100"/>
            <a:ext cx="3235393" cy="9436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[else]</a:t>
            </a:r>
          </a:p>
        </p:txBody>
      </p:sp>
      <p:sp>
        <p:nvSpPr>
          <p:cNvPr id="34" name="Block loop"/>
          <p:cNvSpPr/>
          <p:nvPr/>
        </p:nvSpPr>
        <p:spPr>
          <a:xfrm>
            <a:off x="3371326" y="3846188"/>
            <a:ext cx="1428965" cy="4111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35" name="Box 25"/>
          <p:cNvSpPr/>
          <p:nvPr/>
        </p:nvSpPr>
        <p:spPr>
          <a:xfrm>
            <a:off x="3371326" y="3846188"/>
            <a:ext cx="269616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loop</a:t>
            </a:r>
          </a:p>
        </p:txBody>
      </p:sp>
      <p:sp>
        <p:nvSpPr>
          <p:cNvPr id="36" name="Box 26"/>
          <p:cNvSpPr/>
          <p:nvPr/>
        </p:nvSpPr>
        <p:spPr>
          <a:xfrm>
            <a:off x="3681385" y="3846188"/>
            <a:ext cx="1078464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[retry]</a:t>
            </a:r>
          </a:p>
        </p:txBody>
      </p:sp>
      <p:sp>
        <p:nvSpPr>
          <p:cNvPr id="44" name="Block break"/>
          <p:cNvSpPr/>
          <p:nvPr/>
        </p:nvSpPr>
        <p:spPr>
          <a:xfrm>
            <a:off x="2427670" y="4587632"/>
            <a:ext cx="2372621" cy="808848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5" name="Box 35"/>
          <p:cNvSpPr/>
          <p:nvPr/>
        </p:nvSpPr>
        <p:spPr>
          <a:xfrm>
            <a:off x="2427670" y="4587632"/>
            <a:ext cx="310058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break</a:t>
            </a:r>
          </a:p>
        </p:txBody>
      </p:sp>
      <p:sp>
        <p:nvSpPr>
          <p:cNvPr id="46" name="Box 36"/>
          <p:cNvSpPr/>
          <p:nvPr/>
        </p:nvSpPr>
        <p:spPr>
          <a:xfrm>
            <a:off x="2778171" y="4587632"/>
            <a:ext cx="1981678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[try]</a:t>
            </a:r>
          </a:p>
        </p:txBody>
      </p:sp>
      <p:cxnSp>
        <p:nvCxnSpPr>
          <p:cNvPr id="47" name="Connector 37"/>
          <p:cNvCxnSpPr/>
          <p:nvPr/>
        </p:nvCxnSpPr>
        <p:spPr>
          <a:xfrm>
            <a:off x="2427670" y="5012277"/>
            <a:ext cx="2372621" cy="1"/>
          </a:xfrm>
          <a:prstGeom prst="line">
            <a:avLst/>
          </a:prstGeom>
          <a:ln w="6740">
            <a:solidFill>
              <a:srgbClr val="7F7F7F"/>
            </a:solidFill>
            <a:prstDash val="dash"/>
          </a:ln>
        </p:spPr>
      </p:cxnSp>
      <p:sp>
        <p:nvSpPr>
          <p:cNvPr id="48" name="Box 38"/>
          <p:cNvSpPr/>
          <p:nvPr/>
        </p:nvSpPr>
        <p:spPr>
          <a:xfrm>
            <a:off x="2468112" y="5025758"/>
            <a:ext cx="2291737" cy="9436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[catch]</a:t>
            </a:r>
          </a:p>
        </p:txBody>
      </p:sp>
      <p:sp>
        <p:nvSpPr>
          <p:cNvPr id="51" name="Block opt"/>
          <p:cNvSpPr/>
          <p:nvPr/>
        </p:nvSpPr>
        <p:spPr>
          <a:xfrm>
            <a:off x="1484014" y="5490846"/>
            <a:ext cx="3316278" cy="4111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52" name="Box 42"/>
          <p:cNvSpPr/>
          <p:nvPr/>
        </p:nvSpPr>
        <p:spPr>
          <a:xfrm>
            <a:off x="1484014" y="5490846"/>
            <a:ext cx="229174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opt</a:t>
            </a:r>
          </a:p>
        </p:txBody>
      </p:sp>
      <p:cxnSp>
        <p:nvCxnSpPr>
          <p:cNvPr id="57" name="Connector 47"/>
          <p:cNvCxnSpPr/>
          <p:nvPr/>
        </p:nvCxnSpPr>
        <p:spPr>
          <a:xfrm>
            <a:off x="1726668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62" name="Connector 52"/>
          <p:cNvCxnSpPr/>
          <p:nvPr/>
        </p:nvCxnSpPr>
        <p:spPr>
          <a:xfrm>
            <a:off x="2670324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67" name="Connector 57"/>
          <p:cNvCxnSpPr/>
          <p:nvPr/>
        </p:nvCxnSpPr>
        <p:spPr>
          <a:xfrm>
            <a:off x="3613981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72" name="Connector 62"/>
          <p:cNvCxnSpPr/>
          <p:nvPr/>
        </p:nvCxnSpPr>
        <p:spPr>
          <a:xfrm>
            <a:off x="4557637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77" name="Connector 67"/>
          <p:cNvCxnSpPr/>
          <p:nvPr/>
        </p:nvCxnSpPr>
        <p:spPr>
          <a:xfrm>
            <a:off x="5501293" y="3300215"/>
            <a:ext cx="1" cy="2736603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sp>
        <p:nvSpPr>
          <p:cNvPr id="18" name="Activation"/>
          <p:cNvSpPr/>
          <p:nvPr/>
        </p:nvSpPr>
        <p:spPr>
          <a:xfrm>
            <a:off x="3580279" y="2066722"/>
            <a:ext cx="67404" cy="276356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39" name="Activation"/>
          <p:cNvSpPr/>
          <p:nvPr/>
        </p:nvSpPr>
        <p:spPr>
          <a:xfrm>
            <a:off x="4523935" y="1830808"/>
            <a:ext cx="67404" cy="2702901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11" name="Box 1"/>
          <p:cNvSpPr/>
          <p:nvPr/>
        </p:nvSpPr>
        <p:spPr>
          <a:xfrm>
            <a:off x="1288542" y="1069142"/>
            <a:ext cx="4650877" cy="1213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50" dirty="0">
                <a:solidFill>
                  <a:srgbClr val="333333"/>
                </a:solidFill>
              </a:rPr>
              <a:t>Booking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2670324" y="1830808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3" name="Box 3"/>
          <p:cNvSpPr/>
          <p:nvPr/>
        </p:nvSpPr>
        <p:spPr>
          <a:xfrm>
            <a:off x="2697286" y="1689259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book(id)</a:t>
            </a:r>
          </a:p>
        </p:txBody>
      </p:sp>
      <p:cxnSp>
        <p:nvCxnSpPr>
          <p:cNvPr id="14" name="Connector 4"/>
          <p:cNvCxnSpPr/>
          <p:nvPr/>
        </p:nvCxnSpPr>
        <p:spPr>
          <a:xfrm flipH="1">
            <a:off x="3647683" y="2066722"/>
            <a:ext cx="876252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5" name="Box 5"/>
          <p:cNvSpPr/>
          <p:nvPr/>
        </p:nvSpPr>
        <p:spPr>
          <a:xfrm>
            <a:off x="3674644" y="1925173"/>
            <a:ext cx="82232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find(id)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3647683" y="2302636"/>
            <a:ext cx="876252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17" name="Box 7"/>
          <p:cNvSpPr/>
          <p:nvPr/>
        </p:nvSpPr>
        <p:spPr>
          <a:xfrm>
            <a:off x="3674644" y="2161087"/>
            <a:ext cx="82232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row</a:t>
            </a:r>
          </a:p>
        </p:txBody>
      </p:sp>
      <p:cxnSp>
        <p:nvCxnSpPr>
          <p:cNvPr id="19" name="Connector 9"/>
          <p:cNvCxnSpPr/>
          <p:nvPr/>
        </p:nvCxnSpPr>
        <p:spPr>
          <a:xfrm flipH="1">
            <a:off x="3613981" y="2713800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0" name="Box 10"/>
          <p:cNvSpPr/>
          <p:nvPr/>
        </p:nvSpPr>
        <p:spPr>
          <a:xfrm>
            <a:off x="3640942" y="2572252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save(id)</a:t>
            </a:r>
          </a:p>
        </p:txBody>
      </p:sp>
      <p:cxnSp>
        <p:nvCxnSpPr>
          <p:cNvPr id="21" name="Connector 11"/>
          <p:cNvCxnSpPr/>
          <p:nvPr/>
        </p:nvCxnSpPr>
        <p:spPr>
          <a:xfrm>
            <a:off x="3613981" y="2949714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2" name="Box 12"/>
          <p:cNvSpPr/>
          <p:nvPr/>
        </p:nvSpPr>
        <p:spPr>
          <a:xfrm>
            <a:off x="3640942" y="2808166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order</a:t>
            </a:r>
          </a:p>
        </p:txBody>
      </p:sp>
      <p:cxnSp>
        <p:nvCxnSpPr>
          <p:cNvPr id="23" name="Connector 13"/>
          <p:cNvCxnSpPr/>
          <p:nvPr/>
        </p:nvCxnSpPr>
        <p:spPr>
          <a:xfrm>
            <a:off x="4591339" y="3185628"/>
            <a:ext cx="606636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4" name="Box 14"/>
          <p:cNvSpPr/>
          <p:nvPr/>
        </p:nvSpPr>
        <p:spPr>
          <a:xfrm>
            <a:off x="4563703" y="3044080"/>
            <a:ext cx="66190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new Mailer(id)</a:t>
            </a:r>
          </a:p>
        </p:txBody>
      </p:sp>
      <p:cxnSp>
        <p:nvCxnSpPr>
          <p:cNvPr id="25" name="Connector 15"/>
          <p:cNvCxnSpPr/>
          <p:nvPr/>
        </p:nvCxnSpPr>
        <p:spPr>
          <a:xfrm flipH="1">
            <a:off x="2670324" y="3657457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6" name="Box 16"/>
          <p:cNvSpPr/>
          <p:nvPr/>
        </p:nvSpPr>
        <p:spPr>
          <a:xfrm>
            <a:off x="2697286" y="3515908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sold_out</a:t>
            </a:r>
          </a:p>
        </p:txBody>
      </p:sp>
      <p:cxnSp>
        <p:nvCxnSpPr>
          <p:cNvPr id="32" name="Connector 22"/>
          <p:cNvCxnSpPr/>
          <p:nvPr/>
        </p:nvCxnSpPr>
        <p:spPr>
          <a:xfrm flipH="1">
            <a:off x="3613981" y="4162987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33" name="Box 23"/>
          <p:cNvSpPr/>
          <p:nvPr/>
        </p:nvSpPr>
        <p:spPr>
          <a:xfrm>
            <a:off x="3640942" y="4021438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poll</a:t>
            </a:r>
          </a:p>
        </p:txBody>
      </p:sp>
      <p:cxnSp>
        <p:nvCxnSpPr>
          <p:cNvPr id="37" name="Connector 27"/>
          <p:cNvCxnSpPr/>
          <p:nvPr/>
        </p:nvCxnSpPr>
        <p:spPr>
          <a:xfrm flipH="1">
            <a:off x="2670324" y="4493266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38" name="Box 28"/>
          <p:cNvSpPr/>
          <p:nvPr/>
        </p:nvSpPr>
        <p:spPr>
          <a:xfrm>
            <a:off x="2697286" y="4351718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ok</a:t>
            </a:r>
          </a:p>
        </p:txBody>
      </p:sp>
      <p:cxnSp>
        <p:nvCxnSpPr>
          <p:cNvPr id="40" name="Connector 30"/>
          <p:cNvCxnSpPr/>
          <p:nvPr/>
        </p:nvCxnSpPr>
        <p:spPr>
          <a:xfrm>
            <a:off x="2670324" y="4904431"/>
            <a:ext cx="1887313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41" name="Box 31"/>
          <p:cNvSpPr/>
          <p:nvPr/>
        </p:nvSpPr>
        <p:spPr>
          <a:xfrm>
            <a:off x="2697286" y="4762882"/>
            <a:ext cx="183338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confirm</a:t>
            </a:r>
          </a:p>
        </p:txBody>
      </p:sp>
      <p:cxnSp>
        <p:nvCxnSpPr>
          <p:cNvPr id="42" name="Connector 32"/>
          <p:cNvCxnSpPr/>
          <p:nvPr/>
        </p:nvCxnSpPr>
        <p:spPr>
          <a:xfrm>
            <a:off x="2670324" y="5302115"/>
            <a:ext cx="1887313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43" name="Box 33"/>
          <p:cNvSpPr/>
          <p:nvPr/>
        </p:nvSpPr>
        <p:spPr>
          <a:xfrm>
            <a:off x="2697286" y="5160566"/>
            <a:ext cx="183338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cancel</a:t>
            </a:r>
          </a:p>
        </p:txBody>
      </p:sp>
      <p:cxnSp>
        <p:nvCxnSpPr>
          <p:cNvPr id="49" name="Connector 39"/>
          <p:cNvCxnSpPr/>
          <p:nvPr/>
        </p:nvCxnSpPr>
        <p:spPr>
          <a:xfrm>
            <a:off x="1726668" y="5807645"/>
            <a:ext cx="2830969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50" name="Box 40"/>
          <p:cNvSpPr/>
          <p:nvPr/>
        </p:nvSpPr>
        <p:spPr>
          <a:xfrm>
            <a:off x="1753630" y="5666096"/>
            <a:ext cx="2777045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audit()</a:t>
            </a:r>
          </a:p>
        </p:txBody>
      </p:sp>
      <p:sp>
        <p:nvSpPr>
          <p:cNvPr id="54" name="Box 44"/>
          <p:cNvSpPr/>
          <p:nvPr/>
        </p:nvSpPr>
        <p:spPr>
          <a:xfrm>
            <a:off x="1423350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Starter</a:t>
            </a:r>
          </a:p>
        </p:txBody>
      </p:sp>
      <p:sp>
        <p:nvSpPr>
          <p:cNvPr id="56" name="Box 46"/>
          <p:cNvSpPr/>
          <p:nvPr/>
        </p:nvSpPr>
        <p:spPr>
          <a:xfrm>
            <a:off x="1423350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Starter</a:t>
            </a:r>
          </a:p>
        </p:txBody>
      </p:sp>
      <p:sp>
        <p:nvSpPr>
          <p:cNvPr id="59" name="Box 49"/>
          <p:cNvSpPr/>
          <p:nvPr/>
        </p:nvSpPr>
        <p:spPr>
          <a:xfrm>
            <a:off x="2367006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Client</a:t>
            </a:r>
          </a:p>
        </p:txBody>
      </p:sp>
      <p:sp>
        <p:nvSpPr>
          <p:cNvPr id="61" name="Box 51"/>
          <p:cNvSpPr/>
          <p:nvPr/>
        </p:nvSpPr>
        <p:spPr>
          <a:xfrm>
            <a:off x="2367006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Client</a:t>
            </a:r>
          </a:p>
        </p:txBody>
      </p:sp>
      <p:sp>
        <p:nvSpPr>
          <p:cNvPr id="64" name="Box 54"/>
          <p:cNvSpPr/>
          <p:nvPr/>
        </p:nvSpPr>
        <p:spPr>
          <a:xfrm>
            <a:off x="3310662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DB</a:t>
            </a:r>
          </a:p>
        </p:txBody>
      </p:sp>
      <p:sp>
        <p:nvSpPr>
          <p:cNvPr id="66" name="Box 56"/>
          <p:cNvSpPr/>
          <p:nvPr/>
        </p:nvSpPr>
        <p:spPr>
          <a:xfrm>
            <a:off x="3310662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DB</a:t>
            </a:r>
          </a:p>
        </p:txBody>
      </p:sp>
      <p:sp>
        <p:nvSpPr>
          <p:cNvPr id="69" name="Box 59"/>
          <p:cNvSpPr/>
          <p:nvPr/>
        </p:nvSpPr>
        <p:spPr>
          <a:xfrm>
            <a:off x="4146809" y="1365720"/>
            <a:ext cx="821655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Booking Service</a:t>
            </a:r>
          </a:p>
        </p:txBody>
      </p:sp>
      <p:sp>
        <p:nvSpPr>
          <p:cNvPr id="71" name="Box 61"/>
          <p:cNvSpPr/>
          <p:nvPr/>
        </p:nvSpPr>
        <p:spPr>
          <a:xfrm>
            <a:off x="4146809" y="6104222"/>
            <a:ext cx="821655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Booking Service</a:t>
            </a:r>
          </a:p>
        </p:txBody>
      </p:sp>
      <p:sp>
        <p:nvSpPr>
          <p:cNvPr id="74" name="Box 64"/>
          <p:cNvSpPr/>
          <p:nvPr/>
        </p:nvSpPr>
        <p:spPr>
          <a:xfrm>
            <a:off x="5197975" y="3138446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  <p:sp>
        <p:nvSpPr>
          <p:cNvPr id="76" name="Box 66"/>
          <p:cNvSpPr/>
          <p:nvPr/>
        </p:nvSpPr>
        <p:spPr>
          <a:xfrm>
            <a:off x="5197975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zenuml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title Booking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@Actor Client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@Database DB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Booking as Booking Service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Client-&gt;Booking.book(id)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DB.find(id)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return row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if(available)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order = DB.save(id)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new Mailer(id)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} else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return sold_out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while(retry)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  Booking-&gt;DB: poll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return ok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try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Client-&gt;Booking: confirm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} catch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Client-&gt;Booking: cancel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}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opt {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  Booking.audit()</a:t>
            </a:r>
          </a:p>
          <a:p>
            <a:pPr algn="l"/>
            <a:r>
              <a:rPr lang="en-US" sz="1150" dirty="0">
                <a:solidFill>
                  <a:srgbClr val="1F2937"/>
                </a:solidFill>
                <a:latin typeface="Consolas"/>
                <a:cs typeface="Consolas"/>
              </a:rPr>
              <a:t>   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62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all-types-mega-color.md</dc:title>
  <dc:creator>md2nativedocx</dc:creator>
  <cp:lastModifiedBy>md2nativedocx</cp:lastModifiedBy>
  <dcterms:created xsi:type="dcterms:W3CDTF">2026-10-05T12:12:25Z</dcterms:created>
  <dcterms:modified xsi:type="dcterms:W3CDTF">2026-10-05T12:12:25Z</dcterms:modified>
</cp:coreProperties>
</file>