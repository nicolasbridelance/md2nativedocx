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architecture-diagram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63691" y="1870412"/>
            <a:ext cx="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6130510" y="3281516"/>
            <a:ext cx="40568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3" name="Connector 3"/>
          <p:cNvCxnSpPr/>
          <p:nvPr/>
        </p:nvCxnSpPr>
        <p:spPr>
          <a:xfrm>
            <a:off x="6791190" y="3281516"/>
            <a:ext cx="492614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7324373" y="4506949"/>
            <a:ext cx="1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sp>
        <p:nvSpPr>
          <p:cNvPr id="15" name="Public API"/>
          <p:cNvSpPr/>
          <p:nvPr/>
        </p:nvSpPr>
        <p:spPr>
          <a:xfrm>
            <a:off x="4401591" y="1325775"/>
            <a:ext cx="1177159" cy="544637"/>
          </a:xfrm>
          <a:prstGeom prst="cloud">
            <a:avLst/>
          </a:prstGeom>
          <a:solidFill>
            <a:srgbClr val="FCE4D6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Public API</a:t>
            </a:r>
          </a:p>
        </p:txBody>
      </p:sp>
      <p:sp>
        <p:nvSpPr>
          <p:cNvPr id="16" name="My Database"/>
          <p:cNvSpPr/>
          <p:nvPr/>
        </p:nvSpPr>
        <p:spPr>
          <a:xfrm>
            <a:off x="5387198" y="4147984"/>
            <a:ext cx="1231621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My Database</a:t>
            </a:r>
          </a:p>
        </p:txBody>
      </p:sp>
      <p:sp>
        <p:nvSpPr>
          <p:cNvPr id="17" name="Server"/>
          <p:cNvSpPr/>
          <p:nvPr/>
        </p:nvSpPr>
        <p:spPr>
          <a:xfrm>
            <a:off x="6230457" y="2736879"/>
            <a:ext cx="866468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Server</a:t>
            </a:r>
          </a:p>
        </p:txBody>
      </p:sp>
      <p:sp>
        <p:nvSpPr>
          <p:cNvPr id="18" name="Storage"/>
          <p:cNvSpPr/>
          <p:nvPr/>
        </p:nvSpPr>
        <p:spPr>
          <a:xfrm>
            <a:off x="6858336" y="5559088"/>
            <a:ext cx="932072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9" name="Gateway"/>
          <p:cNvSpPr/>
          <p:nvPr/>
        </p:nvSpPr>
        <p:spPr>
          <a:xfrm>
            <a:off x="6197656" y="1325775"/>
            <a:ext cx="932072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Gateway</a:t>
            </a:r>
          </a:p>
        </p:txBody>
      </p:sp>
      <p:sp>
        <p:nvSpPr>
          <p:cNvPr id="20" name="j1"/>
          <p:cNvSpPr/>
          <p:nvPr/>
        </p:nvSpPr>
        <p:spPr>
          <a:xfrm>
            <a:off x="7237726" y="4333656"/>
            <a:ext cx="173294" cy="173294"/>
          </a:xfrm>
          <a:prstGeom prst="ellipse">
            <a:avLst/>
          </a:prstGeom>
          <a:solidFill>
            <a:srgbClr val="2F5496"/>
          </a:soli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bidirectional</a:t>
            </a:r>
          </a:p>
        </p:txBody>
      </p:sp>
      <p:sp>
        <p:nvSpPr>
          <p:cNvPr id="12" name="Client" descr="A"/>
          <p:cNvSpPr/>
          <p:nvPr/>
        </p:nvSpPr>
        <p:spPr>
          <a:xfrm>
            <a:off x="457200" y="3065319"/>
            <a:ext cx="2092036" cy="1298864"/>
          </a:xfrm>
          <a:prstGeom prst="rect">
            <a:avLst/>
          </a:prstGeom>
          <a:solidFill>
            <a:srgbClr val="BBDEFB"/>
          </a:solidFill>
          <a:ln w="23091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3" name="Cache" descr="B"/>
          <p:cNvSpPr/>
          <p:nvPr/>
        </p:nvSpPr>
        <p:spPr>
          <a:xfrm>
            <a:off x="4059382" y="1896341"/>
            <a:ext cx="1842655" cy="1298864"/>
          </a:xfrm>
          <a:prstGeom prst="rect">
            <a:avLst/>
          </a:prstGeom>
          <a:solidFill>
            <a:srgbClr val="C8E6C9"/>
          </a:solidFill>
          <a:ln w="23091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Cache</a:t>
            </a:r>
          </a:p>
        </p:txBody>
      </p:sp>
      <p:sp>
        <p:nvSpPr>
          <p:cNvPr id="14" name="Base" descr="C"/>
          <p:cNvSpPr/>
          <p:nvPr/>
        </p:nvSpPr>
        <p:spPr>
          <a:xfrm>
            <a:off x="7412182" y="1896341"/>
            <a:ext cx="1593273" cy="1298864"/>
          </a:xfrm>
          <a:prstGeom prst="rect">
            <a:avLst/>
          </a:prstGeom>
          <a:solidFill>
            <a:srgbClr val="FFE0B2"/>
          </a:solidFill>
          <a:ln w="23091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Base</a:t>
            </a:r>
          </a:p>
        </p:txBody>
      </p:sp>
      <p:sp>
        <p:nvSpPr>
          <p:cNvPr id="15" name="Log" descr="D"/>
          <p:cNvSpPr/>
          <p:nvPr/>
        </p:nvSpPr>
        <p:spPr>
          <a:xfrm>
            <a:off x="10390909" y="1896341"/>
            <a:ext cx="1343891" cy="1298864"/>
          </a:xfrm>
          <a:prstGeom prst="rect">
            <a:avLst/>
          </a:prstGeom>
          <a:solidFill>
            <a:srgbClr val="E1BEE7"/>
          </a:solidFill>
          <a:ln w="23091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Log</a:t>
            </a:r>
          </a:p>
        </p:txBody>
      </p:sp>
      <p:sp>
        <p:nvSpPr>
          <p:cNvPr id="16" name="Direct" descr="E"/>
          <p:cNvSpPr/>
          <p:nvPr/>
        </p:nvSpPr>
        <p:spPr>
          <a:xfrm>
            <a:off x="3934691" y="4234295"/>
            <a:ext cx="2092036" cy="1298864"/>
          </a:xfrm>
          <a:prstGeom prst="rect">
            <a:avLst/>
          </a:prstGeom>
          <a:solidFill>
            <a:srgbClr val="FFCDD2"/>
          </a:solidFill>
          <a:ln w="23091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Direct</a:t>
            </a:r>
          </a:p>
        </p:txBody>
      </p:sp>
      <p:cxnSp>
        <p:nvCxnSpPr>
          <p:cNvPr id="17" name="A--B"/>
          <p:cNvCxnSpPr>
            <a:stCxn id="12" idx="3"/>
            <a:endCxn id="13" idx="1"/>
          </p:cNvCxnSpPr>
          <p:nvPr/>
        </p:nvCxnSpPr>
        <p:spPr>
          <a:xfrm flipV="1">
            <a:off x="2549236" y="2545774"/>
            <a:ext cx="1510145" cy="1168976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A"/>
          <p:cNvCxnSpPr>
            <a:stCxn id="13" idx="1"/>
            <a:endCxn id="12" idx="3"/>
          </p:cNvCxnSpPr>
          <p:nvPr/>
        </p:nvCxnSpPr>
        <p:spPr>
          <a:xfrm flipH="1">
            <a:off x="2549236" y="2545774"/>
            <a:ext cx="1510145" cy="1168976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B--C"/>
          <p:cNvCxnSpPr>
            <a:stCxn id="13" idx="3"/>
            <a:endCxn id="14" idx="1"/>
          </p:cNvCxnSpPr>
          <p:nvPr/>
        </p:nvCxnSpPr>
        <p:spPr>
          <a:xfrm>
            <a:off x="5902036" y="2545774"/>
            <a:ext cx="151014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--B"/>
          <p:cNvCxnSpPr>
            <a:stCxn id="14" idx="1"/>
            <a:endCxn id="13" idx="3"/>
          </p:cNvCxnSpPr>
          <p:nvPr/>
        </p:nvCxnSpPr>
        <p:spPr>
          <a:xfrm flipH="1">
            <a:off x="5902036" y="2545774"/>
            <a:ext cx="151014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D"/>
          <p:cNvCxnSpPr>
            <a:stCxn id="14" idx="3"/>
            <a:endCxn id="15" idx="1"/>
          </p:cNvCxnSpPr>
          <p:nvPr/>
        </p:nvCxnSpPr>
        <p:spPr>
          <a:xfrm>
            <a:off x="9005455" y="2545774"/>
            <a:ext cx="138545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D--B"/>
          <p:cNvSpPr/>
          <p:nvPr/>
        </p:nvSpPr>
        <p:spPr>
          <a:xfrm>
            <a:off x="5902036" y="2545774"/>
            <a:ext cx="4488873" cy="1342158"/>
          </a:xfrm>
          <a:custGeom>
            <a:avLst/>
            <a:gdLst/>
            <a:ahLst/>
            <a:cxnLst/>
            <a:rect l="0" t="0" r="0" b="0"/>
            <a:pathLst>
              <a:path w="2468880" h="738187">
                <a:moveTo>
                  <a:pt x="2468880" y="0"/>
                </a:moveTo>
                <a:lnTo>
                  <a:pt x="2087880" y="738187"/>
                </a:lnTo>
                <a:lnTo>
                  <a:pt x="1268730" y="738187"/>
                </a:lnTo>
                <a:lnTo>
                  <a:pt x="449580" y="738187"/>
                </a:lnTo>
                <a:lnTo>
                  <a:pt x="0" y="0"/>
                </a:lnTo>
              </a:path>
            </a:pathLst>
          </a:cu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cxnSp>
        <p:nvCxnSpPr>
          <p:cNvPr id="23" name="A--E"/>
          <p:cNvCxnSpPr>
            <a:stCxn id="12" idx="3"/>
            <a:endCxn id="16" idx="1"/>
          </p:cNvCxnSpPr>
          <p:nvPr/>
        </p:nvCxnSpPr>
        <p:spPr>
          <a:xfrm>
            <a:off x="2549236" y="3714750"/>
            <a:ext cx="1385455" cy="1168978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block</a:t>
            </a:r>
          </a:p>
        </p:txBody>
      </p:sp>
      <p:sp>
        <p:nvSpPr>
          <p:cNvPr id="11" name="Block doc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2" name="Box 2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Block db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4" name="Box 4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15" name="Group pipeline"/>
          <p:cNvSpPr/>
          <p:nvPr/>
        </p:nvSpPr>
        <p:spPr>
          <a:xfrm>
            <a:off x="2322739" y="2904671"/>
            <a:ext cx="7546521" cy="1620157"/>
          </a:xfrm>
          <a:prstGeom prst="roundRect">
            <a:avLst/>
          </a:prstGeom>
          <a:solidFill>
            <a:srgbClr val="F5F5F5"/>
          </a:solidFill>
          <a:ln w="21318">
            <a:solidFill>
              <a:srgbClr val="BFBFBF"/>
            </a:solidFill>
          </a:ln>
        </p:spPr>
      </p:sp>
      <p:sp>
        <p:nvSpPr>
          <p:cNvPr id="16" name="Block parse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7" name="Box 7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8" name="Block layout"/>
          <p:cNvSpPr/>
          <p:nvPr/>
        </p:nvSpPr>
        <p:spPr>
          <a:xfrm>
            <a:off x="499457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9" name="Box 9"/>
          <p:cNvSpPr/>
          <p:nvPr/>
        </p:nvSpPr>
        <p:spPr>
          <a:xfrm>
            <a:off x="499457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Layout</a:t>
            </a:r>
          </a:p>
        </p:txBody>
      </p:sp>
      <p:sp>
        <p:nvSpPr>
          <p:cNvPr id="20" name="Block emit"/>
          <p:cNvSpPr/>
          <p:nvPr/>
        </p:nvSpPr>
        <p:spPr>
          <a:xfrm>
            <a:off x="745323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1" name="Box 11"/>
          <p:cNvSpPr/>
          <p:nvPr/>
        </p:nvSpPr>
        <p:spPr>
          <a:xfrm>
            <a:off x="745323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Emit</a:t>
            </a:r>
          </a:p>
        </p:txBody>
      </p:sp>
      <p:sp>
        <p:nvSpPr>
          <p:cNvPr id="22" name="Block a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solidFill>
            <a:srgbClr val="FDE68A"/>
          </a:solidFill>
          <a:ln w="21318">
            <a:solidFill>
              <a:srgbClr val="B45309"/>
            </a:solidFill>
          </a:ln>
        </p:spPr>
      </p:sp>
      <p:sp>
        <p:nvSpPr>
          <p:cNvPr id="23" name="Box 13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24" name="Shape 14"/>
          <p:cNvSpPr/>
          <p:nvPr/>
        </p:nvSpPr>
        <p:spPr>
          <a:xfrm>
            <a:off x="7524296" y="4780643"/>
            <a:ext cx="2344964" cy="1193800"/>
          </a:xfrm>
          <a:prstGeom prst="ellipse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5" name="Box 15"/>
          <p:cNvSpPr/>
          <p:nvPr/>
        </p:nvSpPr>
        <p:spPr>
          <a:xfrm>
            <a:off x="7524296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Out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3546239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7" name="Connector 17"/>
          <p:cNvCxnSpPr/>
          <p:nvPr/>
        </p:nvCxnSpPr>
        <p:spPr>
          <a:xfrm flipV="1">
            <a:off x="8605677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8" name="Connector 18"/>
          <p:cNvCxnSpPr/>
          <p:nvPr/>
        </p:nvCxnSpPr>
        <p:spPr>
          <a:xfrm>
            <a:off x="4667704" y="5377543"/>
            <a:ext cx="2856593" cy="2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sp>
        <p:nvSpPr>
          <p:cNvPr id="29" name="Box 19"/>
          <p:cNvSpPr/>
          <p:nvPr/>
        </p:nvSpPr>
        <p:spPr>
          <a:xfrm>
            <a:off x="5680303" y="5185682"/>
            <a:ext cx="831396" cy="383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014" dirty="0">
                <a:solidFill>
                  <a:srgbClr val="000000"/>
                </a:solidFill>
              </a:rPr>
              <a:t>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bt-direction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5568399" y="5745666"/>
            <a:ext cx="1055203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5316828" y="4391722"/>
            <a:ext cx="1558346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4915012" y="2382644"/>
            <a:ext cx="2361977" cy="1310268"/>
          </a:xfrm>
          <a:prstGeom prst="diamond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4778744" y="1028700"/>
            <a:ext cx="1055203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6358054" y="1028700"/>
            <a:ext cx="1055203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0"/>
            <a:endCxn id="13" idx="2"/>
          </p:cNvCxnSpPr>
          <p:nvPr/>
        </p:nvCxnSpPr>
        <p:spPr>
          <a:xfrm flipV="1">
            <a:off x="6096000" y="5046856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0"/>
            <a:endCxn id="14" idx="2"/>
          </p:cNvCxnSpPr>
          <p:nvPr/>
        </p:nvCxnSpPr>
        <p:spPr>
          <a:xfrm flipV="1">
            <a:off x="6096000" y="3692912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0"/>
            <a:endCxn id="15" idx="2"/>
          </p:cNvCxnSpPr>
          <p:nvPr/>
        </p:nvCxnSpPr>
        <p:spPr>
          <a:xfrm flipH="1" flipV="1">
            <a:off x="5306345" y="1683834"/>
            <a:ext cx="789655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5480349" y="192841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0"/>
            <a:endCxn id="16" idx="2"/>
          </p:cNvCxnSpPr>
          <p:nvPr/>
        </p:nvCxnSpPr>
        <p:spPr>
          <a:xfrm flipV="1">
            <a:off x="6096000" y="1683834"/>
            <a:ext cx="789655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6270004" y="192841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c4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47449" y="1028700"/>
            <a:ext cx="7497103" cy="197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000000"/>
                </a:solidFill>
              </a:rPr>
              <a:t>Container diagram for Internet Banking System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981173" y="2726377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4771871" y="2871726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4033048" y="2726377"/>
            <a:ext cx="800319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4223905" y="3313587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288548" y="2726377"/>
            <a:ext cx="1664323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6027686" y="3313587"/>
            <a:ext cx="18604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</a:t>
            </a:r>
          </a:p>
        </p:txBody>
      </p:sp>
      <p:cxnSp>
        <p:nvCxnSpPr>
          <p:cNvPr id="18" name="Connector 8"/>
          <p:cNvCxnSpPr/>
          <p:nvPr/>
        </p:nvCxnSpPr>
        <p:spPr>
          <a:xfrm flipH="1">
            <a:off x="4180855" y="3610099"/>
            <a:ext cx="504705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284370" y="3755448"/>
            <a:ext cx="29767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Delivers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4795605" y="4493821"/>
            <a:ext cx="1554278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1" name="Text 11"/>
          <p:cNvSpPr txBox="1"/>
          <p:nvPr/>
        </p:nvSpPr>
        <p:spPr>
          <a:xfrm>
            <a:off x="5193674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7260246" y="4493821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3" name="Text 13"/>
          <p:cNvSpPr txBox="1"/>
          <p:nvPr/>
        </p:nvSpPr>
        <p:spPr>
          <a:xfrm>
            <a:off x="6881176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636258" y="5377543"/>
            <a:ext cx="1024136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5" name="Text 15"/>
          <p:cNvSpPr txBox="1"/>
          <p:nvPr/>
        </p:nvSpPr>
        <p:spPr>
          <a:xfrm>
            <a:off x="5627395" y="5522892"/>
            <a:ext cx="1041862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Reads from and writes to [sync, JDBC]</a:t>
            </a:r>
          </a:p>
        </p:txBody>
      </p:sp>
      <p:cxnSp>
        <p:nvCxnSpPr>
          <p:cNvPr id="26" name="Connector 16"/>
          <p:cNvCxnSpPr/>
          <p:nvPr/>
        </p:nvCxnSpPr>
        <p:spPr>
          <a:xfrm flipH="1">
            <a:off x="5691194" y="1837534"/>
            <a:ext cx="1227482" cy="412098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7" name="Text 17"/>
          <p:cNvSpPr txBox="1"/>
          <p:nvPr/>
        </p:nvSpPr>
        <p:spPr>
          <a:xfrm>
            <a:off x="6058423" y="1985443"/>
            <a:ext cx="49302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to</a:t>
            </a:r>
          </a:p>
        </p:txBody>
      </p:sp>
      <p:cxnSp>
        <p:nvCxnSpPr>
          <p:cNvPr id="28" name="Connector 18"/>
          <p:cNvCxnSpPr/>
          <p:nvPr/>
        </p:nvCxnSpPr>
        <p:spPr>
          <a:xfrm flipV="1">
            <a:off x="7284064" y="1842655"/>
            <a:ext cx="305563" cy="3058143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9" name="Text 19"/>
          <p:cNvSpPr txBox="1"/>
          <p:nvPr/>
        </p:nvSpPr>
        <p:spPr>
          <a:xfrm>
            <a:off x="6971728" y="3313587"/>
            <a:ext cx="93023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using [sync, SMTP]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7515085" y="5377543"/>
            <a:ext cx="43509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31" name="Text 21"/>
          <p:cNvSpPr txBox="1"/>
          <p:nvPr/>
        </p:nvSpPr>
        <p:spPr>
          <a:xfrm>
            <a:off x="7300072" y="5522892"/>
            <a:ext cx="86511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[sync/async, XML/HTTPS]</a:t>
            </a:r>
          </a:p>
        </p:txBody>
      </p:sp>
      <p:sp>
        <p:nvSpPr>
          <p:cNvPr id="32" name="E-Mail System"/>
          <p:cNvSpPr/>
          <p:nvPr/>
        </p:nvSpPr>
        <p:spPr>
          <a:xfrm>
            <a:off x="6918676" y="1365910"/>
            <a:ext cx="138953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3" name="E-Mail System title"/>
          <p:cNvSpPr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4" name="Divider"/>
          <p:cNvSpPr/>
          <p:nvPr/>
        </p:nvSpPr>
        <p:spPr>
          <a:xfrm>
            <a:off x="6918676" y="1549050"/>
            <a:ext cx="138953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5" name="Text 25"/>
          <p:cNvSpPr txBox="1"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E-Mail System</a:t>
            </a:r>
          </a:p>
        </p:txBody>
      </p:sp>
      <p:sp>
        <p:nvSpPr>
          <p:cNvPr id="36" name="Text 26"/>
          <p:cNvSpPr txBox="1"/>
          <p:nvPr/>
        </p:nvSpPr>
        <p:spPr>
          <a:xfrm>
            <a:off x="6976816" y="1551957"/>
            <a:ext cx="127325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The internal Microsoft Exchange system</a:t>
            </a:r>
          </a:p>
        </p:txBody>
      </p:sp>
      <p:sp>
        <p:nvSpPr>
          <p:cNvPr id="37" name="Customer"/>
          <p:cNvSpPr/>
          <p:nvPr/>
        </p:nvSpPr>
        <p:spPr>
          <a:xfrm>
            <a:off x="4100358" y="2249632"/>
            <a:ext cx="1761630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8" name="Customer title"/>
          <p:cNvSpPr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solidFill>
            <a:srgbClr val="FFE699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4100358" y="2432772"/>
            <a:ext cx="1761630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4158498" y="2435679"/>
            <a:ext cx="1645350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[Person]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A customer of the bank, with personal bank accounts</a:t>
            </a:r>
          </a:p>
        </p:txBody>
      </p:sp>
      <p:sp>
        <p:nvSpPr>
          <p:cNvPr id="42" name="Single-Page App"/>
          <p:cNvSpPr/>
          <p:nvPr/>
        </p:nvSpPr>
        <p:spPr>
          <a:xfrm>
            <a:off x="2486984" y="4017076"/>
            <a:ext cx="279651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3" name="Single-Page App title"/>
          <p:cNvSpPr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4" name="Divider"/>
          <p:cNvSpPr/>
          <p:nvPr/>
        </p:nvSpPr>
        <p:spPr>
          <a:xfrm>
            <a:off x="2486984" y="4200216"/>
            <a:ext cx="279651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5" name="Text 35"/>
          <p:cNvSpPr txBox="1"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Single-Page App</a:t>
            </a:r>
          </a:p>
        </p:txBody>
      </p:sp>
      <p:sp>
        <p:nvSpPr>
          <p:cNvPr id="46" name="Text 36"/>
          <p:cNvSpPr txBox="1"/>
          <p:nvPr/>
        </p:nvSpPr>
        <p:spPr>
          <a:xfrm>
            <a:off x="2545124" y="4203123"/>
            <a:ext cx="268023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JavaScript, Angular]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all the Internet banking functionality to customers via their web browser</a:t>
            </a:r>
          </a:p>
        </p:txBody>
      </p:sp>
      <p:sp>
        <p:nvSpPr>
          <p:cNvPr id="47" name="Mobile App"/>
          <p:cNvSpPr/>
          <p:nvPr/>
        </p:nvSpPr>
        <p:spPr>
          <a:xfrm>
            <a:off x="5574197" y="4017076"/>
            <a:ext cx="337209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8" name="Mobile App title"/>
          <p:cNvSpPr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9" name="Divider"/>
          <p:cNvSpPr/>
          <p:nvPr/>
        </p:nvSpPr>
        <p:spPr>
          <a:xfrm>
            <a:off x="5574197" y="4200216"/>
            <a:ext cx="337209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0" name="Text 40"/>
          <p:cNvSpPr txBox="1"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51" name="Text 41"/>
          <p:cNvSpPr txBox="1"/>
          <p:nvPr/>
        </p:nvSpPr>
        <p:spPr>
          <a:xfrm>
            <a:off x="5632337" y="4203123"/>
            <a:ext cx="325581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External: C#, Xamarin]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 limited subset of the Internet banking functionality to customers via their mobile device</a:t>
            </a:r>
          </a:p>
        </p:txBody>
      </p:sp>
      <p:sp>
        <p:nvSpPr>
          <p:cNvPr id="52" name="Web Application"/>
          <p:cNvSpPr/>
          <p:nvPr/>
        </p:nvSpPr>
        <p:spPr>
          <a:xfrm>
            <a:off x="4001521" y="3133354"/>
            <a:ext cx="195930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3" name="Web Application title"/>
          <p:cNvSpPr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4" name="Divider"/>
          <p:cNvSpPr/>
          <p:nvPr/>
        </p:nvSpPr>
        <p:spPr>
          <a:xfrm>
            <a:off x="4001521" y="3316494"/>
            <a:ext cx="195930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5" name="Text 45"/>
          <p:cNvSpPr txBox="1"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Web Application</a:t>
            </a:r>
          </a:p>
        </p:txBody>
      </p:sp>
      <p:sp>
        <p:nvSpPr>
          <p:cNvPr id="56" name="Text 46"/>
          <p:cNvSpPr txBox="1"/>
          <p:nvPr/>
        </p:nvSpPr>
        <p:spPr>
          <a:xfrm>
            <a:off x="4059661" y="3319401"/>
            <a:ext cx="184302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Java, Spring MVC]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Delivers the static content and the Internet banking SPA</a:t>
            </a:r>
          </a:p>
        </p:txBody>
      </p:sp>
      <p:sp>
        <p:nvSpPr>
          <p:cNvPr id="57" name="Database"/>
          <p:cNvSpPr/>
          <p:nvPr/>
        </p:nvSpPr>
        <p:spPr>
          <a:xfrm>
            <a:off x="3658497" y="5784520"/>
            <a:ext cx="2755818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8" name="Database title"/>
          <p:cNvSpPr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9" name="Divider"/>
          <p:cNvSpPr/>
          <p:nvPr/>
        </p:nvSpPr>
        <p:spPr>
          <a:xfrm>
            <a:off x="3658497" y="5967660"/>
            <a:ext cx="2755818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0" name="Text 50"/>
          <p:cNvSpPr txBox="1"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61" name="Text 51"/>
          <p:cNvSpPr txBox="1"/>
          <p:nvPr/>
        </p:nvSpPr>
        <p:spPr>
          <a:xfrm>
            <a:off x="3716637" y="5970567"/>
            <a:ext cx="2639538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Database: SQL Database]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user registration information, hashed auth credentials, access logs, etc.</a:t>
            </a:r>
          </a:p>
        </p:txBody>
      </p:sp>
      <p:sp>
        <p:nvSpPr>
          <p:cNvPr id="62" name="API Application"/>
          <p:cNvSpPr/>
          <p:nvPr/>
        </p:nvSpPr>
        <p:spPr>
          <a:xfrm>
            <a:off x="6268966" y="4900798"/>
            <a:ext cx="1982561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3" name="API Application title"/>
          <p:cNvSpPr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64" name="Divider"/>
          <p:cNvSpPr/>
          <p:nvPr/>
        </p:nvSpPr>
        <p:spPr>
          <a:xfrm>
            <a:off x="6268966" y="5083938"/>
            <a:ext cx="1982561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5" name="Text 55"/>
          <p:cNvSpPr txBox="1"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API Application</a:t>
            </a:r>
          </a:p>
        </p:txBody>
      </p:sp>
      <p:sp>
        <p:nvSpPr>
          <p:cNvPr id="66" name="Text 56"/>
          <p:cNvSpPr txBox="1"/>
          <p:nvPr/>
        </p:nvSpPr>
        <p:spPr>
          <a:xfrm>
            <a:off x="6327106" y="5086845"/>
            <a:ext cx="1866281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External, Database: Java, Docker Container]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Internet banking functionality via API</a:t>
            </a:r>
          </a:p>
        </p:txBody>
      </p:sp>
      <p:sp>
        <p:nvSpPr>
          <p:cNvPr id="67" name="Mainframe Banking System"/>
          <p:cNvSpPr/>
          <p:nvPr/>
        </p:nvSpPr>
        <p:spPr>
          <a:xfrm>
            <a:off x="6705013" y="5784520"/>
            <a:ext cx="3000004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8" name="Mainframe Banking System title"/>
          <p:cNvSpPr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69" name="Divider"/>
          <p:cNvSpPr/>
          <p:nvPr/>
        </p:nvSpPr>
        <p:spPr>
          <a:xfrm>
            <a:off x="6705013" y="5967660"/>
            <a:ext cx="3000004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70" name="Text 60"/>
          <p:cNvSpPr txBox="1"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Mainframe Banking System</a:t>
            </a:r>
          </a:p>
        </p:txBody>
      </p:sp>
      <p:sp>
        <p:nvSpPr>
          <p:cNvPr id="71" name="Text 61"/>
          <p:cNvSpPr txBox="1"/>
          <p:nvPr/>
        </p:nvSpPr>
        <p:spPr>
          <a:xfrm>
            <a:off x="6763153" y="5970567"/>
            <a:ext cx="2883724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all of the core banking information about customers, accounts, transactions,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class-diagram</a:t>
            </a:r>
          </a:p>
        </p:txBody>
      </p:sp>
      <p:cxnSp>
        <p:nvCxnSpPr>
          <p:cNvPr id="11" name="Connector 1"/>
          <p:cNvCxnSpPr/>
          <p:nvPr/>
        </p:nvCxnSpPr>
        <p:spPr>
          <a:xfrm flipV="1">
            <a:off x="7348440" y="2363361"/>
            <a:ext cx="1102777" cy="384114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2" name="Connector 2"/>
          <p:cNvCxnSpPr/>
          <p:nvPr/>
        </p:nvCxnSpPr>
        <p:spPr>
          <a:xfrm>
            <a:off x="7348440" y="3405955"/>
            <a:ext cx="1150039" cy="40057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3" name="Connector 3"/>
          <p:cNvCxnSpPr/>
          <p:nvPr/>
        </p:nvCxnSpPr>
        <p:spPr>
          <a:xfrm flipV="1">
            <a:off x="4355188" y="3426094"/>
            <a:ext cx="1102777" cy="407608"/>
          </a:xfrm>
          <a:prstGeom prst="line">
            <a:avLst/>
          </a:prstGeom>
          <a:ln w="1575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4660814" y="3472358"/>
            <a:ext cx="491524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owns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4355188" y="4619805"/>
            <a:ext cx="1244563" cy="46001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diamond" w="lg" len="lg"/>
          </a:ln>
        </p:spPr>
      </p:cxnSp>
      <p:sp>
        <p:nvSpPr>
          <p:cNvPr id="16" name="Text 6"/>
          <p:cNvSpPr txBox="1"/>
          <p:nvPr/>
        </p:nvSpPr>
        <p:spPr>
          <a:xfrm>
            <a:off x="4769516" y="4692274"/>
            <a:ext cx="415905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has</a:t>
            </a:r>
          </a:p>
        </p:txBody>
      </p:sp>
      <p:sp>
        <p:nvSpPr>
          <p:cNvPr id="17" name="Animal"/>
          <p:cNvSpPr/>
          <p:nvPr/>
        </p:nvSpPr>
        <p:spPr>
          <a:xfrm>
            <a:off x="5457965" y="2210247"/>
            <a:ext cx="1890475" cy="173293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18" name="Animal title"/>
          <p:cNvSpPr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57965" y="2706496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Divider"/>
          <p:cNvSpPr/>
          <p:nvPr/>
        </p:nvSpPr>
        <p:spPr>
          <a:xfrm>
            <a:off x="5457965" y="3494194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Animal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5615504" y="2714374"/>
            <a:ext cx="1575396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+int age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5615504" y="3502072"/>
            <a:ext cx="1575396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+makeSound() void</a:t>
            </a:r>
          </a:p>
        </p:txBody>
      </p:sp>
      <p:sp>
        <p:nvSpPr>
          <p:cNvPr id="24" name="Dog"/>
          <p:cNvSpPr/>
          <p:nvPr/>
        </p:nvSpPr>
        <p:spPr>
          <a:xfrm>
            <a:off x="8451217" y="1406795"/>
            <a:ext cx="1512380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25" name="Dog title"/>
          <p:cNvSpPr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6" name="Divider"/>
          <p:cNvSpPr/>
          <p:nvPr/>
        </p:nvSpPr>
        <p:spPr>
          <a:xfrm>
            <a:off x="8451217" y="1903044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7" name="Divider"/>
          <p:cNvSpPr/>
          <p:nvPr/>
        </p:nvSpPr>
        <p:spPr>
          <a:xfrm>
            <a:off x="8451217" y="2344155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8" name="Text 18"/>
          <p:cNvSpPr txBox="1"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Dog</a:t>
            </a:r>
          </a:p>
        </p:txBody>
      </p:sp>
      <p:sp>
        <p:nvSpPr>
          <p:cNvPr id="29" name="Text 19"/>
          <p:cNvSpPr txBox="1"/>
          <p:nvPr/>
        </p:nvSpPr>
        <p:spPr>
          <a:xfrm>
            <a:off x="8608756" y="1910922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breed</a:t>
            </a:r>
          </a:p>
        </p:txBody>
      </p:sp>
      <p:sp>
        <p:nvSpPr>
          <p:cNvPr id="30" name="Text 20"/>
          <p:cNvSpPr txBox="1"/>
          <p:nvPr/>
        </p:nvSpPr>
        <p:spPr>
          <a:xfrm>
            <a:off x="8608756" y="2352033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1" name="Cat"/>
          <p:cNvSpPr/>
          <p:nvPr/>
        </p:nvSpPr>
        <p:spPr>
          <a:xfrm>
            <a:off x="8498479" y="3580841"/>
            <a:ext cx="1417856" cy="94523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2" name="Cat title"/>
          <p:cNvSpPr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3" name="Divider"/>
          <p:cNvSpPr/>
          <p:nvPr/>
        </p:nvSpPr>
        <p:spPr>
          <a:xfrm>
            <a:off x="8498479" y="4077090"/>
            <a:ext cx="1417856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4" name="Text 24"/>
          <p:cNvSpPr txBox="1"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Cat</a:t>
            </a:r>
          </a:p>
        </p:txBody>
      </p:sp>
      <p:sp>
        <p:nvSpPr>
          <p:cNvPr id="35" name="Text 25"/>
          <p:cNvSpPr txBox="1"/>
          <p:nvPr/>
        </p:nvSpPr>
        <p:spPr>
          <a:xfrm>
            <a:off x="8656018" y="4084968"/>
            <a:ext cx="1102777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6" name="Owner"/>
          <p:cNvSpPr/>
          <p:nvPr/>
        </p:nvSpPr>
        <p:spPr>
          <a:xfrm>
            <a:off x="2228403" y="3533579"/>
            <a:ext cx="2126784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7" name="Owner title"/>
          <p:cNvSpPr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8" name="Divider"/>
          <p:cNvSpPr/>
          <p:nvPr/>
        </p:nvSpPr>
        <p:spPr>
          <a:xfrm>
            <a:off x="2228403" y="4029828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2228403" y="4470939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Owner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2385943" y="4037706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2385943" y="4478817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+feed(Animal a) void</a:t>
            </a:r>
          </a:p>
        </p:txBody>
      </p:sp>
      <p:sp>
        <p:nvSpPr>
          <p:cNvPr id="43" name="Address"/>
          <p:cNvSpPr/>
          <p:nvPr/>
        </p:nvSpPr>
        <p:spPr>
          <a:xfrm>
            <a:off x="5599750" y="4730880"/>
            <a:ext cx="1606904" cy="129182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44" name="Address title"/>
          <p:cNvSpPr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45" name="Divider"/>
          <p:cNvSpPr/>
          <p:nvPr/>
        </p:nvSpPr>
        <p:spPr>
          <a:xfrm>
            <a:off x="5599750" y="5227129"/>
            <a:ext cx="160690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6" name="Text 36"/>
          <p:cNvSpPr txBox="1"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Address</a:t>
            </a:r>
          </a:p>
        </p:txBody>
      </p:sp>
      <p:sp>
        <p:nvSpPr>
          <p:cNvPr id="47" name="Text 37"/>
          <p:cNvSpPr txBox="1"/>
          <p:nvPr/>
        </p:nvSpPr>
        <p:spPr>
          <a:xfrm>
            <a:off x="5757290" y="5235007"/>
            <a:ext cx="1291825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street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colors</a:t>
            </a:r>
          </a:p>
        </p:txBody>
      </p:sp>
      <p:sp>
        <p:nvSpPr>
          <p:cNvPr id="12" name="Fond clair" descr="A"/>
          <p:cNvSpPr/>
          <p:nvPr/>
        </p:nvSpPr>
        <p:spPr>
          <a:xfrm>
            <a:off x="3482587" y="1028700"/>
            <a:ext cx="863571" cy="378317"/>
          </a:xfrm>
          <a:prstGeom prst="rect">
            <a:avLst/>
          </a:prstGeom>
          <a:solidFill>
            <a:srgbClr val="D9E2F3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Fond clair</a:t>
            </a:r>
          </a:p>
        </p:txBody>
      </p:sp>
      <p:sp>
        <p:nvSpPr>
          <p:cNvPr id="13" name="Fond sombre" descr="B"/>
          <p:cNvSpPr/>
          <p:nvPr/>
        </p:nvSpPr>
        <p:spPr>
          <a:xfrm>
            <a:off x="3446268" y="1810555"/>
            <a:ext cx="936208" cy="378317"/>
          </a:xfrm>
          <a:prstGeom prst="rect">
            <a:avLst/>
          </a:prstGeom>
          <a:solidFill>
            <a:srgbClr val="1F3864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FFFFFF"/>
                </a:solidFill>
              </a:rPr>
              <a:t>Fond sombre</a:t>
            </a:r>
          </a:p>
        </p:txBody>
      </p:sp>
      <p:sp>
        <p:nvSpPr>
          <p:cNvPr id="14" name="Alerte" descr="C"/>
          <p:cNvSpPr/>
          <p:nvPr/>
        </p:nvSpPr>
        <p:spPr>
          <a:xfrm>
            <a:off x="3609701" y="2592410"/>
            <a:ext cx="609342" cy="378317"/>
          </a:xfrm>
          <a:prstGeom prst="rect">
            <a:avLst/>
          </a:prstGeom>
          <a:solidFill>
            <a:srgbClr val="FFD9D9"/>
          </a:solidFill>
          <a:ln w="6726" cap="flat" cmpd="sng" algn="ctr">
            <a:solidFill>
              <a:srgbClr val="CC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Alerte</a:t>
            </a:r>
          </a:p>
        </p:txBody>
      </p:sp>
      <p:sp>
        <p:nvSpPr>
          <p:cNvPr id="15" name="Style direct" descr="D"/>
          <p:cNvSpPr/>
          <p:nvPr/>
        </p:nvSpPr>
        <p:spPr>
          <a:xfrm>
            <a:off x="3409950" y="3374265"/>
            <a:ext cx="1008845" cy="378317"/>
          </a:xfrm>
          <a:prstGeom prst="rect">
            <a:avLst/>
          </a:prstGeom>
          <a:solidFill>
            <a:srgbClr val="FFDD00"/>
          </a:solidFill>
          <a:ln w="6726" cap="flat" cmpd="sng" algn="ctr">
            <a:solidFill>
              <a:srgbClr val="33333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Style direct</a:t>
            </a:r>
          </a:p>
        </p:txBody>
      </p:sp>
      <p:sp>
        <p:nvSpPr>
          <p:cNvPr id="16" name="Lien vert" descr="E"/>
          <p:cNvSpPr/>
          <p:nvPr/>
        </p:nvSpPr>
        <p:spPr>
          <a:xfrm>
            <a:off x="3518905" y="4156120"/>
            <a:ext cx="790935" cy="378317"/>
          </a:xfrm>
          <a:prstGeom prst="rect">
            <a:avLst/>
          </a:prstGeom>
          <a:solidFill>
            <a:srgbClr val="D9E2F3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Lien vert</a:t>
            </a:r>
          </a:p>
        </p:txBody>
      </p:sp>
      <p:sp>
        <p:nvSpPr>
          <p:cNvPr id="17" name="Classe partagee" descr="F"/>
          <p:cNvSpPr/>
          <p:nvPr/>
        </p:nvSpPr>
        <p:spPr>
          <a:xfrm>
            <a:off x="3543118" y="4937975"/>
            <a:ext cx="742510" cy="529644"/>
          </a:xfrm>
          <a:prstGeom prst="rect">
            <a:avLst/>
          </a:prstGeom>
          <a:solidFill>
            <a:srgbClr val="CCE5FF"/>
          </a:solidFill>
          <a:ln w="6726" cap="flat" cmpd="sng" algn="ctr">
            <a:solidFill>
              <a:srgbClr val="0000C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Classe partagee</a:t>
            </a:r>
          </a:p>
        </p:txBody>
      </p:sp>
      <p:sp>
        <p:nvSpPr>
          <p:cNvPr id="18" name="Autre classe partagee" descr="G"/>
          <p:cNvSpPr/>
          <p:nvPr/>
        </p:nvSpPr>
        <p:spPr>
          <a:xfrm>
            <a:off x="3409950" y="5871156"/>
            <a:ext cx="1008845" cy="529644"/>
          </a:xfrm>
          <a:prstGeom prst="rect">
            <a:avLst/>
          </a:prstGeom>
          <a:solidFill>
            <a:srgbClr val="CCE5FF"/>
          </a:solidFill>
          <a:ln w="6726" cap="flat" cmpd="sng" algn="ctr">
            <a:solidFill>
              <a:srgbClr val="0000C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Autre classe partagee</a:t>
            </a:r>
          </a:p>
        </p:txBody>
      </p:sp>
      <p:cxnSp>
        <p:nvCxnSpPr>
          <p:cNvPr id="19" name="A--B"/>
          <p:cNvCxnSpPr>
            <a:stCxn id="12" idx="2"/>
            <a:endCxn id="13" idx="0"/>
          </p:cNvCxnSpPr>
          <p:nvPr/>
        </p:nvCxnSpPr>
        <p:spPr>
          <a:xfrm>
            <a:off x="3914373" y="140701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C"/>
          <p:cNvCxnSpPr>
            <a:stCxn id="13" idx="2"/>
            <a:endCxn id="14" idx="0"/>
          </p:cNvCxnSpPr>
          <p:nvPr/>
        </p:nvCxnSpPr>
        <p:spPr>
          <a:xfrm>
            <a:off x="3914373" y="2188872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D"/>
          <p:cNvCxnSpPr>
            <a:stCxn id="14" idx="2"/>
            <a:endCxn id="15" idx="0"/>
          </p:cNvCxnSpPr>
          <p:nvPr/>
        </p:nvCxnSpPr>
        <p:spPr>
          <a:xfrm>
            <a:off x="3914373" y="297072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E"/>
          <p:cNvCxnSpPr>
            <a:stCxn id="15" idx="2"/>
            <a:endCxn id="16" idx="0"/>
          </p:cNvCxnSpPr>
          <p:nvPr/>
        </p:nvCxnSpPr>
        <p:spPr>
          <a:xfrm>
            <a:off x="3914373" y="3752582"/>
            <a:ext cx="0" cy="403538"/>
          </a:xfrm>
          <a:prstGeom prst="line">
            <a:avLst/>
          </a:prstGeom>
          <a:ln w="15133" cap="flat" cmpd="sng" algn="ctr">
            <a:solidFill>
              <a:srgbClr val="00AA00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--F"/>
          <p:cNvCxnSpPr>
            <a:stCxn id="16" idx="2"/>
            <a:endCxn id="17" idx="0"/>
          </p:cNvCxnSpPr>
          <p:nvPr/>
        </p:nvCxnSpPr>
        <p:spPr>
          <a:xfrm>
            <a:off x="3914373" y="453443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F--G"/>
          <p:cNvCxnSpPr>
            <a:stCxn id="17" idx="2"/>
            <a:endCxn id="18" idx="0"/>
          </p:cNvCxnSpPr>
          <p:nvPr/>
        </p:nvCxnSpPr>
        <p:spPr>
          <a:xfrm>
            <a:off x="3914373" y="5467618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crossing-stress-15node</a:t>
            </a:r>
          </a:p>
        </p:txBody>
      </p:sp>
      <p:sp>
        <p:nvSpPr>
          <p:cNvPr id="12" name="Start" descr="Start"/>
          <p:cNvSpPr/>
          <p:nvPr/>
        </p:nvSpPr>
        <p:spPr>
          <a:xfrm>
            <a:off x="4022862" y="1028700"/>
            <a:ext cx="436329" cy="307563"/>
          </a:xfrm>
          <a:prstGeom prst="round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3" name="Gate 1" descr="Gate1"/>
          <p:cNvSpPr/>
          <p:nvPr/>
        </p:nvSpPr>
        <p:spPr>
          <a:xfrm>
            <a:off x="3777139" y="1664330"/>
            <a:ext cx="927774" cy="615126"/>
          </a:xfrm>
          <a:prstGeom prst="diamond">
            <a:avLst/>
          </a:prstGeom>
          <a:solidFill>
            <a:srgbClr val="E1BEE7"/>
          </a:solidFill>
          <a:ln w="546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Gate 1</a:t>
            </a:r>
          </a:p>
        </p:txBody>
      </p:sp>
      <p:sp>
        <p:nvSpPr>
          <p:cNvPr id="14" name="N1" descr="N1"/>
          <p:cNvSpPr/>
          <p:nvPr/>
        </p:nvSpPr>
        <p:spPr>
          <a:xfrm>
            <a:off x="3486882" y="2607523"/>
            <a:ext cx="287059" cy="307563"/>
          </a:xfrm>
          <a:prstGeom prst="rect">
            <a:avLst/>
          </a:prstGeom>
          <a:solidFill>
            <a:srgbClr val="FFCDD2"/>
          </a:solidFill>
          <a:ln w="546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N1</a:t>
            </a:r>
          </a:p>
        </p:txBody>
      </p:sp>
      <p:sp>
        <p:nvSpPr>
          <p:cNvPr id="15" name="N2" descr="N2"/>
          <p:cNvSpPr/>
          <p:nvPr/>
        </p:nvSpPr>
        <p:spPr>
          <a:xfrm>
            <a:off x="4097497" y="2607523"/>
            <a:ext cx="287059" cy="307563"/>
          </a:xfrm>
          <a:prstGeom prst="rect">
            <a:avLst/>
          </a:prstGeom>
          <a:solidFill>
            <a:srgbClr val="FFF9C4"/>
          </a:solidFill>
          <a:ln w="546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N2</a:t>
            </a:r>
          </a:p>
        </p:txBody>
      </p:sp>
      <p:sp>
        <p:nvSpPr>
          <p:cNvPr id="16" name="N3" descr="N3"/>
          <p:cNvSpPr/>
          <p:nvPr/>
        </p:nvSpPr>
        <p:spPr>
          <a:xfrm>
            <a:off x="4849099" y="2607523"/>
            <a:ext cx="287059" cy="307563"/>
          </a:xfrm>
          <a:prstGeom prst="rect">
            <a:avLst/>
          </a:prstGeom>
          <a:solidFill>
            <a:srgbClr val="BBDEFB"/>
          </a:solidFill>
          <a:ln w="546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N3</a:t>
            </a:r>
          </a:p>
        </p:txBody>
      </p:sp>
      <p:sp>
        <p:nvSpPr>
          <p:cNvPr id="17" name="Merge 1" descr="Merge1"/>
          <p:cNvSpPr/>
          <p:nvPr/>
        </p:nvSpPr>
        <p:spPr>
          <a:xfrm>
            <a:off x="3409950" y="3243153"/>
            <a:ext cx="522939" cy="307563"/>
          </a:xfrm>
          <a:prstGeom prst="rect">
            <a:avLst/>
          </a:prstGeom>
          <a:solidFill>
            <a:srgbClr val="C8E6C9"/>
          </a:solidFill>
          <a:ln w="546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Merge 1</a:t>
            </a:r>
          </a:p>
        </p:txBody>
      </p:sp>
      <p:sp>
        <p:nvSpPr>
          <p:cNvPr id="18" name="N4" descr="N4"/>
          <p:cNvSpPr/>
          <p:nvPr/>
        </p:nvSpPr>
        <p:spPr>
          <a:xfrm>
            <a:off x="4351257" y="3243153"/>
            <a:ext cx="287059" cy="307563"/>
          </a:xfrm>
          <a:prstGeom prst="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N4</a:t>
            </a:r>
          </a:p>
        </p:txBody>
      </p:sp>
      <p:sp>
        <p:nvSpPr>
          <p:cNvPr id="19" name="Skip target" descr="Skip"/>
          <p:cNvSpPr/>
          <p:nvPr/>
        </p:nvSpPr>
        <p:spPr>
          <a:xfrm>
            <a:off x="4653079" y="4821977"/>
            <a:ext cx="761116" cy="307563"/>
          </a:xfrm>
          <a:prstGeom prst="rect">
            <a:avLst/>
          </a:prstGeom>
          <a:solidFill>
            <a:srgbClr val="E1BEE7"/>
          </a:solidFill>
          <a:ln w="546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Skip target</a:t>
            </a:r>
          </a:p>
        </p:txBody>
      </p:sp>
      <p:sp>
        <p:nvSpPr>
          <p:cNvPr id="20" name="Gate 2" descr="Gate2"/>
          <p:cNvSpPr/>
          <p:nvPr/>
        </p:nvSpPr>
        <p:spPr>
          <a:xfrm>
            <a:off x="3533057" y="3878784"/>
            <a:ext cx="927774" cy="615126"/>
          </a:xfrm>
          <a:prstGeom prst="diamond">
            <a:avLst/>
          </a:prstGeom>
          <a:solidFill>
            <a:srgbClr val="FFCDD2"/>
          </a:solidFill>
          <a:ln w="546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Gate 2</a:t>
            </a:r>
          </a:p>
        </p:txBody>
      </p:sp>
      <p:sp>
        <p:nvSpPr>
          <p:cNvPr id="21" name="N5" descr="N5"/>
          <p:cNvSpPr/>
          <p:nvPr/>
        </p:nvSpPr>
        <p:spPr>
          <a:xfrm>
            <a:off x="3586860" y="4821977"/>
            <a:ext cx="287059" cy="307563"/>
          </a:xfrm>
          <a:prstGeom prst="rect">
            <a:avLst/>
          </a:prstGeom>
          <a:solidFill>
            <a:srgbClr val="FFF9C4"/>
          </a:solidFill>
          <a:ln w="546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N5</a:t>
            </a:r>
          </a:p>
        </p:txBody>
      </p:sp>
      <p:sp>
        <p:nvSpPr>
          <p:cNvPr id="22" name="N6" descr="N6"/>
          <p:cNvSpPr/>
          <p:nvPr/>
        </p:nvSpPr>
        <p:spPr>
          <a:xfrm>
            <a:off x="4119969" y="4821977"/>
            <a:ext cx="287059" cy="307563"/>
          </a:xfrm>
          <a:prstGeom prst="rect">
            <a:avLst/>
          </a:prstGeom>
          <a:solidFill>
            <a:srgbClr val="BBDEFB"/>
          </a:solidFill>
          <a:ln w="546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N6</a:t>
            </a:r>
          </a:p>
        </p:txBody>
      </p:sp>
      <p:sp>
        <p:nvSpPr>
          <p:cNvPr id="23" name="Merge 2" descr="Merge2"/>
          <p:cNvSpPr/>
          <p:nvPr/>
        </p:nvSpPr>
        <p:spPr>
          <a:xfrm>
            <a:off x="4002029" y="5457607"/>
            <a:ext cx="522939" cy="307563"/>
          </a:xfrm>
          <a:prstGeom prst="rect">
            <a:avLst/>
          </a:prstGeom>
          <a:solidFill>
            <a:srgbClr val="C8E6C9"/>
          </a:solidFill>
          <a:ln w="546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Merge 2</a:t>
            </a:r>
          </a:p>
        </p:txBody>
      </p:sp>
      <p:sp>
        <p:nvSpPr>
          <p:cNvPr id="24" name="End" descr="End"/>
          <p:cNvSpPr/>
          <p:nvPr/>
        </p:nvSpPr>
        <p:spPr>
          <a:xfrm>
            <a:off x="4104386" y="6093237"/>
            <a:ext cx="318225" cy="307563"/>
          </a:xfrm>
          <a:prstGeom prst="round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25" name="Start--Gate1"/>
          <p:cNvCxnSpPr>
            <a:stCxn id="12" idx="2"/>
            <a:endCxn id="13" idx="0"/>
          </p:cNvCxnSpPr>
          <p:nvPr/>
        </p:nvCxnSpPr>
        <p:spPr>
          <a:xfrm>
            <a:off x="4241026" y="1336263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ate1--N1"/>
          <p:cNvCxnSpPr>
            <a:stCxn id="13" idx="2"/>
            <a:endCxn id="14" idx="0"/>
          </p:cNvCxnSpPr>
          <p:nvPr/>
        </p:nvCxnSpPr>
        <p:spPr>
          <a:xfrm flipH="1">
            <a:off x="3630411" y="2279456"/>
            <a:ext cx="610615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3845500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a</a:t>
            </a:r>
          </a:p>
        </p:txBody>
      </p:sp>
      <p:cxnSp>
        <p:nvCxnSpPr>
          <p:cNvPr id="28" name="Gate1--N2"/>
          <p:cNvCxnSpPr>
            <a:stCxn id="13" idx="2"/>
            <a:endCxn id="15" idx="0"/>
          </p:cNvCxnSpPr>
          <p:nvPr/>
        </p:nvCxnSpPr>
        <p:spPr>
          <a:xfrm>
            <a:off x="4241026" y="2279456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dgeLabel"/>
          <p:cNvSpPr txBox="1"/>
          <p:nvPr/>
        </p:nvSpPr>
        <p:spPr>
          <a:xfrm>
            <a:off x="4150808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b</a:t>
            </a:r>
          </a:p>
        </p:txBody>
      </p:sp>
      <p:cxnSp>
        <p:nvCxnSpPr>
          <p:cNvPr id="30" name="Gate1--N3"/>
          <p:cNvCxnSpPr>
            <a:stCxn id="13" idx="2"/>
            <a:endCxn id="16" idx="0"/>
          </p:cNvCxnSpPr>
          <p:nvPr/>
        </p:nvCxnSpPr>
        <p:spPr>
          <a:xfrm>
            <a:off x="4241026" y="2279456"/>
            <a:ext cx="751602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geLabel"/>
          <p:cNvSpPr txBox="1"/>
          <p:nvPr/>
        </p:nvSpPr>
        <p:spPr>
          <a:xfrm>
            <a:off x="4526609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32" name="N1--Merge1"/>
          <p:cNvCxnSpPr>
            <a:stCxn id="14" idx="2"/>
            <a:endCxn id="17" idx="0"/>
          </p:cNvCxnSpPr>
          <p:nvPr/>
        </p:nvCxnSpPr>
        <p:spPr>
          <a:xfrm>
            <a:off x="3630411" y="2915086"/>
            <a:ext cx="41009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N2--Merge1"/>
          <p:cNvCxnSpPr>
            <a:stCxn id="15" idx="2"/>
            <a:endCxn id="17" idx="0"/>
          </p:cNvCxnSpPr>
          <p:nvPr/>
        </p:nvCxnSpPr>
        <p:spPr>
          <a:xfrm flipH="1">
            <a:off x="3671420" y="2915086"/>
            <a:ext cx="569606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N2--N4"/>
          <p:cNvCxnSpPr>
            <a:stCxn id="15" idx="2"/>
            <a:endCxn id="18" idx="0"/>
          </p:cNvCxnSpPr>
          <p:nvPr/>
        </p:nvCxnSpPr>
        <p:spPr>
          <a:xfrm>
            <a:off x="4241026" y="2915086"/>
            <a:ext cx="25376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N3--N4"/>
          <p:cNvCxnSpPr>
            <a:stCxn id="16" idx="2"/>
            <a:endCxn id="18" idx="0"/>
          </p:cNvCxnSpPr>
          <p:nvPr/>
        </p:nvCxnSpPr>
        <p:spPr>
          <a:xfrm flipH="1">
            <a:off x="4494786" y="2915086"/>
            <a:ext cx="497842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N3--Skip"/>
          <p:cNvCxnSpPr>
            <a:stCxn id="16" idx="2"/>
            <a:endCxn id="19" idx="0"/>
          </p:cNvCxnSpPr>
          <p:nvPr/>
        </p:nvCxnSpPr>
        <p:spPr>
          <a:xfrm>
            <a:off x="4992628" y="2915086"/>
            <a:ext cx="41008" cy="1906891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Merge1--Gate2"/>
          <p:cNvCxnSpPr>
            <a:stCxn id="17" idx="2"/>
            <a:endCxn id="20" idx="0"/>
          </p:cNvCxnSpPr>
          <p:nvPr/>
        </p:nvCxnSpPr>
        <p:spPr>
          <a:xfrm>
            <a:off x="3671420" y="3550716"/>
            <a:ext cx="325524" cy="328068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N4--Gate2"/>
          <p:cNvCxnSpPr>
            <a:stCxn id="18" idx="2"/>
            <a:endCxn id="20" idx="0"/>
          </p:cNvCxnSpPr>
          <p:nvPr/>
        </p:nvCxnSpPr>
        <p:spPr>
          <a:xfrm flipH="1">
            <a:off x="3996944" y="3550716"/>
            <a:ext cx="497842" cy="328068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ate2--N5"/>
          <p:cNvCxnSpPr>
            <a:stCxn id="20" idx="2"/>
            <a:endCxn id="21" idx="0"/>
          </p:cNvCxnSpPr>
          <p:nvPr/>
        </p:nvCxnSpPr>
        <p:spPr>
          <a:xfrm flipH="1">
            <a:off x="3730390" y="4493910"/>
            <a:ext cx="266554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dgeLabel"/>
          <p:cNvSpPr txBox="1"/>
          <p:nvPr/>
        </p:nvSpPr>
        <p:spPr>
          <a:xfrm>
            <a:off x="3773448" y="4608733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x</a:t>
            </a:r>
          </a:p>
        </p:txBody>
      </p:sp>
      <p:cxnSp>
        <p:nvCxnSpPr>
          <p:cNvPr id="41" name="Gate2--N6"/>
          <p:cNvCxnSpPr>
            <a:stCxn id="20" idx="2"/>
            <a:endCxn id="22" idx="0"/>
          </p:cNvCxnSpPr>
          <p:nvPr/>
        </p:nvCxnSpPr>
        <p:spPr>
          <a:xfrm>
            <a:off x="3996944" y="4493910"/>
            <a:ext cx="266555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EdgeLabel"/>
          <p:cNvSpPr txBox="1"/>
          <p:nvPr/>
        </p:nvSpPr>
        <p:spPr>
          <a:xfrm>
            <a:off x="4040003" y="4608733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y</a:t>
            </a:r>
          </a:p>
        </p:txBody>
      </p:sp>
      <p:cxnSp>
        <p:nvCxnSpPr>
          <p:cNvPr id="43" name="N5--Merge2"/>
          <p:cNvCxnSpPr>
            <a:stCxn id="21" idx="2"/>
            <a:endCxn id="23" idx="0"/>
          </p:cNvCxnSpPr>
          <p:nvPr/>
        </p:nvCxnSpPr>
        <p:spPr>
          <a:xfrm>
            <a:off x="3730390" y="5129540"/>
            <a:ext cx="533109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N6--Merge2"/>
          <p:cNvCxnSpPr>
            <a:stCxn id="22" idx="2"/>
            <a:endCxn id="23" idx="0"/>
          </p:cNvCxnSpPr>
          <p:nvPr/>
        </p:nvCxnSpPr>
        <p:spPr>
          <a:xfrm>
            <a:off x="4263499" y="5129540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kip--Merge2"/>
          <p:cNvCxnSpPr>
            <a:stCxn id="19" idx="1"/>
            <a:endCxn id="23" idx="3"/>
          </p:cNvCxnSpPr>
          <p:nvPr/>
        </p:nvCxnSpPr>
        <p:spPr>
          <a:xfrm flipH="1">
            <a:off x="4524968" y="4975758"/>
            <a:ext cx="128111" cy="635630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Merge2--End"/>
          <p:cNvCxnSpPr>
            <a:stCxn id="23" idx="2"/>
            <a:endCxn id="24" idx="0"/>
          </p:cNvCxnSpPr>
          <p:nvPr/>
        </p:nvCxnSpPr>
        <p:spPr>
          <a:xfrm>
            <a:off x="4263499" y="5765170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crossing-stress-bipartite</a:t>
            </a:r>
          </a:p>
        </p:txBody>
      </p:sp>
      <p:sp>
        <p:nvSpPr>
          <p:cNvPr id="12" name="A1" descr="A1"/>
          <p:cNvSpPr/>
          <p:nvPr/>
        </p:nvSpPr>
        <p:spPr>
          <a:xfrm>
            <a:off x="5135137" y="1028700"/>
            <a:ext cx="611459" cy="655134"/>
          </a:xfrm>
          <a:prstGeom prst="rect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3" name="B1" descr="B1"/>
          <p:cNvSpPr/>
          <p:nvPr/>
        </p:nvSpPr>
        <p:spPr>
          <a:xfrm>
            <a:off x="6445405" y="1618321"/>
            <a:ext cx="611459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B1</a:t>
            </a:r>
          </a:p>
        </p:txBody>
      </p:sp>
      <p:sp>
        <p:nvSpPr>
          <p:cNvPr id="14" name="B2" descr="B2"/>
          <p:cNvSpPr/>
          <p:nvPr/>
        </p:nvSpPr>
        <p:spPr>
          <a:xfrm>
            <a:off x="6445405" y="2797562"/>
            <a:ext cx="611459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B2</a:t>
            </a:r>
          </a:p>
        </p:txBody>
      </p:sp>
      <p:sp>
        <p:nvSpPr>
          <p:cNvPr id="15" name="B3" descr="B3"/>
          <p:cNvSpPr/>
          <p:nvPr/>
        </p:nvSpPr>
        <p:spPr>
          <a:xfrm>
            <a:off x="6445405" y="3976804"/>
            <a:ext cx="611459" cy="655134"/>
          </a:xfrm>
          <a:prstGeom prst="rect">
            <a:avLst/>
          </a:prstGeom>
          <a:solidFill>
            <a:srgbClr val="BBDEFB"/>
          </a:solidFill>
          <a:ln w="11647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B3</a:t>
            </a:r>
          </a:p>
        </p:txBody>
      </p:sp>
      <p:sp>
        <p:nvSpPr>
          <p:cNvPr id="16" name="A2" descr="A2"/>
          <p:cNvSpPr/>
          <p:nvPr/>
        </p:nvSpPr>
        <p:spPr>
          <a:xfrm>
            <a:off x="5135137" y="2382644"/>
            <a:ext cx="611459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A2</a:t>
            </a:r>
          </a:p>
        </p:txBody>
      </p:sp>
      <p:sp>
        <p:nvSpPr>
          <p:cNvPr id="17" name="B4" descr="B4"/>
          <p:cNvSpPr/>
          <p:nvPr/>
        </p:nvSpPr>
        <p:spPr>
          <a:xfrm>
            <a:off x="6445405" y="5156045"/>
            <a:ext cx="611459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B4</a:t>
            </a:r>
          </a:p>
        </p:txBody>
      </p:sp>
      <p:sp>
        <p:nvSpPr>
          <p:cNvPr id="18" name="A3" descr="A3"/>
          <p:cNvSpPr/>
          <p:nvPr/>
        </p:nvSpPr>
        <p:spPr>
          <a:xfrm>
            <a:off x="5135137" y="5745666"/>
            <a:ext cx="611459" cy="655134"/>
          </a:xfrm>
          <a:prstGeom prst="rect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A3</a:t>
            </a:r>
          </a:p>
        </p:txBody>
      </p:sp>
      <p:sp>
        <p:nvSpPr>
          <p:cNvPr id="19" name="A4" descr="A4"/>
          <p:cNvSpPr/>
          <p:nvPr/>
        </p:nvSpPr>
        <p:spPr>
          <a:xfrm>
            <a:off x="5135137" y="4391722"/>
            <a:ext cx="611459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A4</a:t>
            </a:r>
          </a:p>
        </p:txBody>
      </p:sp>
      <p:cxnSp>
        <p:nvCxnSpPr>
          <p:cNvPr id="20" name="A1--B1"/>
          <p:cNvCxnSpPr>
            <a:stCxn id="12" idx="3"/>
            <a:endCxn id="13" idx="1"/>
          </p:cNvCxnSpPr>
          <p:nvPr/>
        </p:nvCxnSpPr>
        <p:spPr>
          <a:xfrm>
            <a:off x="5746596" y="1356267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1--B2"/>
          <p:cNvCxnSpPr>
            <a:stCxn id="12" idx="2"/>
            <a:endCxn id="14" idx="0"/>
          </p:cNvCxnSpPr>
          <p:nvPr/>
        </p:nvCxnSpPr>
        <p:spPr>
          <a:xfrm>
            <a:off x="5440866" y="1683834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A1--B3"/>
          <p:cNvSpPr/>
          <p:nvPr/>
        </p:nvSpPr>
        <p:spPr>
          <a:xfrm>
            <a:off x="5440866" y="1683834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0"/>
                </a:moveTo>
                <a:lnTo>
                  <a:pt x="655134" y="87351"/>
                </a:lnTo>
                <a:lnTo>
                  <a:pt x="1310269" y="229297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cxnSp>
        <p:nvCxnSpPr>
          <p:cNvPr id="23" name="A2--B1"/>
          <p:cNvCxnSpPr>
            <a:stCxn id="16" idx="3"/>
            <a:endCxn id="13" idx="1"/>
          </p:cNvCxnSpPr>
          <p:nvPr/>
        </p:nvCxnSpPr>
        <p:spPr>
          <a:xfrm flipV="1">
            <a:off x="5746596" y="1945888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2--B2"/>
          <p:cNvCxnSpPr>
            <a:stCxn id="16" idx="3"/>
            <a:endCxn id="14" idx="1"/>
          </p:cNvCxnSpPr>
          <p:nvPr/>
        </p:nvCxnSpPr>
        <p:spPr>
          <a:xfrm>
            <a:off x="5746596" y="271021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A2--B4"/>
          <p:cNvCxnSpPr>
            <a:stCxn id="16" idx="2"/>
            <a:endCxn id="17" idx="0"/>
          </p:cNvCxnSpPr>
          <p:nvPr/>
        </p:nvCxnSpPr>
        <p:spPr>
          <a:xfrm>
            <a:off x="5440866" y="3037778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A3--B2"/>
          <p:cNvSpPr/>
          <p:nvPr/>
        </p:nvSpPr>
        <p:spPr>
          <a:xfrm>
            <a:off x="5440866" y="3452696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2292970"/>
                </a:moveTo>
                <a:lnTo>
                  <a:pt x="655134" y="2205619"/>
                </a:lnTo>
                <a:lnTo>
                  <a:pt x="1310269" y="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cxnSp>
        <p:nvCxnSpPr>
          <p:cNvPr id="27" name="A3--B3"/>
          <p:cNvCxnSpPr>
            <a:stCxn id="18" idx="0"/>
            <a:endCxn id="15" idx="2"/>
          </p:cNvCxnSpPr>
          <p:nvPr/>
        </p:nvCxnSpPr>
        <p:spPr>
          <a:xfrm flipV="1">
            <a:off x="5440866" y="4631938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A3--B4"/>
          <p:cNvCxnSpPr>
            <a:stCxn id="18" idx="3"/>
            <a:endCxn id="17" idx="1"/>
          </p:cNvCxnSpPr>
          <p:nvPr/>
        </p:nvCxnSpPr>
        <p:spPr>
          <a:xfrm flipV="1">
            <a:off x="5746596" y="5483612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A4--B1"/>
          <p:cNvCxnSpPr>
            <a:stCxn id="19" idx="0"/>
            <a:endCxn id="13" idx="2"/>
          </p:cNvCxnSpPr>
          <p:nvPr/>
        </p:nvCxnSpPr>
        <p:spPr>
          <a:xfrm flipV="1">
            <a:off x="5440866" y="2273455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4--B3"/>
          <p:cNvCxnSpPr>
            <a:stCxn id="19" idx="3"/>
            <a:endCxn id="15" idx="1"/>
          </p:cNvCxnSpPr>
          <p:nvPr/>
        </p:nvCxnSpPr>
        <p:spPr>
          <a:xfrm flipV="1">
            <a:off x="5746596" y="430437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4--B4"/>
          <p:cNvCxnSpPr>
            <a:stCxn id="19" idx="3"/>
            <a:endCxn id="17" idx="1"/>
          </p:cNvCxnSpPr>
          <p:nvPr/>
        </p:nvCxnSpPr>
        <p:spPr>
          <a:xfrm>
            <a:off x="5746596" y="4719289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cycle</a:t>
            </a:r>
          </a:p>
        </p:txBody>
      </p:sp>
      <p:sp>
        <p:nvSpPr>
          <p:cNvPr id="12" name="Etat A" descr="A"/>
          <p:cNvSpPr/>
          <p:nvPr/>
        </p:nvSpPr>
        <p:spPr>
          <a:xfrm>
            <a:off x="5750793" y="1028700"/>
            <a:ext cx="1154007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A</a:t>
            </a:r>
          </a:p>
        </p:txBody>
      </p:sp>
      <p:sp>
        <p:nvSpPr>
          <p:cNvPr id="13" name="Etat B" descr="B"/>
          <p:cNvSpPr/>
          <p:nvPr/>
        </p:nvSpPr>
        <p:spPr>
          <a:xfrm>
            <a:off x="5263325" y="2570692"/>
            <a:ext cx="1154007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B</a:t>
            </a:r>
          </a:p>
        </p:txBody>
      </p:sp>
      <p:sp>
        <p:nvSpPr>
          <p:cNvPr id="14" name="Etat C" descr="C"/>
          <p:cNvSpPr/>
          <p:nvPr/>
        </p:nvSpPr>
        <p:spPr>
          <a:xfrm>
            <a:off x="5750793" y="4112683"/>
            <a:ext cx="1154007" cy="746125"/>
          </a:xfrm>
          <a:prstGeom prst="rect">
            <a:avLst/>
          </a:prstGeom>
          <a:solidFill>
            <a:srgbClr val="BBDEFB"/>
          </a:solidFill>
          <a:ln w="1326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C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5726917" y="5654675"/>
            <a:ext cx="1201759" cy="746125"/>
          </a:xfrm>
          <a:prstGeom prst="rect">
            <a:avLst/>
          </a:prstGeom>
          <a:solidFill>
            <a:srgbClr val="C8E6C9"/>
          </a:solidFill>
          <a:ln w="1326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Sortie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 flipH="1">
            <a:off x="5840328" y="1774825"/>
            <a:ext cx="487468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5840328" y="3316817"/>
            <a:ext cx="487468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--A"/>
          <p:cNvSpPr/>
          <p:nvPr/>
        </p:nvSpPr>
        <p:spPr>
          <a:xfrm>
            <a:off x="6327796" y="1774825"/>
            <a:ext cx="487468" cy="2337858"/>
          </a:xfrm>
          <a:custGeom>
            <a:avLst/>
            <a:gdLst/>
            <a:ahLst/>
            <a:cxnLst/>
            <a:rect l="0" t="0" r="0" b="0"/>
            <a:pathLst>
              <a:path w="466725" h="2238375">
                <a:moveTo>
                  <a:pt x="0" y="2238375"/>
                </a:moveTo>
                <a:lnTo>
                  <a:pt x="466725" y="1857375"/>
                </a:lnTo>
                <a:lnTo>
                  <a:pt x="466725" y="1119188"/>
                </a:lnTo>
                <a:lnTo>
                  <a:pt x="466725" y="381000"/>
                </a:lnTo>
                <a:lnTo>
                  <a:pt x="0" y="0"/>
                </a:lnTo>
              </a:path>
            </a:pathLst>
          </a:cu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cxnSp>
        <p:nvCxnSpPr>
          <p:cNvPr id="19" name="C--D"/>
          <p:cNvCxnSpPr>
            <a:stCxn id="14" idx="2"/>
            <a:endCxn id="15" idx="0"/>
          </p:cNvCxnSpPr>
          <p:nvPr/>
        </p:nvCxnSpPr>
        <p:spPr>
          <a:xfrm>
            <a:off x="6327796" y="4858808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cynefin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379770" y="1028700"/>
            <a:ext cx="5432461" cy="34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79" dirty="0">
                <a:solidFill>
                  <a:srgbClr val="000000"/>
                </a:solidFill>
              </a:rPr>
              <a:t>Strategy Categorization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6096000" y="2577957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609091" y="2487416"/>
            <a:ext cx="97381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Pattern identified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7303213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6731799" y="3694630"/>
            <a:ext cx="114282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Best practice codified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6096000" y="4992384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5766028" y="4901843"/>
            <a:ext cx="659943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Complacency</a:t>
            </a:r>
          </a:p>
        </p:txBody>
      </p:sp>
      <p:cxnSp>
        <p:nvCxnSpPr>
          <p:cNvPr id="18" name="Connector 8"/>
          <p:cNvCxnSpPr/>
          <p:nvPr/>
        </p:nvCxnSpPr>
        <p:spPr>
          <a:xfrm>
            <a:off x="4888787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582959" y="3694630"/>
            <a:ext cx="611655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Stabilized</a:t>
            </a:r>
          </a:p>
        </p:txBody>
      </p:sp>
      <p:sp>
        <p:nvSpPr>
          <p:cNvPr id="20" name="Complex"/>
          <p:cNvSpPr/>
          <p:nvPr/>
        </p:nvSpPr>
        <p:spPr>
          <a:xfrm>
            <a:off x="3681573" y="1370744"/>
            <a:ext cx="2414427" cy="2414427"/>
          </a:xfrm>
          <a:prstGeom prst="rect">
            <a:avLst/>
          </a:prstGeom>
          <a:solidFill>
            <a:srgbClr val="FFF2CC"/>
          </a:solidFill>
          <a:ln w="10060">
            <a:solidFill>
              <a:srgbClr val="BFBFBF"/>
            </a:solidFill>
          </a:ln>
        </p:spPr>
      </p:sp>
      <p:sp>
        <p:nvSpPr>
          <p:cNvPr id="21" name="Text 11"/>
          <p:cNvSpPr txBox="1"/>
          <p:nvPr/>
        </p:nvSpPr>
        <p:spPr>
          <a:xfrm>
            <a:off x="3741934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Complex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741934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Probe → Sense → Respond — emergent practices</a:t>
            </a:r>
          </a:p>
        </p:txBody>
      </p:sp>
      <p:sp>
        <p:nvSpPr>
          <p:cNvPr id="23" name="Item Market research"/>
          <p:cNvSpPr/>
          <p:nvPr/>
        </p:nvSpPr>
        <p:spPr>
          <a:xfrm>
            <a:off x="3741934" y="1833509"/>
            <a:ext cx="828953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3741934" y="1833509"/>
            <a:ext cx="828953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Market research</a:t>
            </a:r>
          </a:p>
        </p:txBody>
      </p:sp>
      <p:sp>
        <p:nvSpPr>
          <p:cNvPr id="25" name="Complicated"/>
          <p:cNvSpPr/>
          <p:nvPr/>
        </p:nvSpPr>
        <p:spPr>
          <a:xfrm>
            <a:off x="6096000" y="1370744"/>
            <a:ext cx="2414427" cy="2414427"/>
          </a:xfrm>
          <a:prstGeom prst="rect">
            <a:avLst/>
          </a:prstGeom>
          <a:solidFill>
            <a:srgbClr val="D9E2F3"/>
          </a:solidFill>
          <a:ln w="10060">
            <a:solidFill>
              <a:srgbClr val="BFBFBF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6156361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Complicated</a:t>
            </a:r>
          </a:p>
        </p:txBody>
      </p:sp>
      <p:sp>
        <p:nvSpPr>
          <p:cNvPr id="27" name="Text 17"/>
          <p:cNvSpPr txBox="1"/>
          <p:nvPr/>
        </p:nvSpPr>
        <p:spPr>
          <a:xfrm>
            <a:off x="6156361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Analyse → Respond — good practices</a:t>
            </a:r>
          </a:p>
        </p:txBody>
      </p:sp>
      <p:sp>
        <p:nvSpPr>
          <p:cNvPr id="28" name="Item Competitive analysis"/>
          <p:cNvSpPr/>
          <p:nvPr/>
        </p:nvSpPr>
        <p:spPr>
          <a:xfrm>
            <a:off x="6156361" y="1833509"/>
            <a:ext cx="1070396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6156361" y="1833509"/>
            <a:ext cx="107039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Competitive analysis</a:t>
            </a:r>
          </a:p>
        </p:txBody>
      </p:sp>
      <p:sp>
        <p:nvSpPr>
          <p:cNvPr id="30" name="Chaotic"/>
          <p:cNvSpPr/>
          <p:nvPr/>
        </p:nvSpPr>
        <p:spPr>
          <a:xfrm>
            <a:off x="3681573" y="3785171"/>
            <a:ext cx="2414427" cy="2414427"/>
          </a:xfrm>
          <a:prstGeom prst="rect">
            <a:avLst/>
          </a:prstGeom>
          <a:solidFill>
            <a:srgbClr val="F8CBAD"/>
          </a:solidFill>
          <a:ln w="10060">
            <a:solidFill>
              <a:srgbClr val="BFBFBF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741934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Chaotic</a:t>
            </a:r>
          </a:p>
        </p:txBody>
      </p:sp>
      <p:sp>
        <p:nvSpPr>
          <p:cNvPr id="32" name="Text 22"/>
          <p:cNvSpPr txBox="1"/>
          <p:nvPr/>
        </p:nvSpPr>
        <p:spPr>
          <a:xfrm>
            <a:off x="3741934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Act → Sense → Respond — novel practices</a:t>
            </a:r>
          </a:p>
        </p:txBody>
      </p:sp>
      <p:sp>
        <p:nvSpPr>
          <p:cNvPr id="33" name="Item Crisis management"/>
          <p:cNvSpPr/>
          <p:nvPr/>
        </p:nvSpPr>
        <p:spPr>
          <a:xfrm>
            <a:off x="3741934" y="4247936"/>
            <a:ext cx="925530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4" name="Text 24"/>
          <p:cNvSpPr txBox="1"/>
          <p:nvPr/>
        </p:nvSpPr>
        <p:spPr>
          <a:xfrm>
            <a:off x="3741934" y="4247936"/>
            <a:ext cx="925530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Crisis management</a:t>
            </a:r>
          </a:p>
        </p:txBody>
      </p:sp>
      <p:sp>
        <p:nvSpPr>
          <p:cNvPr id="35" name="Clear"/>
          <p:cNvSpPr/>
          <p:nvPr/>
        </p:nvSpPr>
        <p:spPr>
          <a:xfrm>
            <a:off x="6096000" y="3785171"/>
            <a:ext cx="2414427" cy="2414427"/>
          </a:xfrm>
          <a:prstGeom prst="rect">
            <a:avLst/>
          </a:prstGeom>
          <a:solidFill>
            <a:srgbClr val="E2EFDA"/>
          </a:solidFill>
          <a:ln w="10060">
            <a:solidFill>
              <a:srgbClr val="BFBFBF"/>
            </a:solidFill>
          </a:ln>
        </p:spPr>
      </p:sp>
      <p:sp>
        <p:nvSpPr>
          <p:cNvPr id="36" name="Text 26"/>
          <p:cNvSpPr txBox="1"/>
          <p:nvPr/>
        </p:nvSpPr>
        <p:spPr>
          <a:xfrm>
            <a:off x="6156361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Clear</a:t>
            </a:r>
          </a:p>
        </p:txBody>
      </p:sp>
      <p:sp>
        <p:nvSpPr>
          <p:cNvPr id="37" name="Text 27"/>
          <p:cNvSpPr txBox="1"/>
          <p:nvPr/>
        </p:nvSpPr>
        <p:spPr>
          <a:xfrm>
            <a:off x="6156361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Categorise → Respond — best practices</a:t>
            </a:r>
          </a:p>
        </p:txBody>
      </p:sp>
      <p:sp>
        <p:nvSpPr>
          <p:cNvPr id="38" name="Item Standard pricing"/>
          <p:cNvSpPr/>
          <p:nvPr/>
        </p:nvSpPr>
        <p:spPr>
          <a:xfrm>
            <a:off x="6156361" y="4247936"/>
            <a:ext cx="877242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6156361" y="4247936"/>
            <a:ext cx="877242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Standard pricing</a:t>
            </a:r>
          </a:p>
        </p:txBody>
      </p:sp>
      <p:sp>
        <p:nvSpPr>
          <p:cNvPr id="40" name="Shape 30"/>
          <p:cNvSpPr/>
          <p:nvPr/>
        </p:nvSpPr>
        <p:spPr>
          <a:xfrm>
            <a:off x="5411912" y="3101083"/>
            <a:ext cx="1368175" cy="1368175"/>
          </a:xfrm>
          <a:prstGeom prst="ellipse">
            <a:avLst/>
          </a:prstGeom>
          <a:solidFill>
            <a:srgbClr val="D9D9D9"/>
          </a:solidFill>
          <a:ln w="10060">
            <a:solidFill>
              <a:srgbClr val="BFBFBF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52153" y="3141324"/>
            <a:ext cx="1287694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45" dirty="0">
                <a:solidFill>
                  <a:srgbClr val="404040"/>
                </a:solidFill>
              </a:rPr>
              <a:t>Confusion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decision</a:t>
            </a:r>
          </a:p>
        </p:txBody>
      </p:sp>
      <p:sp>
        <p:nvSpPr>
          <p:cNvPr id="12" name="Debut" descr="A"/>
          <p:cNvSpPr/>
          <p:nvPr/>
        </p:nvSpPr>
        <p:spPr>
          <a:xfrm>
            <a:off x="5612948" y="1028700"/>
            <a:ext cx="929417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Choix" descr="B"/>
          <p:cNvSpPr/>
          <p:nvPr/>
        </p:nvSpPr>
        <p:spPr>
          <a:xfrm>
            <a:off x="5148240" y="2382644"/>
            <a:ext cx="1858834" cy="1310268"/>
          </a:xfrm>
          <a:prstGeom prst="diamond">
            <a:avLst/>
          </a:prstGeom>
          <a:solidFill>
            <a:srgbClr val="BBDEFB"/>
          </a:solidFill>
          <a:ln w="11647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Choix</a:t>
            </a:r>
          </a:p>
        </p:txBody>
      </p:sp>
      <p:sp>
        <p:nvSpPr>
          <p:cNvPr id="14" name="Action" descr="C"/>
          <p:cNvSpPr/>
          <p:nvPr/>
        </p:nvSpPr>
        <p:spPr>
          <a:xfrm>
            <a:off x="5988559" y="4391722"/>
            <a:ext cx="1055203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15" name="Fin" descr="D"/>
          <p:cNvSpPr/>
          <p:nvPr/>
        </p:nvSpPr>
        <p:spPr>
          <a:xfrm>
            <a:off x="5738734" y="5745666"/>
            <a:ext cx="677845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>
            <a:off x="6077657" y="1683834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6077657" y="3692912"/>
            <a:ext cx="438503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EdgeLabel"/>
          <p:cNvSpPr txBox="1"/>
          <p:nvPr/>
        </p:nvSpPr>
        <p:spPr>
          <a:xfrm>
            <a:off x="6076085" y="3937496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oui</a:t>
            </a:r>
          </a:p>
        </p:txBody>
      </p:sp>
      <p:sp>
        <p:nvSpPr>
          <p:cNvPr id="19" name="B--D"/>
          <p:cNvSpPr/>
          <p:nvPr/>
        </p:nvSpPr>
        <p:spPr>
          <a:xfrm>
            <a:off x="5639154" y="3692912"/>
            <a:ext cx="438503" cy="2052754"/>
          </a:xfrm>
          <a:custGeom>
            <a:avLst/>
            <a:gdLst/>
            <a:ahLst/>
            <a:cxnLst/>
            <a:rect l="0" t="0" r="0" b="0"/>
            <a:pathLst>
              <a:path w="438503" h="2052754">
                <a:moveTo>
                  <a:pt x="438503" y="0"/>
                </a:moveTo>
                <a:lnTo>
                  <a:pt x="0" y="349405"/>
                </a:lnTo>
                <a:lnTo>
                  <a:pt x="0" y="1026377"/>
                </a:lnTo>
                <a:lnTo>
                  <a:pt x="0" y="1703349"/>
                </a:lnTo>
                <a:lnTo>
                  <a:pt x="438503" y="2052754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0" name="EdgeLabel"/>
          <p:cNvSpPr txBox="1"/>
          <p:nvPr/>
        </p:nvSpPr>
        <p:spPr>
          <a:xfrm>
            <a:off x="5418330" y="461446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1" name="C--D"/>
          <p:cNvCxnSpPr>
            <a:stCxn id="14" idx="2"/>
            <a:endCxn id="15" idx="0"/>
          </p:cNvCxnSpPr>
          <p:nvPr/>
        </p:nvCxnSpPr>
        <p:spPr>
          <a:xfrm flipH="1">
            <a:off x="6077657" y="5046856"/>
            <a:ext cx="438503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dense</a:t>
            </a:r>
          </a:p>
        </p:txBody>
      </p:sp>
      <p:sp>
        <p:nvSpPr>
          <p:cNvPr id="12" name="Init" descr="A"/>
          <p:cNvSpPr/>
          <p:nvPr/>
        </p:nvSpPr>
        <p:spPr>
          <a:xfrm>
            <a:off x="457200" y="2724206"/>
            <a:ext cx="959263" cy="782008"/>
          </a:xfrm>
          <a:prstGeom prst="rect">
            <a:avLst/>
          </a:prstGeom>
          <a:solidFill>
            <a:srgbClr val="BBDEFB"/>
          </a:solidFill>
          <a:ln w="1390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Init</a:t>
            </a:r>
          </a:p>
        </p:txBody>
      </p:sp>
      <p:sp>
        <p:nvSpPr>
          <p:cNvPr id="13" name="Parse" descr="B"/>
          <p:cNvSpPr/>
          <p:nvPr/>
        </p:nvSpPr>
        <p:spPr>
          <a:xfrm>
            <a:off x="2250605" y="2724206"/>
            <a:ext cx="1109409" cy="782008"/>
          </a:xfrm>
          <a:prstGeom prst="rect">
            <a:avLst/>
          </a:prstGeom>
          <a:solidFill>
            <a:srgbClr val="C8E6C9"/>
          </a:solidFill>
          <a:ln w="1390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4" name="Analyse" descr="C"/>
          <p:cNvSpPr/>
          <p:nvPr/>
        </p:nvSpPr>
        <p:spPr>
          <a:xfrm>
            <a:off x="4194156" y="2724206"/>
            <a:ext cx="1409700" cy="782008"/>
          </a:xfrm>
          <a:prstGeom prst="rect">
            <a:avLst/>
          </a:prstGeom>
          <a:solidFill>
            <a:srgbClr val="FFE0B2"/>
          </a:solidFill>
          <a:ln w="1390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Analyse</a:t>
            </a:r>
          </a:p>
        </p:txBody>
      </p:sp>
      <p:sp>
        <p:nvSpPr>
          <p:cNvPr id="15" name="Optim" descr="D"/>
          <p:cNvSpPr/>
          <p:nvPr/>
        </p:nvSpPr>
        <p:spPr>
          <a:xfrm>
            <a:off x="4344302" y="5330900"/>
            <a:ext cx="1109409" cy="782008"/>
          </a:xfrm>
          <a:prstGeom prst="rect">
            <a:avLst/>
          </a:prstGeom>
          <a:solidFill>
            <a:srgbClr val="E1BEE7"/>
          </a:solidFill>
          <a:ln w="1390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Optim</a:t>
            </a:r>
          </a:p>
        </p:txBody>
      </p:sp>
      <p:sp>
        <p:nvSpPr>
          <p:cNvPr id="16" name="Emet" descr="E"/>
          <p:cNvSpPr/>
          <p:nvPr/>
        </p:nvSpPr>
        <p:spPr>
          <a:xfrm>
            <a:off x="6437998" y="1212324"/>
            <a:ext cx="959263" cy="782008"/>
          </a:xfrm>
          <a:prstGeom prst="rect">
            <a:avLst/>
          </a:prstGeom>
          <a:solidFill>
            <a:srgbClr val="FFCDD2"/>
          </a:solidFill>
          <a:ln w="1390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Emet</a:t>
            </a:r>
          </a:p>
        </p:txBody>
      </p:sp>
      <p:sp>
        <p:nvSpPr>
          <p:cNvPr id="17" name="AST" descr="F"/>
          <p:cNvSpPr/>
          <p:nvPr/>
        </p:nvSpPr>
        <p:spPr>
          <a:xfrm>
            <a:off x="6488047" y="2619939"/>
            <a:ext cx="859166" cy="782008"/>
          </a:xfrm>
          <a:prstGeom prst="rect">
            <a:avLst/>
          </a:prstGeom>
          <a:solidFill>
            <a:srgbClr val="FFF9C4"/>
          </a:solidFill>
          <a:ln w="1390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AST</a:t>
            </a:r>
          </a:p>
        </p:txBody>
      </p:sp>
      <p:sp>
        <p:nvSpPr>
          <p:cNvPr id="18" name="IL" descr="G"/>
          <p:cNvSpPr/>
          <p:nvPr/>
        </p:nvSpPr>
        <p:spPr>
          <a:xfrm>
            <a:off x="6552693" y="4027553"/>
            <a:ext cx="729874" cy="782008"/>
          </a:xfrm>
          <a:prstGeom prst="rect">
            <a:avLst/>
          </a:prstGeom>
          <a:solidFill>
            <a:srgbClr val="BBDEFB"/>
          </a:solidFill>
          <a:ln w="1390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IL</a:t>
            </a:r>
          </a:p>
        </p:txBody>
      </p:sp>
      <p:sp>
        <p:nvSpPr>
          <p:cNvPr id="19" name="Reg" descr="H"/>
          <p:cNvSpPr/>
          <p:nvPr/>
        </p:nvSpPr>
        <p:spPr>
          <a:xfrm>
            <a:off x="6513071" y="5435168"/>
            <a:ext cx="809118" cy="782008"/>
          </a:xfrm>
          <a:prstGeom prst="rect">
            <a:avLst/>
          </a:prstGeom>
          <a:solidFill>
            <a:srgbClr val="C8E6C9"/>
          </a:solidFill>
          <a:ln w="1390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Reg</a:t>
            </a:r>
          </a:p>
        </p:txBody>
      </p:sp>
      <p:sp>
        <p:nvSpPr>
          <p:cNvPr id="20" name="Codegen" descr="I"/>
          <p:cNvSpPr/>
          <p:nvPr/>
        </p:nvSpPr>
        <p:spPr>
          <a:xfrm>
            <a:off x="8231404" y="3323746"/>
            <a:ext cx="1409700" cy="782008"/>
          </a:xfrm>
          <a:prstGeom prst="rect">
            <a:avLst/>
          </a:prstGeom>
          <a:solidFill>
            <a:srgbClr val="FFE0B2"/>
          </a:solidFill>
          <a:ln w="1390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Codegen</a:t>
            </a:r>
          </a:p>
        </p:txBody>
      </p:sp>
      <p:sp>
        <p:nvSpPr>
          <p:cNvPr id="21" name="Sortie" descr="J"/>
          <p:cNvSpPr/>
          <p:nvPr/>
        </p:nvSpPr>
        <p:spPr>
          <a:xfrm>
            <a:off x="10475246" y="3323746"/>
            <a:ext cx="1259554" cy="782008"/>
          </a:xfrm>
          <a:prstGeom prst="rect">
            <a:avLst/>
          </a:prstGeom>
          <a:solidFill>
            <a:srgbClr val="E1BEE7"/>
          </a:solidFill>
          <a:ln w="1390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Sortie</a:t>
            </a:r>
          </a:p>
        </p:txBody>
      </p:sp>
      <p:cxnSp>
        <p:nvCxnSpPr>
          <p:cNvPr id="22" name="A--B"/>
          <p:cNvCxnSpPr>
            <a:stCxn id="12" idx="3"/>
            <a:endCxn id="13" idx="1"/>
          </p:cNvCxnSpPr>
          <p:nvPr/>
        </p:nvCxnSpPr>
        <p:spPr>
          <a:xfrm>
            <a:off x="1416463" y="3115211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3"/>
            <a:endCxn id="14" idx="1"/>
          </p:cNvCxnSpPr>
          <p:nvPr/>
        </p:nvCxnSpPr>
        <p:spPr>
          <a:xfrm>
            <a:off x="3360014" y="3115211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B--D"/>
          <p:cNvCxnSpPr>
            <a:stCxn id="13" idx="2"/>
            <a:endCxn id="15" idx="0"/>
          </p:cNvCxnSpPr>
          <p:nvPr/>
        </p:nvCxnSpPr>
        <p:spPr>
          <a:xfrm>
            <a:off x="2805310" y="3506214"/>
            <a:ext cx="2093696" cy="1824686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B--E"/>
          <p:cNvCxnSpPr>
            <a:stCxn id="13" idx="3"/>
            <a:endCxn id="16" idx="1"/>
          </p:cNvCxnSpPr>
          <p:nvPr/>
        </p:nvCxnSpPr>
        <p:spPr>
          <a:xfrm flipV="1">
            <a:off x="3360014" y="1603329"/>
            <a:ext cx="3077984" cy="1511882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F"/>
          <p:cNvCxnSpPr>
            <a:stCxn id="14" idx="3"/>
            <a:endCxn id="17" idx="1"/>
          </p:cNvCxnSpPr>
          <p:nvPr/>
        </p:nvCxnSpPr>
        <p:spPr>
          <a:xfrm flipV="1">
            <a:off x="5603856" y="3010943"/>
            <a:ext cx="884191" cy="10426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--G"/>
          <p:cNvCxnSpPr>
            <a:stCxn id="14" idx="3"/>
            <a:endCxn id="18" idx="1"/>
          </p:cNvCxnSpPr>
          <p:nvPr/>
        </p:nvCxnSpPr>
        <p:spPr>
          <a:xfrm>
            <a:off x="5603856" y="3115211"/>
            <a:ext cx="948837" cy="130334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G"/>
          <p:cNvCxnSpPr>
            <a:stCxn id="15" idx="3"/>
            <a:endCxn id="18" idx="1"/>
          </p:cNvCxnSpPr>
          <p:nvPr/>
        </p:nvCxnSpPr>
        <p:spPr>
          <a:xfrm flipV="1">
            <a:off x="5453711" y="4418558"/>
            <a:ext cx="1098982" cy="130334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--H"/>
          <p:cNvCxnSpPr>
            <a:stCxn id="15" idx="3"/>
            <a:endCxn id="19" idx="1"/>
          </p:cNvCxnSpPr>
          <p:nvPr/>
        </p:nvCxnSpPr>
        <p:spPr>
          <a:xfrm>
            <a:off x="5453711" y="5721905"/>
            <a:ext cx="1059360" cy="10426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--I"/>
          <p:cNvCxnSpPr>
            <a:stCxn id="16" idx="2"/>
            <a:endCxn id="20" idx="0"/>
          </p:cNvCxnSpPr>
          <p:nvPr/>
        </p:nvCxnSpPr>
        <p:spPr>
          <a:xfrm>
            <a:off x="6917630" y="1994332"/>
            <a:ext cx="2018624" cy="1329414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F--I"/>
          <p:cNvCxnSpPr>
            <a:stCxn id="17" idx="3"/>
            <a:endCxn id="20" idx="1"/>
          </p:cNvCxnSpPr>
          <p:nvPr/>
        </p:nvCxnSpPr>
        <p:spPr>
          <a:xfrm>
            <a:off x="7347213" y="3010943"/>
            <a:ext cx="884191" cy="70380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--I"/>
          <p:cNvCxnSpPr>
            <a:stCxn id="18" idx="3"/>
            <a:endCxn id="20" idx="1"/>
          </p:cNvCxnSpPr>
          <p:nvPr/>
        </p:nvCxnSpPr>
        <p:spPr>
          <a:xfrm flipV="1">
            <a:off x="7282567" y="3714750"/>
            <a:ext cx="948837" cy="70380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H--I"/>
          <p:cNvCxnSpPr>
            <a:stCxn id="19" idx="0"/>
            <a:endCxn id="20" idx="2"/>
          </p:cNvCxnSpPr>
          <p:nvPr/>
        </p:nvCxnSpPr>
        <p:spPr>
          <a:xfrm flipV="1">
            <a:off x="6917630" y="4105755"/>
            <a:ext cx="2018624" cy="1329413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I--J"/>
          <p:cNvCxnSpPr>
            <a:stCxn id="20" idx="3"/>
            <a:endCxn id="21" idx="1"/>
          </p:cNvCxnSpPr>
          <p:nvPr/>
        </p:nvCxnSpPr>
        <p:spPr>
          <a:xfrm>
            <a:off x="9641104" y="3714750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direction-and-asymmetric-shape</a:t>
            </a:r>
          </a:p>
        </p:txBody>
      </p:sp>
      <p:sp>
        <p:nvSpPr>
          <p:cNvPr id="12" name="Debut" descr="Start"/>
          <p:cNvSpPr/>
          <p:nvPr/>
        </p:nvSpPr>
        <p:spPr>
          <a:xfrm>
            <a:off x="10421384" y="3251846"/>
            <a:ext cx="1313416" cy="925810"/>
          </a:xfrm>
          <a:prstGeom prst="rect">
            <a:avLst/>
          </a:prstGeom>
          <a:solidFill>
            <a:srgbClr val="C8E6C9"/>
          </a:solidFill>
          <a:ln w="1645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Etape asymetrique" descr="Flag"/>
          <p:cNvSpPr/>
          <p:nvPr/>
        </p:nvSpPr>
        <p:spPr>
          <a:xfrm>
            <a:off x="7083531" y="3066684"/>
            <a:ext cx="2350323" cy="1296134"/>
          </a:xfrm>
          <a:prstGeom prst="homePlate">
            <a:avLst/>
          </a:prstGeom>
          <a:solidFill>
            <a:srgbClr val="FFE0B2"/>
          </a:solidFill>
          <a:ln w="1645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Etape asymetrique</a:t>
            </a:r>
          </a:p>
        </p:txBody>
      </p:sp>
      <p:sp>
        <p:nvSpPr>
          <p:cNvPr id="14" name="Decision" descr="Check"/>
          <p:cNvSpPr/>
          <p:nvPr/>
        </p:nvSpPr>
        <p:spPr>
          <a:xfrm>
            <a:off x="2402635" y="2788940"/>
            <a:ext cx="3693365" cy="1851620"/>
          </a:xfrm>
          <a:prstGeom prst="diamond">
            <a:avLst/>
          </a:prstGeom>
          <a:solidFill>
            <a:srgbClr val="E1BEE7"/>
          </a:solidFill>
          <a:ln w="1645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Decision</a:t>
            </a:r>
          </a:p>
        </p:txBody>
      </p:sp>
      <p:sp>
        <p:nvSpPr>
          <p:cNvPr id="15" name="Fin" descr="End"/>
          <p:cNvSpPr/>
          <p:nvPr/>
        </p:nvSpPr>
        <p:spPr>
          <a:xfrm>
            <a:off x="457200" y="3251846"/>
            <a:ext cx="957905" cy="925810"/>
          </a:xfrm>
          <a:prstGeom prst="rect">
            <a:avLst/>
          </a:prstGeom>
          <a:solidFill>
            <a:srgbClr val="FFCDD2"/>
          </a:solidFill>
          <a:ln w="1645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Start--Flag"/>
          <p:cNvCxnSpPr>
            <a:stCxn id="12" idx="1"/>
            <a:endCxn id="13" idx="3"/>
          </p:cNvCxnSpPr>
          <p:nvPr/>
        </p:nvCxnSpPr>
        <p:spPr>
          <a:xfrm flipH="1">
            <a:off x="9433854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lag--Check"/>
          <p:cNvCxnSpPr>
            <a:stCxn id="13" idx="1"/>
            <a:endCxn id="14" idx="3"/>
          </p:cNvCxnSpPr>
          <p:nvPr/>
        </p:nvCxnSpPr>
        <p:spPr>
          <a:xfrm flipH="1"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heck--End"/>
          <p:cNvCxnSpPr>
            <a:stCxn id="14" idx="1"/>
            <a:endCxn id="15" idx="3"/>
          </p:cNvCxnSpPr>
          <p:nvPr/>
        </p:nvCxnSpPr>
        <p:spPr>
          <a:xfrm flipH="1">
            <a:off x="1415105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1596810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Check--Flag"/>
          <p:cNvCxnSpPr>
            <a:stCxn id="14" idx="3"/>
            <a:endCxn id="13" idx="1"/>
          </p:cNvCxnSpPr>
          <p:nvPr/>
        </p:nvCxnSpPr>
        <p:spPr>
          <a:xfrm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6277706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edge-chaining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1530113" y="1028700"/>
            <a:ext cx="1201759" cy="746125"/>
          </a:xfrm>
          <a:prstGeom prst="rect">
            <a:avLst/>
          </a:prstGeom>
          <a:solidFill>
            <a:srgbClr val="FFE0B2"/>
          </a:solidFill>
          <a:ln w="1326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Etape 2" descr="B"/>
          <p:cNvSpPr/>
          <p:nvPr/>
        </p:nvSpPr>
        <p:spPr>
          <a:xfrm>
            <a:off x="1496687" y="2570692"/>
            <a:ext cx="1268611" cy="746125"/>
          </a:xfrm>
          <a:prstGeom prst="rect">
            <a:avLst/>
          </a:prstGeom>
          <a:solidFill>
            <a:srgbClr val="E1BEE7"/>
          </a:solidFill>
          <a:ln w="1326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Etape 2</a:t>
            </a:r>
          </a:p>
        </p:txBody>
      </p:sp>
      <p:sp>
        <p:nvSpPr>
          <p:cNvPr id="14" name="Etape 3" descr="C"/>
          <p:cNvSpPr/>
          <p:nvPr/>
        </p:nvSpPr>
        <p:spPr>
          <a:xfrm>
            <a:off x="1496687" y="4112683"/>
            <a:ext cx="1268611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Etape 3</a:t>
            </a:r>
          </a:p>
        </p:txBody>
      </p:sp>
      <p:sp>
        <p:nvSpPr>
          <p:cNvPr id="15" name="Fin" descr="D"/>
          <p:cNvSpPr/>
          <p:nvPr/>
        </p:nvSpPr>
        <p:spPr>
          <a:xfrm>
            <a:off x="1744997" y="5654675"/>
            <a:ext cx="771991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16" name="Source" descr="E"/>
          <p:cNvSpPr/>
          <p:nvPr/>
        </p:nvSpPr>
        <p:spPr>
          <a:xfrm>
            <a:off x="4328380" y="1028700"/>
            <a:ext cx="1201759" cy="746125"/>
          </a:xfrm>
          <a:prstGeom prst="rect">
            <a:avLst/>
          </a:prstGeom>
          <a:solidFill>
            <a:srgbClr val="BBDEFB"/>
          </a:solidFill>
          <a:ln w="1326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Source</a:t>
            </a:r>
          </a:p>
        </p:txBody>
      </p:sp>
      <p:sp>
        <p:nvSpPr>
          <p:cNvPr id="17" name="Cible 1" descr="F"/>
          <p:cNvSpPr/>
          <p:nvPr/>
        </p:nvSpPr>
        <p:spPr>
          <a:xfrm>
            <a:off x="3362198" y="2570692"/>
            <a:ext cx="1268611" cy="746125"/>
          </a:xfrm>
          <a:prstGeom prst="rect">
            <a:avLst/>
          </a:prstGeom>
          <a:solidFill>
            <a:srgbClr val="C8E6C9"/>
          </a:solidFill>
          <a:ln w="1326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Cible 1</a:t>
            </a:r>
          </a:p>
        </p:txBody>
      </p:sp>
      <p:sp>
        <p:nvSpPr>
          <p:cNvPr id="18" name="Cible 2" descr="G"/>
          <p:cNvSpPr/>
          <p:nvPr/>
        </p:nvSpPr>
        <p:spPr>
          <a:xfrm>
            <a:off x="5227709" y="2570692"/>
            <a:ext cx="1268611" cy="746125"/>
          </a:xfrm>
          <a:prstGeom prst="rect">
            <a:avLst/>
          </a:prstGeom>
          <a:solidFill>
            <a:srgbClr val="FFE0B2"/>
          </a:solidFill>
          <a:ln w="1326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Cible 2</a:t>
            </a:r>
          </a:p>
        </p:txBody>
      </p:sp>
      <p:sp>
        <p:nvSpPr>
          <p:cNvPr id="19" name="Origine 1" descr="H"/>
          <p:cNvSpPr/>
          <p:nvPr/>
        </p:nvSpPr>
        <p:spPr>
          <a:xfrm>
            <a:off x="6988167" y="1028700"/>
            <a:ext cx="1555123" cy="746125"/>
          </a:xfrm>
          <a:prstGeom prst="rect">
            <a:avLst/>
          </a:prstGeom>
          <a:solidFill>
            <a:srgbClr val="E1BEE7"/>
          </a:solidFill>
          <a:ln w="1326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Origine 1</a:t>
            </a:r>
          </a:p>
        </p:txBody>
      </p:sp>
      <p:sp>
        <p:nvSpPr>
          <p:cNvPr id="20" name="Fusion" descr="J"/>
          <p:cNvSpPr/>
          <p:nvPr/>
        </p:nvSpPr>
        <p:spPr>
          <a:xfrm>
            <a:off x="8240861" y="2570692"/>
            <a:ext cx="1201759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Fusion</a:t>
            </a:r>
          </a:p>
        </p:txBody>
      </p:sp>
      <p:sp>
        <p:nvSpPr>
          <p:cNvPr id="21" name="Origine 2" descr="I"/>
          <p:cNvSpPr/>
          <p:nvPr/>
        </p:nvSpPr>
        <p:spPr>
          <a:xfrm>
            <a:off x="9140190" y="1028700"/>
            <a:ext cx="1555123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Origine 2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2130992" y="1774825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2130992" y="3316817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--D"/>
          <p:cNvCxnSpPr>
            <a:stCxn id="14" idx="2"/>
            <a:endCxn id="15" idx="0"/>
          </p:cNvCxnSpPr>
          <p:nvPr/>
        </p:nvCxnSpPr>
        <p:spPr>
          <a:xfrm>
            <a:off x="2130992" y="4858808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--F"/>
          <p:cNvCxnSpPr>
            <a:stCxn id="16" idx="2"/>
            <a:endCxn id="17" idx="0"/>
          </p:cNvCxnSpPr>
          <p:nvPr/>
        </p:nvCxnSpPr>
        <p:spPr>
          <a:xfrm flipH="1">
            <a:off x="3996504" y="1774825"/>
            <a:ext cx="932756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--G"/>
          <p:cNvCxnSpPr>
            <a:stCxn id="16" idx="2"/>
            <a:endCxn id="18" idx="0"/>
          </p:cNvCxnSpPr>
          <p:nvPr/>
        </p:nvCxnSpPr>
        <p:spPr>
          <a:xfrm>
            <a:off x="4929259" y="1774825"/>
            <a:ext cx="932756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H--J"/>
          <p:cNvCxnSpPr>
            <a:stCxn id="19" idx="2"/>
            <a:endCxn id="20" idx="0"/>
          </p:cNvCxnSpPr>
          <p:nvPr/>
        </p:nvCxnSpPr>
        <p:spPr>
          <a:xfrm>
            <a:off x="7765728" y="1774825"/>
            <a:ext cx="1076012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I--J"/>
          <p:cNvCxnSpPr>
            <a:stCxn id="21" idx="2"/>
            <a:endCxn id="20" idx="0"/>
          </p:cNvCxnSpPr>
          <p:nvPr/>
        </p:nvCxnSpPr>
        <p:spPr>
          <a:xfrm flipH="1">
            <a:off x="8841740" y="1774825"/>
            <a:ext cx="1076012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edge-labels</a:t>
            </a:r>
          </a:p>
        </p:txBody>
      </p:sp>
      <p:sp>
        <p:nvSpPr>
          <p:cNvPr id="12" name="Debut" descr="A"/>
          <p:cNvSpPr/>
          <p:nvPr/>
        </p:nvSpPr>
        <p:spPr>
          <a:xfrm>
            <a:off x="4318270" y="1028700"/>
            <a:ext cx="617937" cy="435576"/>
          </a:xfrm>
          <a:prstGeom prst="rect">
            <a:avLst/>
          </a:prstGeom>
          <a:solidFill>
            <a:srgbClr val="E1BEE7"/>
          </a:solidFill>
          <a:ln w="774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Action" descr="B"/>
          <p:cNvSpPr/>
          <p:nvPr/>
        </p:nvSpPr>
        <p:spPr>
          <a:xfrm>
            <a:off x="3893149" y="1928890"/>
            <a:ext cx="701567" cy="435576"/>
          </a:xfrm>
          <a:prstGeom prst="rect">
            <a:avLst/>
          </a:prstGeom>
          <a:solidFill>
            <a:srgbClr val="FFCDD2"/>
          </a:solidFill>
          <a:ln w="774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14" name="Suite" descr="C"/>
          <p:cNvSpPr/>
          <p:nvPr/>
        </p:nvSpPr>
        <p:spPr>
          <a:xfrm>
            <a:off x="3934964" y="2829079"/>
            <a:ext cx="617937" cy="435576"/>
          </a:xfrm>
          <a:prstGeom prst="rect">
            <a:avLst/>
          </a:prstGeom>
          <a:solidFill>
            <a:srgbClr val="FFF9C4"/>
          </a:solidFill>
          <a:ln w="774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Suite</a:t>
            </a:r>
          </a:p>
        </p:txBody>
      </p:sp>
      <p:sp>
        <p:nvSpPr>
          <p:cNvPr id="15" name="Test" descr="D"/>
          <p:cNvSpPr/>
          <p:nvPr/>
        </p:nvSpPr>
        <p:spPr>
          <a:xfrm>
            <a:off x="3709626" y="3729269"/>
            <a:ext cx="1068612" cy="871151"/>
          </a:xfrm>
          <a:prstGeom prst="diamond">
            <a:avLst/>
          </a:prstGeom>
          <a:solidFill>
            <a:srgbClr val="BBDEFB"/>
          </a:solidFill>
          <a:ln w="774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Test</a:t>
            </a:r>
          </a:p>
        </p:txBody>
      </p:sp>
      <p:sp>
        <p:nvSpPr>
          <p:cNvPr id="16" name="Rapide" descr="E"/>
          <p:cNvSpPr/>
          <p:nvPr/>
        </p:nvSpPr>
        <p:spPr>
          <a:xfrm>
            <a:off x="3409950" y="5065035"/>
            <a:ext cx="701567" cy="435576"/>
          </a:xfrm>
          <a:prstGeom prst="rect">
            <a:avLst/>
          </a:prstGeom>
          <a:solidFill>
            <a:srgbClr val="C8E6C9"/>
          </a:solidFill>
          <a:ln w="774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Rapide</a:t>
            </a:r>
          </a:p>
        </p:txBody>
      </p:sp>
      <p:sp>
        <p:nvSpPr>
          <p:cNvPr id="17" name="Lent" descr="F"/>
          <p:cNvSpPr/>
          <p:nvPr/>
        </p:nvSpPr>
        <p:spPr>
          <a:xfrm>
            <a:off x="4459978" y="5065035"/>
            <a:ext cx="534306" cy="435576"/>
          </a:xfrm>
          <a:prstGeom prst="rect">
            <a:avLst/>
          </a:prstGeom>
          <a:solidFill>
            <a:srgbClr val="FFE0B2"/>
          </a:solidFill>
          <a:ln w="774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Lent</a:t>
            </a:r>
          </a:p>
        </p:txBody>
      </p:sp>
      <p:sp>
        <p:nvSpPr>
          <p:cNvPr id="18" name="Repeter" descr="G"/>
          <p:cNvSpPr/>
          <p:nvPr/>
        </p:nvSpPr>
        <p:spPr>
          <a:xfrm>
            <a:off x="4717839" y="5965224"/>
            <a:ext cx="785198" cy="435576"/>
          </a:xfrm>
          <a:prstGeom prst="rect">
            <a:avLst/>
          </a:prstGeom>
          <a:solidFill>
            <a:srgbClr val="E1BEE7"/>
          </a:solidFill>
          <a:ln w="774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Repeter</a:t>
            </a:r>
          </a:p>
        </p:txBody>
      </p:sp>
      <p:sp>
        <p:nvSpPr>
          <p:cNvPr id="19" name="Autre depart" descr="H"/>
          <p:cNvSpPr/>
          <p:nvPr/>
        </p:nvSpPr>
        <p:spPr>
          <a:xfrm>
            <a:off x="5825943" y="1028700"/>
            <a:ext cx="1161535" cy="435576"/>
          </a:xfrm>
          <a:prstGeom prst="rect">
            <a:avLst/>
          </a:prstGeom>
          <a:solidFill>
            <a:srgbClr val="FFCDD2"/>
          </a:solidFill>
          <a:ln w="774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Autre depart</a:t>
            </a:r>
          </a:p>
        </p:txBody>
      </p:sp>
      <p:sp>
        <p:nvSpPr>
          <p:cNvPr id="20" name="Suite mediane" descr="I"/>
          <p:cNvSpPr/>
          <p:nvPr/>
        </p:nvSpPr>
        <p:spPr>
          <a:xfrm>
            <a:off x="5784128" y="1928890"/>
            <a:ext cx="1245166" cy="435576"/>
          </a:xfrm>
          <a:prstGeom prst="rect">
            <a:avLst/>
          </a:prstGeom>
          <a:solidFill>
            <a:srgbClr val="FFF9C4"/>
          </a:solidFill>
          <a:ln w="774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Suite mediane</a:t>
            </a:r>
          </a:p>
        </p:txBody>
      </p:sp>
      <p:sp>
        <p:nvSpPr>
          <p:cNvPr id="21" name="Fin mediane" descr="J"/>
          <p:cNvSpPr/>
          <p:nvPr/>
        </p:nvSpPr>
        <p:spPr>
          <a:xfrm>
            <a:off x="5867758" y="2829079"/>
            <a:ext cx="1077905" cy="435576"/>
          </a:xfrm>
          <a:prstGeom prst="rect">
            <a:avLst/>
          </a:prstGeom>
          <a:solidFill>
            <a:srgbClr val="BBDEFB"/>
          </a:solidFill>
          <a:ln w="774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Fin mediane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 flipH="1">
            <a:off x="4243932" y="1464276"/>
            <a:ext cx="383307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4172800" y="1626891"/>
            <a:ext cx="525571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etape 1</a:t>
            </a:r>
          </a:p>
        </p:txBody>
      </p:sp>
      <p:cxnSp>
        <p:nvCxnSpPr>
          <p:cNvPr id="24" name="B--C"/>
          <p:cNvCxnSpPr>
            <a:stCxn id="13" idx="2"/>
            <a:endCxn id="14" idx="0"/>
          </p:cNvCxnSpPr>
          <p:nvPr/>
        </p:nvCxnSpPr>
        <p:spPr>
          <a:xfrm>
            <a:off x="4243932" y="236446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3846223" y="2527080"/>
            <a:ext cx="795419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sans fleche</a:t>
            </a:r>
          </a:p>
        </p:txBody>
      </p: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4243932" y="326465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3896401" y="3427270"/>
            <a:ext cx="695063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optionnel</a:t>
            </a:r>
          </a:p>
        </p:txBody>
      </p: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 flipH="1">
            <a:off x="3760734" y="4600421"/>
            <a:ext cx="483198" cy="464614"/>
          </a:xfrm>
          <a:prstGeom prst="line">
            <a:avLst/>
          </a:prstGeom>
          <a:ln w="1548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dgeLabel"/>
          <p:cNvSpPr txBox="1"/>
          <p:nvPr/>
        </p:nvSpPr>
        <p:spPr>
          <a:xfrm>
            <a:off x="3738432" y="4763036"/>
            <a:ext cx="527802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si vrai</a:t>
            </a:r>
          </a:p>
        </p:txBody>
      </p:sp>
      <p:cxnSp>
        <p:nvCxnSpPr>
          <p:cNvPr id="30" name="D--F"/>
          <p:cNvCxnSpPr>
            <a:stCxn id="15" idx="2"/>
            <a:endCxn id="17" idx="0"/>
          </p:cNvCxnSpPr>
          <p:nvPr/>
        </p:nvCxnSpPr>
        <p:spPr>
          <a:xfrm>
            <a:off x="4243932" y="4600421"/>
            <a:ext cx="483199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geLabel"/>
          <p:cNvSpPr txBox="1"/>
          <p:nvPr/>
        </p:nvSpPr>
        <p:spPr>
          <a:xfrm>
            <a:off x="4221631" y="4763036"/>
            <a:ext cx="527802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si faux</a:t>
            </a:r>
          </a:p>
        </p:txBody>
      </p:sp>
      <p:cxnSp>
        <p:nvCxnSpPr>
          <p:cNvPr id="32" name="F--G"/>
          <p:cNvCxnSpPr>
            <a:stCxn id="17" idx="2"/>
            <a:endCxn id="18" idx="0"/>
          </p:cNvCxnSpPr>
          <p:nvPr/>
        </p:nvCxnSpPr>
        <p:spPr>
          <a:xfrm>
            <a:off x="4727131" y="5500610"/>
            <a:ext cx="383306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--A"/>
          <p:cNvCxnSpPr>
            <a:stCxn id="18" idx="0"/>
            <a:endCxn id="12" idx="2"/>
          </p:cNvCxnSpPr>
          <p:nvPr/>
        </p:nvCxnSpPr>
        <p:spPr>
          <a:xfrm flipH="1" flipV="1">
            <a:off x="4627239" y="1464276"/>
            <a:ext cx="483198" cy="4500948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H--I"/>
          <p:cNvCxnSpPr>
            <a:stCxn id="19" idx="2"/>
            <a:endCxn id="20" idx="0"/>
          </p:cNvCxnSpPr>
          <p:nvPr/>
        </p:nvCxnSpPr>
        <p:spPr>
          <a:xfrm>
            <a:off x="6406711" y="1464276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5875192" y="1626891"/>
            <a:ext cx="1063037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syntaxe mediane</a:t>
            </a:r>
          </a:p>
        </p:txBody>
      </p:sp>
      <p:cxnSp>
        <p:nvCxnSpPr>
          <p:cNvPr id="36" name="I--J"/>
          <p:cNvCxnSpPr>
            <a:stCxn id="20" idx="2"/>
            <a:endCxn id="21" idx="0"/>
          </p:cNvCxnSpPr>
          <p:nvPr/>
        </p:nvCxnSpPr>
        <p:spPr>
          <a:xfrm>
            <a:off x="6406711" y="236446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dgeLabel"/>
          <p:cNvSpPr txBox="1"/>
          <p:nvPr/>
        </p:nvSpPr>
        <p:spPr>
          <a:xfrm>
            <a:off x="5774836" y="2527080"/>
            <a:ext cx="1263750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mediane pointillee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edge-types-extended</a:t>
            </a:r>
          </a:p>
        </p:txBody>
      </p:sp>
      <p:sp>
        <p:nvSpPr>
          <p:cNvPr id="12" name="Fin" descr="F"/>
          <p:cNvSpPr/>
          <p:nvPr/>
        </p:nvSpPr>
        <p:spPr>
          <a:xfrm>
            <a:off x="3712776" y="1028700"/>
            <a:ext cx="296708" cy="286767"/>
          </a:xfrm>
          <a:prstGeom prst="rect">
            <a:avLst/>
          </a:prstGeom>
          <a:solidFill>
            <a:srgbClr val="FFCDD2"/>
          </a:solidFill>
          <a:ln w="509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13" name="Ligne pointillee" descr="G"/>
          <p:cNvSpPr/>
          <p:nvPr/>
        </p:nvSpPr>
        <p:spPr>
          <a:xfrm>
            <a:off x="3524657" y="1621352"/>
            <a:ext cx="672946" cy="401474"/>
          </a:xfrm>
          <a:prstGeom prst="rect">
            <a:avLst/>
          </a:prstGeom>
          <a:solidFill>
            <a:srgbClr val="FFF9C4"/>
          </a:solidFill>
          <a:ln w="509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Ligne pointillee</a:t>
            </a:r>
          </a:p>
        </p:txBody>
      </p:sp>
      <p:sp>
        <p:nvSpPr>
          <p:cNvPr id="14" name="Ligne epaisse" descr="H"/>
          <p:cNvSpPr/>
          <p:nvPr/>
        </p:nvSpPr>
        <p:spPr>
          <a:xfrm>
            <a:off x="3451244" y="2328710"/>
            <a:ext cx="819771" cy="286767"/>
          </a:xfrm>
          <a:prstGeom prst="rect">
            <a:avLst/>
          </a:prstGeom>
          <a:solidFill>
            <a:srgbClr val="BBDEFB"/>
          </a:solidFill>
          <a:ln w="509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Ligne epaisse</a:t>
            </a:r>
          </a:p>
        </p:txBody>
      </p:sp>
      <p:sp>
        <p:nvSpPr>
          <p:cNvPr id="15" name="Bidirectionnel" descr="I"/>
          <p:cNvSpPr/>
          <p:nvPr/>
        </p:nvSpPr>
        <p:spPr>
          <a:xfrm>
            <a:off x="3409950" y="2921362"/>
            <a:ext cx="902360" cy="286767"/>
          </a:xfrm>
          <a:prstGeom prst="rect">
            <a:avLst/>
          </a:prstGeom>
          <a:solidFill>
            <a:srgbClr val="C8E6C9"/>
          </a:solidFill>
          <a:ln w="509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Bidirectionnel</a:t>
            </a:r>
          </a:p>
        </p:txBody>
      </p:sp>
      <p:sp>
        <p:nvSpPr>
          <p:cNvPr id="16" name="Tete cercle" descr="J"/>
          <p:cNvSpPr/>
          <p:nvPr/>
        </p:nvSpPr>
        <p:spPr>
          <a:xfrm>
            <a:off x="3506304" y="3514013"/>
            <a:ext cx="709652" cy="286767"/>
          </a:xfrm>
          <a:prstGeom prst="rect">
            <a:avLst/>
          </a:prstGeom>
          <a:solidFill>
            <a:srgbClr val="FFE0B2"/>
          </a:solidFill>
          <a:ln w="509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Tete cercle</a:t>
            </a:r>
          </a:p>
        </p:txBody>
      </p:sp>
      <p:sp>
        <p:nvSpPr>
          <p:cNvPr id="17" name="Tete croix" descr="K"/>
          <p:cNvSpPr/>
          <p:nvPr/>
        </p:nvSpPr>
        <p:spPr>
          <a:xfrm>
            <a:off x="3533833" y="4106665"/>
            <a:ext cx="654593" cy="286767"/>
          </a:xfrm>
          <a:prstGeom prst="rect">
            <a:avLst/>
          </a:prstGeom>
          <a:solidFill>
            <a:srgbClr val="E1BEE7"/>
          </a:solidFill>
          <a:ln w="509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Tete croix</a:t>
            </a:r>
          </a:p>
        </p:txBody>
      </p:sp>
      <p:sp>
        <p:nvSpPr>
          <p:cNvPr id="18" name="Cercle des deux cotes" descr="L"/>
          <p:cNvSpPr/>
          <p:nvPr/>
        </p:nvSpPr>
        <p:spPr>
          <a:xfrm>
            <a:off x="3533833" y="4699316"/>
            <a:ext cx="654593" cy="401474"/>
          </a:xfrm>
          <a:prstGeom prst="rect">
            <a:avLst/>
          </a:prstGeom>
          <a:solidFill>
            <a:srgbClr val="FFCDD2"/>
          </a:solidFill>
          <a:ln w="509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Cercle des deux cotes</a:t>
            </a:r>
          </a:p>
        </p:txBody>
      </p:sp>
      <p:sp>
        <p:nvSpPr>
          <p:cNvPr id="19" name="Croix des deux cotes" descr="M"/>
          <p:cNvSpPr/>
          <p:nvPr/>
        </p:nvSpPr>
        <p:spPr>
          <a:xfrm>
            <a:off x="3437480" y="5406675"/>
            <a:ext cx="847301" cy="401474"/>
          </a:xfrm>
          <a:prstGeom prst="rect">
            <a:avLst/>
          </a:prstGeom>
          <a:solidFill>
            <a:srgbClr val="FFF9C4"/>
          </a:solidFill>
          <a:ln w="509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Croix des deux cotes</a:t>
            </a:r>
          </a:p>
        </p:txBody>
      </p:sp>
      <p:sp>
        <p:nvSpPr>
          <p:cNvPr id="20" name="Invisible" descr="N"/>
          <p:cNvSpPr/>
          <p:nvPr/>
        </p:nvSpPr>
        <p:spPr>
          <a:xfrm>
            <a:off x="3547598" y="6114033"/>
            <a:ext cx="627064" cy="286767"/>
          </a:xfrm>
          <a:prstGeom prst="rect">
            <a:avLst/>
          </a:prstGeom>
          <a:solidFill>
            <a:srgbClr val="BBDEFB"/>
          </a:solidFill>
          <a:ln w="509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Invisible</a:t>
            </a:r>
          </a:p>
        </p:txBody>
      </p:sp>
      <p:cxnSp>
        <p:nvCxnSpPr>
          <p:cNvPr id="21" name="F--G"/>
          <p:cNvCxnSpPr>
            <a:stCxn id="12" idx="2"/>
            <a:endCxn id="13" idx="0"/>
          </p:cNvCxnSpPr>
          <p:nvPr/>
        </p:nvCxnSpPr>
        <p:spPr>
          <a:xfrm>
            <a:off x="3861130" y="1315467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--H"/>
          <p:cNvCxnSpPr>
            <a:stCxn id="13" idx="2"/>
            <a:endCxn id="14" idx="0"/>
          </p:cNvCxnSpPr>
          <p:nvPr/>
        </p:nvCxnSpPr>
        <p:spPr>
          <a:xfrm>
            <a:off x="3861130" y="2022825"/>
            <a:ext cx="0" cy="305885"/>
          </a:xfrm>
          <a:prstGeom prst="line">
            <a:avLst/>
          </a:prstGeom>
          <a:ln w="1019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H--I"/>
          <p:cNvCxnSpPr>
            <a:stCxn id="14" idx="2"/>
            <a:endCxn id="15" idx="0"/>
          </p:cNvCxnSpPr>
          <p:nvPr/>
        </p:nvCxnSpPr>
        <p:spPr>
          <a:xfrm>
            <a:off x="3861130" y="2615477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I--J"/>
          <p:cNvCxnSpPr>
            <a:stCxn id="15" idx="2"/>
            <a:endCxn id="16" idx="0"/>
          </p:cNvCxnSpPr>
          <p:nvPr/>
        </p:nvCxnSpPr>
        <p:spPr>
          <a:xfrm>
            <a:off x="3861130" y="3208128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J--K"/>
          <p:cNvCxnSpPr>
            <a:stCxn id="16" idx="2"/>
            <a:endCxn id="17" idx="0"/>
          </p:cNvCxnSpPr>
          <p:nvPr/>
        </p:nvCxnSpPr>
        <p:spPr>
          <a:xfrm>
            <a:off x="3861130" y="3800780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K--L"/>
          <p:cNvCxnSpPr>
            <a:stCxn id="17" idx="2"/>
            <a:endCxn id="18" idx="0"/>
          </p:cNvCxnSpPr>
          <p:nvPr/>
        </p:nvCxnSpPr>
        <p:spPr>
          <a:xfrm>
            <a:off x="3861130" y="4393432"/>
            <a:ext cx="0" cy="305884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--M"/>
          <p:cNvCxnSpPr>
            <a:stCxn id="18" idx="2"/>
            <a:endCxn id="19" idx="0"/>
          </p:cNvCxnSpPr>
          <p:nvPr/>
        </p:nvCxnSpPr>
        <p:spPr>
          <a:xfrm>
            <a:off x="3861130" y="5100790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M--N"/>
          <p:cNvCxnSpPr>
            <a:stCxn id="19" idx="2"/>
            <a:endCxn id="20" idx="0"/>
          </p:cNvCxnSpPr>
          <p:nvPr/>
        </p:nvCxnSpPr>
        <p:spPr>
          <a:xfrm>
            <a:off x="3861130" y="5808148"/>
            <a:ext cx="0" cy="305885"/>
          </a:xfrm>
          <a:prstGeom prst="line">
            <a:avLst/>
          </a:prstGeom>
          <a:ln w="5098" cap="flat" cmpd="sng" algn="ctr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edge-types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457200" y="3328883"/>
            <a:ext cx="1243006" cy="771734"/>
          </a:xfrm>
          <a:prstGeom prst="rect">
            <a:avLst/>
          </a:prstGeom>
          <a:solidFill>
            <a:srgbClr val="FFF9C4"/>
          </a:solidFill>
          <a:ln w="1372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Fleche" descr="B"/>
          <p:cNvSpPr/>
          <p:nvPr/>
        </p:nvSpPr>
        <p:spPr>
          <a:xfrm>
            <a:off x="2523388" y="3328883"/>
            <a:ext cx="1243006" cy="771734"/>
          </a:xfrm>
          <a:prstGeom prst="rect">
            <a:avLst/>
          </a:prstGeom>
          <a:solidFill>
            <a:srgbClr val="BBDEFB"/>
          </a:solidFill>
          <a:ln w="1372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Fleche</a:t>
            </a:r>
          </a:p>
        </p:txBody>
      </p:sp>
      <p:sp>
        <p:nvSpPr>
          <p:cNvPr id="14" name="Ligne" descr="C"/>
          <p:cNvSpPr/>
          <p:nvPr/>
        </p:nvSpPr>
        <p:spPr>
          <a:xfrm>
            <a:off x="4589576" y="3328883"/>
            <a:ext cx="1094833" cy="771734"/>
          </a:xfrm>
          <a:prstGeom prst="rect">
            <a:avLst/>
          </a:prstGeom>
          <a:solidFill>
            <a:srgbClr val="C8E6C9"/>
          </a:solidFill>
          <a:ln w="1372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Ligne</a:t>
            </a:r>
          </a:p>
        </p:txBody>
      </p:sp>
      <p:sp>
        <p:nvSpPr>
          <p:cNvPr id="15" name="Pointille" descr="D"/>
          <p:cNvSpPr/>
          <p:nvPr/>
        </p:nvSpPr>
        <p:spPr>
          <a:xfrm>
            <a:off x="6507591" y="3328883"/>
            <a:ext cx="1687524" cy="771734"/>
          </a:xfrm>
          <a:prstGeom prst="rect">
            <a:avLst/>
          </a:prstGeom>
          <a:solidFill>
            <a:srgbClr val="FFE0B2"/>
          </a:solidFill>
          <a:ln w="13720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Pointille</a:t>
            </a:r>
          </a:p>
        </p:txBody>
      </p:sp>
      <p:sp>
        <p:nvSpPr>
          <p:cNvPr id="16" name="Epais" descr="E"/>
          <p:cNvSpPr/>
          <p:nvPr/>
        </p:nvSpPr>
        <p:spPr>
          <a:xfrm>
            <a:off x="9018298" y="3328883"/>
            <a:ext cx="1094833" cy="771734"/>
          </a:xfrm>
          <a:prstGeom prst="rect">
            <a:avLst/>
          </a:prstGeom>
          <a:solidFill>
            <a:srgbClr val="E1BEE7"/>
          </a:solidFill>
          <a:ln w="13720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Epais</a:t>
            </a:r>
          </a:p>
        </p:txBody>
      </p:sp>
      <p:sp>
        <p:nvSpPr>
          <p:cNvPr id="17" name="Fin" descr="F"/>
          <p:cNvSpPr/>
          <p:nvPr/>
        </p:nvSpPr>
        <p:spPr>
          <a:xfrm>
            <a:off x="10936313" y="3328883"/>
            <a:ext cx="798487" cy="771734"/>
          </a:xfrm>
          <a:prstGeom prst="rect">
            <a:avLst/>
          </a:prstGeom>
          <a:solidFill>
            <a:srgbClr val="FFCDD2"/>
          </a:solidFill>
          <a:ln w="13720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8" name="A--B"/>
          <p:cNvCxnSpPr>
            <a:stCxn id="12" idx="3"/>
            <a:endCxn id="13" idx="1"/>
          </p:cNvCxnSpPr>
          <p:nvPr/>
        </p:nvCxnSpPr>
        <p:spPr>
          <a:xfrm>
            <a:off x="1700206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B--C"/>
          <p:cNvCxnSpPr>
            <a:stCxn id="13" idx="3"/>
            <a:endCxn id="14" idx="1"/>
          </p:cNvCxnSpPr>
          <p:nvPr/>
        </p:nvCxnSpPr>
        <p:spPr>
          <a:xfrm>
            <a:off x="3766394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--D"/>
          <p:cNvCxnSpPr>
            <a:stCxn id="14" idx="3"/>
            <a:endCxn id="15" idx="1"/>
          </p:cNvCxnSpPr>
          <p:nvPr/>
        </p:nvCxnSpPr>
        <p:spPr>
          <a:xfrm>
            <a:off x="5684409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--E"/>
          <p:cNvCxnSpPr>
            <a:stCxn id="15" idx="3"/>
            <a:endCxn id="16" idx="1"/>
          </p:cNvCxnSpPr>
          <p:nvPr/>
        </p:nvCxnSpPr>
        <p:spPr>
          <a:xfrm>
            <a:off x="8195115" y="3714751"/>
            <a:ext cx="823182" cy="0"/>
          </a:xfrm>
          <a:prstGeom prst="line">
            <a:avLst/>
          </a:prstGeom>
          <a:ln w="2743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--F"/>
          <p:cNvCxnSpPr>
            <a:stCxn id="16" idx="3"/>
            <a:endCxn id="17" idx="1"/>
          </p:cNvCxnSpPr>
          <p:nvPr/>
        </p:nvCxnSpPr>
        <p:spPr>
          <a:xfrm>
            <a:off x="10113131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9879347" y="3591273"/>
            <a:ext cx="1290750" cy="2469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1159" tIns="0" rIns="4115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64" dirty="0">
                <a:solidFill>
                  <a:srgbClr val="000000"/>
                </a:solidFill>
              </a:rPr>
              <a:t>avec label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er-diagram</a:t>
            </a:r>
          </a:p>
        </p:txBody>
      </p:sp>
      <p:cxnSp>
        <p:nvCxnSpPr>
          <p:cNvPr id="11" name="Connector 1"/>
          <p:cNvCxnSpPr/>
          <p:nvPr/>
        </p:nvCxnSpPr>
        <p:spPr>
          <a:xfrm flipH="1">
            <a:off x="6011059" y="240395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diamond" w="lg" len="lg"/>
          </a:ln>
        </p:spPr>
      </p:cxnSp>
      <p:sp>
        <p:nvSpPr>
          <p:cNvPr id="12" name="Text 2"/>
          <p:cNvSpPr txBox="1"/>
          <p:nvPr/>
        </p:nvSpPr>
        <p:spPr>
          <a:xfrm>
            <a:off x="5896695" y="2672563"/>
            <a:ext cx="438363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places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011059" y="427344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triangle" w="lg" len="lg"/>
          </a:ln>
        </p:spPr>
      </p:cxnSp>
      <p:sp>
        <p:nvSpPr>
          <p:cNvPr id="14" name="Text 4"/>
          <p:cNvSpPr txBox="1"/>
          <p:nvPr/>
        </p:nvSpPr>
        <p:spPr>
          <a:xfrm>
            <a:off x="5845123" y="4542053"/>
            <a:ext cx="541508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contains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6376423" y="2403958"/>
            <a:ext cx="1" cy="2621585"/>
          </a:xfrm>
          <a:prstGeom prst="line">
            <a:avLst/>
          </a:prstGeom>
          <a:ln w="10744">
            <a:solidFill>
              <a:srgbClr val="2F5496"/>
            </a:solidFill>
            <a:prstDash val="dash"/>
            <a:headEnd type="triangle" w="lg" len="lg"/>
            <a:tailEnd type="triangle" w="lg" len="lg"/>
          </a:ln>
        </p:spPr>
      </p:cxnSp>
      <p:sp>
        <p:nvSpPr>
          <p:cNvPr id="16" name="Text 6"/>
          <p:cNvSpPr txBox="1"/>
          <p:nvPr/>
        </p:nvSpPr>
        <p:spPr>
          <a:xfrm>
            <a:off x="6131455" y="3607308"/>
            <a:ext cx="489936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reviews</a:t>
            </a:r>
          </a:p>
        </p:txBody>
      </p:sp>
      <p:sp>
        <p:nvSpPr>
          <p:cNvPr id="17" name="CUSTOMER"/>
          <p:cNvSpPr/>
          <p:nvPr/>
        </p:nvSpPr>
        <p:spPr>
          <a:xfrm>
            <a:off x="5791939" y="1286561"/>
            <a:ext cx="1168969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18" name="CUSTOMER title"/>
          <p:cNvSpPr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791939" y="1625003"/>
            <a:ext cx="1168969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899381" y="1630375"/>
            <a:ext cx="954085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UK string email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name</a:t>
            </a:r>
          </a:p>
        </p:txBody>
      </p:sp>
      <p:sp>
        <p:nvSpPr>
          <p:cNvPr id="22" name="ORDER"/>
          <p:cNvSpPr/>
          <p:nvPr/>
        </p:nvSpPr>
        <p:spPr>
          <a:xfrm>
            <a:off x="5189190" y="3156052"/>
            <a:ext cx="1332281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3" name="ORDER title"/>
          <p:cNvSpPr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189190" y="3494493"/>
            <a:ext cx="1332281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ORDER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296632" y="3499866"/>
            <a:ext cx="1117397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customer_id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status</a:t>
            </a:r>
          </a:p>
        </p:txBody>
      </p:sp>
      <p:sp>
        <p:nvSpPr>
          <p:cNvPr id="27" name="LINE-ITEM"/>
          <p:cNvSpPr/>
          <p:nvPr/>
        </p:nvSpPr>
        <p:spPr>
          <a:xfrm>
            <a:off x="5750037" y="5025542"/>
            <a:ext cx="1252774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8" name="LINE-ITEM title"/>
          <p:cNvSpPr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750037" y="5363984"/>
            <a:ext cx="1252774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LINE-ITEM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857479" y="5369357"/>
            <a:ext cx="1037890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order_id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product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escape-xml</a:t>
            </a:r>
          </a:p>
        </p:txBody>
      </p:sp>
      <p:sp>
        <p:nvSpPr>
          <p:cNvPr id="12" name="Requete &lt;GET&gt; &amp; valeur" descr="A"/>
          <p:cNvSpPr/>
          <p:nvPr/>
        </p:nvSpPr>
        <p:spPr>
          <a:xfrm>
            <a:off x="4370642" y="1028700"/>
            <a:ext cx="1619670" cy="76744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Requete &lt;GET&gt; &amp; valeur</a:t>
            </a:r>
          </a:p>
        </p:txBody>
      </p:sp>
      <p:sp>
        <p:nvSpPr>
          <p:cNvPr id="13" name="Valide?" descr="B"/>
          <p:cNvSpPr/>
          <p:nvPr/>
        </p:nvSpPr>
        <p:spPr>
          <a:xfrm>
            <a:off x="4192303" y="2380861"/>
            <a:ext cx="1976348" cy="1096347"/>
          </a:xfrm>
          <a:prstGeom prst="diamond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4" name="Resultat &lt;OK&gt;" descr="C"/>
          <p:cNvSpPr/>
          <p:nvPr/>
        </p:nvSpPr>
        <p:spPr>
          <a:xfrm>
            <a:off x="3409950" y="4171561"/>
            <a:ext cx="1602128" cy="54817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Resultat &lt;OK&gt;</a:t>
            </a:r>
          </a:p>
        </p:txBody>
      </p:sp>
      <p:sp>
        <p:nvSpPr>
          <p:cNvPr id="15" name="Erreur 500 &amp; echec" descr="D"/>
          <p:cNvSpPr/>
          <p:nvPr/>
        </p:nvSpPr>
        <p:spPr>
          <a:xfrm>
            <a:off x="5450617" y="4061927"/>
            <a:ext cx="1398646" cy="76744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Erreur 500 &amp; echec</a:t>
            </a:r>
          </a:p>
        </p:txBody>
      </p:sp>
      <p:sp>
        <p:nvSpPr>
          <p:cNvPr id="16" name="Sauver 'donnees' &amp; finir" descr="E"/>
          <p:cNvSpPr/>
          <p:nvPr/>
        </p:nvSpPr>
        <p:spPr>
          <a:xfrm>
            <a:off x="3541512" y="5414088"/>
            <a:ext cx="1339005" cy="986712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Sauver 'donnees' &amp; finir</a:t>
            </a:r>
          </a:p>
        </p:txBody>
      </p:sp>
      <p:cxnSp>
        <p:nvCxnSpPr>
          <p:cNvPr id="17" name="A--B"/>
          <p:cNvCxnSpPr>
            <a:stCxn id="12" idx="2"/>
            <a:endCxn id="13" idx="0"/>
          </p:cNvCxnSpPr>
          <p:nvPr/>
        </p:nvCxnSpPr>
        <p:spPr>
          <a:xfrm>
            <a:off x="5180477" y="1796143"/>
            <a:ext cx="0" cy="584718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2"/>
            <a:endCxn id="14" idx="0"/>
          </p:cNvCxnSpPr>
          <p:nvPr/>
        </p:nvCxnSpPr>
        <p:spPr>
          <a:xfrm flipH="1">
            <a:off x="4211014" y="3477208"/>
            <a:ext cx="969463" cy="694353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4510975" y="3736677"/>
            <a:ext cx="369542" cy="1754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9236" tIns="0" rIns="2923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B--D"/>
          <p:cNvCxnSpPr>
            <a:stCxn id="13" idx="2"/>
            <a:endCxn id="15" idx="0"/>
          </p:cNvCxnSpPr>
          <p:nvPr/>
        </p:nvCxnSpPr>
        <p:spPr>
          <a:xfrm>
            <a:off x="5180477" y="3477208"/>
            <a:ext cx="969463" cy="584719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5480438" y="3681859"/>
            <a:ext cx="369542" cy="1754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9236" tIns="0" rIns="2923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2" name="C--E"/>
          <p:cNvCxnSpPr>
            <a:stCxn id="14" idx="2"/>
            <a:endCxn id="16" idx="0"/>
          </p:cNvCxnSpPr>
          <p:nvPr/>
        </p:nvCxnSpPr>
        <p:spPr>
          <a:xfrm>
            <a:off x="4211014" y="4719735"/>
            <a:ext cx="0" cy="694353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eventmodeling</a:t>
            </a:r>
          </a:p>
        </p:txBody>
      </p:sp>
      <p:sp>
        <p:nvSpPr>
          <p:cNvPr id="11" name="Lane UI / Automation"/>
          <p:cNvSpPr/>
          <p:nvPr/>
        </p:nvSpPr>
        <p:spPr>
          <a:xfrm>
            <a:off x="457200" y="2688653"/>
            <a:ext cx="11277600" cy="366238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2" name="Box 2"/>
          <p:cNvSpPr/>
          <p:nvPr/>
        </p:nvSpPr>
        <p:spPr>
          <a:xfrm>
            <a:off x="495087" y="2783370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UI / Automation</a:t>
            </a:r>
          </a:p>
        </p:txBody>
      </p:sp>
      <p:sp>
        <p:nvSpPr>
          <p:cNvPr id="13" name="Lane Command / Read Model"/>
          <p:cNvSpPr/>
          <p:nvPr/>
        </p:nvSpPr>
        <p:spPr>
          <a:xfrm>
            <a:off x="457200" y="3054891"/>
            <a:ext cx="11277600" cy="54304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4" name="Box 4"/>
          <p:cNvSpPr/>
          <p:nvPr/>
        </p:nvSpPr>
        <p:spPr>
          <a:xfrm>
            <a:off x="495087" y="3238010"/>
            <a:ext cx="681960" cy="176804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Command / Read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Model</a:t>
            </a:r>
          </a:p>
        </p:txBody>
      </p:sp>
      <p:sp>
        <p:nvSpPr>
          <p:cNvPr id="15" name="Lane Events"/>
          <p:cNvSpPr/>
          <p:nvPr/>
        </p:nvSpPr>
        <p:spPr>
          <a:xfrm>
            <a:off x="457200" y="3597933"/>
            <a:ext cx="11277600" cy="745105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6" name="Box 6"/>
          <p:cNvSpPr/>
          <p:nvPr/>
        </p:nvSpPr>
        <p:spPr>
          <a:xfrm>
            <a:off x="495087" y="3882083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Events</a:t>
            </a:r>
          </a:p>
        </p:txBody>
      </p:sp>
      <p:sp>
        <p:nvSpPr>
          <p:cNvPr id="17" name="Lane Billing / Events"/>
          <p:cNvSpPr/>
          <p:nvPr/>
        </p:nvSpPr>
        <p:spPr>
          <a:xfrm>
            <a:off x="457200" y="4343038"/>
            <a:ext cx="11277600" cy="366238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8" name="Box 8"/>
          <p:cNvSpPr/>
          <p:nvPr/>
        </p:nvSpPr>
        <p:spPr>
          <a:xfrm>
            <a:off x="495087" y="4437755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Billing / Events</a:t>
            </a:r>
          </a:p>
        </p:txBody>
      </p:sp>
      <p:sp>
        <p:nvSpPr>
          <p:cNvPr id="19" name="Box 9"/>
          <p:cNvSpPr/>
          <p:nvPr/>
        </p:nvSpPr>
        <p:spPr>
          <a:xfrm>
            <a:off x="1214933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01</a:t>
            </a:r>
          </a:p>
        </p:txBody>
      </p:sp>
      <p:sp>
        <p:nvSpPr>
          <p:cNvPr id="20" name="Box 10"/>
          <p:cNvSpPr/>
          <p:nvPr/>
        </p:nvSpPr>
        <p:spPr>
          <a:xfrm>
            <a:off x="2162100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02</a:t>
            </a:r>
          </a:p>
        </p:txBody>
      </p:sp>
      <p:sp>
        <p:nvSpPr>
          <p:cNvPr id="21" name="Box 11"/>
          <p:cNvSpPr/>
          <p:nvPr/>
        </p:nvSpPr>
        <p:spPr>
          <a:xfrm>
            <a:off x="3109267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03</a:t>
            </a:r>
          </a:p>
        </p:txBody>
      </p:sp>
      <p:sp>
        <p:nvSpPr>
          <p:cNvPr id="22" name="Box 12"/>
          <p:cNvSpPr/>
          <p:nvPr/>
        </p:nvSpPr>
        <p:spPr>
          <a:xfrm>
            <a:off x="4056434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04</a:t>
            </a:r>
          </a:p>
        </p:txBody>
      </p:sp>
      <p:sp>
        <p:nvSpPr>
          <p:cNvPr id="23" name="Box 13"/>
          <p:cNvSpPr/>
          <p:nvPr/>
        </p:nvSpPr>
        <p:spPr>
          <a:xfrm>
            <a:off x="50036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05</a:t>
            </a:r>
          </a:p>
        </p:txBody>
      </p:sp>
      <p:sp>
        <p:nvSpPr>
          <p:cNvPr id="24" name="Box 14"/>
          <p:cNvSpPr/>
          <p:nvPr/>
        </p:nvSpPr>
        <p:spPr>
          <a:xfrm>
            <a:off x="59507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06</a:t>
            </a:r>
          </a:p>
        </p:txBody>
      </p:sp>
      <p:sp>
        <p:nvSpPr>
          <p:cNvPr id="25" name="Box 15"/>
          <p:cNvSpPr/>
          <p:nvPr/>
        </p:nvSpPr>
        <p:spPr>
          <a:xfrm>
            <a:off x="68979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07</a:t>
            </a:r>
          </a:p>
        </p:txBody>
      </p:sp>
      <p:sp>
        <p:nvSpPr>
          <p:cNvPr id="26" name="Box 16"/>
          <p:cNvSpPr/>
          <p:nvPr/>
        </p:nvSpPr>
        <p:spPr>
          <a:xfrm>
            <a:off x="78451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08</a:t>
            </a:r>
          </a:p>
        </p:txBody>
      </p:sp>
      <p:sp>
        <p:nvSpPr>
          <p:cNvPr id="27" name="Box 17"/>
          <p:cNvSpPr/>
          <p:nvPr/>
        </p:nvSpPr>
        <p:spPr>
          <a:xfrm>
            <a:off x="87922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09 (reset)</a:t>
            </a:r>
          </a:p>
        </p:txBody>
      </p:sp>
      <p:sp>
        <p:nvSpPr>
          <p:cNvPr id="28" name="Box 18"/>
          <p:cNvSpPr/>
          <p:nvPr/>
        </p:nvSpPr>
        <p:spPr>
          <a:xfrm>
            <a:off x="97394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10</a:t>
            </a:r>
          </a:p>
        </p:txBody>
      </p:sp>
      <p:sp>
        <p:nvSpPr>
          <p:cNvPr id="29" name="Box 19"/>
          <p:cNvSpPr/>
          <p:nvPr/>
        </p:nvSpPr>
        <p:spPr>
          <a:xfrm>
            <a:off x="10686602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11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1859533" y="2953860"/>
            <a:ext cx="420963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1" name="Connector 21"/>
          <p:cNvCxnSpPr/>
          <p:nvPr/>
        </p:nvCxnSpPr>
        <p:spPr>
          <a:xfrm>
            <a:off x="2933050" y="3496902"/>
            <a:ext cx="352434" cy="202063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2" name="Connector 22"/>
          <p:cNvCxnSpPr/>
          <p:nvPr/>
        </p:nvCxnSpPr>
        <p:spPr>
          <a:xfrm flipV="1">
            <a:off x="3838586" y="3320098"/>
            <a:ext cx="568300" cy="378867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3" name="Connector 23"/>
          <p:cNvCxnSpPr/>
          <p:nvPr/>
        </p:nvCxnSpPr>
        <p:spPr>
          <a:xfrm flipV="1">
            <a:off x="4742313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4" name="Connector 24"/>
          <p:cNvCxnSpPr/>
          <p:nvPr/>
        </p:nvCxnSpPr>
        <p:spPr>
          <a:xfrm flipV="1">
            <a:off x="4934142" y="2949903"/>
            <a:ext cx="1086085" cy="209976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5" name="Connector 25"/>
          <p:cNvCxnSpPr/>
          <p:nvPr/>
        </p:nvCxnSpPr>
        <p:spPr>
          <a:xfrm>
            <a:off x="6636647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7431877" y="3320098"/>
            <a:ext cx="826449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7" name="Connector 27"/>
          <p:cNvCxnSpPr/>
          <p:nvPr/>
        </p:nvCxnSpPr>
        <p:spPr>
          <a:xfrm flipV="1">
            <a:off x="4934142" y="2903024"/>
            <a:ext cx="3927585" cy="303734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8" name="Connector 28"/>
          <p:cNvCxnSpPr/>
          <p:nvPr/>
        </p:nvCxnSpPr>
        <p:spPr>
          <a:xfrm>
            <a:off x="9478148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9" name="Connector 29"/>
          <p:cNvCxnSpPr/>
          <p:nvPr/>
        </p:nvCxnSpPr>
        <p:spPr>
          <a:xfrm>
            <a:off x="10273377" y="3320098"/>
            <a:ext cx="826450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40" name="Frame 01"/>
          <p:cNvSpPr/>
          <p:nvPr/>
        </p:nvSpPr>
        <p:spPr>
          <a:xfrm>
            <a:off x="1284392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41" name="Box 31"/>
          <p:cNvSpPr/>
          <p:nvPr/>
        </p:nvSpPr>
        <p:spPr>
          <a:xfrm>
            <a:off x="1309650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CartScreen</a:t>
            </a:r>
          </a:p>
        </p:txBody>
      </p:sp>
      <p:sp>
        <p:nvSpPr>
          <p:cNvPr id="42" name="Frame 02"/>
          <p:cNvSpPr/>
          <p:nvPr/>
        </p:nvSpPr>
        <p:spPr>
          <a:xfrm>
            <a:off x="2231559" y="3155922"/>
            <a:ext cx="808249" cy="340980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43" name="Box 33"/>
          <p:cNvSpPr/>
          <p:nvPr/>
        </p:nvSpPr>
        <p:spPr>
          <a:xfrm>
            <a:off x="2256817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AddItem</a:t>
            </a:r>
          </a:p>
        </p:txBody>
      </p:sp>
      <p:sp>
        <p:nvSpPr>
          <p:cNvPr id="44" name="Box 34"/>
          <p:cNvSpPr/>
          <p:nvPr/>
        </p:nvSpPr>
        <p:spPr>
          <a:xfrm>
            <a:off x="2256817" y="329484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description: 'john'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price: 20.4</a:t>
            </a:r>
          </a:p>
        </p:txBody>
      </p:sp>
      <p:sp>
        <p:nvSpPr>
          <p:cNvPr id="45" name="Frame 03"/>
          <p:cNvSpPr/>
          <p:nvPr/>
        </p:nvSpPr>
        <p:spPr>
          <a:xfrm>
            <a:off x="3178726" y="3698965"/>
            <a:ext cx="808249" cy="340980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46" name="Box 36"/>
          <p:cNvSpPr/>
          <p:nvPr/>
        </p:nvSpPr>
        <p:spPr>
          <a:xfrm>
            <a:off x="3203984" y="373685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ItemAdded</a:t>
            </a:r>
          </a:p>
        </p:txBody>
      </p:sp>
      <p:sp>
        <p:nvSpPr>
          <p:cNvPr id="47" name="Box 37"/>
          <p:cNvSpPr/>
          <p:nvPr/>
        </p:nvSpPr>
        <p:spPr>
          <a:xfrm>
            <a:off x="3203984" y="3837882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{"itemId": "42",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"qty": 1}</a:t>
            </a:r>
          </a:p>
        </p:txBody>
      </p:sp>
      <p:sp>
        <p:nvSpPr>
          <p:cNvPr id="48" name="Note"/>
          <p:cNvSpPr/>
          <p:nvPr/>
        </p:nvSpPr>
        <p:spPr>
          <a:xfrm>
            <a:off x="3178726" y="4077831"/>
            <a:ext cx="808249" cy="176804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49" name="Box 39"/>
          <p:cNvSpPr/>
          <p:nvPr/>
        </p:nvSpPr>
        <p:spPr>
          <a:xfrm>
            <a:off x="3203984" y="409046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stock reserved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elsewhere</a:t>
            </a:r>
          </a:p>
        </p:txBody>
      </p:sp>
      <p:sp>
        <p:nvSpPr>
          <p:cNvPr id="50" name="Frame 04"/>
          <p:cNvSpPr/>
          <p:nvPr/>
        </p:nvSpPr>
        <p:spPr>
          <a:xfrm>
            <a:off x="4125893" y="3155922"/>
            <a:ext cx="808249" cy="164176"/>
          </a:xfrm>
          <a:prstGeom prst="roundRect">
            <a:avLst/>
          </a:prstGeom>
          <a:solidFill>
            <a:srgbClr val="B5E0A0"/>
          </a:solidFill>
          <a:ln w="9525">
            <a:solidFill>
              <a:srgbClr val="333333"/>
            </a:solidFill>
          </a:ln>
        </p:spPr>
      </p:sp>
      <p:sp>
        <p:nvSpPr>
          <p:cNvPr id="51" name="Box 41"/>
          <p:cNvSpPr/>
          <p:nvPr/>
        </p:nvSpPr>
        <p:spPr>
          <a:xfrm>
            <a:off x="41511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CartItems</a:t>
            </a:r>
          </a:p>
        </p:txBody>
      </p:sp>
      <p:sp>
        <p:nvSpPr>
          <p:cNvPr id="52" name="Frame 05"/>
          <p:cNvSpPr/>
          <p:nvPr/>
        </p:nvSpPr>
        <p:spPr>
          <a:xfrm>
            <a:off x="5073060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53" name="Box 43"/>
          <p:cNvSpPr/>
          <p:nvPr/>
        </p:nvSpPr>
        <p:spPr>
          <a:xfrm>
            <a:off x="5098318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333333"/>
                </a:solidFill>
              </a:rPr>
              <a:t>CartScreenUpdated</a:t>
            </a:r>
          </a:p>
        </p:txBody>
      </p:sp>
      <p:sp>
        <p:nvSpPr>
          <p:cNvPr id="54" name="Frame 06"/>
          <p:cNvSpPr/>
          <p:nvPr/>
        </p:nvSpPr>
        <p:spPr>
          <a:xfrm>
            <a:off x="6020227" y="2789684"/>
            <a:ext cx="808249" cy="164176"/>
          </a:xfrm>
          <a:prstGeom prst="roundRect">
            <a:avLst/>
          </a:prstGeom>
          <a:solidFill>
            <a:srgbClr val="D9D9D9"/>
          </a:solidFill>
          <a:ln w="9525">
            <a:solidFill>
              <a:srgbClr val="333333"/>
            </a:solidFill>
          </a:ln>
        </p:spPr>
      </p:sp>
      <p:sp>
        <p:nvSpPr>
          <p:cNvPr id="55" name="Box 45"/>
          <p:cNvSpPr/>
          <p:nvPr/>
        </p:nvSpPr>
        <p:spPr>
          <a:xfrm>
            <a:off x="6045484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PriceCalculator</a:t>
            </a:r>
          </a:p>
        </p:txBody>
      </p:sp>
      <p:sp>
        <p:nvSpPr>
          <p:cNvPr id="56" name="Frame 07"/>
          <p:cNvSpPr/>
          <p:nvPr/>
        </p:nvSpPr>
        <p:spPr>
          <a:xfrm>
            <a:off x="69673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57" name="Box 47"/>
          <p:cNvSpPr/>
          <p:nvPr/>
        </p:nvSpPr>
        <p:spPr>
          <a:xfrm>
            <a:off x="69926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ApplyDiscount</a:t>
            </a:r>
          </a:p>
        </p:txBody>
      </p:sp>
      <p:sp>
        <p:nvSpPr>
          <p:cNvPr id="58" name="Frame 08"/>
          <p:cNvSpPr/>
          <p:nvPr/>
        </p:nvSpPr>
        <p:spPr>
          <a:xfrm>
            <a:off x="7914560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59" name="Box 49"/>
          <p:cNvSpPr/>
          <p:nvPr/>
        </p:nvSpPr>
        <p:spPr>
          <a:xfrm>
            <a:off x="7939818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DiscountApplied</a:t>
            </a:r>
          </a:p>
        </p:txBody>
      </p:sp>
      <p:sp>
        <p:nvSpPr>
          <p:cNvPr id="60" name="Frame 09"/>
          <p:cNvSpPr/>
          <p:nvPr/>
        </p:nvSpPr>
        <p:spPr>
          <a:xfrm>
            <a:off x="8861727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</p:sp>
      <p:sp>
        <p:nvSpPr>
          <p:cNvPr id="61" name="Box 51"/>
          <p:cNvSpPr/>
          <p:nvPr/>
        </p:nvSpPr>
        <p:spPr>
          <a:xfrm>
            <a:off x="8886985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Checkout</a:t>
            </a:r>
          </a:p>
        </p:txBody>
      </p:sp>
      <p:sp>
        <p:nvSpPr>
          <p:cNvPr id="62" name="Frame 10"/>
          <p:cNvSpPr/>
          <p:nvPr/>
        </p:nvSpPr>
        <p:spPr>
          <a:xfrm>
            <a:off x="98088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63" name="Box 53"/>
          <p:cNvSpPr/>
          <p:nvPr/>
        </p:nvSpPr>
        <p:spPr>
          <a:xfrm>
            <a:off x="9834152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Pay</a:t>
            </a:r>
          </a:p>
        </p:txBody>
      </p:sp>
      <p:sp>
        <p:nvSpPr>
          <p:cNvPr id="64" name="Frame 11"/>
          <p:cNvSpPr/>
          <p:nvPr/>
        </p:nvSpPr>
        <p:spPr>
          <a:xfrm>
            <a:off x="10756061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65" name="Box 55"/>
          <p:cNvSpPr/>
          <p:nvPr/>
        </p:nvSpPr>
        <p:spPr>
          <a:xfrm>
            <a:off x="10781319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Paid</a:t>
            </a:r>
          </a:p>
        </p:txBody>
      </p:sp>
      <p:sp>
        <p:nvSpPr>
          <p:cNvPr id="66" name="Box 56"/>
          <p:cNvSpPr/>
          <p:nvPr/>
        </p:nvSpPr>
        <p:spPr>
          <a:xfrm>
            <a:off x="558231" y="4734534"/>
            <a:ext cx="11075538" cy="82088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550" dirty="0">
                <a:solidFill>
                  <a:srgbClr val="404040"/>
                </a:solidFill>
              </a:rPr>
              <a:t>Scenario @03: Given Event ItemAdded; When Command AddItem; Then Event ItemAdded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fan-out</a:t>
            </a:r>
          </a:p>
        </p:txBody>
      </p:sp>
      <p:sp>
        <p:nvSpPr>
          <p:cNvPr id="12" name="Repartiteur" descr="A"/>
          <p:cNvSpPr/>
          <p:nvPr/>
        </p:nvSpPr>
        <p:spPr>
          <a:xfrm>
            <a:off x="4750882" y="1028700"/>
            <a:ext cx="2690236" cy="1046513"/>
          </a:xfrm>
          <a:prstGeom prst="rect">
            <a:avLst/>
          </a:prstGeom>
          <a:solidFill>
            <a:srgbClr val="BBDEFB"/>
          </a:solidFill>
          <a:ln w="186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Repartiteur</a:t>
            </a:r>
          </a:p>
        </p:txBody>
      </p:sp>
      <p:sp>
        <p:nvSpPr>
          <p:cNvPr id="13" name="Branche 1" descr="B"/>
          <p:cNvSpPr/>
          <p:nvPr/>
        </p:nvSpPr>
        <p:spPr>
          <a:xfrm>
            <a:off x="1986971" y="3191494"/>
            <a:ext cx="2181212" cy="1046513"/>
          </a:xfrm>
          <a:prstGeom prst="rect">
            <a:avLst/>
          </a:prstGeom>
          <a:solidFill>
            <a:srgbClr val="C8E6C9"/>
          </a:solidFill>
          <a:ln w="186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1</a:t>
            </a:r>
          </a:p>
        </p:txBody>
      </p:sp>
      <p:sp>
        <p:nvSpPr>
          <p:cNvPr id="14" name="Branche 2" descr="C"/>
          <p:cNvSpPr/>
          <p:nvPr/>
        </p:nvSpPr>
        <p:spPr>
          <a:xfrm>
            <a:off x="5005394" y="3191494"/>
            <a:ext cx="2181212" cy="1046513"/>
          </a:xfrm>
          <a:prstGeom prst="rect">
            <a:avLst/>
          </a:prstGeom>
          <a:solidFill>
            <a:srgbClr val="FFE0B2"/>
          </a:solidFill>
          <a:ln w="1860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2</a:t>
            </a:r>
          </a:p>
        </p:txBody>
      </p:sp>
      <p:sp>
        <p:nvSpPr>
          <p:cNvPr id="15" name="Branche 3" descr="D"/>
          <p:cNvSpPr/>
          <p:nvPr/>
        </p:nvSpPr>
        <p:spPr>
          <a:xfrm>
            <a:off x="8023816" y="3191494"/>
            <a:ext cx="2181212" cy="1046513"/>
          </a:xfrm>
          <a:prstGeom prst="rect">
            <a:avLst/>
          </a:prstGeom>
          <a:solidFill>
            <a:srgbClr val="E1BEE7"/>
          </a:solidFill>
          <a:ln w="1860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3</a:t>
            </a:r>
          </a:p>
        </p:txBody>
      </p:sp>
      <p:sp>
        <p:nvSpPr>
          <p:cNvPr id="16" name="Fin" descr="E"/>
          <p:cNvSpPr/>
          <p:nvPr/>
        </p:nvSpPr>
        <p:spPr>
          <a:xfrm>
            <a:off x="5554604" y="5354287"/>
            <a:ext cx="1082792" cy="1046513"/>
          </a:xfrm>
          <a:prstGeom prst="rect">
            <a:avLst/>
          </a:prstGeom>
          <a:solidFill>
            <a:srgbClr val="FFCDD2"/>
          </a:solidFill>
          <a:ln w="1860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7" name="A--B"/>
          <p:cNvCxnSpPr>
            <a:stCxn id="12" idx="1"/>
            <a:endCxn id="13" idx="3"/>
          </p:cNvCxnSpPr>
          <p:nvPr/>
        </p:nvCxnSpPr>
        <p:spPr>
          <a:xfrm flipH="1">
            <a:off x="4168184" y="1551957"/>
            <a:ext cx="582698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--C"/>
          <p:cNvCxnSpPr>
            <a:stCxn id="12" idx="2"/>
            <a:endCxn id="14" idx="0"/>
          </p:cNvCxnSpPr>
          <p:nvPr/>
        </p:nvCxnSpPr>
        <p:spPr>
          <a:xfrm>
            <a:off x="6096000" y="2075213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--D"/>
          <p:cNvCxnSpPr>
            <a:stCxn id="12" idx="3"/>
            <a:endCxn id="15" idx="1"/>
          </p:cNvCxnSpPr>
          <p:nvPr/>
        </p:nvCxnSpPr>
        <p:spPr>
          <a:xfrm>
            <a:off x="7441118" y="1551957"/>
            <a:ext cx="582698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E"/>
          <p:cNvCxnSpPr>
            <a:stCxn id="13" idx="3"/>
            <a:endCxn id="16" idx="1"/>
          </p:cNvCxnSpPr>
          <p:nvPr/>
        </p:nvCxnSpPr>
        <p:spPr>
          <a:xfrm>
            <a:off x="4168184" y="3714751"/>
            <a:ext cx="1386420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E"/>
          <p:cNvCxnSpPr>
            <a:stCxn id="14" idx="2"/>
            <a:endCxn id="16" idx="0"/>
          </p:cNvCxnSpPr>
          <p:nvPr/>
        </p:nvCxnSpPr>
        <p:spPr>
          <a:xfrm>
            <a:off x="6096000" y="4238006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E"/>
          <p:cNvCxnSpPr>
            <a:stCxn id="15" idx="1"/>
            <a:endCxn id="16" idx="3"/>
          </p:cNvCxnSpPr>
          <p:nvPr/>
        </p:nvCxnSpPr>
        <p:spPr>
          <a:xfrm flipH="1">
            <a:off x="6637396" y="3714751"/>
            <a:ext cx="1386420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gantt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457200" y="2180665"/>
            <a:ext cx="11277600" cy="4422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2031" dirty="0">
                <a:solidFill>
                  <a:srgbClr val="000000"/>
                </a:solidFill>
              </a:rPr>
              <a:t>Adoption d'un logiciel</a:t>
            </a:r>
          </a:p>
        </p:txBody>
      </p:sp>
      <p:sp>
        <p:nvSpPr>
          <p:cNvPr id="12" name="Shape 2"/>
          <p:cNvSpPr/>
          <p:nvPr/>
        </p:nvSpPr>
        <p:spPr>
          <a:xfrm>
            <a:off x="3912347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" name="Shape 3"/>
          <p:cNvSpPr/>
          <p:nvPr/>
        </p:nvSpPr>
        <p:spPr>
          <a:xfrm>
            <a:off x="4216400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" name="Shape 4"/>
          <p:cNvSpPr/>
          <p:nvPr/>
        </p:nvSpPr>
        <p:spPr>
          <a:xfrm>
            <a:off x="604071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" name="Shape 5"/>
          <p:cNvSpPr/>
          <p:nvPr/>
        </p:nvSpPr>
        <p:spPr>
          <a:xfrm>
            <a:off x="634477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" name="Shape 6"/>
          <p:cNvSpPr/>
          <p:nvPr/>
        </p:nvSpPr>
        <p:spPr>
          <a:xfrm>
            <a:off x="816908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" name="Shape 7"/>
          <p:cNvSpPr/>
          <p:nvPr/>
        </p:nvSpPr>
        <p:spPr>
          <a:xfrm>
            <a:off x="847314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" name="Shape 8"/>
          <p:cNvSpPr/>
          <p:nvPr/>
        </p:nvSpPr>
        <p:spPr>
          <a:xfrm>
            <a:off x="10297459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9" name="Shape 9"/>
          <p:cNvSpPr/>
          <p:nvPr/>
        </p:nvSpPr>
        <p:spPr>
          <a:xfrm>
            <a:off x="10601512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Shape 10"/>
          <p:cNvSpPr/>
          <p:nvPr/>
        </p:nvSpPr>
        <p:spPr>
          <a:xfrm>
            <a:off x="2392082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2392082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01-05</a:t>
            </a:r>
          </a:p>
        </p:txBody>
      </p:sp>
      <p:sp>
        <p:nvSpPr>
          <p:cNvPr id="22" name="Shape 12"/>
          <p:cNvSpPr/>
          <p:nvPr/>
        </p:nvSpPr>
        <p:spPr>
          <a:xfrm>
            <a:off x="4520453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4520453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01-12</a:t>
            </a:r>
          </a:p>
        </p:txBody>
      </p:sp>
      <p:sp>
        <p:nvSpPr>
          <p:cNvPr id="24" name="Shape 14"/>
          <p:cNvSpPr/>
          <p:nvPr/>
        </p:nvSpPr>
        <p:spPr>
          <a:xfrm>
            <a:off x="664882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664882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01-19</a:t>
            </a:r>
          </a:p>
        </p:txBody>
      </p:sp>
      <p:sp>
        <p:nvSpPr>
          <p:cNvPr id="26" name="Shape 16"/>
          <p:cNvSpPr/>
          <p:nvPr/>
        </p:nvSpPr>
        <p:spPr>
          <a:xfrm>
            <a:off x="877719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877719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01-26</a:t>
            </a:r>
          </a:p>
        </p:txBody>
      </p:sp>
      <p:sp>
        <p:nvSpPr>
          <p:cNvPr id="28" name="Shape 18"/>
          <p:cNvSpPr/>
          <p:nvPr/>
        </p:nvSpPr>
        <p:spPr>
          <a:xfrm>
            <a:off x="10905565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9" name="Text 19"/>
          <p:cNvSpPr txBox="1"/>
          <p:nvPr/>
        </p:nvSpPr>
        <p:spPr>
          <a:xfrm>
            <a:off x="10905565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02-02</a:t>
            </a:r>
          </a:p>
        </p:txBody>
      </p:sp>
      <p:sp>
        <p:nvSpPr>
          <p:cNvPr id="30" name="Shape 20"/>
          <p:cNvSpPr/>
          <p:nvPr/>
        </p:nvSpPr>
        <p:spPr>
          <a:xfrm>
            <a:off x="2392082" y="2982259"/>
            <a:ext cx="9121588" cy="2266576"/>
          </a:xfrm>
          <a:prstGeom prst="rect">
            <a:avLst/>
          </a:prstGeom>
          <a:noFill/>
          <a:ln w="9214">
            <a:solidFill>
              <a:srgbClr val="BFBFBF"/>
            </a:solidFill>
          </a:ln>
        </p:spPr>
      </p:sp>
      <p:sp>
        <p:nvSpPr>
          <p:cNvPr id="31" name="Shape 21"/>
          <p:cNvSpPr/>
          <p:nvPr/>
        </p:nvSpPr>
        <p:spPr>
          <a:xfrm>
            <a:off x="457200" y="2982259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2" name="Text 22"/>
          <p:cNvSpPr txBox="1"/>
          <p:nvPr/>
        </p:nvSpPr>
        <p:spPr>
          <a:xfrm>
            <a:off x="540124" y="3009900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Cadrage</a:t>
            </a:r>
          </a:p>
        </p:txBody>
      </p:sp>
      <p:sp>
        <p:nvSpPr>
          <p:cNvPr id="33" name="Text 23"/>
          <p:cNvSpPr txBox="1"/>
          <p:nvPr/>
        </p:nvSpPr>
        <p:spPr>
          <a:xfrm>
            <a:off x="540124" y="3313953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Recueil besoins</a:t>
            </a:r>
          </a:p>
        </p:txBody>
      </p:sp>
      <p:sp>
        <p:nvSpPr>
          <p:cNvPr id="34" name="Task 24"/>
          <p:cNvSpPr/>
          <p:nvPr/>
        </p:nvSpPr>
        <p:spPr>
          <a:xfrm>
            <a:off x="2392082" y="3341594"/>
            <a:ext cx="2128371" cy="221129"/>
          </a:xfrm>
          <a:prstGeom prst="roundRect">
            <a:avLst/>
          </a:prstGeom>
          <a:solidFill>
            <a:srgbClr val="A6A6A6"/>
          </a:solidFill>
          <a:ln w="9214">
            <a:solidFill>
              <a:srgbClr val="595959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540124" y="3645647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Choix outil</a:t>
            </a:r>
          </a:p>
        </p:txBody>
      </p:sp>
      <p:sp>
        <p:nvSpPr>
          <p:cNvPr id="36" name="Task 26"/>
          <p:cNvSpPr/>
          <p:nvPr/>
        </p:nvSpPr>
        <p:spPr>
          <a:xfrm>
            <a:off x="4520453" y="3673288"/>
            <a:ext cx="912159" cy="221129"/>
          </a:xfrm>
          <a:prstGeom prst="roundRect">
            <a:avLst/>
          </a:prstGeom>
          <a:solidFill>
            <a:srgbClr val="FFC000"/>
          </a:solidFill>
          <a:ln w="9214">
            <a:solidFill>
              <a:srgbClr val="595959"/>
            </a:solidFill>
          </a:ln>
        </p:spPr>
      </p:sp>
      <p:sp>
        <p:nvSpPr>
          <p:cNvPr id="37" name="Shape 27"/>
          <p:cNvSpPr/>
          <p:nvPr/>
        </p:nvSpPr>
        <p:spPr>
          <a:xfrm>
            <a:off x="457200" y="3949700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8" name="Text 28"/>
          <p:cNvSpPr txBox="1"/>
          <p:nvPr/>
        </p:nvSpPr>
        <p:spPr>
          <a:xfrm>
            <a:off x="540124" y="3977341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Deploiement</a:t>
            </a:r>
          </a:p>
        </p:txBody>
      </p:sp>
      <p:sp>
        <p:nvSpPr>
          <p:cNvPr id="39" name="Text 29"/>
          <p:cNvSpPr txBox="1"/>
          <p:nvPr/>
        </p:nvSpPr>
        <p:spPr>
          <a:xfrm>
            <a:off x="540124" y="4281394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Formation</a:t>
            </a:r>
          </a:p>
        </p:txBody>
      </p:sp>
      <p:sp>
        <p:nvSpPr>
          <p:cNvPr id="40" name="Task 30"/>
          <p:cNvSpPr/>
          <p:nvPr/>
        </p:nvSpPr>
        <p:spPr>
          <a:xfrm>
            <a:off x="5432612" y="4309035"/>
            <a:ext cx="1824318" cy="221129"/>
          </a:xfrm>
          <a:prstGeom prst="roundRect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0124" y="4613088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Go-live</a:t>
            </a:r>
          </a:p>
        </p:txBody>
      </p:sp>
      <p:sp>
        <p:nvSpPr>
          <p:cNvPr id="42" name="Milestone 32"/>
          <p:cNvSpPr/>
          <p:nvPr/>
        </p:nvSpPr>
        <p:spPr>
          <a:xfrm>
            <a:off x="7146365" y="4640729"/>
            <a:ext cx="221129" cy="221129"/>
          </a:xfrm>
          <a:prstGeom prst="diamond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3" name="Text 33"/>
          <p:cNvSpPr txBox="1"/>
          <p:nvPr/>
        </p:nvSpPr>
        <p:spPr>
          <a:xfrm>
            <a:off x="540124" y="4944782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Suivi post go-live</a:t>
            </a:r>
          </a:p>
        </p:txBody>
      </p:sp>
      <p:sp>
        <p:nvSpPr>
          <p:cNvPr id="44" name="Task 34"/>
          <p:cNvSpPr/>
          <p:nvPr/>
        </p:nvSpPr>
        <p:spPr>
          <a:xfrm>
            <a:off x="7256929" y="4972424"/>
            <a:ext cx="4256741" cy="221129"/>
          </a:xfrm>
          <a:prstGeom prst="roundRect">
            <a:avLst/>
          </a:prstGeom>
          <a:solidFill>
            <a:srgbClr val="4472C4"/>
          </a:solidFill>
          <a:ln w="9214">
            <a:solidFill>
              <a:srgbClr val="595959"/>
            </a:solidFill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git-graph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1248709" y="3188175"/>
            <a:ext cx="1077176" cy="1053150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2" name="Connector 2"/>
          <p:cNvCxnSpPr/>
          <p:nvPr/>
        </p:nvCxnSpPr>
        <p:spPr>
          <a:xfrm>
            <a:off x="1248709" y="3188175"/>
            <a:ext cx="2154351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1248709" y="3188175"/>
            <a:ext cx="3231527" cy="526575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3403060" y="3188175"/>
            <a:ext cx="2154352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5" name="Connector 5"/>
          <p:cNvCxnSpPr/>
          <p:nvPr/>
        </p:nvCxnSpPr>
        <p:spPr>
          <a:xfrm flipV="1">
            <a:off x="4480236" y="3188175"/>
            <a:ext cx="1077176" cy="526575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cxnSp>
        <p:nvCxnSpPr>
          <p:cNvPr id="16" name="Connector 6"/>
          <p:cNvCxnSpPr/>
          <p:nvPr/>
        </p:nvCxnSpPr>
        <p:spPr>
          <a:xfrm>
            <a:off x="5557412" y="3188175"/>
            <a:ext cx="1077176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7" name="Connector 7"/>
          <p:cNvCxnSpPr/>
          <p:nvPr/>
        </p:nvCxnSpPr>
        <p:spPr>
          <a:xfrm>
            <a:off x="2325885" y="4241325"/>
            <a:ext cx="5385879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5557412" y="3188175"/>
            <a:ext cx="2154352" cy="1053150"/>
          </a:xfrm>
          <a:prstGeom prst="line">
            <a:avLst/>
          </a:prstGeom>
          <a:ln w="8228">
            <a:solidFill>
              <a:srgbClr val="808080"/>
            </a:solidFill>
            <a:prstDash val="dash"/>
          </a:ln>
        </p:spPr>
      </p:cxnSp>
      <p:cxnSp>
        <p:nvCxnSpPr>
          <p:cNvPr id="19" name="Connector 9"/>
          <p:cNvCxnSpPr/>
          <p:nvPr/>
        </p:nvCxnSpPr>
        <p:spPr>
          <a:xfrm>
            <a:off x="7711764" y="4241325"/>
            <a:ext cx="1077176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20" name="Connector 10"/>
          <p:cNvCxnSpPr/>
          <p:nvPr/>
        </p:nvCxnSpPr>
        <p:spPr>
          <a:xfrm>
            <a:off x="4480236" y="3714750"/>
            <a:ext cx="5385879" cy="1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sp>
        <p:nvSpPr>
          <p:cNvPr id="21" name="Shape 11"/>
          <p:cNvSpPr/>
          <p:nvPr/>
        </p:nvSpPr>
        <p:spPr>
          <a:xfrm>
            <a:off x="1182887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2" name="Text 12"/>
          <p:cNvSpPr txBox="1"/>
          <p:nvPr/>
        </p:nvSpPr>
        <p:spPr>
          <a:xfrm>
            <a:off x="1112128" y="3303363"/>
            <a:ext cx="273161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ZERO</a:t>
            </a:r>
          </a:p>
        </p:txBody>
      </p:sp>
      <p:sp>
        <p:nvSpPr>
          <p:cNvPr id="23" name="Shape 13"/>
          <p:cNvSpPr/>
          <p:nvPr/>
        </p:nvSpPr>
        <p:spPr>
          <a:xfrm>
            <a:off x="2260063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2267056" y="4356514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A</a:t>
            </a:r>
          </a:p>
        </p:txBody>
      </p:sp>
      <p:sp>
        <p:nvSpPr>
          <p:cNvPr id="25" name="Shape 15"/>
          <p:cNvSpPr/>
          <p:nvPr/>
        </p:nvSpPr>
        <p:spPr>
          <a:xfrm>
            <a:off x="3337238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3292397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ONE</a:t>
            </a:r>
          </a:p>
        </p:txBody>
      </p:sp>
      <p:sp>
        <p:nvSpPr>
          <p:cNvPr id="27" name="Shape 17"/>
          <p:cNvSpPr/>
          <p:nvPr/>
        </p:nvSpPr>
        <p:spPr>
          <a:xfrm>
            <a:off x="4414414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21408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B</a:t>
            </a:r>
          </a:p>
        </p:txBody>
      </p:sp>
      <p:sp>
        <p:nvSpPr>
          <p:cNvPr id="29" name="Shape 19"/>
          <p:cNvSpPr/>
          <p:nvPr/>
        </p:nvSpPr>
        <p:spPr>
          <a:xfrm>
            <a:off x="5491590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0" name="Shape 20"/>
          <p:cNvSpPr/>
          <p:nvPr/>
        </p:nvSpPr>
        <p:spPr>
          <a:xfrm>
            <a:off x="5524501" y="3155264"/>
            <a:ext cx="65822" cy="6582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472C4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394914" y="3303363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</a:t>
            </a:r>
          </a:p>
        </p:txBody>
      </p:sp>
      <p:sp>
        <p:nvSpPr>
          <p:cNvPr id="32" name="Shape 22"/>
          <p:cNvSpPr/>
          <p:nvPr/>
        </p:nvSpPr>
        <p:spPr>
          <a:xfrm>
            <a:off x="6568766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523925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TWO</a:t>
            </a:r>
          </a:p>
        </p:txBody>
      </p:sp>
      <p:sp>
        <p:nvSpPr>
          <p:cNvPr id="34" name="Shape 24"/>
          <p:cNvSpPr/>
          <p:nvPr/>
        </p:nvSpPr>
        <p:spPr>
          <a:xfrm>
            <a:off x="7645942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6742865" y="4356514"/>
            <a:ext cx="1937798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MERGE-cherry-pick-1 (cherry-pick of MERGE)</a:t>
            </a:r>
          </a:p>
        </p:txBody>
      </p:sp>
      <p:sp>
        <p:nvSpPr>
          <p:cNvPr id="36" name="Shape 26"/>
          <p:cNvSpPr/>
          <p:nvPr/>
        </p:nvSpPr>
        <p:spPr>
          <a:xfrm>
            <a:off x="8723118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7" name="Text 27"/>
          <p:cNvSpPr txBox="1"/>
          <p:nvPr/>
        </p:nvSpPr>
        <p:spPr>
          <a:xfrm>
            <a:off x="8626442" y="4356514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THREE</a:t>
            </a:r>
          </a:p>
        </p:txBody>
      </p:sp>
      <p:sp>
        <p:nvSpPr>
          <p:cNvPr id="38" name="Shape 28"/>
          <p:cNvSpPr/>
          <p:nvPr/>
        </p:nvSpPr>
        <p:spPr>
          <a:xfrm>
            <a:off x="9800293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9807287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C</a:t>
            </a:r>
          </a:p>
        </p:txBody>
      </p:sp>
      <p:sp>
        <p:nvSpPr>
          <p:cNvPr id="40" name="Text 30"/>
          <p:cNvSpPr txBox="1"/>
          <p:nvPr/>
        </p:nvSpPr>
        <p:spPr>
          <a:xfrm>
            <a:off x="10801774" y="3122353"/>
            <a:ext cx="28303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4472C4"/>
                </a:solidFill>
              </a:rPr>
              <a:t>main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10720320" y="3648928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ED7D31"/>
                </a:solidFill>
              </a:rPr>
              <a:t>develop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720320" y="4175504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70AD47"/>
                </a:solidFill>
              </a:rPr>
              <a:t>release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ishikawa</a:t>
            </a:r>
          </a:p>
        </p:txBody>
      </p:sp>
      <p:sp>
        <p:nvSpPr>
          <p:cNvPr id="11" name="Shape 1"/>
          <p:cNvSpPr/>
          <p:nvPr/>
        </p:nvSpPr>
        <p:spPr>
          <a:xfrm>
            <a:off x="768844" y="4428933"/>
            <a:ext cx="8940273" cy="1"/>
          </a:xfrm>
          <a:custGeom>
            <a:avLst/>
            <a:gdLst/>
            <a:ahLst/>
            <a:cxnLst/>
            <a:rect l="0" t="0" r="0" b="0"/>
            <a:pathLst>
              <a:path w="6557962" h="1" fill="none">
                <a:moveTo>
                  <a:pt x="0" y="0"/>
                </a:moveTo>
                <a:lnTo>
                  <a:pt x="6557962" y="0"/>
                </a:lnTo>
              </a:path>
            </a:pathLst>
          </a:custGeom>
          <a:noFill/>
          <a:ln w="51941">
            <a:solidFill>
              <a:srgbClr val="404040"/>
            </a:solidFill>
          </a:ln>
        </p:spPr>
      </p:sp>
      <p:sp>
        <p:nvSpPr>
          <p:cNvPr id="12" name="Box 2"/>
          <p:cNvSpPr/>
          <p:nvPr/>
        </p:nvSpPr>
        <p:spPr>
          <a:xfrm>
            <a:off x="9709117" y="4065349"/>
            <a:ext cx="1714039" cy="72716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36" dirty="0">
                <a:solidFill>
                  <a:srgbClr val="FFFFFF"/>
                </a:solidFill>
              </a:rPr>
              <a:t>Blurry Photo</a:t>
            </a:r>
          </a:p>
        </p:txBody>
      </p:sp>
      <p:sp>
        <p:nvSpPr>
          <p:cNvPr id="13" name="Shape 3"/>
          <p:cNvSpPr/>
          <p:nvPr/>
        </p:nvSpPr>
        <p:spPr>
          <a:xfrm>
            <a:off x="4063175" y="2143547"/>
            <a:ext cx="936230" cy="2285386"/>
          </a:xfrm>
          <a:custGeom>
            <a:avLst/>
            <a:gdLst/>
            <a:ahLst/>
            <a:cxnLst/>
            <a:rect l="0" t="0" r="0" b="0"/>
            <a:pathLst>
              <a:path w="686753" h="1676400" fill="none">
                <a:moveTo>
                  <a:pt x="0" y="0"/>
                </a:moveTo>
                <a:lnTo>
                  <a:pt x="686753" y="1676400"/>
                </a:lnTo>
              </a:path>
            </a:pathLst>
          </a:custGeom>
          <a:noFill/>
          <a:ln w="30299">
            <a:solidFill>
              <a:srgbClr val="4472C4"/>
            </a:solidFill>
          </a:ln>
        </p:spPr>
      </p:sp>
      <p:sp>
        <p:nvSpPr>
          <p:cNvPr id="14" name="Box 4"/>
          <p:cNvSpPr/>
          <p:nvPr/>
        </p:nvSpPr>
        <p:spPr>
          <a:xfrm>
            <a:off x="3543769" y="1753993"/>
            <a:ext cx="1038812" cy="38955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5" name="Box 5"/>
          <p:cNvSpPr/>
          <p:nvPr/>
        </p:nvSpPr>
        <p:spPr>
          <a:xfrm>
            <a:off x="2693324" y="2143547"/>
            <a:ext cx="132448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Out of focus</a:t>
            </a:r>
          </a:p>
        </p:txBody>
      </p:sp>
      <p:sp>
        <p:nvSpPr>
          <p:cNvPr id="16" name="Shape 6"/>
          <p:cNvSpPr/>
          <p:nvPr/>
        </p:nvSpPr>
        <p:spPr>
          <a:xfrm>
            <a:off x="4017809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7" name="Box 7"/>
          <p:cNvSpPr/>
          <p:nvPr/>
        </p:nvSpPr>
        <p:spPr>
          <a:xfrm>
            <a:off x="1849452" y="2429220"/>
            <a:ext cx="2285386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Shutter speed too slow</a:t>
            </a:r>
          </a:p>
        </p:txBody>
      </p:sp>
      <p:sp>
        <p:nvSpPr>
          <p:cNvPr id="18" name="Shape 8"/>
          <p:cNvSpPr/>
          <p:nvPr/>
        </p:nvSpPr>
        <p:spPr>
          <a:xfrm>
            <a:off x="4134838" y="257205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9" name="Box 9"/>
          <p:cNvSpPr/>
          <p:nvPr/>
        </p:nvSpPr>
        <p:spPr>
          <a:xfrm>
            <a:off x="1460060" y="2714894"/>
            <a:ext cx="2791807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Protective film not removed</a:t>
            </a:r>
          </a:p>
        </p:txBody>
      </p:sp>
      <p:sp>
        <p:nvSpPr>
          <p:cNvPr id="20" name="Shape 10"/>
          <p:cNvSpPr/>
          <p:nvPr/>
        </p:nvSpPr>
        <p:spPr>
          <a:xfrm>
            <a:off x="4251866" y="2857730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1" name="Box 11"/>
          <p:cNvSpPr/>
          <p:nvPr/>
        </p:nvSpPr>
        <p:spPr>
          <a:xfrm>
            <a:off x="1330370" y="3000567"/>
            <a:ext cx="303852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Beautification filter applied</a:t>
            </a:r>
          </a:p>
        </p:txBody>
      </p:sp>
      <p:sp>
        <p:nvSpPr>
          <p:cNvPr id="22" name="Shape 12"/>
          <p:cNvSpPr/>
          <p:nvPr/>
        </p:nvSpPr>
        <p:spPr>
          <a:xfrm>
            <a:off x="4368895" y="314340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3" name="Shape 13"/>
          <p:cNvSpPr/>
          <p:nvPr/>
        </p:nvSpPr>
        <p:spPr>
          <a:xfrm>
            <a:off x="4563104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ED7D31"/>
            </a:solidFill>
          </a:ln>
        </p:spPr>
      </p:sp>
      <p:sp>
        <p:nvSpPr>
          <p:cNvPr id="24" name="Box 14"/>
          <p:cNvSpPr/>
          <p:nvPr/>
        </p:nvSpPr>
        <p:spPr>
          <a:xfrm>
            <a:off x="4193026" y="5285953"/>
            <a:ext cx="740153" cy="3895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5" name="Box 15"/>
          <p:cNvSpPr/>
          <p:nvPr/>
        </p:nvSpPr>
        <p:spPr>
          <a:xfrm>
            <a:off x="3259395" y="5000280"/>
            <a:ext cx="12725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Shaky hands</a:t>
            </a:r>
          </a:p>
        </p:txBody>
      </p:sp>
      <p:sp>
        <p:nvSpPr>
          <p:cNvPr id="26" name="Shape 16"/>
          <p:cNvSpPr/>
          <p:nvPr/>
        </p:nvSpPr>
        <p:spPr>
          <a:xfrm>
            <a:off x="4531939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3AB79"/>
            </a:solidFill>
          </a:ln>
        </p:spPr>
      </p:sp>
      <p:sp>
        <p:nvSpPr>
          <p:cNvPr id="27" name="Shape 17"/>
          <p:cNvSpPr/>
          <p:nvPr/>
        </p:nvSpPr>
        <p:spPr>
          <a:xfrm>
            <a:off x="8045720" y="2143547"/>
            <a:ext cx="936228" cy="2285386"/>
          </a:xfrm>
          <a:custGeom>
            <a:avLst/>
            <a:gdLst/>
            <a:ahLst/>
            <a:cxnLst/>
            <a:rect l="0" t="0" r="0" b="0"/>
            <a:pathLst>
              <a:path w="686752" h="1676400" fill="none">
                <a:moveTo>
                  <a:pt x="0" y="0"/>
                </a:moveTo>
                <a:lnTo>
                  <a:pt x="686752" y="1676400"/>
                </a:lnTo>
              </a:path>
            </a:pathLst>
          </a:custGeom>
          <a:noFill/>
          <a:ln w="30299">
            <a:solidFill>
              <a:srgbClr val="70AD47"/>
            </a:solidFill>
          </a:ln>
        </p:spPr>
      </p:sp>
      <p:sp>
        <p:nvSpPr>
          <p:cNvPr id="28" name="Box 18"/>
          <p:cNvSpPr/>
          <p:nvPr/>
        </p:nvSpPr>
        <p:spPr>
          <a:xfrm>
            <a:off x="7422433" y="1753993"/>
            <a:ext cx="1246574" cy="38955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Equipment</a:t>
            </a:r>
          </a:p>
        </p:txBody>
      </p:sp>
      <p:sp>
        <p:nvSpPr>
          <p:cNvPr id="29" name="Box 19"/>
          <p:cNvSpPr/>
          <p:nvPr/>
        </p:nvSpPr>
        <p:spPr>
          <a:xfrm>
            <a:off x="7338111" y="2143547"/>
            <a:ext cx="66224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LENS</a:t>
            </a:r>
          </a:p>
        </p:txBody>
      </p:sp>
      <p:sp>
        <p:nvSpPr>
          <p:cNvPr id="30" name="Shape 20"/>
          <p:cNvSpPr/>
          <p:nvPr/>
        </p:nvSpPr>
        <p:spPr>
          <a:xfrm>
            <a:off x="8000353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1" name="Box 21"/>
          <p:cNvSpPr/>
          <p:nvPr/>
        </p:nvSpPr>
        <p:spPr>
          <a:xfrm>
            <a:off x="5961847" y="2429220"/>
            <a:ext cx="1973742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Inappropriate lens</a:t>
            </a:r>
          </a:p>
        </p:txBody>
      </p:sp>
      <p:sp>
        <p:nvSpPr>
          <p:cNvPr id="32" name="Shape 22"/>
          <p:cNvSpPr/>
          <p:nvPr/>
        </p:nvSpPr>
        <p:spPr>
          <a:xfrm>
            <a:off x="7935590" y="2572057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3" name="Box 23"/>
          <p:cNvSpPr/>
          <p:nvPr/>
        </p:nvSpPr>
        <p:spPr>
          <a:xfrm>
            <a:off x="6689178" y="2714894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lens</a:t>
            </a:r>
          </a:p>
        </p:txBody>
      </p:sp>
      <p:sp>
        <p:nvSpPr>
          <p:cNvPr id="34" name="Shape 24"/>
          <p:cNvSpPr/>
          <p:nvPr/>
        </p:nvSpPr>
        <p:spPr>
          <a:xfrm>
            <a:off x="8052618" y="285773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5" name="Box 25"/>
          <p:cNvSpPr/>
          <p:nvPr/>
        </p:nvSpPr>
        <p:spPr>
          <a:xfrm>
            <a:off x="7000984" y="3000567"/>
            <a:ext cx="116866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lens</a:t>
            </a:r>
          </a:p>
        </p:txBody>
      </p:sp>
      <p:sp>
        <p:nvSpPr>
          <p:cNvPr id="36" name="Shape 26"/>
          <p:cNvSpPr/>
          <p:nvPr/>
        </p:nvSpPr>
        <p:spPr>
          <a:xfrm>
            <a:off x="8169647" y="3143404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7" name="Box 27"/>
          <p:cNvSpPr/>
          <p:nvPr/>
        </p:nvSpPr>
        <p:spPr>
          <a:xfrm>
            <a:off x="7572492" y="3286240"/>
            <a:ext cx="89597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SENSOR</a:t>
            </a:r>
          </a:p>
        </p:txBody>
      </p:sp>
      <p:sp>
        <p:nvSpPr>
          <p:cNvPr id="38" name="Shape 28"/>
          <p:cNvSpPr/>
          <p:nvPr/>
        </p:nvSpPr>
        <p:spPr>
          <a:xfrm>
            <a:off x="8468468" y="342907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9" name="Box 29"/>
          <p:cNvSpPr/>
          <p:nvPr/>
        </p:nvSpPr>
        <p:spPr>
          <a:xfrm>
            <a:off x="6832501" y="3571913"/>
            <a:ext cx="157120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sensor</a:t>
            </a:r>
          </a:p>
        </p:txBody>
      </p:sp>
      <p:sp>
        <p:nvSpPr>
          <p:cNvPr id="40" name="Shape 30"/>
          <p:cNvSpPr/>
          <p:nvPr/>
        </p:nvSpPr>
        <p:spPr>
          <a:xfrm>
            <a:off x="8403704" y="371475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1" name="Box 31"/>
          <p:cNvSpPr/>
          <p:nvPr/>
        </p:nvSpPr>
        <p:spPr>
          <a:xfrm>
            <a:off x="7157292" y="3857587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sensor</a:t>
            </a:r>
          </a:p>
        </p:txBody>
      </p:sp>
      <p:sp>
        <p:nvSpPr>
          <p:cNvPr id="42" name="Shape 32"/>
          <p:cNvSpPr/>
          <p:nvPr/>
        </p:nvSpPr>
        <p:spPr>
          <a:xfrm>
            <a:off x="8520733" y="4000423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3" name="Shape 33"/>
          <p:cNvSpPr/>
          <p:nvPr/>
        </p:nvSpPr>
        <p:spPr>
          <a:xfrm>
            <a:off x="8545648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FFC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7818479" y="5285953"/>
            <a:ext cx="1454337" cy="3895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45" name="Box 35"/>
          <p:cNvSpPr/>
          <p:nvPr/>
        </p:nvSpPr>
        <p:spPr>
          <a:xfrm>
            <a:off x="5930439" y="5000280"/>
            <a:ext cx="25840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Subject moved too quickly</a:t>
            </a:r>
          </a:p>
        </p:txBody>
      </p:sp>
      <p:sp>
        <p:nvSpPr>
          <p:cNvPr id="46" name="Shape 36"/>
          <p:cNvSpPr/>
          <p:nvPr/>
        </p:nvSpPr>
        <p:spPr>
          <a:xfrm>
            <a:off x="8514483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  <p:sp>
        <p:nvSpPr>
          <p:cNvPr id="47" name="Box 37"/>
          <p:cNvSpPr/>
          <p:nvPr/>
        </p:nvSpPr>
        <p:spPr>
          <a:xfrm>
            <a:off x="7699016" y="4714606"/>
            <a:ext cx="960901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Too dark</a:t>
            </a:r>
          </a:p>
        </p:txBody>
      </p:sp>
      <p:sp>
        <p:nvSpPr>
          <p:cNvPr id="48" name="Shape 38"/>
          <p:cNvSpPr/>
          <p:nvPr/>
        </p:nvSpPr>
        <p:spPr>
          <a:xfrm>
            <a:off x="8659917" y="4857443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isolated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817708" y="1854987"/>
            <a:ext cx="1728149" cy="1072940"/>
          </a:xfrm>
          <a:prstGeom prst="rect">
            <a:avLst/>
          </a:prstGeom>
          <a:solidFill>
            <a:srgbClr val="C8E6C9"/>
          </a:solidFill>
          <a:ln w="1907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Noeud isole 2" descr="B"/>
          <p:cNvSpPr/>
          <p:nvPr/>
        </p:nvSpPr>
        <p:spPr>
          <a:xfrm>
            <a:off x="3404208" y="1854987"/>
            <a:ext cx="2957309" cy="1072940"/>
          </a:xfrm>
          <a:prstGeom prst="rect">
            <a:avLst/>
          </a:prstGeom>
          <a:solidFill>
            <a:srgbClr val="FFE0B2"/>
          </a:solidFill>
          <a:ln w="1907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Noeud isole 2</a:t>
            </a:r>
          </a:p>
        </p:txBody>
      </p:sp>
      <p:sp>
        <p:nvSpPr>
          <p:cNvPr id="14" name="C" descr="C"/>
          <p:cNvSpPr/>
          <p:nvPr/>
        </p:nvSpPr>
        <p:spPr>
          <a:xfrm>
            <a:off x="7219869" y="1854987"/>
            <a:ext cx="1001411" cy="1072940"/>
          </a:xfrm>
          <a:prstGeom prst="rect">
            <a:avLst/>
          </a:prstGeom>
          <a:solidFill>
            <a:srgbClr val="E1BEE7"/>
          </a:solidFill>
          <a:ln w="1907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D" descr="D"/>
          <p:cNvSpPr/>
          <p:nvPr/>
        </p:nvSpPr>
        <p:spPr>
          <a:xfrm>
            <a:off x="7219869" y="4286985"/>
            <a:ext cx="1001411" cy="1072940"/>
          </a:xfrm>
          <a:prstGeom prst="rect">
            <a:avLst/>
          </a:prstGeom>
          <a:solidFill>
            <a:srgbClr val="FFCDD2"/>
          </a:solidFill>
          <a:ln w="1907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D</a:t>
            </a:r>
          </a:p>
        </p:txBody>
      </p:sp>
      <p:sp>
        <p:nvSpPr>
          <p:cNvPr id="16" name="Rejoint le graphe" descr="E"/>
          <p:cNvSpPr/>
          <p:nvPr/>
        </p:nvSpPr>
        <p:spPr>
          <a:xfrm>
            <a:off x="457200" y="4072397"/>
            <a:ext cx="2449164" cy="1502116"/>
          </a:xfrm>
          <a:prstGeom prst="rect">
            <a:avLst/>
          </a:prstGeom>
          <a:solidFill>
            <a:srgbClr val="FFF9C4"/>
          </a:solidFill>
          <a:ln w="1907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Rejoint le graphe</a:t>
            </a:r>
          </a:p>
        </p:txBody>
      </p:sp>
      <p:sp>
        <p:nvSpPr>
          <p:cNvPr id="17" name="Noeud isole" descr="F"/>
          <p:cNvSpPr/>
          <p:nvPr/>
        </p:nvSpPr>
        <p:spPr>
          <a:xfrm>
            <a:off x="9079631" y="1854987"/>
            <a:ext cx="2655169" cy="1072940"/>
          </a:xfrm>
          <a:prstGeom prst="rect">
            <a:avLst/>
          </a:prstGeom>
          <a:solidFill>
            <a:srgbClr val="BBDEFB"/>
          </a:solidFill>
          <a:ln w="1907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Noeud isole</a:t>
            </a:r>
          </a:p>
        </p:txBody>
      </p:sp>
      <p:sp>
        <p:nvSpPr>
          <p:cNvPr id="18" name="Lien seul" descr="G"/>
          <p:cNvSpPr/>
          <p:nvPr/>
        </p:nvSpPr>
        <p:spPr>
          <a:xfrm>
            <a:off x="9285636" y="4286985"/>
            <a:ext cx="2243160" cy="1072940"/>
          </a:xfrm>
          <a:prstGeom prst="rect">
            <a:avLst/>
          </a:prstGeom>
          <a:solidFill>
            <a:srgbClr val="C8E6C9"/>
          </a:solidFill>
          <a:ln w="1907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Lien seul</a:t>
            </a:r>
          </a:p>
        </p:txBody>
      </p:sp>
      <p:cxnSp>
        <p:nvCxnSpPr>
          <p:cNvPr id="19" name="C--D"/>
          <p:cNvCxnSpPr>
            <a:stCxn id="14" idx="2"/>
            <a:endCxn id="15" idx="0"/>
          </p:cNvCxnSpPr>
          <p:nvPr/>
        </p:nvCxnSpPr>
        <p:spPr>
          <a:xfrm>
            <a:off x="7720574" y="2927927"/>
            <a:ext cx="0" cy="1359057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--E"/>
          <p:cNvCxnSpPr>
            <a:stCxn id="12" idx="2"/>
            <a:endCxn id="16" idx="0"/>
          </p:cNvCxnSpPr>
          <p:nvPr/>
        </p:nvCxnSpPr>
        <p:spPr>
          <a:xfrm>
            <a:off x="1681782" y="2927927"/>
            <a:ext cx="0" cy="1144469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F--G"/>
          <p:cNvCxnSpPr>
            <a:stCxn id="17" idx="2"/>
            <a:endCxn id="18" idx="0"/>
          </p:cNvCxnSpPr>
          <p:nvPr/>
        </p:nvCxnSpPr>
        <p:spPr>
          <a:xfrm>
            <a:off x="10407216" y="2927927"/>
            <a:ext cx="0" cy="1359057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journey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883880"/>
            <a:ext cx="11277600" cy="6126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My working day</a:t>
            </a:r>
          </a:p>
        </p:txBody>
      </p:sp>
      <p:sp>
        <p:nvSpPr>
          <p:cNvPr id="12" name="Box 2"/>
          <p:cNvSpPr/>
          <p:nvPr/>
        </p:nvSpPr>
        <p:spPr>
          <a:xfrm>
            <a:off x="2517799" y="2705335"/>
            <a:ext cx="5235034" cy="417689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to work</a:t>
            </a:r>
          </a:p>
        </p:txBody>
      </p:sp>
      <p:sp>
        <p:nvSpPr>
          <p:cNvPr id="13" name="Box 3"/>
          <p:cNvSpPr/>
          <p:nvPr/>
        </p:nvSpPr>
        <p:spPr>
          <a:xfrm>
            <a:off x="7864216" y="2705335"/>
            <a:ext cx="3452895" cy="4176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home</a:t>
            </a:r>
          </a:p>
        </p:txBody>
      </p:sp>
      <p:sp>
        <p:nvSpPr>
          <p:cNvPr id="14" name="Box 4"/>
          <p:cNvSpPr/>
          <p:nvPr/>
        </p:nvSpPr>
        <p:spPr>
          <a:xfrm>
            <a:off x="2517799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Make tea</a:t>
            </a:r>
          </a:p>
        </p:txBody>
      </p:sp>
      <p:sp>
        <p:nvSpPr>
          <p:cNvPr id="15" name="Box 5"/>
          <p:cNvSpPr/>
          <p:nvPr/>
        </p:nvSpPr>
        <p:spPr>
          <a:xfrm>
            <a:off x="4299938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upstairs</a:t>
            </a:r>
          </a:p>
        </p:txBody>
      </p:sp>
      <p:sp>
        <p:nvSpPr>
          <p:cNvPr id="16" name="Box 6"/>
          <p:cNvSpPr/>
          <p:nvPr/>
        </p:nvSpPr>
        <p:spPr>
          <a:xfrm>
            <a:off x="6082077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Do work</a:t>
            </a:r>
          </a:p>
        </p:txBody>
      </p:sp>
      <p:sp>
        <p:nvSpPr>
          <p:cNvPr id="17" name="Box 7"/>
          <p:cNvSpPr/>
          <p:nvPr/>
        </p:nvSpPr>
        <p:spPr>
          <a:xfrm>
            <a:off x="786421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downstairs</a:t>
            </a:r>
          </a:p>
        </p:txBody>
      </p:sp>
      <p:sp>
        <p:nvSpPr>
          <p:cNvPr id="18" name="Box 8"/>
          <p:cNvSpPr/>
          <p:nvPr/>
        </p:nvSpPr>
        <p:spPr>
          <a:xfrm>
            <a:off x="964635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Sit down</a:t>
            </a:r>
          </a:p>
        </p:txBody>
      </p:sp>
      <p:sp>
        <p:nvSpPr>
          <p:cNvPr id="19" name="Box 9"/>
          <p:cNvSpPr/>
          <p:nvPr/>
        </p:nvSpPr>
        <p:spPr>
          <a:xfrm>
            <a:off x="2517799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0" name="Box 10"/>
          <p:cNvSpPr/>
          <p:nvPr/>
        </p:nvSpPr>
        <p:spPr>
          <a:xfrm>
            <a:off x="4299938" y="3860941"/>
            <a:ext cx="1670756" cy="417689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3/5</a:t>
            </a:r>
          </a:p>
        </p:txBody>
      </p:sp>
      <p:sp>
        <p:nvSpPr>
          <p:cNvPr id="21" name="Box 11"/>
          <p:cNvSpPr/>
          <p:nvPr/>
        </p:nvSpPr>
        <p:spPr>
          <a:xfrm>
            <a:off x="6082077" y="3860941"/>
            <a:ext cx="1670756" cy="417689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1/5</a:t>
            </a:r>
          </a:p>
        </p:txBody>
      </p:sp>
      <p:sp>
        <p:nvSpPr>
          <p:cNvPr id="22" name="Box 12"/>
          <p:cNvSpPr/>
          <p:nvPr/>
        </p:nvSpPr>
        <p:spPr>
          <a:xfrm>
            <a:off x="786421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3" name="Box 13"/>
          <p:cNvSpPr/>
          <p:nvPr/>
        </p:nvSpPr>
        <p:spPr>
          <a:xfrm>
            <a:off x="964635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4" name="Box 14"/>
          <p:cNvSpPr/>
          <p:nvPr/>
        </p:nvSpPr>
        <p:spPr>
          <a:xfrm>
            <a:off x="874889" y="4390014"/>
            <a:ext cx="1531526" cy="361997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Me</a:t>
            </a:r>
          </a:p>
        </p:txBody>
      </p:sp>
      <p:sp>
        <p:nvSpPr>
          <p:cNvPr id="25" name="Box 15"/>
          <p:cNvSpPr/>
          <p:nvPr/>
        </p:nvSpPr>
        <p:spPr>
          <a:xfrm>
            <a:off x="2517799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6" name="Box 16"/>
          <p:cNvSpPr/>
          <p:nvPr/>
        </p:nvSpPr>
        <p:spPr>
          <a:xfrm>
            <a:off x="4299938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7" name="Box 17"/>
          <p:cNvSpPr/>
          <p:nvPr/>
        </p:nvSpPr>
        <p:spPr>
          <a:xfrm>
            <a:off x="6082077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8" name="Box 18"/>
          <p:cNvSpPr/>
          <p:nvPr/>
        </p:nvSpPr>
        <p:spPr>
          <a:xfrm>
            <a:off x="786421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9" name="Box 19"/>
          <p:cNvSpPr/>
          <p:nvPr/>
        </p:nvSpPr>
        <p:spPr>
          <a:xfrm>
            <a:off x="964635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30" name="Box 20"/>
          <p:cNvSpPr/>
          <p:nvPr/>
        </p:nvSpPr>
        <p:spPr>
          <a:xfrm>
            <a:off x="874889" y="4863394"/>
            <a:ext cx="1531526" cy="36199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Cat</a:t>
            </a:r>
          </a:p>
        </p:txBody>
      </p:sp>
      <p:sp>
        <p:nvSpPr>
          <p:cNvPr id="31" name="Box 21"/>
          <p:cNvSpPr/>
          <p:nvPr/>
        </p:nvSpPr>
        <p:spPr>
          <a:xfrm>
            <a:off x="6082077" y="4863394"/>
            <a:ext cx="1670756" cy="361997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Cat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kanban</a:t>
            </a:r>
          </a:p>
        </p:txBody>
      </p:sp>
      <p:sp>
        <p:nvSpPr>
          <p:cNvPr id="11" name="Box 1"/>
          <p:cNvSpPr/>
          <p:nvPr/>
        </p:nvSpPr>
        <p:spPr>
          <a:xfrm>
            <a:off x="662558" y="2581000"/>
            <a:ext cx="1711320" cy="2267499"/>
          </a:xfrm>
          <a:prstGeom prst="rect">
            <a:avLst/>
          </a:prstGeom>
          <a:solidFill>
            <a:srgbClr val="E9EEF8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662558" y="2581000"/>
            <a:ext cx="1711320" cy="31659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Todo</a:t>
            </a:r>
          </a:p>
        </p:txBody>
      </p:sp>
      <p:sp>
        <p:nvSpPr>
          <p:cNvPr id="13" name="Box 3"/>
          <p:cNvSpPr/>
          <p:nvPr/>
        </p:nvSpPr>
        <p:spPr>
          <a:xfrm>
            <a:off x="696785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Documentation</a:t>
            </a:r>
          </a:p>
        </p:txBody>
      </p:sp>
      <p:sp>
        <p:nvSpPr>
          <p:cNvPr id="14" name="Box 4"/>
          <p:cNvSpPr/>
          <p:nvPr/>
        </p:nvSpPr>
        <p:spPr>
          <a:xfrm>
            <a:off x="696785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Blog about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the new diagram</a:t>
            </a:r>
          </a:p>
        </p:txBody>
      </p:sp>
      <p:sp>
        <p:nvSpPr>
          <p:cNvPr id="15" name="Box 5"/>
          <p:cNvSpPr/>
          <p:nvPr/>
        </p:nvSpPr>
        <p:spPr>
          <a:xfrm>
            <a:off x="2493671" y="2581000"/>
            <a:ext cx="1711320" cy="2267499"/>
          </a:xfrm>
          <a:prstGeom prst="rect">
            <a:avLst/>
          </a:prstGeom>
          <a:solidFill>
            <a:srgbClr val="FDEFE6"/>
          </a:solidFill>
          <a:ln>
            <a:noFill/>
          </a:ln>
        </p:spPr>
      </p:sp>
      <p:sp>
        <p:nvSpPr>
          <p:cNvPr id="16" name="Box 6"/>
          <p:cNvSpPr/>
          <p:nvPr/>
        </p:nvSpPr>
        <p:spPr>
          <a:xfrm>
            <a:off x="2493671" y="2581000"/>
            <a:ext cx="1711320" cy="3165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Box 7"/>
          <p:cNvSpPr/>
          <p:nvPr/>
        </p:nvSpPr>
        <p:spPr>
          <a:xfrm>
            <a:off x="2527897" y="2966047"/>
            <a:ext cx="1642867" cy="1334830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renderer 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that it works in 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cases. We also add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some extra text 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for testing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purposes. And some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just for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extra flare.</a:t>
            </a:r>
          </a:p>
        </p:txBody>
      </p:sp>
      <p:sp>
        <p:nvSpPr>
          <p:cNvPr id="18" name="Box 8"/>
          <p:cNvSpPr/>
          <p:nvPr/>
        </p:nvSpPr>
        <p:spPr>
          <a:xfrm>
            <a:off x="4324784" y="2581000"/>
            <a:ext cx="1711320" cy="2267499"/>
          </a:xfrm>
          <a:prstGeom prst="rect">
            <a:avLst/>
          </a:prstGeom>
          <a:solidFill>
            <a:srgbClr val="EEF5E9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324784" y="2581000"/>
            <a:ext cx="1711320" cy="31659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deploy</a:t>
            </a:r>
          </a:p>
        </p:txBody>
      </p:sp>
      <p:sp>
        <p:nvSpPr>
          <p:cNvPr id="20" name="Box 10"/>
          <p:cNvSpPr/>
          <p:nvPr/>
        </p:nvSpPr>
        <p:spPr>
          <a:xfrm>
            <a:off x="4359010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Design grammar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1" name="Box 11"/>
          <p:cNvSpPr/>
          <p:nvPr/>
        </p:nvSpPr>
        <p:spPr>
          <a:xfrm>
            <a:off x="6155896" y="2581000"/>
            <a:ext cx="1711320" cy="2267499"/>
          </a:xfrm>
          <a:prstGeom prst="rect">
            <a:avLst/>
          </a:prstGeom>
          <a:solidFill>
            <a:srgbClr val="FFF7E0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6155896" y="2581000"/>
            <a:ext cx="1711320" cy="31659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test</a:t>
            </a:r>
          </a:p>
        </p:txBody>
      </p:sp>
      <p:sp>
        <p:nvSpPr>
          <p:cNvPr id="23" name="Box 13"/>
          <p:cNvSpPr/>
          <p:nvPr/>
        </p:nvSpPr>
        <p:spPr>
          <a:xfrm>
            <a:off x="6190123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parsing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MC-2038 · K.Sveidqvist</a:t>
            </a:r>
          </a:p>
        </p:txBody>
      </p:sp>
      <p:sp>
        <p:nvSpPr>
          <p:cNvPr id="24" name="Box 14"/>
          <p:cNvSpPr/>
          <p:nvPr/>
        </p:nvSpPr>
        <p:spPr>
          <a:xfrm>
            <a:off x="6190123" y="2966047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6190123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last item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6" name="Box 16"/>
          <p:cNvSpPr/>
          <p:nvPr/>
        </p:nvSpPr>
        <p:spPr>
          <a:xfrm>
            <a:off x="6190123" y="3496557"/>
            <a:ext cx="42783" cy="462056"/>
          </a:xfrm>
          <a:prstGeom prst="rect">
            <a:avLst/>
          </a:prstGeom>
          <a:solidFill>
            <a:srgbClr val="BDD7EE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7009" y="2581000"/>
            <a:ext cx="1711320" cy="2267499"/>
          </a:xfrm>
          <a:prstGeom prst="rect">
            <a:avLst/>
          </a:prstGeom>
          <a:solidFill>
            <a:srgbClr val="EEE6F4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7987009" y="2581000"/>
            <a:ext cx="1711320" cy="31659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9" name="Box 19"/>
          <p:cNvSpPr/>
          <p:nvPr/>
        </p:nvSpPr>
        <p:spPr>
          <a:xfrm>
            <a:off x="8021235" y="2966047"/>
            <a:ext cx="1642867" cy="316594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define getData</a:t>
            </a:r>
          </a:p>
        </p:txBody>
      </p:sp>
      <p:sp>
        <p:nvSpPr>
          <p:cNvPr id="30" name="Box 20"/>
          <p:cNvSpPr/>
          <p:nvPr/>
        </p:nvSpPr>
        <p:spPr>
          <a:xfrm>
            <a:off x="8021235" y="3351095"/>
            <a:ext cx="1642867" cy="898443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Title of diagram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than 100 chars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when user duplicates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diagram with 100 char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MC-2036</a:t>
            </a:r>
          </a:p>
        </p:txBody>
      </p:sp>
      <p:sp>
        <p:nvSpPr>
          <p:cNvPr id="31" name="Box 21"/>
          <p:cNvSpPr/>
          <p:nvPr/>
        </p:nvSpPr>
        <p:spPr>
          <a:xfrm>
            <a:off x="8021235" y="3351095"/>
            <a:ext cx="42783" cy="898443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8021235" y="4317990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Update DB function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MC-2037 · knsv</a:t>
            </a:r>
          </a:p>
        </p:txBody>
      </p:sp>
      <p:sp>
        <p:nvSpPr>
          <p:cNvPr id="33" name="Box 23"/>
          <p:cNvSpPr/>
          <p:nvPr/>
        </p:nvSpPr>
        <p:spPr>
          <a:xfrm>
            <a:off x="8021235" y="4317990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9818121" y="2581000"/>
            <a:ext cx="1711320" cy="2267499"/>
          </a:xfrm>
          <a:prstGeom prst="rect">
            <a:avLst/>
          </a:prstGeom>
          <a:solidFill>
            <a:srgbClr val="EBF3FA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9818121" y="2581000"/>
            <a:ext cx="1711320" cy="31659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Can't reproduce</a:t>
            </a:r>
          </a:p>
        </p:txBody>
      </p:sp>
      <p:sp>
        <p:nvSpPr>
          <p:cNvPr id="36" name="Box 26"/>
          <p:cNvSpPr/>
          <p:nvPr/>
        </p:nvSpPr>
        <p:spPr>
          <a:xfrm>
            <a:off x="9852348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Weird flickering 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Firefox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long-labels</a:t>
            </a:r>
          </a:p>
        </p:txBody>
      </p:sp>
      <p:sp>
        <p:nvSpPr>
          <p:cNvPr id="12" name="Ceci est un label assez long pour deborder" descr="A"/>
          <p:cNvSpPr/>
          <p:nvPr/>
        </p:nvSpPr>
        <p:spPr>
          <a:xfrm>
            <a:off x="5225054" y="1028700"/>
            <a:ext cx="1741892" cy="1568843"/>
          </a:xfrm>
          <a:prstGeom prst="rect">
            <a:avLst/>
          </a:prstGeom>
          <a:solidFill>
            <a:srgbClr val="FFE0B2"/>
          </a:solidFill>
          <a:ln w="1267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Ceci est un label assez long pour deborder</a:t>
            </a:r>
          </a:p>
        </p:txBody>
      </p:sp>
      <p:sp>
        <p:nvSpPr>
          <p:cNvPr id="13" name="Court" descr="B"/>
          <p:cNvSpPr/>
          <p:nvPr/>
        </p:nvSpPr>
        <p:spPr>
          <a:xfrm>
            <a:off x="5590167" y="3358195"/>
            <a:ext cx="1011666" cy="713111"/>
          </a:xfrm>
          <a:prstGeom prst="rect">
            <a:avLst/>
          </a:prstGeom>
          <a:solidFill>
            <a:srgbClr val="E1BEE7"/>
          </a:solidFill>
          <a:ln w="126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Court</a:t>
            </a:r>
          </a:p>
        </p:txBody>
      </p:sp>
      <p:sp>
        <p:nvSpPr>
          <p:cNvPr id="14" name="Un autre label qui depasse la largeur du noeud" descr="C"/>
          <p:cNvSpPr/>
          <p:nvPr/>
        </p:nvSpPr>
        <p:spPr>
          <a:xfrm>
            <a:off x="5042498" y="4831957"/>
            <a:ext cx="2107004" cy="1568843"/>
          </a:xfrm>
          <a:prstGeom prst="rect">
            <a:avLst/>
          </a:prstGeom>
          <a:solidFill>
            <a:srgbClr val="FFCDD2"/>
          </a:solidFill>
          <a:ln w="126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Un autre label qui depasse la largeur du noeud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6096000" y="2597543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2"/>
            <a:endCxn id="14" idx="0"/>
          </p:cNvCxnSpPr>
          <p:nvPr/>
        </p:nvCxnSpPr>
        <p:spPr>
          <a:xfrm>
            <a:off x="6096000" y="4071305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lr-direction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457200" y="3260204"/>
            <a:ext cx="1464246" cy="909093"/>
          </a:xfrm>
          <a:prstGeom prst="rect">
            <a:avLst/>
          </a:prstGeom>
          <a:solidFill>
            <a:srgbClr val="E1BEE7"/>
          </a:solidFill>
          <a:ln w="1616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2891145" y="3260204"/>
            <a:ext cx="2162429" cy="909093"/>
          </a:xfrm>
          <a:prstGeom prst="rect">
            <a:avLst/>
          </a:prstGeom>
          <a:solidFill>
            <a:srgbClr val="FFCDD2"/>
          </a:solidFill>
          <a:ln w="1616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6023273" y="2805657"/>
            <a:ext cx="3277583" cy="1818186"/>
          </a:xfrm>
          <a:prstGeom prst="diamond">
            <a:avLst/>
          </a:prstGeom>
          <a:solidFill>
            <a:srgbClr val="FFF9C4"/>
          </a:solidFill>
          <a:ln w="1616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10270554" y="2442020"/>
            <a:ext cx="1464246" cy="909093"/>
          </a:xfrm>
          <a:prstGeom prst="rect">
            <a:avLst/>
          </a:prstGeom>
          <a:solidFill>
            <a:srgbClr val="BBDEFB"/>
          </a:solidFill>
          <a:ln w="1616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10270554" y="4078387"/>
            <a:ext cx="1464246" cy="909093"/>
          </a:xfrm>
          <a:prstGeom prst="rect">
            <a:avLst/>
          </a:prstGeom>
          <a:solidFill>
            <a:srgbClr val="C8E6C9"/>
          </a:solidFill>
          <a:ln w="1616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3"/>
            <a:endCxn id="13" idx="1"/>
          </p:cNvCxnSpPr>
          <p:nvPr/>
        </p:nvCxnSpPr>
        <p:spPr>
          <a:xfrm>
            <a:off x="1921446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3"/>
            <a:endCxn id="14" idx="1"/>
          </p:cNvCxnSpPr>
          <p:nvPr/>
        </p:nvCxnSpPr>
        <p:spPr>
          <a:xfrm>
            <a:off x="5053574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3"/>
            <a:endCxn id="15" idx="1"/>
          </p:cNvCxnSpPr>
          <p:nvPr/>
        </p:nvCxnSpPr>
        <p:spPr>
          <a:xfrm flipV="1">
            <a:off x="9300855" y="2896567"/>
            <a:ext cx="969699" cy="818183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9479280" y="3160203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3"/>
            <a:endCxn id="16" idx="1"/>
          </p:cNvCxnSpPr>
          <p:nvPr/>
        </p:nvCxnSpPr>
        <p:spPr>
          <a:xfrm>
            <a:off x="9300855" y="3714750"/>
            <a:ext cx="969699" cy="818184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9479280" y="3978387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lr-subgraphs</a:t>
            </a:r>
          </a:p>
        </p:txBody>
      </p:sp>
      <p:sp>
        <p:nvSpPr>
          <p:cNvPr id="20" name="Nord (container)"/>
          <p:cNvSpPr/>
          <p:nvPr/>
        </p:nvSpPr>
        <p:spPr>
          <a:xfrm>
            <a:off x="457200" y="1342612"/>
            <a:ext cx="6744828" cy="1736657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1" name="Nord"/>
          <p:cNvSpPr/>
          <p:nvPr/>
        </p:nvSpPr>
        <p:spPr>
          <a:xfrm>
            <a:off x="457200" y="1342612"/>
            <a:ext cx="6744828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Nord</a:t>
            </a:r>
          </a:p>
        </p:txBody>
      </p:sp>
      <p:sp>
        <p:nvSpPr>
          <p:cNvPr id="22" name="Sud (container)"/>
          <p:cNvSpPr/>
          <p:nvPr/>
        </p:nvSpPr>
        <p:spPr>
          <a:xfrm>
            <a:off x="2653732" y="3040461"/>
            <a:ext cx="4548296" cy="3046427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3" name="Sud"/>
          <p:cNvSpPr/>
          <p:nvPr/>
        </p:nvSpPr>
        <p:spPr>
          <a:xfrm>
            <a:off x="2653732" y="3040461"/>
            <a:ext cx="4548296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Sud</a:t>
            </a:r>
          </a:p>
        </p:txBody>
      </p:sp>
      <p:sp>
        <p:nvSpPr>
          <p:cNvPr id="24" name="Ouest (container)"/>
          <p:cNvSpPr/>
          <p:nvPr/>
        </p:nvSpPr>
        <p:spPr>
          <a:xfrm>
            <a:off x="7978187" y="1524525"/>
            <a:ext cx="3756613" cy="2973662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5" name="Ouest"/>
          <p:cNvSpPr/>
          <p:nvPr/>
        </p:nvSpPr>
        <p:spPr>
          <a:xfrm>
            <a:off x="7978187" y="1524525"/>
            <a:ext cx="3756613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Ouest</a:t>
            </a:r>
          </a:p>
        </p:txBody>
      </p:sp>
      <p:sp>
        <p:nvSpPr>
          <p:cNvPr id="12" name="Paris" descr="A"/>
          <p:cNvSpPr/>
          <p:nvPr/>
        </p:nvSpPr>
        <p:spPr>
          <a:xfrm>
            <a:off x="845280" y="1963540"/>
            <a:ext cx="1032292" cy="727650"/>
          </a:xfrm>
          <a:prstGeom prst="rect">
            <a:avLst/>
          </a:prstGeom>
          <a:solidFill>
            <a:srgbClr val="FFCDD2"/>
          </a:solidFill>
          <a:ln w="1293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13" name="Rouen" descr="B"/>
          <p:cNvSpPr/>
          <p:nvPr/>
        </p:nvSpPr>
        <p:spPr>
          <a:xfrm>
            <a:off x="3321229" y="1963540"/>
            <a:ext cx="1032292" cy="727650"/>
          </a:xfrm>
          <a:prstGeom prst="rect">
            <a:avLst/>
          </a:prstGeom>
          <a:solidFill>
            <a:srgbClr val="FFF9C4"/>
          </a:solidFill>
          <a:ln w="1293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Rouen</a:t>
            </a:r>
          </a:p>
        </p:txBody>
      </p:sp>
      <p:sp>
        <p:nvSpPr>
          <p:cNvPr id="14" name="Le Havre" descr="C"/>
          <p:cNvSpPr/>
          <p:nvPr/>
        </p:nvSpPr>
        <p:spPr>
          <a:xfrm>
            <a:off x="5409099" y="1963540"/>
            <a:ext cx="1404849" cy="727650"/>
          </a:xfrm>
          <a:prstGeom prst="rect">
            <a:avLst/>
          </a:prstGeom>
          <a:solidFill>
            <a:srgbClr val="BBDEFB"/>
          </a:solidFill>
          <a:ln w="12936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Le Havre</a:t>
            </a:r>
          </a:p>
        </p:txBody>
      </p:sp>
      <p:sp>
        <p:nvSpPr>
          <p:cNvPr id="15" name="Marseille" descr="D"/>
          <p:cNvSpPr/>
          <p:nvPr/>
        </p:nvSpPr>
        <p:spPr>
          <a:xfrm>
            <a:off x="3041812" y="4316274"/>
            <a:ext cx="1591127" cy="727650"/>
          </a:xfrm>
          <a:prstGeom prst="rect">
            <a:avLst/>
          </a:prstGeom>
          <a:solidFill>
            <a:srgbClr val="C8E6C9"/>
          </a:solidFill>
          <a:ln w="12936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Marseille</a:t>
            </a:r>
          </a:p>
        </p:txBody>
      </p:sp>
      <p:sp>
        <p:nvSpPr>
          <p:cNvPr id="16" name="Toulon" descr="E"/>
          <p:cNvSpPr/>
          <p:nvPr/>
        </p:nvSpPr>
        <p:spPr>
          <a:xfrm>
            <a:off x="5525523" y="3661389"/>
            <a:ext cx="1172001" cy="727650"/>
          </a:xfrm>
          <a:prstGeom prst="rect">
            <a:avLst/>
          </a:prstGeom>
          <a:solidFill>
            <a:srgbClr val="FFE0B2"/>
          </a:solidFill>
          <a:ln w="12936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Toulon</a:t>
            </a:r>
          </a:p>
        </p:txBody>
      </p:sp>
      <p:sp>
        <p:nvSpPr>
          <p:cNvPr id="17" name="Nice" descr="F"/>
          <p:cNvSpPr/>
          <p:nvPr/>
        </p:nvSpPr>
        <p:spPr>
          <a:xfrm>
            <a:off x="5665231" y="4971158"/>
            <a:ext cx="892584" cy="727650"/>
          </a:xfrm>
          <a:prstGeom prst="rect">
            <a:avLst/>
          </a:prstGeom>
          <a:solidFill>
            <a:srgbClr val="E1BEE7"/>
          </a:solidFill>
          <a:ln w="12936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Nice</a:t>
            </a:r>
          </a:p>
        </p:txBody>
      </p:sp>
      <p:sp>
        <p:nvSpPr>
          <p:cNvPr id="18" name="Nantes" descr="G"/>
          <p:cNvSpPr/>
          <p:nvPr/>
        </p:nvSpPr>
        <p:spPr>
          <a:xfrm>
            <a:off x="8366267" y="2812465"/>
            <a:ext cx="1172001" cy="727650"/>
          </a:xfrm>
          <a:prstGeom prst="rect">
            <a:avLst/>
          </a:prstGeom>
          <a:solidFill>
            <a:srgbClr val="FFCDD2"/>
          </a:solidFill>
          <a:ln w="1293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Nantes</a:t>
            </a:r>
          </a:p>
        </p:txBody>
      </p:sp>
      <p:sp>
        <p:nvSpPr>
          <p:cNvPr id="19" name="Brest" descr="H"/>
          <p:cNvSpPr/>
          <p:nvPr/>
        </p:nvSpPr>
        <p:spPr>
          <a:xfrm>
            <a:off x="10314428" y="2812465"/>
            <a:ext cx="1032292" cy="727650"/>
          </a:xfrm>
          <a:prstGeom prst="rect">
            <a:avLst/>
          </a:prstGeom>
          <a:solidFill>
            <a:srgbClr val="FFF9C4"/>
          </a:solidFill>
          <a:ln w="1293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Brest</a:t>
            </a:r>
          </a:p>
        </p:txBody>
      </p:sp>
      <p:cxnSp>
        <p:nvCxnSpPr>
          <p:cNvPr id="26" name="A--B"/>
          <p:cNvCxnSpPr>
            <a:stCxn id="12" idx="3"/>
            <a:endCxn id="13" idx="1"/>
          </p:cNvCxnSpPr>
          <p:nvPr/>
        </p:nvCxnSpPr>
        <p:spPr>
          <a:xfrm>
            <a:off x="1877572" y="2327365"/>
            <a:ext cx="1443657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B--C"/>
          <p:cNvCxnSpPr>
            <a:stCxn id="13" idx="3"/>
            <a:endCxn id="14" idx="1"/>
          </p:cNvCxnSpPr>
          <p:nvPr/>
        </p:nvCxnSpPr>
        <p:spPr>
          <a:xfrm>
            <a:off x="4353522" y="2327365"/>
            <a:ext cx="1055577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3"/>
            <a:endCxn id="16" idx="1"/>
          </p:cNvCxnSpPr>
          <p:nvPr/>
        </p:nvCxnSpPr>
        <p:spPr>
          <a:xfrm flipV="1">
            <a:off x="4632939" y="4025214"/>
            <a:ext cx="892584" cy="654884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--F"/>
          <p:cNvCxnSpPr>
            <a:stCxn id="15" idx="3"/>
            <a:endCxn id="17" idx="1"/>
          </p:cNvCxnSpPr>
          <p:nvPr/>
        </p:nvCxnSpPr>
        <p:spPr>
          <a:xfrm>
            <a:off x="4632939" y="4680099"/>
            <a:ext cx="1032292" cy="654885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--H"/>
          <p:cNvCxnSpPr>
            <a:stCxn id="18" idx="3"/>
            <a:endCxn id="19" idx="1"/>
          </p:cNvCxnSpPr>
          <p:nvPr/>
        </p:nvCxnSpPr>
        <p:spPr>
          <a:xfrm>
            <a:off x="9538268" y="3176289"/>
            <a:ext cx="776160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--G"/>
          <p:cNvCxnSpPr>
            <a:stCxn id="14" idx="3"/>
            <a:endCxn id="18" idx="1"/>
          </p:cNvCxnSpPr>
          <p:nvPr/>
        </p:nvCxnSpPr>
        <p:spPr>
          <a:xfrm>
            <a:off x="6813948" y="2327365"/>
            <a:ext cx="1552319" cy="848924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--G"/>
          <p:cNvCxnSpPr>
            <a:stCxn id="16" idx="3"/>
            <a:endCxn id="18" idx="1"/>
          </p:cNvCxnSpPr>
          <p:nvPr/>
        </p:nvCxnSpPr>
        <p:spPr>
          <a:xfrm flipV="1">
            <a:off x="6697524" y="3176289"/>
            <a:ext cx="1668743" cy="848925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medium-realistic</a:t>
            </a:r>
          </a:p>
        </p:txBody>
      </p:sp>
      <p:sp>
        <p:nvSpPr>
          <p:cNvPr id="12" name="Demarrer" descr="Start"/>
          <p:cNvSpPr/>
          <p:nvPr/>
        </p:nvSpPr>
        <p:spPr>
          <a:xfrm>
            <a:off x="4518299" y="1028700"/>
            <a:ext cx="469980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Demarrer</a:t>
            </a:r>
          </a:p>
        </p:txBody>
      </p:sp>
      <p:sp>
        <p:nvSpPr>
          <p:cNvPr id="13" name="Lire config" descr="Lire"/>
          <p:cNvSpPr/>
          <p:nvPr/>
        </p:nvSpPr>
        <p:spPr>
          <a:xfrm>
            <a:off x="4461751" y="1515645"/>
            <a:ext cx="583077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Lire config</a:t>
            </a:r>
          </a:p>
        </p:txBody>
      </p:sp>
      <p:sp>
        <p:nvSpPr>
          <p:cNvPr id="14" name="Config valide?" descr="Valider"/>
          <p:cNvSpPr/>
          <p:nvPr/>
        </p:nvSpPr>
        <p:spPr>
          <a:xfrm>
            <a:off x="4336087" y="2002589"/>
            <a:ext cx="834403" cy="659732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Config valide?</a:t>
            </a:r>
          </a:p>
        </p:txBody>
      </p:sp>
      <p:sp>
        <p:nvSpPr>
          <p:cNvPr id="15" name="Log erreur" descr="Erreur"/>
          <p:cNvSpPr/>
          <p:nvPr/>
        </p:nvSpPr>
        <p:spPr>
          <a:xfrm>
            <a:off x="4912881" y="5678237"/>
            <a:ext cx="537838" cy="235618"/>
          </a:xfrm>
          <a:prstGeom prst="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Log erreur</a:t>
            </a:r>
          </a:p>
        </p:txBody>
      </p:sp>
      <p:sp>
        <p:nvSpPr>
          <p:cNvPr id="16" name="Arreter" descr="Stop"/>
          <p:cNvSpPr/>
          <p:nvPr/>
        </p:nvSpPr>
        <p:spPr>
          <a:xfrm>
            <a:off x="4572334" y="6165182"/>
            <a:ext cx="424741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Arreter</a:t>
            </a:r>
          </a:p>
        </p:txBody>
      </p:sp>
      <p:sp>
        <p:nvSpPr>
          <p:cNvPr id="17" name="Connecter API" descr="Connect"/>
          <p:cNvSpPr/>
          <p:nvPr/>
        </p:nvSpPr>
        <p:spPr>
          <a:xfrm>
            <a:off x="3644940" y="2913647"/>
            <a:ext cx="696174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Connecter API</a:t>
            </a:r>
          </a:p>
        </p:txBody>
      </p:sp>
      <p:sp>
        <p:nvSpPr>
          <p:cNvPr id="18" name="Recuperer donnees" descr="Fetch"/>
          <p:cNvSpPr/>
          <p:nvPr/>
        </p:nvSpPr>
        <p:spPr>
          <a:xfrm>
            <a:off x="3735418" y="3400592"/>
            <a:ext cx="515219" cy="329866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Recuperer donnees</a:t>
            </a:r>
          </a:p>
        </p:txBody>
      </p:sp>
      <p:sp>
        <p:nvSpPr>
          <p:cNvPr id="19" name="Nettoyer" descr="Clean"/>
          <p:cNvSpPr/>
          <p:nvPr/>
        </p:nvSpPr>
        <p:spPr>
          <a:xfrm>
            <a:off x="3758037" y="3981784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Nettoyer</a:t>
            </a:r>
          </a:p>
        </p:txBody>
      </p:sp>
      <p:sp>
        <p:nvSpPr>
          <p:cNvPr id="20" name="Donnees ok?" descr="Check"/>
          <p:cNvSpPr/>
          <p:nvPr/>
        </p:nvSpPr>
        <p:spPr>
          <a:xfrm>
            <a:off x="3409950" y="4468729"/>
            <a:ext cx="1166154" cy="471237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Donnees ok?</a:t>
            </a:r>
          </a:p>
        </p:txBody>
      </p:sp>
      <p:sp>
        <p:nvSpPr>
          <p:cNvPr id="21" name="Retenter" descr="Retry"/>
          <p:cNvSpPr/>
          <p:nvPr/>
        </p:nvSpPr>
        <p:spPr>
          <a:xfrm>
            <a:off x="3426286" y="5191292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Retenter</a:t>
            </a:r>
          </a:p>
        </p:txBody>
      </p:sp>
      <p:sp>
        <p:nvSpPr>
          <p:cNvPr id="22" name="Sauvegarder" descr="Save"/>
          <p:cNvSpPr/>
          <p:nvPr/>
        </p:nvSpPr>
        <p:spPr>
          <a:xfrm>
            <a:off x="4084761" y="5191292"/>
            <a:ext cx="605696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Sauvegarder</a:t>
            </a:r>
          </a:p>
        </p:txBody>
      </p:sp>
      <p:sp>
        <p:nvSpPr>
          <p:cNvPr id="23" name="Notifier user" descr="Notify"/>
          <p:cNvSpPr/>
          <p:nvPr/>
        </p:nvSpPr>
        <p:spPr>
          <a:xfrm>
            <a:off x="4050832" y="5678237"/>
            <a:ext cx="673555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Notifier user</a:t>
            </a:r>
          </a:p>
        </p:txBody>
      </p:sp>
      <p:cxnSp>
        <p:nvCxnSpPr>
          <p:cNvPr id="24" name="Start--Lire"/>
          <p:cNvCxnSpPr>
            <a:stCxn id="12" idx="2"/>
            <a:endCxn id="13" idx="0"/>
          </p:cNvCxnSpPr>
          <p:nvPr/>
        </p:nvCxnSpPr>
        <p:spPr>
          <a:xfrm>
            <a:off x="4753289" y="1264318"/>
            <a:ext cx="0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re--Valider"/>
          <p:cNvCxnSpPr>
            <a:stCxn id="13" idx="2"/>
            <a:endCxn id="14" idx="0"/>
          </p:cNvCxnSpPr>
          <p:nvPr/>
        </p:nvCxnSpPr>
        <p:spPr>
          <a:xfrm>
            <a:off x="4753289" y="175126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alider--Erreur"/>
          <p:cNvCxnSpPr>
            <a:stCxn id="14" idx="2"/>
            <a:endCxn id="15" idx="0"/>
          </p:cNvCxnSpPr>
          <p:nvPr/>
        </p:nvCxnSpPr>
        <p:spPr>
          <a:xfrm>
            <a:off x="4753289" y="2662321"/>
            <a:ext cx="428512" cy="301591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4888126" y="413258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8" name="Erreur--Stop"/>
          <p:cNvCxnSpPr>
            <a:stCxn id="15" idx="2"/>
            <a:endCxn id="16" idx="0"/>
          </p:cNvCxnSpPr>
          <p:nvPr/>
        </p:nvCxnSpPr>
        <p:spPr>
          <a:xfrm flipH="1">
            <a:off x="4784705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alider--Connect"/>
          <p:cNvCxnSpPr>
            <a:stCxn id="14" idx="1"/>
            <a:endCxn id="17" idx="3"/>
          </p:cNvCxnSpPr>
          <p:nvPr/>
        </p:nvCxnSpPr>
        <p:spPr>
          <a:xfrm>
            <a:off x="4336087" y="2332455"/>
            <a:ext cx="5027" cy="699002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259182" y="2644257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Connect--Fetch"/>
          <p:cNvCxnSpPr>
            <a:stCxn id="17" idx="2"/>
            <a:endCxn id="18" idx="0"/>
          </p:cNvCxnSpPr>
          <p:nvPr/>
        </p:nvCxnSpPr>
        <p:spPr>
          <a:xfrm>
            <a:off x="3993027" y="3149266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Fetch--Clean"/>
          <p:cNvCxnSpPr>
            <a:stCxn id="18" idx="2"/>
            <a:endCxn id="19" idx="0"/>
          </p:cNvCxnSpPr>
          <p:nvPr/>
        </p:nvCxnSpPr>
        <p:spPr>
          <a:xfrm>
            <a:off x="3993027" y="3730458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lean--Check"/>
          <p:cNvCxnSpPr>
            <a:stCxn id="19" idx="2"/>
            <a:endCxn id="20" idx="0"/>
          </p:cNvCxnSpPr>
          <p:nvPr/>
        </p:nvCxnSpPr>
        <p:spPr>
          <a:xfrm>
            <a:off x="3993027" y="421740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heck--Retry"/>
          <p:cNvCxnSpPr>
            <a:stCxn id="20" idx="2"/>
            <a:endCxn id="21" idx="0"/>
          </p:cNvCxnSpPr>
          <p:nvPr/>
        </p:nvCxnSpPr>
        <p:spPr>
          <a:xfrm flipH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3747733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6" name="Retry--Check"/>
          <p:cNvCxnSpPr>
            <a:stCxn id="21" idx="0"/>
            <a:endCxn id="20" idx="2"/>
          </p:cNvCxnSpPr>
          <p:nvPr/>
        </p:nvCxnSpPr>
        <p:spPr>
          <a:xfrm flipV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heck--Save"/>
          <p:cNvCxnSpPr>
            <a:stCxn id="20" idx="2"/>
            <a:endCxn id="22" idx="0"/>
          </p:cNvCxnSpPr>
          <p:nvPr/>
        </p:nvCxnSpPr>
        <p:spPr>
          <a:xfrm>
            <a:off x="3993027" y="4939966"/>
            <a:ext cx="394582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EdgeLabel"/>
          <p:cNvSpPr txBox="1"/>
          <p:nvPr/>
        </p:nvSpPr>
        <p:spPr>
          <a:xfrm>
            <a:off x="4110899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9" name="Save--Notify"/>
          <p:cNvCxnSpPr>
            <a:stCxn id="22" idx="2"/>
            <a:endCxn id="23" idx="0"/>
          </p:cNvCxnSpPr>
          <p:nvPr/>
        </p:nvCxnSpPr>
        <p:spPr>
          <a:xfrm>
            <a:off x="4387609" y="5426911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Notify--Stop"/>
          <p:cNvCxnSpPr>
            <a:stCxn id="23" idx="2"/>
            <a:endCxn id="16" idx="0"/>
          </p:cNvCxnSpPr>
          <p:nvPr/>
        </p:nvCxnSpPr>
        <p:spPr>
          <a:xfrm>
            <a:off x="4387609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mindmap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04413" y="4098110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2" name="Connector 2"/>
          <p:cNvCxnSpPr/>
          <p:nvPr/>
        </p:nvCxnSpPr>
        <p:spPr>
          <a:xfrm flipV="1">
            <a:off x="7274540" y="4674711"/>
            <a:ext cx="1293595" cy="196767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3" name="Connector 3"/>
          <p:cNvCxnSpPr/>
          <p:nvPr/>
        </p:nvCxnSpPr>
        <p:spPr>
          <a:xfrm>
            <a:off x="7274540" y="4871478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4" name="Connector 4"/>
          <p:cNvCxnSpPr/>
          <p:nvPr/>
        </p:nvCxnSpPr>
        <p:spPr>
          <a:xfrm flipV="1">
            <a:off x="6895678" y="4871478"/>
            <a:ext cx="378862" cy="1252425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5" name="Connector 5"/>
          <p:cNvCxnSpPr/>
          <p:nvPr/>
        </p:nvCxnSpPr>
        <p:spPr>
          <a:xfrm flipV="1">
            <a:off x="5743547" y="4098110"/>
            <a:ext cx="860866" cy="553244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6" name="Connector 6"/>
          <p:cNvCxnSpPr/>
          <p:nvPr/>
        </p:nvCxnSpPr>
        <p:spPr>
          <a:xfrm>
            <a:off x="5743547" y="4651354"/>
            <a:ext cx="10667" cy="1308432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7" name="Connector 7"/>
          <p:cNvCxnSpPr/>
          <p:nvPr/>
        </p:nvCxnSpPr>
        <p:spPr>
          <a:xfrm flipV="1">
            <a:off x="4640690" y="4651354"/>
            <a:ext cx="1102857" cy="23357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8" name="Connector 8"/>
          <p:cNvCxnSpPr/>
          <p:nvPr/>
        </p:nvCxnSpPr>
        <p:spPr>
          <a:xfrm flipV="1">
            <a:off x="4021817" y="4674711"/>
            <a:ext cx="618873" cy="1083133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9" name="Connector 9"/>
          <p:cNvCxnSpPr/>
          <p:nvPr/>
        </p:nvCxnSpPr>
        <p:spPr>
          <a:xfrm>
            <a:off x="3534475" y="4098110"/>
            <a:ext cx="1106215" cy="576601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20" name="Connector 10"/>
          <p:cNvCxnSpPr/>
          <p:nvPr/>
        </p:nvCxnSpPr>
        <p:spPr>
          <a:xfrm>
            <a:off x="6179313" y="3167272"/>
            <a:ext cx="425100" cy="93083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1" name="Connector 11"/>
          <p:cNvCxnSpPr/>
          <p:nvPr/>
        </p:nvCxnSpPr>
        <p:spPr>
          <a:xfrm>
            <a:off x="5264158" y="2551374"/>
            <a:ext cx="915155" cy="6158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2" name="Connector 12"/>
          <p:cNvCxnSpPr/>
          <p:nvPr/>
        </p:nvCxnSpPr>
        <p:spPr>
          <a:xfrm>
            <a:off x="4021817" y="2438376"/>
            <a:ext cx="1242341" cy="1129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3" name="Connector 13"/>
          <p:cNvCxnSpPr/>
          <p:nvPr/>
        </p:nvCxnSpPr>
        <p:spPr>
          <a:xfrm flipV="1">
            <a:off x="5264158" y="1305596"/>
            <a:ext cx="64957" cy="124577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4" name="Connector 14"/>
          <p:cNvCxnSpPr/>
          <p:nvPr/>
        </p:nvCxnSpPr>
        <p:spPr>
          <a:xfrm flipV="1">
            <a:off x="6179313" y="2072316"/>
            <a:ext cx="716365" cy="1094956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5" name="Connector 15"/>
          <p:cNvCxnSpPr/>
          <p:nvPr/>
        </p:nvCxnSpPr>
        <p:spPr>
          <a:xfrm flipV="1">
            <a:off x="6604413" y="3544865"/>
            <a:ext cx="860865" cy="553245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6" name="Connector 16"/>
          <p:cNvCxnSpPr/>
          <p:nvPr/>
        </p:nvCxnSpPr>
        <p:spPr>
          <a:xfrm flipV="1">
            <a:off x="7465278" y="2551374"/>
            <a:ext cx="479389" cy="993491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7" name="Connector 17"/>
          <p:cNvCxnSpPr/>
          <p:nvPr/>
        </p:nvCxnSpPr>
        <p:spPr>
          <a:xfrm flipV="1">
            <a:off x="7465278" y="3521509"/>
            <a:ext cx="1102857" cy="23356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sp>
        <p:nvSpPr>
          <p:cNvPr id="28" name="Project Plan"/>
          <p:cNvSpPr/>
          <p:nvPr/>
        </p:nvSpPr>
        <p:spPr>
          <a:xfrm>
            <a:off x="6000297" y="3953642"/>
            <a:ext cx="1208231" cy="288935"/>
          </a:xfrm>
          <a:prstGeom prst="ellipse">
            <a:avLst/>
          </a:prstGeom>
          <a:solidFill>
            <a:srgbClr val="404040"/>
          </a:solidFill>
          <a:ln w="6019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FFFFF"/>
                </a:solidFill>
              </a:rPr>
              <a:t>Project Plan</a:t>
            </a:r>
          </a:p>
        </p:txBody>
      </p:sp>
      <p:sp>
        <p:nvSpPr>
          <p:cNvPr id="29" name="Research"/>
          <p:cNvSpPr/>
          <p:nvPr/>
        </p:nvSpPr>
        <p:spPr>
          <a:xfrm>
            <a:off x="6974469" y="4775166"/>
            <a:ext cx="600143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30" name="Market analysis"/>
          <p:cNvSpPr/>
          <p:nvPr/>
        </p:nvSpPr>
        <p:spPr>
          <a:xfrm>
            <a:off x="8168441" y="4578399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 analysis</a:t>
            </a:r>
          </a:p>
        </p:txBody>
      </p:sp>
      <p:sp>
        <p:nvSpPr>
          <p:cNvPr id="31" name="Competitor review"/>
          <p:cNvSpPr/>
          <p:nvPr/>
        </p:nvSpPr>
        <p:spPr>
          <a:xfrm>
            <a:off x="7505245" y="5548534"/>
            <a:ext cx="878845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Competitor review</a:t>
            </a:r>
          </a:p>
        </p:txBody>
      </p:sp>
      <p:sp>
        <p:nvSpPr>
          <p:cNvPr id="32" name="User interviews"/>
          <p:cNvSpPr/>
          <p:nvPr/>
        </p:nvSpPr>
        <p:spPr>
          <a:xfrm>
            <a:off x="6495984" y="6027592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User interviews</a:t>
            </a:r>
          </a:p>
        </p:txBody>
      </p:sp>
      <p:sp>
        <p:nvSpPr>
          <p:cNvPr id="33" name="Design"/>
          <p:cNvSpPr/>
          <p:nvPr/>
        </p:nvSpPr>
        <p:spPr>
          <a:xfrm>
            <a:off x="5490428" y="4555043"/>
            <a:ext cx="50623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34" name="Wireframes"/>
          <p:cNvSpPr/>
          <p:nvPr/>
        </p:nvSpPr>
        <p:spPr>
          <a:xfrm>
            <a:off x="5443909" y="5863474"/>
            <a:ext cx="620609" cy="192624"/>
          </a:xfrm>
          <a:prstGeom prst="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Wireframes</a:t>
            </a:r>
          </a:p>
        </p:txBody>
      </p:sp>
      <p:sp>
        <p:nvSpPr>
          <p:cNvPr id="35" name="Moodboard"/>
          <p:cNvSpPr/>
          <p:nvPr/>
        </p:nvSpPr>
        <p:spPr>
          <a:xfrm>
            <a:off x="4259205" y="4578399"/>
            <a:ext cx="762970" cy="192624"/>
          </a:xfrm>
          <a:prstGeom prst="cloud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Moodboard</a:t>
            </a:r>
          </a:p>
        </p:txBody>
      </p:sp>
      <p:sp>
        <p:nvSpPr>
          <p:cNvPr id="36" name="Colors"/>
          <p:cNvSpPr/>
          <p:nvPr/>
        </p:nvSpPr>
        <p:spPr>
          <a:xfrm>
            <a:off x="3790970" y="5661532"/>
            <a:ext cx="461695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Colors</a:t>
            </a:r>
          </a:p>
        </p:txBody>
      </p:sp>
      <p:sp>
        <p:nvSpPr>
          <p:cNvPr id="37" name="Typography"/>
          <p:cNvSpPr/>
          <p:nvPr/>
        </p:nvSpPr>
        <p:spPr>
          <a:xfrm>
            <a:off x="3224171" y="4001798"/>
            <a:ext cx="62060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Typography</a:t>
            </a:r>
          </a:p>
        </p:txBody>
      </p:sp>
      <p:sp>
        <p:nvSpPr>
          <p:cNvPr id="38" name="Engineering"/>
          <p:cNvSpPr/>
          <p:nvPr/>
        </p:nvSpPr>
        <p:spPr>
          <a:xfrm>
            <a:off x="5717062" y="3070960"/>
            <a:ext cx="924503" cy="192624"/>
          </a:xfrm>
          <a:prstGeom prst="hexagon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39" name="Backend"/>
          <p:cNvSpPr/>
          <p:nvPr/>
        </p:nvSpPr>
        <p:spPr>
          <a:xfrm>
            <a:off x="5013447" y="2455062"/>
            <a:ext cx="501423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40" name="API"/>
          <p:cNvSpPr/>
          <p:nvPr/>
        </p:nvSpPr>
        <p:spPr>
          <a:xfrm>
            <a:off x="3841232" y="2342065"/>
            <a:ext cx="361169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41" name="Database"/>
          <p:cNvSpPr/>
          <p:nvPr/>
        </p:nvSpPr>
        <p:spPr>
          <a:xfrm>
            <a:off x="5058539" y="120928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2" name="Frontend"/>
          <p:cNvSpPr/>
          <p:nvPr/>
        </p:nvSpPr>
        <p:spPr>
          <a:xfrm>
            <a:off x="6625102" y="197600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3" name="Launch"/>
          <p:cNvSpPr/>
          <p:nvPr/>
        </p:nvSpPr>
        <p:spPr>
          <a:xfrm>
            <a:off x="7212159" y="3448554"/>
            <a:ext cx="506239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Launch</a:t>
            </a:r>
          </a:p>
        </p:txBody>
      </p:sp>
      <p:sp>
        <p:nvSpPr>
          <p:cNvPr id="44" name="Marketing"/>
          <p:cNvSpPr/>
          <p:nvPr/>
        </p:nvSpPr>
        <p:spPr>
          <a:xfrm>
            <a:off x="7490347" y="2455062"/>
            <a:ext cx="908641" cy="192624"/>
          </a:xfrm>
          <a:prstGeom prst="irregularSeal2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45" name="Support"/>
          <p:cNvSpPr/>
          <p:nvPr/>
        </p:nvSpPr>
        <p:spPr>
          <a:xfrm>
            <a:off x="8317424" y="3425197"/>
            <a:ext cx="501423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Support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minimal</a:t>
            </a:r>
          </a:p>
        </p:txBody>
      </p:sp>
      <p:sp>
        <p:nvSpPr>
          <p:cNvPr id="12" name="A" descr="A"/>
          <p:cNvSpPr/>
          <p:nvPr/>
        </p:nvSpPr>
        <p:spPr>
          <a:xfrm>
            <a:off x="1690688" y="3268266"/>
            <a:ext cx="1666875" cy="1785938"/>
          </a:xfrm>
          <a:prstGeom prst="rect">
            <a:avLst/>
          </a:prstGeom>
          <a:solidFill>
            <a:srgbClr val="FFF9C4"/>
          </a:solidFill>
          <a:ln w="3175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5262563" y="2345531"/>
            <a:ext cx="1666875" cy="1785938"/>
          </a:xfrm>
          <a:prstGeom prst="rect">
            <a:avLst/>
          </a:prstGeom>
          <a:solidFill>
            <a:srgbClr val="BBDEFB"/>
          </a:solidFill>
          <a:ln w="3175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8834438" y="3268266"/>
            <a:ext cx="1666875" cy="1785938"/>
          </a:xfrm>
          <a:prstGeom prst="rect">
            <a:avLst/>
          </a:prstGeom>
          <a:solidFill>
            <a:srgbClr val="C8E6C9"/>
          </a:solidFill>
          <a:ln w="3175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3"/>
            <a:endCxn id="13" idx="1"/>
          </p:cNvCxnSpPr>
          <p:nvPr/>
        </p:nvCxnSpPr>
        <p:spPr>
          <a:xfrm flipV="1">
            <a:off x="3357563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3"/>
            <a:endCxn id="14" idx="1"/>
          </p:cNvCxnSpPr>
          <p:nvPr/>
        </p:nvCxnSpPr>
        <p:spPr>
          <a:xfrm>
            <a:off x="6929438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1"/>
            <a:endCxn id="12" idx="3"/>
          </p:cNvCxnSpPr>
          <p:nvPr/>
        </p:nvCxnSpPr>
        <p:spPr>
          <a:xfrm flipH="1">
            <a:off x="3357563" y="4161234"/>
            <a:ext cx="5476875" cy="0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mixed</a:t>
            </a:r>
          </a:p>
        </p:txBody>
      </p:sp>
      <p:sp>
        <p:nvSpPr>
          <p:cNvPr id="17" name="Validation (container)"/>
          <p:cNvSpPr/>
          <p:nvPr/>
        </p:nvSpPr>
        <p:spPr>
          <a:xfrm>
            <a:off x="4461954" y="1028700"/>
            <a:ext cx="3268092" cy="4359517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Validation"/>
          <p:cNvSpPr/>
          <p:nvPr/>
        </p:nvSpPr>
        <p:spPr>
          <a:xfrm>
            <a:off x="4461954" y="1028700"/>
            <a:ext cx="3268092" cy="185511"/>
          </a:xfrm>
          <a:prstGeom prst="rect">
            <a:avLst/>
          </a:prstGeom>
          <a:noFill/>
          <a:ln w="0">
            <a:noFill/>
          </a:ln>
        </p:spPr>
        <p:txBody>
          <a:bodyPr lIns="74205" tIns="37102" rIns="74205" bIns="3710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Validation</a:t>
            </a:r>
          </a:p>
        </p:txBody>
      </p:sp>
      <p:sp>
        <p:nvSpPr>
          <p:cNvPr id="12" name="Requete" descr="A"/>
          <p:cNvSpPr/>
          <p:nvPr/>
        </p:nvSpPr>
        <p:spPr>
          <a:xfrm>
            <a:off x="5573476" y="1523397"/>
            <a:ext cx="1045047" cy="579723"/>
          </a:xfrm>
          <a:prstGeom prst="rect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Requete</a:t>
            </a:r>
          </a:p>
        </p:txBody>
      </p:sp>
      <p:sp>
        <p:nvSpPr>
          <p:cNvPr id="13" name="OK?" descr="B"/>
          <p:cNvSpPr/>
          <p:nvPr/>
        </p:nvSpPr>
        <p:spPr>
          <a:xfrm>
            <a:off x="5477629" y="2721491"/>
            <a:ext cx="1236742" cy="1159446"/>
          </a:xfrm>
          <a:prstGeom prst="diamond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OK?</a:t>
            </a:r>
          </a:p>
        </p:txBody>
      </p:sp>
      <p:sp>
        <p:nvSpPr>
          <p:cNvPr id="14" name="Traiter" descr="C"/>
          <p:cNvSpPr/>
          <p:nvPr/>
        </p:nvSpPr>
        <p:spPr>
          <a:xfrm>
            <a:off x="4819063" y="4499308"/>
            <a:ext cx="1045047" cy="579723"/>
          </a:xfrm>
          <a:prstGeom prst="rect">
            <a:avLst/>
          </a:prstGeom>
          <a:solidFill>
            <a:srgbClr val="A9D18E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Traiter</a:t>
            </a:r>
          </a:p>
        </p:txBody>
      </p:sp>
      <p:sp>
        <p:nvSpPr>
          <p:cNvPr id="15" name="Rejeter" descr="D"/>
          <p:cNvSpPr/>
          <p:nvPr/>
        </p:nvSpPr>
        <p:spPr>
          <a:xfrm>
            <a:off x="6327889" y="4499308"/>
            <a:ext cx="1045047" cy="579723"/>
          </a:xfrm>
          <a:prstGeom prst="rect">
            <a:avLst/>
          </a:prstGeom>
          <a:solidFill>
            <a:srgbClr val="F4B18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Rejeter</a:t>
            </a:r>
          </a:p>
        </p:txBody>
      </p:sp>
      <p:sp>
        <p:nvSpPr>
          <p:cNvPr id="16" name="Reponse" descr="E"/>
          <p:cNvSpPr/>
          <p:nvPr/>
        </p:nvSpPr>
        <p:spPr>
          <a:xfrm>
            <a:off x="5573476" y="5821077"/>
            <a:ext cx="1045047" cy="579723"/>
          </a:xfrm>
          <a:prstGeom prst="roundRect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Reponse</a:t>
            </a:r>
          </a:p>
        </p:txBody>
      </p:sp>
      <p:cxnSp>
        <p:nvCxnSpPr>
          <p:cNvPr id="19" name="A--B"/>
          <p:cNvCxnSpPr>
            <a:stCxn id="12" idx="2"/>
            <a:endCxn id="13" idx="0"/>
          </p:cNvCxnSpPr>
          <p:nvPr/>
        </p:nvCxnSpPr>
        <p:spPr>
          <a:xfrm>
            <a:off x="6096000" y="2103120"/>
            <a:ext cx="0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C"/>
          <p:cNvCxnSpPr>
            <a:stCxn id="13" idx="2"/>
            <a:endCxn id="14" idx="0"/>
          </p:cNvCxnSpPr>
          <p:nvPr/>
        </p:nvCxnSpPr>
        <p:spPr>
          <a:xfrm flipH="1">
            <a:off x="5341587" y="3880937"/>
            <a:ext cx="754413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5523388" y="4097367"/>
            <a:ext cx="390811" cy="1855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919" tIns="0" rIns="3091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2" name="B--D"/>
          <p:cNvCxnSpPr>
            <a:stCxn id="13" idx="2"/>
            <a:endCxn id="15" idx="0"/>
          </p:cNvCxnSpPr>
          <p:nvPr/>
        </p:nvCxnSpPr>
        <p:spPr>
          <a:xfrm>
            <a:off x="6096000" y="3880937"/>
            <a:ext cx="754413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6277801" y="4097367"/>
            <a:ext cx="390811" cy="1855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919" tIns="0" rIns="3091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4" name="C--E"/>
          <p:cNvCxnSpPr>
            <a:stCxn id="14" idx="2"/>
            <a:endCxn id="16" idx="0"/>
          </p:cNvCxnSpPr>
          <p:nvPr/>
        </p:nvCxnSpPr>
        <p:spPr>
          <a:xfrm>
            <a:off x="5341587" y="5079032"/>
            <a:ext cx="754413" cy="742045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D--E"/>
          <p:cNvCxnSpPr>
            <a:stCxn id="15" idx="2"/>
            <a:endCxn id="16" idx="0"/>
          </p:cNvCxnSpPr>
          <p:nvPr/>
        </p:nvCxnSpPr>
        <p:spPr>
          <a:xfrm flipH="1">
            <a:off x="6096000" y="5079032"/>
            <a:ext cx="754413" cy="742045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multiple-subgraphs</a:t>
            </a:r>
          </a:p>
        </p:txBody>
      </p:sp>
      <p:sp>
        <p:nvSpPr>
          <p:cNvPr id="20" name="Collecte des donnees (container)"/>
          <p:cNvSpPr/>
          <p:nvPr/>
        </p:nvSpPr>
        <p:spPr>
          <a:xfrm>
            <a:off x="457200" y="2544349"/>
            <a:ext cx="2492880" cy="234080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1" name="Collecte des donnees"/>
          <p:cNvSpPr/>
          <p:nvPr/>
        </p:nvSpPr>
        <p:spPr>
          <a:xfrm>
            <a:off x="457200" y="2544349"/>
            <a:ext cx="2492880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Collecte des donnees</a:t>
            </a:r>
          </a:p>
        </p:txBody>
      </p:sp>
      <p:sp>
        <p:nvSpPr>
          <p:cNvPr id="22" name="Traitement (container)"/>
          <p:cNvSpPr/>
          <p:nvPr/>
        </p:nvSpPr>
        <p:spPr>
          <a:xfrm>
            <a:off x="3546463" y="2684126"/>
            <a:ext cx="4598112" cy="198670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3" name="Traitement"/>
          <p:cNvSpPr/>
          <p:nvPr/>
        </p:nvSpPr>
        <p:spPr>
          <a:xfrm>
            <a:off x="3546463" y="2684126"/>
            <a:ext cx="4598112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24" name="Livraison (container)"/>
          <p:cNvSpPr/>
          <p:nvPr/>
        </p:nvSpPr>
        <p:spPr>
          <a:xfrm>
            <a:off x="8740958" y="3047547"/>
            <a:ext cx="2993842" cy="1334407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5" name="Livraison"/>
          <p:cNvSpPr/>
          <p:nvPr/>
        </p:nvSpPr>
        <p:spPr>
          <a:xfrm>
            <a:off x="8740958" y="3047547"/>
            <a:ext cx="2993842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Livraison</a:t>
            </a:r>
          </a:p>
        </p:txBody>
      </p:sp>
      <p:sp>
        <p:nvSpPr>
          <p:cNvPr id="12" name="API" descr="A"/>
          <p:cNvSpPr/>
          <p:nvPr/>
        </p:nvSpPr>
        <p:spPr>
          <a:xfrm>
            <a:off x="755391" y="3524653"/>
            <a:ext cx="614274" cy="559109"/>
          </a:xfrm>
          <a:prstGeom prst="rect">
            <a:avLst/>
          </a:prstGeom>
          <a:solidFill>
            <a:srgbClr val="BBDEFB"/>
          </a:solidFill>
          <a:ln w="994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API</a:t>
            </a:r>
          </a:p>
        </p:txBody>
      </p:sp>
      <p:sp>
        <p:nvSpPr>
          <p:cNvPr id="13" name="Base" descr="B"/>
          <p:cNvSpPr/>
          <p:nvPr/>
        </p:nvSpPr>
        <p:spPr>
          <a:xfrm>
            <a:off x="1966049" y="3021455"/>
            <a:ext cx="685840" cy="559109"/>
          </a:xfrm>
          <a:prstGeom prst="rect">
            <a:avLst/>
          </a:prstGeom>
          <a:solidFill>
            <a:srgbClr val="C8E6C9"/>
          </a:solidFill>
          <a:ln w="994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Base</a:t>
            </a:r>
          </a:p>
        </p:txBody>
      </p:sp>
      <p:sp>
        <p:nvSpPr>
          <p:cNvPr id="14" name="Logs" descr="C"/>
          <p:cNvSpPr/>
          <p:nvPr/>
        </p:nvSpPr>
        <p:spPr>
          <a:xfrm>
            <a:off x="1966049" y="4027851"/>
            <a:ext cx="685840" cy="559109"/>
          </a:xfrm>
          <a:prstGeom prst="rect">
            <a:avLst/>
          </a:prstGeom>
          <a:solidFill>
            <a:srgbClr val="FFE0B2"/>
          </a:solidFill>
          <a:ln w="9940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Logs</a:t>
            </a:r>
          </a:p>
        </p:txBody>
      </p:sp>
      <p:sp>
        <p:nvSpPr>
          <p:cNvPr id="15" name="Propre" descr="D"/>
          <p:cNvSpPr/>
          <p:nvPr/>
        </p:nvSpPr>
        <p:spPr>
          <a:xfrm>
            <a:off x="3844655" y="3524653"/>
            <a:ext cx="900538" cy="559109"/>
          </a:xfrm>
          <a:prstGeom prst="rect">
            <a:avLst/>
          </a:prstGeom>
          <a:solidFill>
            <a:srgbClr val="E1BEE7"/>
          </a:solidFill>
          <a:ln w="9940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Propre</a:t>
            </a:r>
          </a:p>
        </p:txBody>
      </p:sp>
      <p:sp>
        <p:nvSpPr>
          <p:cNvPr id="16" name="Aggrege" descr="E"/>
          <p:cNvSpPr/>
          <p:nvPr/>
        </p:nvSpPr>
        <p:spPr>
          <a:xfrm>
            <a:off x="5341576" y="3524653"/>
            <a:ext cx="1007887" cy="559109"/>
          </a:xfrm>
          <a:prstGeom prst="rect">
            <a:avLst/>
          </a:prstGeom>
          <a:solidFill>
            <a:srgbClr val="FFCDD2"/>
          </a:solidFill>
          <a:ln w="9940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Aggrege</a:t>
            </a:r>
          </a:p>
        </p:txBody>
      </p:sp>
      <p:sp>
        <p:nvSpPr>
          <p:cNvPr id="17" name="Stocke" descr="F"/>
          <p:cNvSpPr/>
          <p:nvPr/>
        </p:nvSpPr>
        <p:spPr>
          <a:xfrm>
            <a:off x="6945846" y="3524653"/>
            <a:ext cx="900538" cy="559109"/>
          </a:xfrm>
          <a:prstGeom prst="rect">
            <a:avLst/>
          </a:prstGeom>
          <a:solidFill>
            <a:srgbClr val="FFF9C4"/>
          </a:solidFill>
          <a:ln w="994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Stocke</a:t>
            </a:r>
          </a:p>
        </p:txBody>
      </p:sp>
      <p:sp>
        <p:nvSpPr>
          <p:cNvPr id="18" name="Rapport" descr="G"/>
          <p:cNvSpPr/>
          <p:nvPr/>
        </p:nvSpPr>
        <p:spPr>
          <a:xfrm>
            <a:off x="9039149" y="3524653"/>
            <a:ext cx="1007887" cy="559109"/>
          </a:xfrm>
          <a:prstGeom prst="rect">
            <a:avLst/>
          </a:prstGeom>
          <a:solidFill>
            <a:srgbClr val="BBDEFB"/>
          </a:solidFill>
          <a:ln w="994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Rapport</a:t>
            </a:r>
          </a:p>
        </p:txBody>
      </p:sp>
      <p:sp>
        <p:nvSpPr>
          <p:cNvPr id="19" name="Email" descr="H"/>
          <p:cNvSpPr/>
          <p:nvPr/>
        </p:nvSpPr>
        <p:spPr>
          <a:xfrm>
            <a:off x="10643419" y="3524653"/>
            <a:ext cx="793189" cy="559109"/>
          </a:xfrm>
          <a:prstGeom prst="rect">
            <a:avLst/>
          </a:prstGeom>
          <a:solidFill>
            <a:srgbClr val="C8E6C9"/>
          </a:solidFill>
          <a:ln w="994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Email</a:t>
            </a:r>
          </a:p>
        </p:txBody>
      </p:sp>
      <p:cxnSp>
        <p:nvCxnSpPr>
          <p:cNvPr id="26" name="A--B"/>
          <p:cNvCxnSpPr>
            <a:stCxn id="12" idx="3"/>
            <a:endCxn id="13" idx="1"/>
          </p:cNvCxnSpPr>
          <p:nvPr/>
        </p:nvCxnSpPr>
        <p:spPr>
          <a:xfrm flipV="1">
            <a:off x="1369666" y="3301010"/>
            <a:ext cx="596383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--C"/>
          <p:cNvCxnSpPr>
            <a:stCxn id="12" idx="3"/>
            <a:endCxn id="14" idx="1"/>
          </p:cNvCxnSpPr>
          <p:nvPr/>
        </p:nvCxnSpPr>
        <p:spPr>
          <a:xfrm>
            <a:off x="1369666" y="3804208"/>
            <a:ext cx="596383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3"/>
            <a:endCxn id="16" idx="1"/>
          </p:cNvCxnSpPr>
          <p:nvPr/>
        </p:nvCxnSpPr>
        <p:spPr>
          <a:xfrm>
            <a:off x="4745193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--F"/>
          <p:cNvCxnSpPr>
            <a:stCxn id="16" idx="3"/>
            <a:endCxn id="17" idx="1"/>
          </p:cNvCxnSpPr>
          <p:nvPr/>
        </p:nvCxnSpPr>
        <p:spPr>
          <a:xfrm>
            <a:off x="6349463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--H"/>
          <p:cNvCxnSpPr>
            <a:stCxn id="18" idx="3"/>
            <a:endCxn id="19" idx="1"/>
          </p:cNvCxnSpPr>
          <p:nvPr/>
        </p:nvCxnSpPr>
        <p:spPr>
          <a:xfrm>
            <a:off x="10047036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B--D"/>
          <p:cNvCxnSpPr>
            <a:stCxn id="13" idx="3"/>
            <a:endCxn id="15" idx="1"/>
          </p:cNvCxnSpPr>
          <p:nvPr/>
        </p:nvCxnSpPr>
        <p:spPr>
          <a:xfrm>
            <a:off x="2651889" y="3301010"/>
            <a:ext cx="1192766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--D"/>
          <p:cNvCxnSpPr>
            <a:stCxn id="14" idx="3"/>
            <a:endCxn id="15" idx="1"/>
          </p:cNvCxnSpPr>
          <p:nvPr/>
        </p:nvCxnSpPr>
        <p:spPr>
          <a:xfrm flipV="1">
            <a:off x="2651889" y="3804208"/>
            <a:ext cx="1192766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F--G"/>
          <p:cNvCxnSpPr>
            <a:stCxn id="17" idx="3"/>
            <a:endCxn id="18" idx="1"/>
          </p:cNvCxnSpPr>
          <p:nvPr/>
        </p:nvCxnSpPr>
        <p:spPr>
          <a:xfrm>
            <a:off x="7846384" y="3804208"/>
            <a:ext cx="1192765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nested-3-levels</a:t>
            </a:r>
          </a:p>
        </p:txBody>
      </p:sp>
      <p:sp>
        <p:nvSpPr>
          <p:cNvPr id="19" name="Niveau 1 (container)"/>
          <p:cNvSpPr/>
          <p:nvPr/>
        </p:nvSpPr>
        <p:spPr>
          <a:xfrm>
            <a:off x="3472085" y="102870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Niveau 1"/>
          <p:cNvSpPr/>
          <p:nvPr/>
        </p:nvSpPr>
        <p:spPr>
          <a:xfrm>
            <a:off x="3472085" y="102870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1</a:t>
            </a:r>
          </a:p>
        </p:txBody>
      </p:sp>
      <p:sp>
        <p:nvSpPr>
          <p:cNvPr id="21" name="Niveau 2 (container)"/>
          <p:cNvSpPr/>
          <p:nvPr/>
        </p:nvSpPr>
        <p:spPr>
          <a:xfrm>
            <a:off x="3409950" y="2815085"/>
            <a:ext cx="86644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Niveau 2"/>
          <p:cNvSpPr/>
          <p:nvPr/>
        </p:nvSpPr>
        <p:spPr>
          <a:xfrm>
            <a:off x="3409950" y="2815085"/>
            <a:ext cx="86644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2</a:t>
            </a:r>
          </a:p>
        </p:txBody>
      </p:sp>
      <p:sp>
        <p:nvSpPr>
          <p:cNvPr id="23" name="Niveau 3 (container)"/>
          <p:cNvSpPr/>
          <p:nvPr/>
        </p:nvSpPr>
        <p:spPr>
          <a:xfrm>
            <a:off x="3472085" y="460147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4" name="Niveau 3"/>
          <p:cNvSpPr/>
          <p:nvPr/>
        </p:nvSpPr>
        <p:spPr>
          <a:xfrm>
            <a:off x="3472085" y="460147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3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692147" y="1304856"/>
            <a:ext cx="302046" cy="323620"/>
          </a:xfrm>
          <a:prstGeom prst="rect">
            <a:avLst/>
          </a:prstGeom>
          <a:solidFill>
            <a:srgbClr val="C8E6C9"/>
          </a:solidFill>
          <a:ln w="575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644683" y="1973672"/>
            <a:ext cx="396974" cy="323620"/>
          </a:xfrm>
          <a:prstGeom prst="rect">
            <a:avLst/>
          </a:prstGeom>
          <a:solidFill>
            <a:srgbClr val="FFE0B2"/>
          </a:solidFill>
          <a:ln w="575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613615" y="3091241"/>
            <a:ext cx="459110" cy="323620"/>
          </a:xfrm>
          <a:prstGeom prst="rect">
            <a:avLst/>
          </a:prstGeom>
          <a:solidFill>
            <a:srgbClr val="E1BEE7"/>
          </a:solidFill>
          <a:ln w="575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582548" y="3760057"/>
            <a:ext cx="521245" cy="323620"/>
          </a:xfrm>
          <a:prstGeom prst="rect">
            <a:avLst/>
          </a:prstGeom>
          <a:solidFill>
            <a:srgbClr val="FFCDD2"/>
          </a:solidFill>
          <a:ln w="575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644683" y="4877626"/>
            <a:ext cx="396974" cy="323620"/>
          </a:xfrm>
          <a:prstGeom prst="rect">
            <a:avLst/>
          </a:prstGeom>
          <a:solidFill>
            <a:srgbClr val="FFF9C4"/>
          </a:solidFill>
          <a:ln w="575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Cinq</a:t>
            </a:r>
          </a:p>
        </p:txBody>
      </p:sp>
      <p:sp>
        <p:nvSpPr>
          <p:cNvPr id="17" name="Six" descr="F"/>
          <p:cNvSpPr/>
          <p:nvPr/>
        </p:nvSpPr>
        <p:spPr>
          <a:xfrm>
            <a:off x="3675750" y="5546442"/>
            <a:ext cx="334839" cy="323620"/>
          </a:xfrm>
          <a:prstGeom prst="rect">
            <a:avLst/>
          </a:prstGeom>
          <a:solidFill>
            <a:srgbClr val="BBDEFB"/>
          </a:solidFill>
          <a:ln w="5753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Six</a:t>
            </a:r>
          </a:p>
        </p:txBody>
      </p:sp>
      <p:sp>
        <p:nvSpPr>
          <p:cNvPr id="18" name="Sept" descr="G"/>
          <p:cNvSpPr/>
          <p:nvPr/>
        </p:nvSpPr>
        <p:spPr>
          <a:xfrm>
            <a:off x="3644683" y="6077180"/>
            <a:ext cx="396974" cy="323620"/>
          </a:xfrm>
          <a:prstGeom prst="rect">
            <a:avLst/>
          </a:prstGeom>
          <a:solidFill>
            <a:srgbClr val="C8E6C9"/>
          </a:solidFill>
          <a:ln w="575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Sept</a:t>
            </a:r>
          </a:p>
        </p:txBody>
      </p:sp>
      <p:cxnSp>
        <p:nvCxnSpPr>
          <p:cNvPr id="25" name="A--B"/>
          <p:cNvCxnSpPr>
            <a:stCxn id="12" idx="2"/>
            <a:endCxn id="13" idx="0"/>
          </p:cNvCxnSpPr>
          <p:nvPr/>
        </p:nvCxnSpPr>
        <p:spPr>
          <a:xfrm>
            <a:off x="3843170" y="162847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3843170" y="3414862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--F"/>
          <p:cNvCxnSpPr>
            <a:stCxn id="16" idx="2"/>
            <a:endCxn id="17" idx="0"/>
          </p:cNvCxnSpPr>
          <p:nvPr/>
        </p:nvCxnSpPr>
        <p:spPr>
          <a:xfrm>
            <a:off x="3843170" y="520124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>
            <a:off x="3843170" y="4083677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--C"/>
          <p:cNvCxnSpPr>
            <a:stCxn id="13" idx="2"/>
            <a:endCxn id="14" idx="0"/>
          </p:cNvCxnSpPr>
          <p:nvPr/>
        </p:nvCxnSpPr>
        <p:spPr>
          <a:xfrm>
            <a:off x="3843170" y="2297292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F--G"/>
          <p:cNvCxnSpPr>
            <a:stCxn id="17" idx="2"/>
            <a:endCxn id="18" idx="0"/>
          </p:cNvCxnSpPr>
          <p:nvPr/>
        </p:nvCxnSpPr>
        <p:spPr>
          <a:xfrm>
            <a:off x="3843170" y="5870062"/>
            <a:ext cx="0" cy="207118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order-flow</a:t>
            </a:r>
          </a:p>
        </p:txBody>
      </p:sp>
      <p:sp>
        <p:nvSpPr>
          <p:cNvPr id="12" name="Commande recue" descr="A"/>
          <p:cNvSpPr/>
          <p:nvPr/>
        </p:nvSpPr>
        <p:spPr>
          <a:xfrm>
            <a:off x="3802997" y="1028700"/>
            <a:ext cx="508649" cy="357007"/>
          </a:xfrm>
          <a:prstGeom prst="rect">
            <a:avLst/>
          </a:prstGeom>
          <a:solidFill>
            <a:srgbClr val="FFE0B2"/>
          </a:solidFill>
          <a:ln w="453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Commande recue</a:t>
            </a:r>
          </a:p>
        </p:txBody>
      </p:sp>
      <p:sp>
        <p:nvSpPr>
          <p:cNvPr id="13" name="Stock disponible?" descr="B"/>
          <p:cNvSpPr/>
          <p:nvPr/>
        </p:nvSpPr>
        <p:spPr>
          <a:xfrm>
            <a:off x="3409950" y="1657712"/>
            <a:ext cx="1294744" cy="714013"/>
          </a:xfrm>
          <a:prstGeom prst="diamond">
            <a:avLst/>
          </a:prstGeom>
          <a:solidFill>
            <a:srgbClr val="E1BEE7"/>
          </a:solidFill>
          <a:ln w="453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Stock disponible?</a:t>
            </a:r>
          </a:p>
        </p:txBody>
      </p:sp>
      <p:sp>
        <p:nvSpPr>
          <p:cNvPr id="14" name="Reserver stock" descr="C"/>
          <p:cNvSpPr/>
          <p:nvPr/>
        </p:nvSpPr>
        <p:spPr>
          <a:xfrm>
            <a:off x="4320487" y="2643730"/>
            <a:ext cx="508649" cy="357007"/>
          </a:xfrm>
          <a:prstGeom prst="rect">
            <a:avLst/>
          </a:prstGeom>
          <a:solidFill>
            <a:srgbClr val="FFCDD2"/>
          </a:solidFill>
          <a:ln w="453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Reserver stock</a:t>
            </a:r>
          </a:p>
        </p:txBody>
      </p:sp>
      <p:sp>
        <p:nvSpPr>
          <p:cNvPr id="15" name="Notifier rupture" descr="D"/>
          <p:cNvSpPr/>
          <p:nvPr/>
        </p:nvSpPr>
        <p:spPr>
          <a:xfrm>
            <a:off x="3505152" y="5516784"/>
            <a:ext cx="508649" cy="357007"/>
          </a:xfrm>
          <a:prstGeom prst="rect">
            <a:avLst/>
          </a:prstGeom>
          <a:solidFill>
            <a:srgbClr val="FFF9C4"/>
          </a:solidFill>
          <a:ln w="453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rupture</a:t>
            </a:r>
          </a:p>
        </p:txBody>
      </p:sp>
      <p:sp>
        <p:nvSpPr>
          <p:cNvPr id="16" name="Preparer colis" descr="E"/>
          <p:cNvSpPr/>
          <p:nvPr/>
        </p:nvSpPr>
        <p:spPr>
          <a:xfrm>
            <a:off x="4320487" y="3272742"/>
            <a:ext cx="508649" cy="357007"/>
          </a:xfrm>
          <a:prstGeom prst="rect">
            <a:avLst/>
          </a:prstGeom>
          <a:solidFill>
            <a:srgbClr val="BBDEFB"/>
          </a:solidFill>
          <a:ln w="4533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Preparer colis</a:t>
            </a:r>
          </a:p>
        </p:txBody>
      </p:sp>
      <p:sp>
        <p:nvSpPr>
          <p:cNvPr id="17" name="Adresse valide?" descr="F"/>
          <p:cNvSpPr/>
          <p:nvPr/>
        </p:nvSpPr>
        <p:spPr>
          <a:xfrm>
            <a:off x="4115123" y="3901753"/>
            <a:ext cx="919377" cy="714013"/>
          </a:xfrm>
          <a:prstGeom prst="diamond">
            <a:avLst/>
          </a:prstGeom>
          <a:solidFill>
            <a:srgbClr val="C8E6C9"/>
          </a:solidFill>
          <a:ln w="453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Adresse valide?</a:t>
            </a:r>
          </a:p>
        </p:txBody>
      </p:sp>
      <p:sp>
        <p:nvSpPr>
          <p:cNvPr id="18" name="Expedier" descr="G"/>
          <p:cNvSpPr/>
          <p:nvPr/>
        </p:nvSpPr>
        <p:spPr>
          <a:xfrm>
            <a:off x="4813496" y="4938773"/>
            <a:ext cx="508649" cy="255005"/>
          </a:xfrm>
          <a:prstGeom prst="rect">
            <a:avLst/>
          </a:prstGeom>
          <a:solidFill>
            <a:srgbClr val="FFE0B2"/>
          </a:solidFill>
          <a:ln w="453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Expedier</a:t>
            </a:r>
          </a:p>
        </p:txBody>
      </p:sp>
      <p:sp>
        <p:nvSpPr>
          <p:cNvPr id="19" name="Corriger adresse" descr="H"/>
          <p:cNvSpPr/>
          <p:nvPr/>
        </p:nvSpPr>
        <p:spPr>
          <a:xfrm>
            <a:off x="4100843" y="4887772"/>
            <a:ext cx="508649" cy="357007"/>
          </a:xfrm>
          <a:prstGeom prst="rect">
            <a:avLst/>
          </a:prstGeom>
          <a:solidFill>
            <a:srgbClr val="E1BEE7"/>
          </a:solidFill>
          <a:ln w="453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Corriger adresse</a:t>
            </a:r>
          </a:p>
        </p:txBody>
      </p:sp>
      <p:sp>
        <p:nvSpPr>
          <p:cNvPr id="20" name="Notifier client" descr="I"/>
          <p:cNvSpPr/>
          <p:nvPr/>
        </p:nvSpPr>
        <p:spPr>
          <a:xfrm>
            <a:off x="4813496" y="5516784"/>
            <a:ext cx="508649" cy="357007"/>
          </a:xfrm>
          <a:prstGeom prst="rect">
            <a:avLst/>
          </a:prstGeom>
          <a:solidFill>
            <a:srgbClr val="FFCDD2"/>
          </a:solidFill>
          <a:ln w="453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client</a:t>
            </a:r>
          </a:p>
        </p:txBody>
      </p:sp>
      <p:sp>
        <p:nvSpPr>
          <p:cNvPr id="21" name="Fin" descr="J"/>
          <p:cNvSpPr/>
          <p:nvPr/>
        </p:nvSpPr>
        <p:spPr>
          <a:xfrm>
            <a:off x="4281726" y="6145795"/>
            <a:ext cx="263845" cy="255005"/>
          </a:xfrm>
          <a:prstGeom prst="rect">
            <a:avLst/>
          </a:prstGeom>
          <a:solidFill>
            <a:srgbClr val="FFF9C4"/>
          </a:solidFill>
          <a:ln w="453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4057322" y="138570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57322" y="2371725"/>
            <a:ext cx="51749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dgeLabel"/>
          <p:cNvSpPr txBox="1"/>
          <p:nvPr/>
        </p:nvSpPr>
        <p:spPr>
          <a:xfrm>
            <a:off x="4230113" y="2466927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5" name="B--D"/>
          <p:cNvCxnSpPr>
            <a:stCxn id="13" idx="2"/>
            <a:endCxn id="15" idx="0"/>
          </p:cNvCxnSpPr>
          <p:nvPr/>
        </p:nvCxnSpPr>
        <p:spPr>
          <a:xfrm flipH="1">
            <a:off x="3759477" y="2371725"/>
            <a:ext cx="297845" cy="3145059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dgeLabel"/>
          <p:cNvSpPr txBox="1"/>
          <p:nvPr/>
        </p:nvSpPr>
        <p:spPr>
          <a:xfrm>
            <a:off x="3822446" y="3903453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7" name="C--E"/>
          <p:cNvCxnSpPr>
            <a:stCxn id="14" idx="2"/>
            <a:endCxn id="16" idx="0"/>
          </p:cNvCxnSpPr>
          <p:nvPr/>
        </p:nvCxnSpPr>
        <p:spPr>
          <a:xfrm>
            <a:off x="4574812" y="300073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--F"/>
          <p:cNvCxnSpPr>
            <a:stCxn id="16" idx="2"/>
            <a:endCxn id="17" idx="0"/>
          </p:cNvCxnSpPr>
          <p:nvPr/>
        </p:nvCxnSpPr>
        <p:spPr>
          <a:xfrm>
            <a:off x="4574812" y="3629748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F--G"/>
          <p:cNvCxnSpPr>
            <a:stCxn id="17" idx="2"/>
            <a:endCxn id="18" idx="0"/>
          </p:cNvCxnSpPr>
          <p:nvPr/>
        </p:nvCxnSpPr>
        <p:spPr>
          <a:xfrm>
            <a:off x="4574812" y="4615767"/>
            <a:ext cx="493009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735363" y="4736469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F--H"/>
          <p:cNvCxnSpPr>
            <a:stCxn id="17" idx="2"/>
            <a:endCxn id="19" idx="0"/>
          </p:cNvCxnSpPr>
          <p:nvPr/>
        </p:nvCxnSpPr>
        <p:spPr>
          <a:xfrm flipH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dgeLabel"/>
          <p:cNvSpPr txBox="1"/>
          <p:nvPr/>
        </p:nvSpPr>
        <p:spPr>
          <a:xfrm>
            <a:off x="4379036" y="4710968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3" name="H--F"/>
          <p:cNvCxnSpPr>
            <a:stCxn id="19" idx="0"/>
            <a:endCxn id="17" idx="2"/>
          </p:cNvCxnSpPr>
          <p:nvPr/>
        </p:nvCxnSpPr>
        <p:spPr>
          <a:xfrm flipV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--I"/>
          <p:cNvCxnSpPr>
            <a:stCxn id="18" idx="2"/>
            <a:endCxn id="20" idx="0"/>
          </p:cNvCxnSpPr>
          <p:nvPr/>
        </p:nvCxnSpPr>
        <p:spPr>
          <a:xfrm>
            <a:off x="5067821" y="5193778"/>
            <a:ext cx="0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D--J"/>
          <p:cNvCxnSpPr>
            <a:stCxn id="15" idx="3"/>
            <a:endCxn id="21" idx="1"/>
          </p:cNvCxnSpPr>
          <p:nvPr/>
        </p:nvCxnSpPr>
        <p:spPr>
          <a:xfrm>
            <a:off x="401380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--J"/>
          <p:cNvCxnSpPr>
            <a:stCxn id="20" idx="1"/>
            <a:endCxn id="21" idx="3"/>
          </p:cNvCxnSpPr>
          <p:nvPr/>
        </p:nvCxnSpPr>
        <p:spPr>
          <a:xfrm flipH="1">
            <a:off x="454557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packet</a:t>
            </a:r>
          </a:p>
        </p:txBody>
      </p:sp>
      <p:sp>
        <p:nvSpPr>
          <p:cNvPr id="11" name="Box 1"/>
          <p:cNvSpPr/>
          <p:nvPr/>
        </p:nvSpPr>
        <p:spPr>
          <a:xfrm>
            <a:off x="3145128" y="1142195"/>
            <a:ext cx="5901744" cy="3783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0" dirty="0">
                <a:solidFill>
                  <a:srgbClr val="000000"/>
                </a:solidFill>
              </a:rPr>
              <a:t>TCP Packet</a:t>
            </a:r>
          </a:p>
        </p:txBody>
      </p:sp>
      <p:sp>
        <p:nvSpPr>
          <p:cNvPr id="12" name="Box 2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13" name="Box 3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4" name="Box 4"/>
          <p:cNvSpPr/>
          <p:nvPr/>
        </p:nvSpPr>
        <p:spPr>
          <a:xfrm>
            <a:off x="3372118" y="1785334"/>
            <a:ext cx="2723882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Source Port</a:t>
            </a:r>
          </a:p>
        </p:txBody>
      </p:sp>
      <p:sp>
        <p:nvSpPr>
          <p:cNvPr id="15" name="Box 5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</a:t>
            </a:r>
          </a:p>
        </p:txBody>
      </p:sp>
      <p:sp>
        <p:nvSpPr>
          <p:cNvPr id="16" name="Box 6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31</a:t>
            </a:r>
          </a:p>
        </p:txBody>
      </p:sp>
      <p:sp>
        <p:nvSpPr>
          <p:cNvPr id="17" name="Box 7"/>
          <p:cNvSpPr/>
          <p:nvPr/>
        </p:nvSpPr>
        <p:spPr>
          <a:xfrm>
            <a:off x="6096000" y="1785334"/>
            <a:ext cx="2723882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Destination Port</a:t>
            </a:r>
          </a:p>
        </p:txBody>
      </p:sp>
      <p:sp>
        <p:nvSpPr>
          <p:cNvPr id="18" name="Box 8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32</a:t>
            </a:r>
          </a:p>
        </p:txBody>
      </p:sp>
      <p:sp>
        <p:nvSpPr>
          <p:cNvPr id="19" name="Box 9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63</a:t>
            </a:r>
          </a:p>
        </p:txBody>
      </p:sp>
      <p:sp>
        <p:nvSpPr>
          <p:cNvPr id="20" name="Box 10"/>
          <p:cNvSpPr/>
          <p:nvPr/>
        </p:nvSpPr>
        <p:spPr>
          <a:xfrm>
            <a:off x="3372118" y="2352809"/>
            <a:ext cx="544776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Sequence Number</a:t>
            </a:r>
          </a:p>
        </p:txBody>
      </p:sp>
      <p:sp>
        <p:nvSpPr>
          <p:cNvPr id="21" name="Box 11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64</a:t>
            </a:r>
          </a:p>
        </p:txBody>
      </p:sp>
      <p:sp>
        <p:nvSpPr>
          <p:cNvPr id="22" name="Box 12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95</a:t>
            </a:r>
          </a:p>
        </p:txBody>
      </p:sp>
      <p:sp>
        <p:nvSpPr>
          <p:cNvPr id="23" name="Box 13"/>
          <p:cNvSpPr/>
          <p:nvPr/>
        </p:nvSpPr>
        <p:spPr>
          <a:xfrm>
            <a:off x="3372118" y="2920285"/>
            <a:ext cx="544776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Acknowledgment Number</a:t>
            </a:r>
          </a:p>
        </p:txBody>
      </p:sp>
      <p:sp>
        <p:nvSpPr>
          <p:cNvPr id="24" name="Box 14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96</a:t>
            </a:r>
          </a:p>
        </p:txBody>
      </p:sp>
      <p:sp>
        <p:nvSpPr>
          <p:cNvPr id="25" name="Box 15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99</a:t>
            </a:r>
          </a:p>
        </p:txBody>
      </p:sp>
      <p:sp>
        <p:nvSpPr>
          <p:cNvPr id="26" name="Box 16"/>
          <p:cNvSpPr/>
          <p:nvPr/>
        </p:nvSpPr>
        <p:spPr>
          <a:xfrm>
            <a:off x="3372118" y="3487760"/>
            <a:ext cx="680970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Offset</a:t>
            </a:r>
          </a:p>
        </p:txBody>
      </p:sp>
      <p:sp>
        <p:nvSpPr>
          <p:cNvPr id="27" name="Box 17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28" name="Box 18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105</a:t>
            </a:r>
          </a:p>
        </p:txBody>
      </p:sp>
      <p:sp>
        <p:nvSpPr>
          <p:cNvPr id="29" name="Box 19"/>
          <p:cNvSpPr/>
          <p:nvPr/>
        </p:nvSpPr>
        <p:spPr>
          <a:xfrm>
            <a:off x="4053089" y="3487760"/>
            <a:ext cx="1021456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Reserved</a:t>
            </a:r>
          </a:p>
        </p:txBody>
      </p:sp>
      <p:sp>
        <p:nvSpPr>
          <p:cNvPr id="30" name="Box 20"/>
          <p:cNvSpPr/>
          <p:nvPr/>
        </p:nvSpPr>
        <p:spPr>
          <a:xfrm>
            <a:off x="5074544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106</a:t>
            </a:r>
          </a:p>
        </p:txBody>
      </p:sp>
      <p:sp>
        <p:nvSpPr>
          <p:cNvPr id="31" name="Box 21"/>
          <p:cNvSpPr/>
          <p:nvPr/>
        </p:nvSpPr>
        <p:spPr>
          <a:xfrm>
            <a:off x="5074544" y="3487760"/>
            <a:ext cx="170243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URG</a:t>
            </a:r>
          </a:p>
        </p:txBody>
      </p:sp>
      <p:sp>
        <p:nvSpPr>
          <p:cNvPr id="32" name="Box 22"/>
          <p:cNvSpPr/>
          <p:nvPr/>
        </p:nvSpPr>
        <p:spPr>
          <a:xfrm>
            <a:off x="524478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107</a:t>
            </a:r>
          </a:p>
        </p:txBody>
      </p:sp>
      <p:sp>
        <p:nvSpPr>
          <p:cNvPr id="33" name="Box 23"/>
          <p:cNvSpPr/>
          <p:nvPr/>
        </p:nvSpPr>
        <p:spPr>
          <a:xfrm>
            <a:off x="5244787" y="3487760"/>
            <a:ext cx="17024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ACK</a:t>
            </a:r>
          </a:p>
        </p:txBody>
      </p:sp>
      <p:sp>
        <p:nvSpPr>
          <p:cNvPr id="34" name="Box 24"/>
          <p:cNvSpPr/>
          <p:nvPr/>
        </p:nvSpPr>
        <p:spPr>
          <a:xfrm>
            <a:off x="5415029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108</a:t>
            </a:r>
          </a:p>
        </p:txBody>
      </p:sp>
      <p:sp>
        <p:nvSpPr>
          <p:cNvPr id="35" name="Box 25"/>
          <p:cNvSpPr/>
          <p:nvPr/>
        </p:nvSpPr>
        <p:spPr>
          <a:xfrm>
            <a:off x="5415029" y="3487760"/>
            <a:ext cx="17024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PSH</a:t>
            </a:r>
          </a:p>
        </p:txBody>
      </p:sp>
      <p:sp>
        <p:nvSpPr>
          <p:cNvPr id="36" name="Box 26"/>
          <p:cNvSpPr/>
          <p:nvPr/>
        </p:nvSpPr>
        <p:spPr>
          <a:xfrm>
            <a:off x="5585272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109</a:t>
            </a:r>
          </a:p>
        </p:txBody>
      </p:sp>
      <p:sp>
        <p:nvSpPr>
          <p:cNvPr id="37" name="Box 27"/>
          <p:cNvSpPr/>
          <p:nvPr/>
        </p:nvSpPr>
        <p:spPr>
          <a:xfrm>
            <a:off x="5585272" y="3487760"/>
            <a:ext cx="170243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38" name="Box 28"/>
          <p:cNvSpPr/>
          <p:nvPr/>
        </p:nvSpPr>
        <p:spPr>
          <a:xfrm>
            <a:off x="5755515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110</a:t>
            </a:r>
          </a:p>
        </p:txBody>
      </p:sp>
      <p:sp>
        <p:nvSpPr>
          <p:cNvPr id="39" name="Box 29"/>
          <p:cNvSpPr/>
          <p:nvPr/>
        </p:nvSpPr>
        <p:spPr>
          <a:xfrm>
            <a:off x="5755515" y="3487760"/>
            <a:ext cx="17024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</a:t>
            </a:r>
          </a:p>
        </p:txBody>
      </p:sp>
      <p:sp>
        <p:nvSpPr>
          <p:cNvPr id="40" name="Box 30"/>
          <p:cNvSpPr/>
          <p:nvPr/>
        </p:nvSpPr>
        <p:spPr>
          <a:xfrm>
            <a:off x="592575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111</a:t>
            </a:r>
          </a:p>
        </p:txBody>
      </p:sp>
      <p:sp>
        <p:nvSpPr>
          <p:cNvPr id="41" name="Box 31"/>
          <p:cNvSpPr/>
          <p:nvPr/>
        </p:nvSpPr>
        <p:spPr>
          <a:xfrm>
            <a:off x="5925757" y="3487760"/>
            <a:ext cx="17024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42" name="Box 32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112</a:t>
            </a:r>
          </a:p>
        </p:txBody>
      </p:sp>
      <p:sp>
        <p:nvSpPr>
          <p:cNvPr id="43" name="Box 33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127</a:t>
            </a:r>
          </a:p>
        </p:txBody>
      </p:sp>
      <p:sp>
        <p:nvSpPr>
          <p:cNvPr id="44" name="Box 34"/>
          <p:cNvSpPr/>
          <p:nvPr/>
        </p:nvSpPr>
        <p:spPr>
          <a:xfrm>
            <a:off x="6096000" y="3487760"/>
            <a:ext cx="2723882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Window</a:t>
            </a:r>
          </a:p>
        </p:txBody>
      </p:sp>
      <p:sp>
        <p:nvSpPr>
          <p:cNvPr id="45" name="Box 35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128</a:t>
            </a:r>
          </a:p>
        </p:txBody>
      </p:sp>
      <p:sp>
        <p:nvSpPr>
          <p:cNvPr id="46" name="Box 36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143</a:t>
            </a:r>
          </a:p>
        </p:txBody>
      </p:sp>
      <p:sp>
        <p:nvSpPr>
          <p:cNvPr id="47" name="Box 37"/>
          <p:cNvSpPr/>
          <p:nvPr/>
        </p:nvSpPr>
        <p:spPr>
          <a:xfrm>
            <a:off x="3372118" y="4055235"/>
            <a:ext cx="2723882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Checksum</a:t>
            </a:r>
          </a:p>
        </p:txBody>
      </p:sp>
      <p:sp>
        <p:nvSpPr>
          <p:cNvPr id="48" name="Box 38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144</a:t>
            </a:r>
          </a:p>
        </p:txBody>
      </p:sp>
      <p:sp>
        <p:nvSpPr>
          <p:cNvPr id="49" name="Box 39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159</a:t>
            </a:r>
          </a:p>
        </p:txBody>
      </p:sp>
      <p:sp>
        <p:nvSpPr>
          <p:cNvPr id="50" name="Box 40"/>
          <p:cNvSpPr/>
          <p:nvPr/>
        </p:nvSpPr>
        <p:spPr>
          <a:xfrm>
            <a:off x="6096000" y="4055235"/>
            <a:ext cx="2723882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Urgent Pointer</a:t>
            </a:r>
          </a:p>
        </p:txBody>
      </p:sp>
      <p:sp>
        <p:nvSpPr>
          <p:cNvPr id="51" name="Box 41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160</a:t>
            </a:r>
          </a:p>
        </p:txBody>
      </p:sp>
      <p:sp>
        <p:nvSpPr>
          <p:cNvPr id="52" name="Box 42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191</a:t>
            </a:r>
          </a:p>
        </p:txBody>
      </p:sp>
      <p:sp>
        <p:nvSpPr>
          <p:cNvPr id="53" name="Box 43"/>
          <p:cNvSpPr/>
          <p:nvPr/>
        </p:nvSpPr>
        <p:spPr>
          <a:xfrm>
            <a:off x="3372118" y="4622711"/>
            <a:ext cx="544776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(Options and Padding)</a:t>
            </a:r>
          </a:p>
        </p:txBody>
      </p:sp>
      <p:sp>
        <p:nvSpPr>
          <p:cNvPr id="54" name="Box 44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192</a:t>
            </a:r>
          </a:p>
        </p:txBody>
      </p:sp>
      <p:sp>
        <p:nvSpPr>
          <p:cNvPr id="55" name="Box 45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223</a:t>
            </a:r>
          </a:p>
        </p:txBody>
      </p:sp>
      <p:sp>
        <p:nvSpPr>
          <p:cNvPr id="56" name="Box 46"/>
          <p:cNvSpPr/>
          <p:nvPr/>
        </p:nvSpPr>
        <p:spPr>
          <a:xfrm>
            <a:off x="3372118" y="5190186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  <p:sp>
        <p:nvSpPr>
          <p:cNvPr id="57" name="Box 47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224</a:t>
            </a:r>
          </a:p>
        </p:txBody>
      </p:sp>
      <p:sp>
        <p:nvSpPr>
          <p:cNvPr id="58" name="Box 48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255</a:t>
            </a:r>
          </a:p>
        </p:txBody>
      </p:sp>
      <p:sp>
        <p:nvSpPr>
          <p:cNvPr id="59" name="Box 49"/>
          <p:cNvSpPr/>
          <p:nvPr/>
        </p:nvSpPr>
        <p:spPr>
          <a:xfrm>
            <a:off x="3372118" y="5757661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pie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00425" y="1028700"/>
            <a:ext cx="7591150" cy="7845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954" dirty="0">
                <a:solidFill>
                  <a:srgbClr val="000000"/>
                </a:solidFill>
              </a:rPr>
              <a:t>Key elements in Product X</a:t>
            </a:r>
          </a:p>
        </p:txBody>
      </p:sp>
      <p:sp>
        <p:nvSpPr>
          <p:cNvPr id="12" name="Slice 2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6200000"/>
              <a:gd name="adj2" fmla="val 3190409"/>
            </a:avLst>
          </a:prstGeom>
          <a:solidFill>
            <a:srgbClr val="4472C4"/>
          </a:solidFill>
          <a:ln w="26595">
            <a:solidFill>
              <a:srgbClr val="FFFFFF"/>
            </a:solidFill>
          </a:ln>
        </p:spPr>
      </p:sp>
      <p:sp>
        <p:nvSpPr>
          <p:cNvPr id="14" name="Slice 4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3190409"/>
              <a:gd name="adj2" fmla="val 13198556"/>
            </a:avLst>
          </a:prstGeom>
          <a:solidFill>
            <a:srgbClr val="ED7D31"/>
          </a:solidFill>
          <a:ln w="26595">
            <a:solidFill>
              <a:srgbClr val="FFFFFF"/>
            </a:solidFill>
          </a:ln>
        </p:spPr>
      </p:sp>
      <p:sp>
        <p:nvSpPr>
          <p:cNvPr id="16" name="Slice 6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3198556"/>
              <a:gd name="adj2" fmla="val 15200185"/>
            </a:avLst>
          </a:prstGeom>
          <a:solidFill>
            <a:srgbClr val="A5A5A5"/>
          </a:solidFill>
          <a:ln w="26595">
            <a:solidFill>
              <a:srgbClr val="FFFFFF"/>
            </a:solidFill>
          </a:ln>
        </p:spPr>
      </p:sp>
      <p:sp>
        <p:nvSpPr>
          <p:cNvPr id="18" name="Slice 8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5200185"/>
              <a:gd name="adj2" fmla="val 16200000"/>
            </a:avLst>
          </a:prstGeom>
          <a:solidFill>
            <a:srgbClr val="FFC000"/>
          </a:solidFill>
          <a:ln w="26595">
            <a:solidFill>
              <a:srgbClr val="FFFFF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5780859" y="3415093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40%</a:t>
            </a:r>
          </a:p>
        </p:txBody>
      </p:sp>
      <p:sp>
        <p:nvSpPr>
          <p:cNvPr id="15" name="Text 5"/>
          <p:cNvSpPr txBox="1"/>
          <p:nvPr/>
        </p:nvSpPr>
        <p:spPr>
          <a:xfrm>
            <a:off x="3275042" y="491593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46%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3539240" y="2637922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9%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4144733" y="240745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5%</a:t>
            </a:r>
          </a:p>
        </p:txBody>
      </p:sp>
      <p:sp>
        <p:nvSpPr>
          <p:cNvPr id="20" name="Legend 10"/>
          <p:cNvSpPr/>
          <p:nvPr/>
        </p:nvSpPr>
        <p:spPr>
          <a:xfrm>
            <a:off x="7220418" y="3382318"/>
            <a:ext cx="212756" cy="2127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7539552" y="3315832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Calcium [42.96]</a:t>
            </a:r>
          </a:p>
        </p:txBody>
      </p:sp>
      <p:sp>
        <p:nvSpPr>
          <p:cNvPr id="22" name="Legend 12"/>
          <p:cNvSpPr/>
          <p:nvPr/>
        </p:nvSpPr>
        <p:spPr>
          <a:xfrm>
            <a:off x="7220418" y="3728047"/>
            <a:ext cx="212756" cy="2127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7539552" y="3661561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Potassium [50.05]</a:t>
            </a:r>
          </a:p>
        </p:txBody>
      </p:sp>
      <p:sp>
        <p:nvSpPr>
          <p:cNvPr id="24" name="Legend 14"/>
          <p:cNvSpPr/>
          <p:nvPr/>
        </p:nvSpPr>
        <p:spPr>
          <a:xfrm>
            <a:off x="7220418" y="4073776"/>
            <a:ext cx="212756" cy="21275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7539552" y="4007290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Magnesium [10.01]</a:t>
            </a:r>
          </a:p>
        </p:txBody>
      </p:sp>
      <p:sp>
        <p:nvSpPr>
          <p:cNvPr id="26" name="Legend 16"/>
          <p:cNvSpPr/>
          <p:nvPr/>
        </p:nvSpPr>
        <p:spPr>
          <a:xfrm>
            <a:off x="7220418" y="4419506"/>
            <a:ext cx="212756" cy="212756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7539552" y="4353019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Iron [5]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quadrant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147897" y="1028700"/>
            <a:ext cx="5896207" cy="4117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00" dirty="0">
                <a:solidFill>
                  <a:srgbClr val="000000"/>
                </a:solidFill>
              </a:rPr>
              <a:t>Reach and engagement of campaigns</a:t>
            </a:r>
          </a:p>
        </p:txBody>
      </p:sp>
      <p:sp>
        <p:nvSpPr>
          <p:cNvPr id="12" name="Shape 2"/>
          <p:cNvSpPr/>
          <p:nvPr/>
        </p:nvSpPr>
        <p:spPr>
          <a:xfrm>
            <a:off x="6610749" y="1440499"/>
            <a:ext cx="2246174" cy="2246174"/>
          </a:xfrm>
          <a:prstGeom prst="rect">
            <a:avLst/>
          </a:prstGeom>
          <a:solidFill>
            <a:srgbClr val="D9E2F3"/>
          </a:solidFill>
          <a:ln w="9525">
            <a:solidFill>
              <a:srgbClr val="BFBFB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6666903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We should expand</a:t>
            </a:r>
          </a:p>
        </p:txBody>
      </p:sp>
      <p:sp>
        <p:nvSpPr>
          <p:cNvPr id="14" name="Shape 4"/>
          <p:cNvSpPr/>
          <p:nvPr/>
        </p:nvSpPr>
        <p:spPr>
          <a:xfrm>
            <a:off x="4364575" y="1440499"/>
            <a:ext cx="2246174" cy="2246174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4420729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Need to promote</a:t>
            </a:r>
          </a:p>
        </p:txBody>
      </p:sp>
      <p:sp>
        <p:nvSpPr>
          <p:cNvPr id="16" name="Shape 6"/>
          <p:cNvSpPr/>
          <p:nvPr/>
        </p:nvSpPr>
        <p:spPr>
          <a:xfrm>
            <a:off x="4364575" y="3686673"/>
            <a:ext cx="2246174" cy="2246174"/>
          </a:xfrm>
          <a:prstGeom prst="rect">
            <a:avLst/>
          </a:prstGeom>
          <a:solidFill>
            <a:srgbClr val="E2EFDA"/>
          </a:solidFill>
          <a:ln w="9525">
            <a:solidFill>
              <a:srgbClr val="BFBFBF"/>
            </a:solidFill>
          </a:ln>
        </p:spPr>
      </p:sp>
      <p:sp>
        <p:nvSpPr>
          <p:cNvPr id="17" name="Text 7"/>
          <p:cNvSpPr txBox="1"/>
          <p:nvPr/>
        </p:nvSpPr>
        <p:spPr>
          <a:xfrm>
            <a:off x="4420729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Re-evaluate</a:t>
            </a:r>
          </a:p>
        </p:txBody>
      </p:sp>
      <p:sp>
        <p:nvSpPr>
          <p:cNvPr id="18" name="Shape 8"/>
          <p:cNvSpPr/>
          <p:nvPr/>
        </p:nvSpPr>
        <p:spPr>
          <a:xfrm>
            <a:off x="6610749" y="3686673"/>
            <a:ext cx="2246174" cy="2246174"/>
          </a:xfrm>
          <a:prstGeom prst="rect">
            <a:avLst/>
          </a:prstGeom>
          <a:solidFill>
            <a:srgbClr val="FFF2CC"/>
          </a:solidFill>
          <a:ln w="9525">
            <a:solidFill>
              <a:srgbClr val="BFBFBF"/>
            </a:solidFill>
          </a:ln>
        </p:spPr>
      </p:sp>
      <p:sp>
        <p:nvSpPr>
          <p:cNvPr id="19" name="Text 9"/>
          <p:cNvSpPr txBox="1"/>
          <p:nvPr/>
        </p:nvSpPr>
        <p:spPr>
          <a:xfrm>
            <a:off x="6666903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May be improved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4364575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Reach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6610749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Reach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147897" y="5745666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Engagement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3147897" y="1440499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Engagement</a:t>
            </a:r>
          </a:p>
        </p:txBody>
      </p:sp>
      <p:sp>
        <p:nvSpPr>
          <p:cNvPr id="24" name="Point 14"/>
          <p:cNvSpPr/>
          <p:nvPr/>
        </p:nvSpPr>
        <p:spPr>
          <a:xfrm>
            <a:off x="5665484" y="3190643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25" name="Text 15"/>
          <p:cNvSpPr txBox="1"/>
          <p:nvPr/>
        </p:nvSpPr>
        <p:spPr>
          <a:xfrm>
            <a:off x="5787152" y="3153206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A</a:t>
            </a:r>
          </a:p>
        </p:txBody>
      </p:sp>
      <p:sp>
        <p:nvSpPr>
          <p:cNvPr id="26" name="Point 16"/>
          <p:cNvSpPr/>
          <p:nvPr/>
        </p:nvSpPr>
        <p:spPr>
          <a:xfrm>
            <a:off x="6339336" y="4852812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27" name="Text 17"/>
          <p:cNvSpPr txBox="1"/>
          <p:nvPr/>
        </p:nvSpPr>
        <p:spPr>
          <a:xfrm>
            <a:off x="6461004" y="481537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B</a:t>
            </a:r>
          </a:p>
        </p:txBody>
      </p:sp>
      <p:sp>
        <p:nvSpPr>
          <p:cNvPr id="28" name="Point 18"/>
          <p:cNvSpPr/>
          <p:nvPr/>
        </p:nvSpPr>
        <p:spPr>
          <a:xfrm>
            <a:off x="6878418" y="2786331"/>
            <a:ext cx="93591" cy="93591"/>
          </a:xfrm>
          <a:prstGeom prst="ellipse">
            <a:avLst/>
          </a:prstGeom>
          <a:solidFill>
            <a:srgbClr val="FF3300"/>
          </a:solidFill>
          <a:ln w="6350">
            <a:solidFill>
              <a:srgbClr val="000000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7000086" y="274889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C</a:t>
            </a:r>
          </a:p>
        </p:txBody>
      </p:sp>
      <p:sp>
        <p:nvSpPr>
          <p:cNvPr id="30" name="Point 20"/>
          <p:cNvSpPr/>
          <p:nvPr/>
        </p:nvSpPr>
        <p:spPr>
          <a:xfrm>
            <a:off x="7821811" y="4358653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7943479" y="4321217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radar</a:t>
            </a:r>
          </a:p>
        </p:txBody>
      </p:sp>
      <p:sp>
        <p:nvSpPr>
          <p:cNvPr id="11" name="Box 1"/>
          <p:cNvSpPr/>
          <p:nvPr/>
        </p:nvSpPr>
        <p:spPr>
          <a:xfrm>
            <a:off x="2178844" y="1171142"/>
            <a:ext cx="6104659" cy="4069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75" dirty="0">
                <a:solidFill>
                  <a:srgbClr val="000000"/>
                </a:solidFill>
              </a:rPr>
              <a:t>Grades</a:t>
            </a:r>
          </a:p>
        </p:txBody>
      </p:sp>
      <p:sp>
        <p:nvSpPr>
          <p:cNvPr id="12" name="Shape 2"/>
          <p:cNvSpPr/>
          <p:nvPr/>
        </p:nvSpPr>
        <p:spPr>
          <a:xfrm>
            <a:off x="4812636" y="3577396"/>
            <a:ext cx="837074" cy="966571"/>
          </a:xfrm>
          <a:custGeom>
            <a:avLst/>
            <a:gdLst/>
            <a:ahLst/>
            <a:cxnLst/>
            <a:rect l="0" t="0" r="0" b="0"/>
            <a:pathLst>
              <a:path w="783644" h="904875">
                <a:moveTo>
                  <a:pt x="391822" y="0"/>
                </a:moveTo>
                <a:lnTo>
                  <a:pt x="783644" y="226218"/>
                </a:lnTo>
                <a:lnTo>
                  <a:pt x="783644" y="678656"/>
                </a:lnTo>
                <a:lnTo>
                  <a:pt x="391822" y="904875"/>
                </a:lnTo>
                <a:lnTo>
                  <a:pt x="0" y="678656"/>
                </a:lnTo>
                <a:lnTo>
                  <a:pt x="0" y="22621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3" name="Shape 3"/>
          <p:cNvSpPr/>
          <p:nvPr/>
        </p:nvSpPr>
        <p:spPr>
          <a:xfrm>
            <a:off x="4394098" y="3094110"/>
            <a:ext cx="1674151" cy="1933142"/>
          </a:xfrm>
          <a:custGeom>
            <a:avLst/>
            <a:gdLst/>
            <a:ahLst/>
            <a:cxnLst/>
            <a:rect l="0" t="0" r="0" b="0"/>
            <a:pathLst>
              <a:path w="1567290" h="1809750">
                <a:moveTo>
                  <a:pt x="783645" y="0"/>
                </a:moveTo>
                <a:lnTo>
                  <a:pt x="1567290" y="452438"/>
                </a:lnTo>
                <a:lnTo>
                  <a:pt x="1567290" y="1357313"/>
                </a:lnTo>
                <a:lnTo>
                  <a:pt x="783645" y="1809750"/>
                </a:lnTo>
                <a:lnTo>
                  <a:pt x="0" y="1357313"/>
                </a:lnTo>
                <a:lnTo>
                  <a:pt x="0" y="45243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4" name="Shape 4"/>
          <p:cNvSpPr/>
          <p:nvPr/>
        </p:nvSpPr>
        <p:spPr>
          <a:xfrm>
            <a:off x="3975561" y="2610825"/>
            <a:ext cx="2511225" cy="2899713"/>
          </a:xfrm>
          <a:custGeom>
            <a:avLst/>
            <a:gdLst/>
            <a:ahLst/>
            <a:cxnLst/>
            <a:rect l="0" t="0" r="0" b="0"/>
            <a:pathLst>
              <a:path w="2350934" h="2714625">
                <a:moveTo>
                  <a:pt x="1175467" y="0"/>
                </a:moveTo>
                <a:lnTo>
                  <a:pt x="2350934" y="678656"/>
                </a:lnTo>
                <a:lnTo>
                  <a:pt x="2350934" y="2035968"/>
                </a:lnTo>
                <a:lnTo>
                  <a:pt x="1175467" y="2714625"/>
                </a:lnTo>
                <a:lnTo>
                  <a:pt x="0" y="2035968"/>
                </a:lnTo>
                <a:lnTo>
                  <a:pt x="0" y="678656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5" name="Shape 5"/>
          <p:cNvSpPr/>
          <p:nvPr/>
        </p:nvSpPr>
        <p:spPr>
          <a:xfrm>
            <a:off x="3557024" y="2127539"/>
            <a:ext cx="3348299" cy="3866284"/>
          </a:xfrm>
          <a:custGeom>
            <a:avLst/>
            <a:gdLst/>
            <a:ahLst/>
            <a:cxnLst/>
            <a:rect l="0" t="0" r="0" b="0"/>
            <a:pathLst>
              <a:path w="3134578" h="3619500">
                <a:moveTo>
                  <a:pt x="1567289" y="0"/>
                </a:moveTo>
                <a:lnTo>
                  <a:pt x="3134578" y="904875"/>
                </a:lnTo>
                <a:lnTo>
                  <a:pt x="3134578" y="2714625"/>
                </a:lnTo>
                <a:lnTo>
                  <a:pt x="1567289" y="3619500"/>
                </a:lnTo>
                <a:lnTo>
                  <a:pt x="0" y="2714625"/>
                </a:lnTo>
                <a:lnTo>
                  <a:pt x="0" y="904875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6" name="Shape 6"/>
          <p:cNvSpPr/>
          <p:nvPr/>
        </p:nvSpPr>
        <p:spPr>
          <a:xfrm>
            <a:off x="5231173" y="2127539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7" name="Box 7"/>
          <p:cNvSpPr/>
          <p:nvPr/>
        </p:nvSpPr>
        <p:spPr>
          <a:xfrm>
            <a:off x="5002249" y="1842655"/>
            <a:ext cx="457849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Math</a:t>
            </a:r>
          </a:p>
        </p:txBody>
      </p:sp>
      <p:sp>
        <p:nvSpPr>
          <p:cNvPr id="18" name="Shape 8"/>
          <p:cNvSpPr/>
          <p:nvPr/>
        </p:nvSpPr>
        <p:spPr>
          <a:xfrm>
            <a:off x="5231173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904875"/>
                </a:moveTo>
                <a:lnTo>
                  <a:pt x="1567289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9" name="Box 9"/>
          <p:cNvSpPr/>
          <p:nvPr/>
        </p:nvSpPr>
        <p:spPr>
          <a:xfrm>
            <a:off x="6947091" y="2900795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Science</a:t>
            </a:r>
          </a:p>
        </p:txBody>
      </p:sp>
      <p:sp>
        <p:nvSpPr>
          <p:cNvPr id="20" name="Shape 10"/>
          <p:cNvSpPr/>
          <p:nvPr/>
        </p:nvSpPr>
        <p:spPr>
          <a:xfrm>
            <a:off x="5231173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0"/>
                </a:moveTo>
                <a:lnTo>
                  <a:pt x="1567289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1" name="Box 11"/>
          <p:cNvSpPr/>
          <p:nvPr/>
        </p:nvSpPr>
        <p:spPr>
          <a:xfrm>
            <a:off x="6947091" y="5017077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English</a:t>
            </a:r>
          </a:p>
        </p:txBody>
      </p:sp>
      <p:sp>
        <p:nvSpPr>
          <p:cNvPr id="22" name="Shape 12"/>
          <p:cNvSpPr/>
          <p:nvPr/>
        </p:nvSpPr>
        <p:spPr>
          <a:xfrm>
            <a:off x="5231173" y="4060681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3" name="Box 13"/>
          <p:cNvSpPr/>
          <p:nvPr/>
        </p:nvSpPr>
        <p:spPr>
          <a:xfrm>
            <a:off x="4885243" y="6075218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History</a:t>
            </a:r>
          </a:p>
        </p:txBody>
      </p:sp>
      <p:sp>
        <p:nvSpPr>
          <p:cNvPr id="24" name="Shape 14"/>
          <p:cNvSpPr/>
          <p:nvPr/>
        </p:nvSpPr>
        <p:spPr>
          <a:xfrm>
            <a:off x="3557024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0"/>
                </a:moveTo>
                <a:lnTo>
                  <a:pt x="0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5" name="Box 15"/>
          <p:cNvSpPr/>
          <p:nvPr/>
        </p:nvSpPr>
        <p:spPr>
          <a:xfrm>
            <a:off x="2671508" y="5017077"/>
            <a:ext cx="854652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Geography</a:t>
            </a:r>
          </a:p>
        </p:txBody>
      </p:sp>
      <p:sp>
        <p:nvSpPr>
          <p:cNvPr id="26" name="Shape 16"/>
          <p:cNvSpPr/>
          <p:nvPr/>
        </p:nvSpPr>
        <p:spPr>
          <a:xfrm>
            <a:off x="3557024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904875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7" name="Box 17"/>
          <p:cNvSpPr/>
          <p:nvPr/>
        </p:nvSpPr>
        <p:spPr>
          <a:xfrm>
            <a:off x="3117674" y="2900795"/>
            <a:ext cx="376454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Art</a:t>
            </a:r>
          </a:p>
        </p:txBody>
      </p:sp>
      <p:sp>
        <p:nvSpPr>
          <p:cNvPr id="28" name="Shape 18"/>
          <p:cNvSpPr/>
          <p:nvPr/>
        </p:nvSpPr>
        <p:spPr>
          <a:xfrm>
            <a:off x="3724438" y="2417510"/>
            <a:ext cx="3013471" cy="2996370"/>
          </a:xfrm>
          <a:custGeom>
            <a:avLst/>
            <a:gdLst/>
            <a:ahLst/>
            <a:cxnLst/>
            <a:rect l="0" t="0" r="0" b="0"/>
            <a:pathLst>
              <a:path w="2821122" h="2805112">
                <a:moveTo>
                  <a:pt x="1410561" y="0"/>
                </a:moveTo>
                <a:lnTo>
                  <a:pt x="2821122" y="723900"/>
                </a:lnTo>
                <a:lnTo>
                  <a:pt x="2664393" y="2262187"/>
                </a:lnTo>
                <a:lnTo>
                  <a:pt x="1410561" y="2805112"/>
                </a:lnTo>
                <a:lnTo>
                  <a:pt x="235094" y="2216943"/>
                </a:lnTo>
                <a:lnTo>
                  <a:pt x="0" y="723900"/>
                </a:lnTo>
                <a:close/>
              </a:path>
            </a:pathLst>
          </a:custGeom>
          <a:solidFill>
            <a:srgbClr val="4472C4">
              <a:alpha val="30000"/>
            </a:srgbClr>
          </a:solidFill>
          <a:ln w="30523">
            <a:solidFill>
              <a:srgbClr val="4472C4"/>
            </a:solidFill>
          </a:ln>
        </p:spPr>
      </p:sp>
      <p:sp>
        <p:nvSpPr>
          <p:cNvPr id="29" name="Shape 19"/>
          <p:cNvSpPr/>
          <p:nvPr/>
        </p:nvSpPr>
        <p:spPr>
          <a:xfrm>
            <a:off x="3724438" y="2707481"/>
            <a:ext cx="2929763" cy="2899713"/>
          </a:xfrm>
          <a:custGeom>
            <a:avLst/>
            <a:gdLst/>
            <a:ahLst/>
            <a:cxnLst/>
            <a:rect l="0" t="0" r="0" b="0"/>
            <a:pathLst>
              <a:path w="2742757" h="2714625">
                <a:moveTo>
                  <a:pt x="1410561" y="0"/>
                </a:moveTo>
                <a:lnTo>
                  <a:pt x="2586028" y="588169"/>
                </a:lnTo>
                <a:lnTo>
                  <a:pt x="2742757" y="2035969"/>
                </a:lnTo>
                <a:lnTo>
                  <a:pt x="1410561" y="2714625"/>
                </a:lnTo>
                <a:lnTo>
                  <a:pt x="0" y="2081213"/>
                </a:lnTo>
                <a:lnTo>
                  <a:pt x="78365" y="497681"/>
                </a:lnTo>
                <a:close/>
              </a:path>
            </a:pathLst>
          </a:custGeom>
          <a:solidFill>
            <a:srgbClr val="ED7D31">
              <a:alpha val="30000"/>
            </a:srgbClr>
          </a:solidFill>
          <a:ln w="30523">
            <a:solidFill>
              <a:srgbClr val="ED7D31"/>
            </a:solidFill>
          </a:ln>
        </p:spPr>
      </p:sp>
      <p:sp>
        <p:nvSpPr>
          <p:cNvPr id="30" name="Box 20"/>
          <p:cNvSpPr/>
          <p:nvPr/>
        </p:nvSpPr>
        <p:spPr>
          <a:xfrm>
            <a:off x="8385247" y="2168236"/>
            <a:ext cx="142442" cy="142442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8588736" y="2127539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Alice</a:t>
            </a:r>
          </a:p>
        </p:txBody>
      </p:sp>
      <p:sp>
        <p:nvSpPr>
          <p:cNvPr id="32" name="Box 22"/>
          <p:cNvSpPr/>
          <p:nvPr/>
        </p:nvSpPr>
        <p:spPr>
          <a:xfrm>
            <a:off x="8385247" y="2432772"/>
            <a:ext cx="142442" cy="142442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8588736" y="2392074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Bob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requirement-diagram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096000" y="2034782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2" name="Text 2"/>
          <p:cNvSpPr txBox="1"/>
          <p:nvPr/>
        </p:nvSpPr>
        <p:spPr>
          <a:xfrm>
            <a:off x="5788481" y="2272066"/>
            <a:ext cx="615039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«satisfies»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162440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5923258" y="4265248"/>
            <a:ext cx="478364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«traces»</a:t>
            </a:r>
          </a:p>
        </p:txBody>
      </p:sp>
      <p:cxnSp>
        <p:nvCxnSpPr>
          <p:cNvPr id="15" name="Connector 5"/>
          <p:cNvCxnSpPr/>
          <p:nvPr/>
        </p:nvCxnSpPr>
        <p:spPr>
          <a:xfrm flipV="1">
            <a:off x="6029561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767600" y="4417109"/>
            <a:ext cx="523922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«derives»</a:t>
            </a:r>
          </a:p>
        </p:txBody>
      </p:sp>
      <p:sp>
        <p:nvSpPr>
          <p:cNvPr id="17" name="test_req"/>
          <p:cNvSpPr/>
          <p:nvPr/>
        </p:nvSpPr>
        <p:spPr>
          <a:xfrm>
            <a:off x="5474317" y="2699176"/>
            <a:ext cx="1243366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18" name="test_req title"/>
          <p:cNvSpPr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74317" y="2998153"/>
            <a:ext cx="124336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569230" y="3002899"/>
            <a:ext cx="1053540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high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test</a:t>
            </a:r>
          </a:p>
        </p:txBody>
      </p:sp>
      <p:sp>
        <p:nvSpPr>
          <p:cNvPr id="22" name="test_req2"/>
          <p:cNvSpPr/>
          <p:nvPr/>
        </p:nvSpPr>
        <p:spPr>
          <a:xfrm>
            <a:off x="5289236" y="4768289"/>
            <a:ext cx="1613528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3" name="test_req2 title"/>
          <p:cNvSpPr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289236" y="5067266"/>
            <a:ext cx="1613528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test_req2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384149" y="5072012"/>
            <a:ext cx="1423702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«functionalRequirement»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1.1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second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inspection</a:t>
            </a:r>
          </a:p>
        </p:txBody>
      </p:sp>
      <p:sp>
        <p:nvSpPr>
          <p:cNvPr id="27" name="test_entity"/>
          <p:cNvSpPr/>
          <p:nvPr/>
        </p:nvSpPr>
        <p:spPr>
          <a:xfrm>
            <a:off x="5517978" y="1256492"/>
            <a:ext cx="1156046" cy="778290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8" name="test_entity title"/>
          <p:cNvSpPr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517978" y="1555469"/>
            <a:ext cx="115604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test_entity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612891" y="1560215"/>
            <a:ext cx="966220" cy="4745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«element»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type: simulation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rich-text</a:t>
            </a:r>
          </a:p>
        </p:txBody>
      </p:sp>
      <p:sp>
        <p:nvSpPr>
          <p:cNvPr id="12" name="Ligne1 Ligne2" descr="A"/>
          <p:cNvSpPr/>
          <p:nvPr/>
        </p:nvSpPr>
        <p:spPr>
          <a:xfrm>
            <a:off x="5523990" y="1028700"/>
            <a:ext cx="1144020" cy="998355"/>
          </a:xfrm>
          <a:prstGeom prst="rect">
            <a:avLst/>
          </a:prstGeom>
          <a:solidFill>
            <a:srgbClr val="E1BEE7"/>
          </a:solidFill>
          <a:ln w="126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Ligne1</a:t>
            </a:r>
            <a:br/>
            <a:r>
              <a:rPr lang="en-US" sz="1200" dirty="0">
                <a:solidFill>
                  <a:srgbClr val="000000"/>
                </a:solidFill>
              </a:rPr>
              <a:t>Ligne2</a:t>
            </a:r>
          </a:p>
        </p:txBody>
      </p:sp>
      <p:sp>
        <p:nvSpPr>
          <p:cNvPr id="13" name="gras et italique et normal" descr="B"/>
          <p:cNvSpPr/>
          <p:nvPr/>
        </p:nvSpPr>
        <p:spPr>
          <a:xfrm>
            <a:off x="5225054" y="2787706"/>
            <a:ext cx="1741892" cy="1283599"/>
          </a:xfrm>
          <a:prstGeom prst="rect">
            <a:avLst/>
          </a:prstGeom>
          <a:solidFill>
            <a:srgbClr val="FFCDD2"/>
          </a:solidFill>
          <a:ln w="126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00" dirty="0">
                <a:solidFill>
                  <a:srgbClr val="000000"/>
                </a:solidFill>
              </a:rPr>
              <a:t>gras</a:t>
            </a:r>
            <a:r>
              <a:rPr lang="en-US" sz="1200" dirty="0">
                <a:solidFill>
                  <a:srgbClr val="000000"/>
                </a:solidFill>
              </a:rPr>
              <a:t> et </a:t>
            </a:r>
            <a:r>
              <a:rPr lang="en-US" i="1" sz="1200" dirty="0">
                <a:solidFill>
                  <a:srgbClr val="000000"/>
                </a:solidFill>
              </a:rPr>
              <a:t>italique</a:t>
            </a:r>
            <a:r>
              <a:rPr lang="en-US" sz="1200" dirty="0">
                <a:solidFill>
                  <a:srgbClr val="000000"/>
                </a:solidFill>
              </a:rPr>
              <a:t> et normal</a:t>
            </a:r>
          </a:p>
        </p:txBody>
      </p:sp>
      <p:sp>
        <p:nvSpPr>
          <p:cNvPr id="14" name="Pas de **markup** ici, texte classique" descr="C"/>
          <p:cNvSpPr/>
          <p:nvPr/>
        </p:nvSpPr>
        <p:spPr>
          <a:xfrm>
            <a:off x="5259283" y="4831957"/>
            <a:ext cx="1673433" cy="1568843"/>
          </a:xfrm>
          <a:prstGeom prst="rect">
            <a:avLst/>
          </a:prstGeom>
          <a:solidFill>
            <a:srgbClr val="FFF9C4"/>
          </a:solidFill>
          <a:ln w="1267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Pas de **markup** ici, texte classique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6096000" y="2027055"/>
            <a:ext cx="0" cy="760651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dgeLabel"/>
          <p:cNvSpPr txBox="1"/>
          <p:nvPr/>
        </p:nvSpPr>
        <p:spPr>
          <a:xfrm>
            <a:off x="5846506" y="2293283"/>
            <a:ext cx="498987" cy="228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8033" tIns="0" rIns="3803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6096000" y="4071305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rl-direction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10270554" y="3260204"/>
            <a:ext cx="1464246" cy="909093"/>
          </a:xfrm>
          <a:prstGeom prst="rect">
            <a:avLst/>
          </a:prstGeom>
          <a:solidFill>
            <a:srgbClr val="FFCDD2"/>
          </a:solidFill>
          <a:ln w="1616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7138426" y="3260204"/>
            <a:ext cx="2162429" cy="909093"/>
          </a:xfrm>
          <a:prstGeom prst="rect">
            <a:avLst/>
          </a:prstGeom>
          <a:solidFill>
            <a:srgbClr val="FFF9C4"/>
          </a:solidFill>
          <a:ln w="1616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2891145" y="2805657"/>
            <a:ext cx="3277583" cy="1818186"/>
          </a:xfrm>
          <a:prstGeom prst="diamond">
            <a:avLst/>
          </a:prstGeom>
          <a:solidFill>
            <a:srgbClr val="BBDEFB"/>
          </a:solidFill>
          <a:ln w="1616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457200" y="2442020"/>
            <a:ext cx="1464246" cy="909093"/>
          </a:xfrm>
          <a:prstGeom prst="rect">
            <a:avLst/>
          </a:prstGeom>
          <a:solidFill>
            <a:srgbClr val="C8E6C9"/>
          </a:solidFill>
          <a:ln w="1616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457200" y="4078387"/>
            <a:ext cx="1464246" cy="909093"/>
          </a:xfrm>
          <a:prstGeom prst="rect">
            <a:avLst/>
          </a:prstGeom>
          <a:solidFill>
            <a:srgbClr val="FFE0B2"/>
          </a:solidFill>
          <a:ln w="1616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1"/>
            <a:endCxn id="13" idx="3"/>
          </p:cNvCxnSpPr>
          <p:nvPr/>
        </p:nvCxnSpPr>
        <p:spPr>
          <a:xfrm flipH="1">
            <a:off x="9300855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1"/>
            <a:endCxn id="14" idx="3"/>
          </p:cNvCxnSpPr>
          <p:nvPr/>
        </p:nvCxnSpPr>
        <p:spPr>
          <a:xfrm flipH="1">
            <a:off x="6168727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1"/>
            <a:endCxn id="15" idx="3"/>
          </p:cNvCxnSpPr>
          <p:nvPr/>
        </p:nvCxnSpPr>
        <p:spPr>
          <a:xfrm flipH="1" flipV="1">
            <a:off x="1921446" y="2896567"/>
            <a:ext cx="969699" cy="818183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2099870" y="3160203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1"/>
            <a:endCxn id="16" idx="3"/>
          </p:cNvCxnSpPr>
          <p:nvPr/>
        </p:nvCxnSpPr>
        <p:spPr>
          <a:xfrm flipH="1">
            <a:off x="1921446" y="3714750"/>
            <a:ext cx="969699" cy="818184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2099870" y="3978387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sankey</a:t>
            </a:r>
          </a:p>
        </p:txBody>
      </p:sp>
      <p:sp>
        <p:nvSpPr>
          <p:cNvPr id="11" name="Shape 1"/>
          <p:cNvSpPr/>
          <p:nvPr/>
        </p:nvSpPr>
        <p:spPr>
          <a:xfrm>
            <a:off x="4469448" y="1327150"/>
            <a:ext cx="3253105" cy="186512"/>
          </a:xfrm>
          <a:custGeom>
            <a:avLst/>
            <a:gdLst/>
            <a:ahLst/>
            <a:cxnLst/>
            <a:rect l="0" t="0" r="0" b="0"/>
            <a:pathLst>
              <a:path w="2076450" h="119050">
                <a:moveTo>
                  <a:pt x="0" y="115207"/>
                </a:moveTo>
                <a:lnTo>
                  <a:pt x="183007" y="113914"/>
                </a:lnTo>
                <a:lnTo>
                  <a:pt x="344723" y="110257"/>
                </a:lnTo>
                <a:lnTo>
                  <a:pt x="488189" y="104575"/>
                </a:lnTo>
                <a:lnTo>
                  <a:pt x="616446" y="97206"/>
                </a:lnTo>
                <a:lnTo>
                  <a:pt x="732537" y="88487"/>
                </a:lnTo>
                <a:lnTo>
                  <a:pt x="839502" y="78755"/>
                </a:lnTo>
                <a:lnTo>
                  <a:pt x="940384" y="68348"/>
                </a:lnTo>
                <a:lnTo>
                  <a:pt x="1038225" y="57604"/>
                </a:lnTo>
                <a:lnTo>
                  <a:pt x="1136066" y="46859"/>
                </a:lnTo>
                <a:lnTo>
                  <a:pt x="1236948" y="36452"/>
                </a:lnTo>
                <a:lnTo>
                  <a:pt x="1343913" y="26720"/>
                </a:lnTo>
                <a:lnTo>
                  <a:pt x="1460004" y="18001"/>
                </a:lnTo>
                <a:lnTo>
                  <a:pt x="1588261" y="10632"/>
                </a:lnTo>
                <a:lnTo>
                  <a:pt x="1731727" y="4950"/>
                </a:lnTo>
                <a:lnTo>
                  <a:pt x="1893443" y="1294"/>
                </a:lnTo>
                <a:lnTo>
                  <a:pt x="2076450" y="0"/>
                </a:lnTo>
                <a:lnTo>
                  <a:pt x="2076450" y="3843"/>
                </a:lnTo>
                <a:lnTo>
                  <a:pt x="1893443" y="5136"/>
                </a:lnTo>
                <a:lnTo>
                  <a:pt x="1731727" y="8793"/>
                </a:lnTo>
                <a:lnTo>
                  <a:pt x="1588261" y="14475"/>
                </a:lnTo>
                <a:lnTo>
                  <a:pt x="1460004" y="21844"/>
                </a:lnTo>
                <a:lnTo>
                  <a:pt x="1343913" y="30563"/>
                </a:lnTo>
                <a:lnTo>
                  <a:pt x="1236948" y="40295"/>
                </a:lnTo>
                <a:lnTo>
                  <a:pt x="1136066" y="50702"/>
                </a:lnTo>
                <a:lnTo>
                  <a:pt x="1038225" y="61446"/>
                </a:lnTo>
                <a:lnTo>
                  <a:pt x="940384" y="72191"/>
                </a:lnTo>
                <a:lnTo>
                  <a:pt x="839502" y="82598"/>
                </a:lnTo>
                <a:lnTo>
                  <a:pt x="732537" y="92330"/>
                </a:lnTo>
                <a:lnTo>
                  <a:pt x="616446" y="101049"/>
                </a:lnTo>
                <a:lnTo>
                  <a:pt x="488189" y="108418"/>
                </a:lnTo>
                <a:lnTo>
                  <a:pt x="344723" y="114100"/>
                </a:lnTo>
                <a:lnTo>
                  <a:pt x="183007" y="117756"/>
                </a:lnTo>
                <a:lnTo>
                  <a:pt x="0" y="11905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2" name="Shape 2"/>
          <p:cNvSpPr/>
          <p:nvPr/>
        </p:nvSpPr>
        <p:spPr>
          <a:xfrm>
            <a:off x="1007428" y="1507641"/>
            <a:ext cx="3253105" cy="2553635"/>
          </a:xfrm>
          <a:custGeom>
            <a:avLst/>
            <a:gdLst/>
            <a:ahLst/>
            <a:cxnLst/>
            <a:rect l="0" t="0" r="0" b="0"/>
            <a:pathLst>
              <a:path w="2076450" h="1629980">
                <a:moveTo>
                  <a:pt x="0" y="827154"/>
                </a:moveTo>
                <a:lnTo>
                  <a:pt x="183007" y="817864"/>
                </a:lnTo>
                <a:lnTo>
                  <a:pt x="344723" y="791612"/>
                </a:lnTo>
                <a:lnTo>
                  <a:pt x="488189" y="750820"/>
                </a:lnTo>
                <a:lnTo>
                  <a:pt x="616446" y="697911"/>
                </a:lnTo>
                <a:lnTo>
                  <a:pt x="732537" y="635309"/>
                </a:lnTo>
                <a:lnTo>
                  <a:pt x="839502" y="565437"/>
                </a:lnTo>
                <a:lnTo>
                  <a:pt x="940384" y="490719"/>
                </a:lnTo>
                <a:lnTo>
                  <a:pt x="1038225" y="413577"/>
                </a:lnTo>
                <a:lnTo>
                  <a:pt x="1136066" y="336435"/>
                </a:lnTo>
                <a:lnTo>
                  <a:pt x="1236948" y="261717"/>
                </a:lnTo>
                <a:lnTo>
                  <a:pt x="1343913" y="191845"/>
                </a:lnTo>
                <a:lnTo>
                  <a:pt x="1460004" y="129243"/>
                </a:lnTo>
                <a:lnTo>
                  <a:pt x="1588261" y="76334"/>
                </a:lnTo>
                <a:lnTo>
                  <a:pt x="1731727" y="35542"/>
                </a:lnTo>
                <a:lnTo>
                  <a:pt x="1893443" y="9290"/>
                </a:lnTo>
                <a:lnTo>
                  <a:pt x="2076450" y="0"/>
                </a:lnTo>
                <a:lnTo>
                  <a:pt x="2076450" y="802827"/>
                </a:lnTo>
                <a:lnTo>
                  <a:pt x="1893443" y="812116"/>
                </a:lnTo>
                <a:lnTo>
                  <a:pt x="1731727" y="838368"/>
                </a:lnTo>
                <a:lnTo>
                  <a:pt x="1588261" y="879161"/>
                </a:lnTo>
                <a:lnTo>
                  <a:pt x="1460004" y="932069"/>
                </a:lnTo>
                <a:lnTo>
                  <a:pt x="1343913" y="994671"/>
                </a:lnTo>
                <a:lnTo>
                  <a:pt x="1236948" y="1064543"/>
                </a:lnTo>
                <a:lnTo>
                  <a:pt x="1136066" y="1139261"/>
                </a:lnTo>
                <a:lnTo>
                  <a:pt x="1038225" y="1216403"/>
                </a:lnTo>
                <a:lnTo>
                  <a:pt x="940384" y="1293545"/>
                </a:lnTo>
                <a:lnTo>
                  <a:pt x="839502" y="1368263"/>
                </a:lnTo>
                <a:lnTo>
                  <a:pt x="732537" y="1438135"/>
                </a:lnTo>
                <a:lnTo>
                  <a:pt x="616446" y="1500737"/>
                </a:lnTo>
                <a:lnTo>
                  <a:pt x="488189" y="1553646"/>
                </a:lnTo>
                <a:lnTo>
                  <a:pt x="344723" y="1594438"/>
                </a:lnTo>
                <a:lnTo>
                  <a:pt x="183007" y="1620690"/>
                </a:lnTo>
                <a:lnTo>
                  <a:pt x="0" y="1629980"/>
                </a:lnTo>
                <a:close/>
              </a:path>
            </a:pathLst>
          </a:custGeom>
          <a:solidFill>
            <a:srgbClr val="4472C4">
              <a:alpha val="45000"/>
            </a:srgbClr>
          </a:solidFill>
          <a:ln w="4974">
            <a:solidFill>
              <a:srgbClr val="4472C4"/>
            </a:solidFill>
          </a:ln>
        </p:spPr>
      </p:sp>
      <p:sp>
        <p:nvSpPr>
          <p:cNvPr id="13" name="Shape 3"/>
          <p:cNvSpPr/>
          <p:nvPr/>
        </p:nvSpPr>
        <p:spPr>
          <a:xfrm>
            <a:off x="4469448" y="1513662"/>
            <a:ext cx="3253105" cy="552206"/>
          </a:xfrm>
          <a:custGeom>
            <a:avLst/>
            <a:gdLst/>
            <a:ahLst/>
            <a:cxnLst/>
            <a:rect l="0" t="0" r="0" b="0"/>
            <a:pathLst>
              <a:path w="2076450" h="352472">
                <a:moveTo>
                  <a:pt x="0" y="0"/>
                </a:moveTo>
                <a:lnTo>
                  <a:pt x="183007" y="2017"/>
                </a:lnTo>
                <a:lnTo>
                  <a:pt x="344723" y="7716"/>
                </a:lnTo>
                <a:lnTo>
                  <a:pt x="488189" y="16572"/>
                </a:lnTo>
                <a:lnTo>
                  <a:pt x="616446" y="28058"/>
                </a:lnTo>
                <a:lnTo>
                  <a:pt x="732537" y="41649"/>
                </a:lnTo>
                <a:lnTo>
                  <a:pt x="839502" y="56818"/>
                </a:lnTo>
                <a:lnTo>
                  <a:pt x="940384" y="73039"/>
                </a:lnTo>
                <a:lnTo>
                  <a:pt x="1038225" y="89787"/>
                </a:lnTo>
                <a:lnTo>
                  <a:pt x="1136066" y="106534"/>
                </a:lnTo>
                <a:lnTo>
                  <a:pt x="1236948" y="122755"/>
                </a:lnTo>
                <a:lnTo>
                  <a:pt x="1343913" y="137924"/>
                </a:lnTo>
                <a:lnTo>
                  <a:pt x="1460004" y="151515"/>
                </a:lnTo>
                <a:lnTo>
                  <a:pt x="1588261" y="163001"/>
                </a:lnTo>
                <a:lnTo>
                  <a:pt x="1731727" y="171857"/>
                </a:lnTo>
                <a:lnTo>
                  <a:pt x="1893443" y="177556"/>
                </a:lnTo>
                <a:lnTo>
                  <a:pt x="2076450" y="179573"/>
                </a:lnTo>
                <a:lnTo>
                  <a:pt x="2076450" y="352472"/>
                </a:lnTo>
                <a:lnTo>
                  <a:pt x="1893443" y="350455"/>
                </a:lnTo>
                <a:lnTo>
                  <a:pt x="1731727" y="344756"/>
                </a:lnTo>
                <a:lnTo>
                  <a:pt x="1588261" y="335900"/>
                </a:lnTo>
                <a:lnTo>
                  <a:pt x="1460004" y="324414"/>
                </a:lnTo>
                <a:lnTo>
                  <a:pt x="1343913" y="310823"/>
                </a:lnTo>
                <a:lnTo>
                  <a:pt x="1236948" y="295654"/>
                </a:lnTo>
                <a:lnTo>
                  <a:pt x="1136066" y="279433"/>
                </a:lnTo>
                <a:lnTo>
                  <a:pt x="1038225" y="262686"/>
                </a:lnTo>
                <a:lnTo>
                  <a:pt x="940384" y="245938"/>
                </a:lnTo>
                <a:lnTo>
                  <a:pt x="839502" y="229717"/>
                </a:lnTo>
                <a:lnTo>
                  <a:pt x="732537" y="214548"/>
                </a:lnTo>
                <a:lnTo>
                  <a:pt x="616446" y="200957"/>
                </a:lnTo>
                <a:lnTo>
                  <a:pt x="488189" y="189471"/>
                </a:lnTo>
                <a:lnTo>
                  <a:pt x="344723" y="180615"/>
                </a:lnTo>
                <a:lnTo>
                  <a:pt x="183007" y="174916"/>
                </a:lnTo>
                <a:lnTo>
                  <a:pt x="0" y="172899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4" name="Shape 4"/>
          <p:cNvSpPr/>
          <p:nvPr/>
        </p:nvSpPr>
        <p:spPr>
          <a:xfrm>
            <a:off x="4469448" y="2065868"/>
            <a:ext cx="3253105" cy="3855991"/>
          </a:xfrm>
          <a:custGeom>
            <a:avLst/>
            <a:gdLst/>
            <a:ahLst/>
            <a:cxnLst/>
            <a:rect l="0" t="0" r="0" b="0"/>
            <a:pathLst>
              <a:path w="2076450" h="2461271">
                <a:moveTo>
                  <a:pt x="0" y="1974853"/>
                </a:moveTo>
                <a:lnTo>
                  <a:pt x="183007" y="1952675"/>
                </a:lnTo>
                <a:lnTo>
                  <a:pt x="344723" y="1889996"/>
                </a:lnTo>
                <a:lnTo>
                  <a:pt x="488189" y="1792603"/>
                </a:lnTo>
                <a:lnTo>
                  <a:pt x="616446" y="1666282"/>
                </a:lnTo>
                <a:lnTo>
                  <a:pt x="732537" y="1516818"/>
                </a:lnTo>
                <a:lnTo>
                  <a:pt x="839502" y="1349997"/>
                </a:lnTo>
                <a:lnTo>
                  <a:pt x="940384" y="1171605"/>
                </a:lnTo>
                <a:lnTo>
                  <a:pt x="1038225" y="987427"/>
                </a:lnTo>
                <a:lnTo>
                  <a:pt x="1136066" y="803248"/>
                </a:lnTo>
                <a:lnTo>
                  <a:pt x="1236948" y="624856"/>
                </a:lnTo>
                <a:lnTo>
                  <a:pt x="1343913" y="458035"/>
                </a:lnTo>
                <a:lnTo>
                  <a:pt x="1460004" y="308571"/>
                </a:lnTo>
                <a:lnTo>
                  <a:pt x="1588261" y="182250"/>
                </a:lnTo>
                <a:lnTo>
                  <a:pt x="1731727" y="84857"/>
                </a:lnTo>
                <a:lnTo>
                  <a:pt x="1893443" y="22179"/>
                </a:lnTo>
                <a:lnTo>
                  <a:pt x="2076450" y="0"/>
                </a:lnTo>
                <a:lnTo>
                  <a:pt x="2076450" y="486418"/>
                </a:lnTo>
                <a:lnTo>
                  <a:pt x="1893443" y="508596"/>
                </a:lnTo>
                <a:lnTo>
                  <a:pt x="1731727" y="571275"/>
                </a:lnTo>
                <a:lnTo>
                  <a:pt x="1588261" y="668667"/>
                </a:lnTo>
                <a:lnTo>
                  <a:pt x="1460004" y="794988"/>
                </a:lnTo>
                <a:lnTo>
                  <a:pt x="1343913" y="944452"/>
                </a:lnTo>
                <a:lnTo>
                  <a:pt x="1236948" y="1111273"/>
                </a:lnTo>
                <a:lnTo>
                  <a:pt x="1136066" y="1289666"/>
                </a:lnTo>
                <a:lnTo>
                  <a:pt x="1038225" y="1473844"/>
                </a:lnTo>
                <a:lnTo>
                  <a:pt x="940384" y="1658022"/>
                </a:lnTo>
                <a:lnTo>
                  <a:pt x="839502" y="1836415"/>
                </a:lnTo>
                <a:lnTo>
                  <a:pt x="732537" y="2003236"/>
                </a:lnTo>
                <a:lnTo>
                  <a:pt x="616446" y="2152700"/>
                </a:lnTo>
                <a:lnTo>
                  <a:pt x="488189" y="2279021"/>
                </a:lnTo>
                <a:lnTo>
                  <a:pt x="344723" y="2376414"/>
                </a:lnTo>
                <a:lnTo>
                  <a:pt x="183007" y="2439092"/>
                </a:lnTo>
                <a:lnTo>
                  <a:pt x="0" y="2461271"/>
                </a:lnTo>
                <a:close/>
              </a:path>
            </a:pathLst>
          </a:custGeom>
          <a:solidFill>
            <a:srgbClr val="2E8B8B">
              <a:alpha val="45000"/>
            </a:srgbClr>
          </a:solidFill>
          <a:ln w="4974">
            <a:solidFill>
              <a:srgbClr val="2E8B8B"/>
            </a:solidFill>
          </a:ln>
        </p:spPr>
      </p:sp>
      <p:sp>
        <p:nvSpPr>
          <p:cNvPr id="15" name="Shape 5"/>
          <p:cNvSpPr/>
          <p:nvPr/>
        </p:nvSpPr>
        <p:spPr>
          <a:xfrm>
            <a:off x="4469448" y="1784537"/>
            <a:ext cx="6715125" cy="1143187"/>
          </a:xfrm>
          <a:custGeom>
            <a:avLst/>
            <a:gdLst/>
            <a:ahLst/>
            <a:cxnLst/>
            <a:rect l="0" t="0" r="0" b="0"/>
            <a:pathLst>
              <a:path w="4286250" h="729694">
                <a:moveTo>
                  <a:pt x="0" y="0"/>
                </a:moveTo>
                <a:lnTo>
                  <a:pt x="377768" y="7472"/>
                </a:lnTo>
                <a:lnTo>
                  <a:pt x="711584" y="28588"/>
                </a:lnTo>
                <a:lnTo>
                  <a:pt x="1007729" y="61400"/>
                </a:lnTo>
                <a:lnTo>
                  <a:pt x="1272480" y="103958"/>
                </a:lnTo>
                <a:lnTo>
                  <a:pt x="1512117" y="154312"/>
                </a:lnTo>
                <a:lnTo>
                  <a:pt x="1732917" y="210514"/>
                </a:lnTo>
                <a:lnTo>
                  <a:pt x="1941161" y="270615"/>
                </a:lnTo>
                <a:lnTo>
                  <a:pt x="2143125" y="332664"/>
                </a:lnTo>
                <a:lnTo>
                  <a:pt x="2345089" y="394714"/>
                </a:lnTo>
                <a:lnTo>
                  <a:pt x="2553333" y="454814"/>
                </a:lnTo>
                <a:lnTo>
                  <a:pt x="2774133" y="511016"/>
                </a:lnTo>
                <a:lnTo>
                  <a:pt x="3013770" y="561371"/>
                </a:lnTo>
                <a:lnTo>
                  <a:pt x="3278521" y="603928"/>
                </a:lnTo>
                <a:lnTo>
                  <a:pt x="3574666" y="636740"/>
                </a:lnTo>
                <a:lnTo>
                  <a:pt x="3908482" y="657856"/>
                </a:lnTo>
                <a:lnTo>
                  <a:pt x="4286250" y="665328"/>
                </a:lnTo>
                <a:lnTo>
                  <a:pt x="4286250" y="729694"/>
                </a:lnTo>
                <a:lnTo>
                  <a:pt x="3908482" y="722222"/>
                </a:lnTo>
                <a:lnTo>
                  <a:pt x="3574666" y="701106"/>
                </a:lnTo>
                <a:lnTo>
                  <a:pt x="3278521" y="668294"/>
                </a:lnTo>
                <a:lnTo>
                  <a:pt x="3013770" y="625736"/>
                </a:lnTo>
                <a:lnTo>
                  <a:pt x="2774133" y="575382"/>
                </a:lnTo>
                <a:lnTo>
                  <a:pt x="2553333" y="519180"/>
                </a:lnTo>
                <a:lnTo>
                  <a:pt x="2345089" y="459079"/>
                </a:lnTo>
                <a:lnTo>
                  <a:pt x="2143125" y="397030"/>
                </a:lnTo>
                <a:lnTo>
                  <a:pt x="1941161" y="334980"/>
                </a:lnTo>
                <a:lnTo>
                  <a:pt x="1732917" y="274880"/>
                </a:lnTo>
                <a:lnTo>
                  <a:pt x="1512117" y="218678"/>
                </a:lnTo>
                <a:lnTo>
                  <a:pt x="1272480" y="168323"/>
                </a:lnTo>
                <a:lnTo>
                  <a:pt x="1007729" y="125766"/>
                </a:lnTo>
                <a:lnTo>
                  <a:pt x="711584" y="92954"/>
                </a:lnTo>
                <a:lnTo>
                  <a:pt x="377768" y="71838"/>
                </a:lnTo>
                <a:lnTo>
                  <a:pt x="0" y="64366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6" name="Shape 6"/>
          <p:cNvSpPr/>
          <p:nvPr/>
        </p:nvSpPr>
        <p:spPr>
          <a:xfrm>
            <a:off x="4469448" y="1885377"/>
            <a:ext cx="3253105" cy="4216973"/>
          </a:xfrm>
          <a:custGeom>
            <a:avLst/>
            <a:gdLst/>
            <a:ahLst/>
            <a:cxnLst/>
            <a:rect l="0" t="0" r="0" b="0"/>
            <a:pathLst>
              <a:path w="2076450" h="2691685">
                <a:moveTo>
                  <a:pt x="0" y="0"/>
                </a:moveTo>
                <a:lnTo>
                  <a:pt x="183007" y="9965"/>
                </a:lnTo>
                <a:lnTo>
                  <a:pt x="344723" y="38129"/>
                </a:lnTo>
                <a:lnTo>
                  <a:pt x="488189" y="81891"/>
                </a:lnTo>
                <a:lnTo>
                  <a:pt x="616446" y="138652"/>
                </a:lnTo>
                <a:lnTo>
                  <a:pt x="732537" y="205812"/>
                </a:lnTo>
                <a:lnTo>
                  <a:pt x="839502" y="280771"/>
                </a:lnTo>
                <a:lnTo>
                  <a:pt x="940384" y="360929"/>
                </a:lnTo>
                <a:lnTo>
                  <a:pt x="1038225" y="443687"/>
                </a:lnTo>
                <a:lnTo>
                  <a:pt x="1136066" y="526445"/>
                </a:lnTo>
                <a:lnTo>
                  <a:pt x="1236948" y="606604"/>
                </a:lnTo>
                <a:lnTo>
                  <a:pt x="1343913" y="681563"/>
                </a:lnTo>
                <a:lnTo>
                  <a:pt x="1460004" y="748722"/>
                </a:lnTo>
                <a:lnTo>
                  <a:pt x="1588261" y="805483"/>
                </a:lnTo>
                <a:lnTo>
                  <a:pt x="1731727" y="849245"/>
                </a:lnTo>
                <a:lnTo>
                  <a:pt x="1893443" y="877409"/>
                </a:lnTo>
                <a:lnTo>
                  <a:pt x="2076450" y="887375"/>
                </a:lnTo>
                <a:lnTo>
                  <a:pt x="2076450" y="2691685"/>
                </a:lnTo>
                <a:lnTo>
                  <a:pt x="1893443" y="2681719"/>
                </a:lnTo>
                <a:lnTo>
                  <a:pt x="1731727" y="2653556"/>
                </a:lnTo>
                <a:lnTo>
                  <a:pt x="1588261" y="2609793"/>
                </a:lnTo>
                <a:lnTo>
                  <a:pt x="1460004" y="2553033"/>
                </a:lnTo>
                <a:lnTo>
                  <a:pt x="1343913" y="2485873"/>
                </a:lnTo>
                <a:lnTo>
                  <a:pt x="1236948" y="2410914"/>
                </a:lnTo>
                <a:lnTo>
                  <a:pt x="1136066" y="2330756"/>
                </a:lnTo>
                <a:lnTo>
                  <a:pt x="1038225" y="2247998"/>
                </a:lnTo>
                <a:lnTo>
                  <a:pt x="940384" y="2165239"/>
                </a:lnTo>
                <a:lnTo>
                  <a:pt x="839502" y="2085081"/>
                </a:lnTo>
                <a:lnTo>
                  <a:pt x="732537" y="2010122"/>
                </a:lnTo>
                <a:lnTo>
                  <a:pt x="616446" y="1942962"/>
                </a:lnTo>
                <a:lnTo>
                  <a:pt x="488189" y="1886202"/>
                </a:lnTo>
                <a:lnTo>
                  <a:pt x="344723" y="1842439"/>
                </a:lnTo>
                <a:lnTo>
                  <a:pt x="183007" y="1814276"/>
                </a:lnTo>
                <a:lnTo>
                  <a:pt x="0" y="180431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7" name="Shape 7"/>
          <p:cNvSpPr/>
          <p:nvPr/>
        </p:nvSpPr>
        <p:spPr>
          <a:xfrm>
            <a:off x="7931468" y="3275598"/>
            <a:ext cx="3253105" cy="1327018"/>
          </a:xfrm>
          <a:custGeom>
            <a:avLst/>
            <a:gdLst/>
            <a:ahLst/>
            <a:cxnLst/>
            <a:rect l="0" t="0" r="0" b="0"/>
            <a:pathLst>
              <a:path w="2076450" h="847033">
                <a:moveTo>
                  <a:pt x="0" y="0"/>
                </a:moveTo>
                <a:lnTo>
                  <a:pt x="183007" y="3766"/>
                </a:lnTo>
                <a:lnTo>
                  <a:pt x="344723" y="14408"/>
                </a:lnTo>
                <a:lnTo>
                  <a:pt x="488189" y="30945"/>
                </a:lnTo>
                <a:lnTo>
                  <a:pt x="616446" y="52394"/>
                </a:lnTo>
                <a:lnTo>
                  <a:pt x="732537" y="77773"/>
                </a:lnTo>
                <a:lnTo>
                  <a:pt x="839502" y="106099"/>
                </a:lnTo>
                <a:lnTo>
                  <a:pt x="940384" y="136390"/>
                </a:lnTo>
                <a:lnTo>
                  <a:pt x="1038225" y="167663"/>
                </a:lnTo>
                <a:lnTo>
                  <a:pt x="1136066" y="198936"/>
                </a:lnTo>
                <a:lnTo>
                  <a:pt x="1236948" y="229227"/>
                </a:lnTo>
                <a:lnTo>
                  <a:pt x="1343913" y="257552"/>
                </a:lnTo>
                <a:lnTo>
                  <a:pt x="1460004" y="282931"/>
                </a:lnTo>
                <a:lnTo>
                  <a:pt x="1588261" y="304380"/>
                </a:lnTo>
                <a:lnTo>
                  <a:pt x="1731727" y="320917"/>
                </a:lnTo>
                <a:lnTo>
                  <a:pt x="1893443" y="331560"/>
                </a:lnTo>
                <a:lnTo>
                  <a:pt x="2076450" y="335326"/>
                </a:lnTo>
                <a:lnTo>
                  <a:pt x="2076450" y="847033"/>
                </a:lnTo>
                <a:lnTo>
                  <a:pt x="1893443" y="843267"/>
                </a:lnTo>
                <a:lnTo>
                  <a:pt x="1731727" y="832624"/>
                </a:lnTo>
                <a:lnTo>
                  <a:pt x="1588261" y="816087"/>
                </a:lnTo>
                <a:lnTo>
                  <a:pt x="1460004" y="794638"/>
                </a:lnTo>
                <a:lnTo>
                  <a:pt x="1343913" y="769259"/>
                </a:lnTo>
                <a:lnTo>
                  <a:pt x="1236948" y="740933"/>
                </a:lnTo>
                <a:lnTo>
                  <a:pt x="1136066" y="710643"/>
                </a:lnTo>
                <a:lnTo>
                  <a:pt x="1038225" y="679370"/>
                </a:lnTo>
                <a:lnTo>
                  <a:pt x="940384" y="648096"/>
                </a:lnTo>
                <a:lnTo>
                  <a:pt x="839502" y="617806"/>
                </a:lnTo>
                <a:lnTo>
                  <a:pt x="732537" y="589480"/>
                </a:lnTo>
                <a:lnTo>
                  <a:pt x="616446" y="564101"/>
                </a:lnTo>
                <a:lnTo>
                  <a:pt x="488189" y="542652"/>
                </a:lnTo>
                <a:lnTo>
                  <a:pt x="344723" y="526115"/>
                </a:lnTo>
                <a:lnTo>
                  <a:pt x="183007" y="515472"/>
                </a:lnTo>
                <a:lnTo>
                  <a:pt x="0" y="511706"/>
                </a:lnTo>
                <a:close/>
              </a:path>
            </a:pathLst>
          </a:custGeom>
          <a:solidFill>
            <a:srgbClr val="7030A0">
              <a:alpha val="45000"/>
            </a:srgbClr>
          </a:solidFill>
          <a:ln w="4974">
            <a:solidFill>
              <a:srgbClr val="7030A0"/>
            </a:solidFill>
          </a:ln>
        </p:spPr>
      </p:sp>
      <p:sp>
        <p:nvSpPr>
          <p:cNvPr id="18" name="Shape 8"/>
          <p:cNvSpPr/>
          <p:nvPr/>
        </p:nvSpPr>
        <p:spPr>
          <a:xfrm>
            <a:off x="7931468" y="1794993"/>
            <a:ext cx="3253105" cy="2005949"/>
          </a:xfrm>
          <a:custGeom>
            <a:avLst/>
            <a:gdLst/>
            <a:ahLst/>
            <a:cxnLst/>
            <a:rect l="0" t="0" r="0" b="0"/>
            <a:pathLst>
              <a:path w="2076450" h="1280393">
                <a:moveTo>
                  <a:pt x="0" y="0"/>
                </a:moveTo>
                <a:lnTo>
                  <a:pt x="183007" y="11474"/>
                </a:lnTo>
                <a:lnTo>
                  <a:pt x="344723" y="43899"/>
                </a:lnTo>
                <a:lnTo>
                  <a:pt x="488189" y="94283"/>
                </a:lnTo>
                <a:lnTo>
                  <a:pt x="616446" y="159632"/>
                </a:lnTo>
                <a:lnTo>
                  <a:pt x="732537" y="236953"/>
                </a:lnTo>
                <a:lnTo>
                  <a:pt x="839502" y="323254"/>
                </a:lnTo>
                <a:lnTo>
                  <a:pt x="940384" y="415541"/>
                </a:lnTo>
                <a:lnTo>
                  <a:pt x="1038225" y="510822"/>
                </a:lnTo>
                <a:lnTo>
                  <a:pt x="1136066" y="606102"/>
                </a:lnTo>
                <a:lnTo>
                  <a:pt x="1236948" y="698389"/>
                </a:lnTo>
                <a:lnTo>
                  <a:pt x="1343913" y="784690"/>
                </a:lnTo>
                <a:lnTo>
                  <a:pt x="1460004" y="862011"/>
                </a:lnTo>
                <a:lnTo>
                  <a:pt x="1588261" y="927361"/>
                </a:lnTo>
                <a:lnTo>
                  <a:pt x="1731727" y="977744"/>
                </a:lnTo>
                <a:lnTo>
                  <a:pt x="1893443" y="1010170"/>
                </a:lnTo>
                <a:lnTo>
                  <a:pt x="2076450" y="1021643"/>
                </a:lnTo>
                <a:lnTo>
                  <a:pt x="2076450" y="1280393"/>
                </a:lnTo>
                <a:lnTo>
                  <a:pt x="1893443" y="1268919"/>
                </a:lnTo>
                <a:lnTo>
                  <a:pt x="1731727" y="1236494"/>
                </a:lnTo>
                <a:lnTo>
                  <a:pt x="1588261" y="1186110"/>
                </a:lnTo>
                <a:lnTo>
                  <a:pt x="1460004" y="1120761"/>
                </a:lnTo>
                <a:lnTo>
                  <a:pt x="1343913" y="1043440"/>
                </a:lnTo>
                <a:lnTo>
                  <a:pt x="1236948" y="957139"/>
                </a:lnTo>
                <a:lnTo>
                  <a:pt x="1136066" y="864852"/>
                </a:lnTo>
                <a:lnTo>
                  <a:pt x="1038225" y="769571"/>
                </a:lnTo>
                <a:lnTo>
                  <a:pt x="940384" y="674291"/>
                </a:lnTo>
                <a:lnTo>
                  <a:pt x="839502" y="582004"/>
                </a:lnTo>
                <a:lnTo>
                  <a:pt x="732537" y="495703"/>
                </a:lnTo>
                <a:lnTo>
                  <a:pt x="616446" y="418382"/>
                </a:lnTo>
                <a:lnTo>
                  <a:pt x="488189" y="353032"/>
                </a:lnTo>
                <a:lnTo>
                  <a:pt x="344723" y="302649"/>
                </a:lnTo>
                <a:lnTo>
                  <a:pt x="183007" y="270224"/>
                </a:lnTo>
                <a:lnTo>
                  <a:pt x="0" y="258750"/>
                </a:lnTo>
                <a:close/>
              </a:path>
            </a:pathLst>
          </a:custGeom>
          <a:solidFill>
            <a:srgbClr val="FFC000">
              <a:alpha val="45000"/>
            </a:srgbClr>
          </a:solidFill>
          <a:ln w="4974">
            <a:solidFill>
              <a:srgbClr val="FFC000"/>
            </a:solidFill>
          </a:ln>
        </p:spPr>
      </p:sp>
      <p:sp>
        <p:nvSpPr>
          <p:cNvPr id="19" name="Shape 9"/>
          <p:cNvSpPr/>
          <p:nvPr/>
        </p:nvSpPr>
        <p:spPr>
          <a:xfrm>
            <a:off x="7931468" y="1327150"/>
            <a:ext cx="3253105" cy="2068417"/>
          </a:xfrm>
          <a:custGeom>
            <a:avLst/>
            <a:gdLst/>
            <a:ahLst/>
            <a:cxnLst/>
            <a:rect l="0" t="0" r="0" b="0"/>
            <a:pathLst>
              <a:path w="2076450" h="1320266">
                <a:moveTo>
                  <a:pt x="0" y="0"/>
                </a:moveTo>
                <a:lnTo>
                  <a:pt x="183007" y="14683"/>
                </a:lnTo>
                <a:lnTo>
                  <a:pt x="344723" y="56177"/>
                </a:lnTo>
                <a:lnTo>
                  <a:pt x="488189" y="120653"/>
                </a:lnTo>
                <a:lnTo>
                  <a:pt x="616446" y="204280"/>
                </a:lnTo>
                <a:lnTo>
                  <a:pt x="732537" y="303228"/>
                </a:lnTo>
                <a:lnTo>
                  <a:pt x="839502" y="413667"/>
                </a:lnTo>
                <a:lnTo>
                  <a:pt x="940384" y="531767"/>
                </a:lnTo>
                <a:lnTo>
                  <a:pt x="1038225" y="653696"/>
                </a:lnTo>
                <a:lnTo>
                  <a:pt x="1136066" y="775626"/>
                </a:lnTo>
                <a:lnTo>
                  <a:pt x="1236948" y="893726"/>
                </a:lnTo>
                <a:lnTo>
                  <a:pt x="1343913" y="1004165"/>
                </a:lnTo>
                <a:lnTo>
                  <a:pt x="1460004" y="1103113"/>
                </a:lnTo>
                <a:lnTo>
                  <a:pt x="1588261" y="1186740"/>
                </a:lnTo>
                <a:lnTo>
                  <a:pt x="1731727" y="1251216"/>
                </a:lnTo>
                <a:lnTo>
                  <a:pt x="1893443" y="1292710"/>
                </a:lnTo>
                <a:lnTo>
                  <a:pt x="2076450" y="1307393"/>
                </a:lnTo>
                <a:lnTo>
                  <a:pt x="2076450" y="1320266"/>
                </a:lnTo>
                <a:lnTo>
                  <a:pt x="1893443" y="1305583"/>
                </a:lnTo>
                <a:lnTo>
                  <a:pt x="1731727" y="1264089"/>
                </a:lnTo>
                <a:lnTo>
                  <a:pt x="1588261" y="1199613"/>
                </a:lnTo>
                <a:lnTo>
                  <a:pt x="1460004" y="1115986"/>
                </a:lnTo>
                <a:lnTo>
                  <a:pt x="1343913" y="1017038"/>
                </a:lnTo>
                <a:lnTo>
                  <a:pt x="1236948" y="906599"/>
                </a:lnTo>
                <a:lnTo>
                  <a:pt x="1136066" y="788499"/>
                </a:lnTo>
                <a:lnTo>
                  <a:pt x="1038225" y="666570"/>
                </a:lnTo>
                <a:lnTo>
                  <a:pt x="940384" y="544640"/>
                </a:lnTo>
                <a:lnTo>
                  <a:pt x="839502" y="426540"/>
                </a:lnTo>
                <a:lnTo>
                  <a:pt x="732537" y="316101"/>
                </a:lnTo>
                <a:lnTo>
                  <a:pt x="616446" y="217153"/>
                </a:lnTo>
                <a:lnTo>
                  <a:pt x="488189" y="133526"/>
                </a:lnTo>
                <a:lnTo>
                  <a:pt x="344723" y="69050"/>
                </a:lnTo>
                <a:lnTo>
                  <a:pt x="183007" y="27556"/>
                </a:lnTo>
                <a:lnTo>
                  <a:pt x="0" y="12873"/>
                </a:lnTo>
                <a:close/>
              </a:path>
            </a:pathLst>
          </a:custGeom>
          <a:solidFill>
            <a:srgbClr val="70AD47">
              <a:alpha val="45000"/>
            </a:srgbClr>
          </a:solidFill>
          <a:ln w="4974">
            <a:solidFill>
              <a:srgbClr val="70AD47"/>
            </a:solidFill>
          </a:ln>
        </p:spPr>
      </p:sp>
      <p:sp>
        <p:nvSpPr>
          <p:cNvPr id="20" name="Shape 10"/>
          <p:cNvSpPr/>
          <p:nvPr/>
        </p:nvSpPr>
        <p:spPr>
          <a:xfrm>
            <a:off x="1007428" y="4508951"/>
            <a:ext cx="3253105" cy="767888"/>
          </a:xfrm>
          <a:custGeom>
            <a:avLst/>
            <a:gdLst/>
            <a:ahLst/>
            <a:cxnLst/>
            <a:rect l="0" t="0" r="0" b="0"/>
            <a:pathLst>
              <a:path w="2076450" h="490141">
                <a:moveTo>
                  <a:pt x="0" y="0"/>
                </a:moveTo>
                <a:lnTo>
                  <a:pt x="183007" y="4665"/>
                </a:lnTo>
                <a:lnTo>
                  <a:pt x="344723" y="17851"/>
                </a:lnTo>
                <a:lnTo>
                  <a:pt x="488189" y="38338"/>
                </a:lnTo>
                <a:lnTo>
                  <a:pt x="616446" y="64912"/>
                </a:lnTo>
                <a:lnTo>
                  <a:pt x="732537" y="96354"/>
                </a:lnTo>
                <a:lnTo>
                  <a:pt x="839502" y="131447"/>
                </a:lnTo>
                <a:lnTo>
                  <a:pt x="940384" y="168974"/>
                </a:lnTo>
                <a:lnTo>
                  <a:pt x="1038225" y="207719"/>
                </a:lnTo>
                <a:lnTo>
                  <a:pt x="1136066" y="246463"/>
                </a:lnTo>
                <a:lnTo>
                  <a:pt x="1236948" y="283991"/>
                </a:lnTo>
                <a:lnTo>
                  <a:pt x="1343913" y="319084"/>
                </a:lnTo>
                <a:lnTo>
                  <a:pt x="1460004" y="350526"/>
                </a:lnTo>
                <a:lnTo>
                  <a:pt x="1588261" y="377099"/>
                </a:lnTo>
                <a:lnTo>
                  <a:pt x="1731727" y="397587"/>
                </a:lnTo>
                <a:lnTo>
                  <a:pt x="1893443" y="410772"/>
                </a:lnTo>
                <a:lnTo>
                  <a:pt x="2076450" y="415438"/>
                </a:lnTo>
                <a:lnTo>
                  <a:pt x="2076450" y="490141"/>
                </a:lnTo>
                <a:lnTo>
                  <a:pt x="1893443" y="485475"/>
                </a:lnTo>
                <a:lnTo>
                  <a:pt x="1731727" y="472290"/>
                </a:lnTo>
                <a:lnTo>
                  <a:pt x="1588261" y="451802"/>
                </a:lnTo>
                <a:lnTo>
                  <a:pt x="1460004" y="425229"/>
                </a:lnTo>
                <a:lnTo>
                  <a:pt x="1343913" y="393787"/>
                </a:lnTo>
                <a:lnTo>
                  <a:pt x="1236948" y="358693"/>
                </a:lnTo>
                <a:lnTo>
                  <a:pt x="1136066" y="321166"/>
                </a:lnTo>
                <a:lnTo>
                  <a:pt x="1038225" y="282422"/>
                </a:lnTo>
                <a:lnTo>
                  <a:pt x="940384" y="243677"/>
                </a:lnTo>
                <a:lnTo>
                  <a:pt x="839502" y="206150"/>
                </a:lnTo>
                <a:lnTo>
                  <a:pt x="732537" y="171057"/>
                </a:lnTo>
                <a:lnTo>
                  <a:pt x="616446" y="139615"/>
                </a:lnTo>
                <a:lnTo>
                  <a:pt x="488189" y="113041"/>
                </a:lnTo>
                <a:lnTo>
                  <a:pt x="344723" y="92553"/>
                </a:lnTo>
                <a:lnTo>
                  <a:pt x="183007" y="79368"/>
                </a:lnTo>
                <a:lnTo>
                  <a:pt x="0" y="74702"/>
                </a:lnTo>
                <a:close/>
              </a:path>
            </a:pathLst>
          </a:custGeom>
          <a:solidFill>
            <a:srgbClr val="C00000">
              <a:alpha val="45000"/>
            </a:srgbClr>
          </a:solidFill>
          <a:ln w="4974">
            <a:solidFill>
              <a:srgbClr val="C00000"/>
            </a:solidFill>
          </a:ln>
        </p:spPr>
      </p:sp>
      <p:sp>
        <p:nvSpPr>
          <p:cNvPr id="21" name="Box 11"/>
          <p:cNvSpPr/>
          <p:nvPr/>
        </p:nvSpPr>
        <p:spPr>
          <a:xfrm>
            <a:off x="798513" y="2803516"/>
            <a:ext cx="208915" cy="125776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4260533" y="1507641"/>
            <a:ext cx="208915" cy="3204488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7722553" y="1327150"/>
            <a:ext cx="208915" cy="20168"/>
          </a:xfrm>
          <a:prstGeom prst="rect">
            <a:avLst/>
          </a:prstGeom>
          <a:solidFill>
            <a:srgbClr val="70AD47"/>
          </a:solidFill>
          <a:ln>
            <a:noFill/>
          </a:ln>
        </p:spPr>
      </p:sp>
      <p:sp>
        <p:nvSpPr>
          <p:cNvPr id="24" name="Box 14"/>
          <p:cNvSpPr/>
          <p:nvPr/>
        </p:nvSpPr>
        <p:spPr>
          <a:xfrm>
            <a:off x="7722553" y="1794993"/>
            <a:ext cx="208915" cy="1032930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7722553" y="3275598"/>
            <a:ext cx="208915" cy="282675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6" name="Box 16"/>
          <p:cNvSpPr/>
          <p:nvPr/>
        </p:nvSpPr>
        <p:spPr>
          <a:xfrm>
            <a:off x="11184573" y="2826884"/>
            <a:ext cx="208915" cy="100840"/>
          </a:xfrm>
          <a:prstGeom prst="rect">
            <a:avLst/>
          </a:prstGeom>
          <a:solidFill>
            <a:srgbClr val="5B9BD5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513" y="4508951"/>
            <a:ext cx="208915" cy="117035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4260533" y="5159804"/>
            <a:ext cx="208915" cy="762055"/>
          </a:xfrm>
          <a:prstGeom prst="rect">
            <a:avLst/>
          </a:prstGeom>
          <a:solidFill>
            <a:srgbClr val="2E8B8B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11184573" y="3375399"/>
            <a:ext cx="208915" cy="122721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0" name="Box 20"/>
          <p:cNvSpPr/>
          <p:nvPr/>
        </p:nvSpPr>
        <p:spPr>
          <a:xfrm>
            <a:off x="1067118" y="3208558"/>
            <a:ext cx="22980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Agricultural 'waste'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124.73</a:t>
            </a:r>
          </a:p>
        </p:txBody>
      </p:sp>
      <p:sp>
        <p:nvSpPr>
          <p:cNvPr id="31" name="Box 21"/>
          <p:cNvSpPr/>
          <p:nvPr/>
        </p:nvSpPr>
        <p:spPr>
          <a:xfrm>
            <a:off x="4529138" y="2886048"/>
            <a:ext cx="17011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Bio-conversion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317.78</a:t>
            </a:r>
          </a:p>
        </p:txBody>
      </p:sp>
      <p:sp>
        <p:nvSpPr>
          <p:cNvPr id="32" name="Box 22"/>
          <p:cNvSpPr/>
          <p:nvPr/>
        </p:nvSpPr>
        <p:spPr>
          <a:xfrm>
            <a:off x="6812280" y="111339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Liquid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3" name="Box 23"/>
          <p:cNvSpPr/>
          <p:nvPr/>
        </p:nvSpPr>
        <p:spPr>
          <a:xfrm>
            <a:off x="6857048" y="2087619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Solid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102.43</a:t>
            </a:r>
          </a:p>
        </p:txBody>
      </p:sp>
      <p:sp>
        <p:nvSpPr>
          <p:cNvPr id="34" name="Box 24"/>
          <p:cNvSpPr/>
          <p:nvPr/>
        </p:nvSpPr>
        <p:spPr>
          <a:xfrm>
            <a:off x="6857048" y="4465136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Gas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280.32</a:t>
            </a:r>
          </a:p>
        </p:txBody>
      </p:sp>
      <p:sp>
        <p:nvSpPr>
          <p:cNvPr id="35" name="Box 25"/>
          <p:cNvSpPr/>
          <p:nvPr/>
        </p:nvSpPr>
        <p:spPr>
          <a:xfrm>
            <a:off x="10274300" y="265346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Losses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36" name="Box 26"/>
          <p:cNvSpPr/>
          <p:nvPr/>
        </p:nvSpPr>
        <p:spPr>
          <a:xfrm>
            <a:off x="1067118" y="4343630"/>
            <a:ext cx="143256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 imports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11.61</a:t>
            </a:r>
          </a:p>
        </p:txBody>
      </p:sp>
      <p:sp>
        <p:nvSpPr>
          <p:cNvPr id="37" name="Box 27"/>
          <p:cNvSpPr/>
          <p:nvPr/>
        </p:nvSpPr>
        <p:spPr>
          <a:xfrm>
            <a:off x="4529138" y="5316994"/>
            <a:ext cx="71628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75.57</a:t>
            </a:r>
          </a:p>
        </p:txBody>
      </p:sp>
      <p:sp>
        <p:nvSpPr>
          <p:cNvPr id="38" name="Box 28"/>
          <p:cNvSpPr/>
          <p:nvPr/>
        </p:nvSpPr>
        <p:spPr>
          <a:xfrm>
            <a:off x="10169843" y="3765170"/>
            <a:ext cx="95504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Heating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121.7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self-loop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4939254" y="1028700"/>
            <a:ext cx="1685584" cy="1046513"/>
          </a:xfrm>
          <a:prstGeom prst="rect">
            <a:avLst/>
          </a:prstGeom>
          <a:solidFill>
            <a:srgbClr val="FFF9C4"/>
          </a:solidFill>
          <a:ln w="1860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En cours" descr="B"/>
          <p:cNvSpPr/>
          <p:nvPr/>
        </p:nvSpPr>
        <p:spPr>
          <a:xfrm>
            <a:off x="4788556" y="3191494"/>
            <a:ext cx="1986979" cy="1046513"/>
          </a:xfrm>
          <a:prstGeom prst="rect">
            <a:avLst/>
          </a:prstGeom>
          <a:solidFill>
            <a:srgbClr val="BBDEFB"/>
          </a:solidFill>
          <a:ln w="186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En cours</a:t>
            </a:r>
          </a:p>
        </p:txBody>
      </p:sp>
      <p:sp>
        <p:nvSpPr>
          <p:cNvPr id="14" name="Fin" descr="C"/>
          <p:cNvSpPr/>
          <p:nvPr/>
        </p:nvSpPr>
        <p:spPr>
          <a:xfrm>
            <a:off x="5240650" y="5354287"/>
            <a:ext cx="1082792" cy="1046513"/>
          </a:xfrm>
          <a:prstGeom prst="rect">
            <a:avLst/>
          </a:prstGeom>
          <a:solidFill>
            <a:srgbClr val="C8E6C9"/>
          </a:solidFill>
          <a:ln w="186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5782046" y="2075213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B--B"/>
          <p:cNvSpPr/>
          <p:nvPr/>
        </p:nvSpPr>
        <p:spPr>
          <a:xfrm>
            <a:off x="6775536" y="3191494"/>
            <a:ext cx="627908" cy="1046513"/>
          </a:xfrm>
          <a:custGeom>
            <a:avLst/>
            <a:gdLst/>
            <a:ahLst/>
            <a:cxnLst/>
            <a:rect l="0" t="0" r="0" b="0"/>
            <a:pathLst>
              <a:path w="428625" h="714375">
                <a:moveTo>
                  <a:pt x="0" y="105886"/>
                </a:moveTo>
                <a:lnTo>
                  <a:pt x="285750" y="0"/>
                </a:lnTo>
                <a:lnTo>
                  <a:pt x="357187" y="0"/>
                </a:lnTo>
                <a:lnTo>
                  <a:pt x="428625" y="357188"/>
                </a:lnTo>
                <a:lnTo>
                  <a:pt x="357187" y="714375"/>
                </a:lnTo>
                <a:lnTo>
                  <a:pt x="285750" y="714375"/>
                </a:lnTo>
                <a:lnTo>
                  <a:pt x="0" y="608489"/>
                </a:lnTo>
              </a:path>
            </a:pathLst>
          </a:cu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7" name="EdgeLabel"/>
          <p:cNvSpPr txBox="1"/>
          <p:nvPr/>
        </p:nvSpPr>
        <p:spPr>
          <a:xfrm>
            <a:off x="6889955" y="3547309"/>
            <a:ext cx="1026978" cy="33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55814" tIns="0" rIns="55814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2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18" name="B--C"/>
          <p:cNvCxnSpPr>
            <a:stCxn id="13" idx="2"/>
            <a:endCxn id="14" idx="0"/>
          </p:cNvCxnSpPr>
          <p:nvPr/>
        </p:nvCxnSpPr>
        <p:spPr>
          <a:xfrm>
            <a:off x="5782046" y="4238006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sequence</a:t>
            </a:r>
          </a:p>
        </p:txBody>
      </p:sp>
      <p:sp>
        <p:nvSpPr>
          <p:cNvPr id="80" name="Participant U"/>
          <p:cNvSpPr/>
          <p:nvPr/>
        </p:nvSpPr>
        <p:spPr>
          <a:xfrm>
            <a:off x="3548228" y="1305256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2" name="Participant U"/>
          <p:cNvSpPr/>
          <p:nvPr/>
        </p:nvSpPr>
        <p:spPr>
          <a:xfrm>
            <a:off x="3548228" y="6027449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5" name="Participant W"/>
          <p:cNvSpPr/>
          <p:nvPr/>
        </p:nvSpPr>
        <p:spPr>
          <a:xfrm>
            <a:off x="451617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87" name="Participant W"/>
          <p:cNvSpPr/>
          <p:nvPr/>
        </p:nvSpPr>
        <p:spPr>
          <a:xfrm>
            <a:off x="451617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0" name="Participant API"/>
          <p:cNvSpPr/>
          <p:nvPr/>
        </p:nvSpPr>
        <p:spPr>
          <a:xfrm>
            <a:off x="5622398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2" name="Participant API"/>
          <p:cNvSpPr/>
          <p:nvPr/>
        </p:nvSpPr>
        <p:spPr>
          <a:xfrm>
            <a:off x="5622398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5" name="Participant DB"/>
          <p:cNvSpPr/>
          <p:nvPr/>
        </p:nvSpPr>
        <p:spPr>
          <a:xfrm>
            <a:off x="659034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7" name="Participant DB"/>
          <p:cNvSpPr/>
          <p:nvPr/>
        </p:nvSpPr>
        <p:spPr>
          <a:xfrm>
            <a:off x="659034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00" name="Participant M"/>
          <p:cNvSpPr/>
          <p:nvPr/>
        </p:nvSpPr>
        <p:spPr>
          <a:xfrm>
            <a:off x="7558290" y="521160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40" name="Block loop"/>
          <p:cNvSpPr/>
          <p:nvPr/>
        </p:nvSpPr>
        <p:spPr>
          <a:xfrm>
            <a:off x="4578399" y="3137439"/>
            <a:ext cx="1604025" cy="4217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Box 31"/>
          <p:cNvSpPr/>
          <p:nvPr/>
        </p:nvSpPr>
        <p:spPr>
          <a:xfrm>
            <a:off x="4578399" y="3137439"/>
            <a:ext cx="276556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42" name="Box 32"/>
          <p:cNvSpPr/>
          <p:nvPr/>
        </p:nvSpPr>
        <p:spPr>
          <a:xfrm>
            <a:off x="4896438" y="3137439"/>
            <a:ext cx="1244502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[Every minute]</a:t>
            </a:r>
          </a:p>
        </p:txBody>
      </p:sp>
      <p:sp>
        <p:nvSpPr>
          <p:cNvPr id="58" name="Block alt"/>
          <p:cNvSpPr/>
          <p:nvPr/>
        </p:nvSpPr>
        <p:spPr>
          <a:xfrm>
            <a:off x="4578399" y="3655982"/>
            <a:ext cx="1604025" cy="1209932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9" name="Box 49"/>
          <p:cNvSpPr/>
          <p:nvPr/>
        </p:nvSpPr>
        <p:spPr>
          <a:xfrm>
            <a:off x="4578399" y="3655982"/>
            <a:ext cx="235073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60" name="Box 50"/>
          <p:cNvSpPr/>
          <p:nvPr/>
        </p:nvSpPr>
        <p:spPr>
          <a:xfrm>
            <a:off x="4854955" y="3655982"/>
            <a:ext cx="1285985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[paid]</a:t>
            </a:r>
          </a:p>
        </p:txBody>
      </p:sp>
      <p:cxnSp>
        <p:nvCxnSpPr>
          <p:cNvPr id="61" name="Connector 51"/>
          <p:cNvCxnSpPr/>
          <p:nvPr/>
        </p:nvCxnSpPr>
        <p:spPr>
          <a:xfrm>
            <a:off x="4578399" y="4091558"/>
            <a:ext cx="1604025" cy="1"/>
          </a:xfrm>
          <a:prstGeom prst="line">
            <a:avLst/>
          </a:prstGeom>
          <a:ln w="6914">
            <a:solidFill>
              <a:srgbClr val="7F7F7F"/>
            </a:solidFill>
            <a:prstDash val="dash"/>
          </a:ln>
        </p:spPr>
      </p:cxnSp>
      <p:sp>
        <p:nvSpPr>
          <p:cNvPr id="62" name="Box 52"/>
          <p:cNvSpPr/>
          <p:nvPr/>
        </p:nvSpPr>
        <p:spPr>
          <a:xfrm>
            <a:off x="4619882" y="4105385"/>
            <a:ext cx="1521058" cy="96795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[failed]</a:t>
            </a:r>
          </a:p>
        </p:txBody>
      </p:sp>
      <p:cxnSp>
        <p:nvCxnSpPr>
          <p:cNvPr id="84" name="Connector 74"/>
          <p:cNvCxnSpPr/>
          <p:nvPr/>
        </p:nvCxnSpPr>
        <p:spPr>
          <a:xfrm>
            <a:off x="385935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89" name="Connector 79"/>
          <p:cNvCxnSpPr/>
          <p:nvPr/>
        </p:nvCxnSpPr>
        <p:spPr>
          <a:xfrm>
            <a:off x="482729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4" name="Connector 84"/>
          <p:cNvCxnSpPr/>
          <p:nvPr/>
        </p:nvCxnSpPr>
        <p:spPr>
          <a:xfrm>
            <a:off x="593352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9" name="Connector 89"/>
          <p:cNvCxnSpPr/>
          <p:nvPr/>
        </p:nvCxnSpPr>
        <p:spPr>
          <a:xfrm>
            <a:off x="690146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102" name="Connector 92"/>
          <p:cNvCxnSpPr/>
          <p:nvPr/>
        </p:nvCxnSpPr>
        <p:spPr>
          <a:xfrm>
            <a:off x="7869415" y="5446682"/>
            <a:ext cx="1" cy="200503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sp>
        <p:nvSpPr>
          <p:cNvPr id="47" name="Activation"/>
          <p:cNvSpPr/>
          <p:nvPr/>
        </p:nvSpPr>
        <p:spPr>
          <a:xfrm>
            <a:off x="5898954" y="2190235"/>
            <a:ext cx="69139" cy="1790700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79" name="Activation"/>
          <p:cNvSpPr/>
          <p:nvPr/>
        </p:nvSpPr>
        <p:spPr>
          <a:xfrm>
            <a:off x="4792730" y="1851454"/>
            <a:ext cx="69139" cy="4037717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4" name="Note"/>
          <p:cNvSpPr/>
          <p:nvPr/>
        </p:nvSpPr>
        <p:spPr>
          <a:xfrm>
            <a:off x="5864384" y="2916195"/>
            <a:ext cx="1106224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35" name="Box 25"/>
          <p:cNvSpPr/>
          <p:nvPr/>
        </p:nvSpPr>
        <p:spPr>
          <a:xfrm>
            <a:off x="5905868" y="2950764"/>
            <a:ext cx="1023257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Retried 3 times</a:t>
            </a:r>
          </a:p>
        </p:txBody>
      </p:sp>
      <p:sp>
        <p:nvSpPr>
          <p:cNvPr id="63" name="Note"/>
          <p:cNvSpPr/>
          <p:nvPr/>
        </p:nvSpPr>
        <p:spPr>
          <a:xfrm>
            <a:off x="4896438" y="4962709"/>
            <a:ext cx="898807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64" name="Box 54"/>
          <p:cNvSpPr/>
          <p:nvPr/>
        </p:nvSpPr>
        <p:spPr>
          <a:xfrm>
            <a:off x="4937922" y="4997278"/>
            <a:ext cx="815840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done</a:t>
            </a:r>
          </a:p>
        </p:txBody>
      </p:sp>
      <p:sp>
        <p:nvSpPr>
          <p:cNvPr id="11" name="Box 1"/>
          <p:cNvSpPr/>
          <p:nvPr/>
        </p:nvSpPr>
        <p:spPr>
          <a:xfrm>
            <a:off x="3409950" y="1070183"/>
            <a:ext cx="4908869" cy="124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Checkout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3859353" y="1851454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3887009" y="170626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Place order</a:t>
            </a:r>
          </a:p>
        </p:txBody>
      </p:sp>
      <p:sp>
        <p:nvSpPr>
          <p:cNvPr id="14" name="Shape 4"/>
          <p:cNvSpPr/>
          <p:nvPr/>
        </p:nvSpPr>
        <p:spPr>
          <a:xfrm>
            <a:off x="3880095" y="1803057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3880095" y="1803057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4861869" y="2093441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4889525" y="1948249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POST /orders</a:t>
            </a:r>
          </a:p>
        </p:txBody>
      </p:sp>
      <p:sp>
        <p:nvSpPr>
          <p:cNvPr id="18" name="Shape 8"/>
          <p:cNvSpPr/>
          <p:nvPr/>
        </p:nvSpPr>
        <p:spPr>
          <a:xfrm>
            <a:off x="4882611" y="204504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82611" y="204504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5968093" y="2335427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1" name="Box 11"/>
          <p:cNvSpPr/>
          <p:nvPr/>
        </p:nvSpPr>
        <p:spPr>
          <a:xfrm>
            <a:off x="5995748" y="2190235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INSERT order</a:t>
            </a:r>
          </a:p>
        </p:txBody>
      </p:sp>
      <p:sp>
        <p:nvSpPr>
          <p:cNvPr id="22" name="Shape 12"/>
          <p:cNvSpPr/>
          <p:nvPr/>
        </p:nvSpPr>
        <p:spPr>
          <a:xfrm>
            <a:off x="5988835" y="2287030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988835" y="2287030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968093" y="2577414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5" name="Box 15"/>
          <p:cNvSpPr/>
          <p:nvPr/>
        </p:nvSpPr>
        <p:spPr>
          <a:xfrm>
            <a:off x="5995748" y="243222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sp>
        <p:nvSpPr>
          <p:cNvPr id="26" name="Shape 16"/>
          <p:cNvSpPr/>
          <p:nvPr/>
        </p:nvSpPr>
        <p:spPr>
          <a:xfrm>
            <a:off x="6783933" y="2529016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6783933" y="2529016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8" name="Connector 18"/>
          <p:cNvCxnSpPr/>
          <p:nvPr/>
        </p:nvCxnSpPr>
        <p:spPr>
          <a:xfrm flipH="1">
            <a:off x="4861869" y="2819400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 flipV="1"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sp>
        <p:nvSpPr>
          <p:cNvPr id="31" name="Box 21"/>
          <p:cNvSpPr/>
          <p:nvPr/>
        </p:nvSpPr>
        <p:spPr>
          <a:xfrm>
            <a:off x="4889525" y="2674208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Payment declined</a:t>
            </a:r>
          </a:p>
        </p:txBody>
      </p:sp>
      <p:sp>
        <p:nvSpPr>
          <p:cNvPr id="32" name="Shape 22"/>
          <p:cNvSpPr/>
          <p:nvPr/>
        </p:nvSpPr>
        <p:spPr>
          <a:xfrm>
            <a:off x="5781418" y="277100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5781418" y="277100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861869" y="3462393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37" name="Box 27"/>
          <p:cNvSpPr/>
          <p:nvPr/>
        </p:nvSpPr>
        <p:spPr>
          <a:xfrm>
            <a:off x="4889525" y="3317201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 status</a:t>
            </a:r>
          </a:p>
        </p:txBody>
      </p:sp>
      <p:sp>
        <p:nvSpPr>
          <p:cNvPr id="38" name="Shape 28"/>
          <p:cNvSpPr/>
          <p:nvPr/>
        </p:nvSpPr>
        <p:spPr>
          <a:xfrm>
            <a:off x="4882611" y="3413995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4882611" y="3413995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43" name="Connector 33"/>
          <p:cNvCxnSpPr/>
          <p:nvPr/>
        </p:nvCxnSpPr>
        <p:spPr>
          <a:xfrm flipH="1">
            <a:off x="4861869" y="3980935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44" name="Box 34"/>
          <p:cNvSpPr/>
          <p:nvPr/>
        </p:nvSpPr>
        <p:spPr>
          <a:xfrm>
            <a:off x="4889525" y="3835743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200 OK</a:t>
            </a:r>
          </a:p>
        </p:txBody>
      </p:sp>
      <p:sp>
        <p:nvSpPr>
          <p:cNvPr id="45" name="Shape 35"/>
          <p:cNvSpPr/>
          <p:nvPr/>
        </p:nvSpPr>
        <p:spPr>
          <a:xfrm>
            <a:off x="5781418" y="393253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6" name="Box 36"/>
          <p:cNvSpPr/>
          <p:nvPr/>
        </p:nvSpPr>
        <p:spPr>
          <a:xfrm>
            <a:off x="5781418" y="393253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7</a:t>
            </a:r>
          </a:p>
        </p:txBody>
      </p:sp>
      <p:cxnSp>
        <p:nvCxnSpPr>
          <p:cNvPr id="48" name="Connector 38"/>
          <p:cNvCxnSpPr/>
          <p:nvPr/>
        </p:nvCxnSpPr>
        <p:spPr>
          <a:xfrm flipH="1">
            <a:off x="4861869" y="4388855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sm" len="sm"/>
          </a:ln>
        </p:spPr>
      </p:cxnSp>
      <p:sp>
        <p:nvSpPr>
          <p:cNvPr id="49" name="Box 39"/>
          <p:cNvSpPr/>
          <p:nvPr/>
        </p:nvSpPr>
        <p:spPr>
          <a:xfrm>
            <a:off x="4889525" y="4243663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402</a:t>
            </a:r>
          </a:p>
        </p:txBody>
      </p:sp>
      <p:sp>
        <p:nvSpPr>
          <p:cNvPr id="50" name="Shape 40"/>
          <p:cNvSpPr/>
          <p:nvPr/>
        </p:nvSpPr>
        <p:spPr>
          <a:xfrm>
            <a:off x="5815987" y="434045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15987" y="434045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8</a:t>
            </a:r>
          </a:p>
        </p:txBody>
      </p:sp>
      <p:cxnSp>
        <p:nvCxnSpPr>
          <p:cNvPr id="52" name="Connector 42"/>
          <p:cNvCxnSpPr/>
          <p:nvPr/>
        </p:nvCxnSpPr>
        <p:spPr>
          <a:xfrm>
            <a:off x="5933523" y="4630842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3" name="Connector 43"/>
          <p:cNvCxnSpPr/>
          <p:nvPr/>
        </p:nvCxnSpPr>
        <p:spPr>
          <a:xfrm>
            <a:off x="6140940" y="4630842"/>
            <a:ext cx="1" cy="138278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4" name="Connector 44"/>
          <p:cNvCxnSpPr/>
          <p:nvPr/>
        </p:nvCxnSpPr>
        <p:spPr>
          <a:xfrm flipH="1">
            <a:off x="5933523" y="4769120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5" name="Box 45"/>
          <p:cNvSpPr/>
          <p:nvPr/>
        </p:nvSpPr>
        <p:spPr>
          <a:xfrm>
            <a:off x="6182424" y="4485650"/>
            <a:ext cx="506789" cy="89881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log failure</a:t>
            </a:r>
          </a:p>
        </p:txBody>
      </p:sp>
      <p:sp>
        <p:nvSpPr>
          <p:cNvPr id="56" name="Shape 46"/>
          <p:cNvSpPr/>
          <p:nvPr/>
        </p:nvSpPr>
        <p:spPr>
          <a:xfrm>
            <a:off x="5940437" y="458244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5940437" y="458244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9</a:t>
            </a:r>
          </a:p>
        </p:txBody>
      </p:sp>
      <p:cxnSp>
        <p:nvCxnSpPr>
          <p:cNvPr id="65" name="Connector 55"/>
          <p:cNvCxnSpPr/>
          <p:nvPr/>
        </p:nvCxnSpPr>
        <p:spPr>
          <a:xfrm>
            <a:off x="4861869" y="5329146"/>
            <a:ext cx="2696421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6" name="Box 56"/>
          <p:cNvSpPr/>
          <p:nvPr/>
        </p:nvSpPr>
        <p:spPr>
          <a:xfrm>
            <a:off x="4889525" y="5183954"/>
            <a:ext cx="2641110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send receipt</a:t>
            </a:r>
          </a:p>
        </p:txBody>
      </p:sp>
      <p:sp>
        <p:nvSpPr>
          <p:cNvPr id="67" name="Shape 57"/>
          <p:cNvSpPr/>
          <p:nvPr/>
        </p:nvSpPr>
        <p:spPr>
          <a:xfrm>
            <a:off x="4882611" y="528074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68" name="Box 58"/>
          <p:cNvSpPr/>
          <p:nvPr/>
        </p:nvSpPr>
        <p:spPr>
          <a:xfrm>
            <a:off x="4882611" y="528074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10</a:t>
            </a:r>
          </a:p>
        </p:txBody>
      </p:sp>
      <p:cxnSp>
        <p:nvCxnSpPr>
          <p:cNvPr id="69" name="Connector 59"/>
          <p:cNvCxnSpPr/>
          <p:nvPr/>
        </p:nvCxnSpPr>
        <p:spPr>
          <a:xfrm flipH="1">
            <a:off x="4861869" y="5647185"/>
            <a:ext cx="300754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0" name="Box 60"/>
          <p:cNvSpPr/>
          <p:nvPr/>
        </p:nvSpPr>
        <p:spPr>
          <a:xfrm>
            <a:off x="4889525" y="5501993"/>
            <a:ext cx="295223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sent</a:t>
            </a:r>
          </a:p>
        </p:txBody>
      </p:sp>
      <p:sp>
        <p:nvSpPr>
          <p:cNvPr id="71" name="Shape 61"/>
          <p:cNvSpPr/>
          <p:nvPr/>
        </p:nvSpPr>
        <p:spPr>
          <a:xfrm>
            <a:off x="7751879" y="559878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2" name="Box 62"/>
          <p:cNvSpPr/>
          <p:nvPr/>
        </p:nvSpPr>
        <p:spPr>
          <a:xfrm>
            <a:off x="7751879" y="559878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11</a:t>
            </a:r>
          </a:p>
        </p:txBody>
      </p:sp>
      <p:cxnSp>
        <p:nvCxnSpPr>
          <p:cNvPr id="73" name="Connector 63"/>
          <p:cNvCxnSpPr/>
          <p:nvPr/>
        </p:nvCxnSpPr>
        <p:spPr>
          <a:xfrm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4" name="Connector 64"/>
          <p:cNvCxnSpPr/>
          <p:nvPr/>
        </p:nvCxnSpPr>
        <p:spPr>
          <a:xfrm flipV="1"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5" name="Connector 65"/>
          <p:cNvCxnSpPr/>
          <p:nvPr/>
        </p:nvCxnSpPr>
        <p:spPr>
          <a:xfrm flipH="1">
            <a:off x="3859353" y="5889171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6" name="Box 66"/>
          <p:cNvSpPr/>
          <p:nvPr/>
        </p:nvSpPr>
        <p:spPr>
          <a:xfrm>
            <a:off x="3887009" y="5743980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Confirmation</a:t>
            </a:r>
          </a:p>
        </p:txBody>
      </p:sp>
      <p:sp>
        <p:nvSpPr>
          <p:cNvPr id="77" name="Shape 67"/>
          <p:cNvSpPr/>
          <p:nvPr/>
        </p:nvSpPr>
        <p:spPr>
          <a:xfrm>
            <a:off x="4675194" y="584077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8" name="Box 68"/>
          <p:cNvSpPr/>
          <p:nvPr/>
        </p:nvSpPr>
        <p:spPr>
          <a:xfrm>
            <a:off x="4675194" y="584077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1" name="Box 71"/>
          <p:cNvSpPr/>
          <p:nvPr/>
        </p:nvSpPr>
        <p:spPr>
          <a:xfrm>
            <a:off x="354822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3" name="Box 73"/>
          <p:cNvSpPr/>
          <p:nvPr/>
        </p:nvSpPr>
        <p:spPr>
          <a:xfrm>
            <a:off x="354822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6" name="Box 76"/>
          <p:cNvSpPr/>
          <p:nvPr/>
        </p:nvSpPr>
        <p:spPr>
          <a:xfrm>
            <a:off x="451617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88" name="Box 78"/>
          <p:cNvSpPr/>
          <p:nvPr/>
        </p:nvSpPr>
        <p:spPr>
          <a:xfrm>
            <a:off x="451617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91" name="Box 81"/>
          <p:cNvSpPr/>
          <p:nvPr/>
        </p:nvSpPr>
        <p:spPr>
          <a:xfrm>
            <a:off x="562239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3" name="Box 83"/>
          <p:cNvSpPr/>
          <p:nvPr/>
        </p:nvSpPr>
        <p:spPr>
          <a:xfrm>
            <a:off x="562239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6" name="Box 86"/>
          <p:cNvSpPr/>
          <p:nvPr/>
        </p:nvSpPr>
        <p:spPr>
          <a:xfrm>
            <a:off x="659034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98" name="Box 88"/>
          <p:cNvSpPr/>
          <p:nvPr/>
        </p:nvSpPr>
        <p:spPr>
          <a:xfrm>
            <a:off x="659034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101" name="Box 91"/>
          <p:cNvSpPr/>
          <p:nvPr/>
        </p:nvSpPr>
        <p:spPr>
          <a:xfrm>
            <a:off x="7558290" y="528074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shapes-generic</a:t>
            </a:r>
          </a:p>
        </p:txBody>
      </p:sp>
      <p:sp>
        <p:nvSpPr>
          <p:cNvPr id="12" name="Document" descr="A1"/>
          <p:cNvSpPr/>
          <p:nvPr/>
        </p:nvSpPr>
        <p:spPr>
          <a:xfrm>
            <a:off x="3505623" y="1028700"/>
            <a:ext cx="283981" cy="142370"/>
          </a:xfrm>
          <a:prstGeom prst="flowChartDocument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Carte" descr="A2"/>
          <p:cNvSpPr/>
          <p:nvPr/>
        </p:nvSpPr>
        <p:spPr>
          <a:xfrm>
            <a:off x="3546625" y="1322932"/>
            <a:ext cx="201976" cy="142370"/>
          </a:xfrm>
          <a:prstGeom prst="flowChartPunchedCard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Carte</a:t>
            </a:r>
          </a:p>
        </p:txBody>
      </p:sp>
      <p:sp>
        <p:nvSpPr>
          <p:cNvPr id="14" name="Delai" descr="A3"/>
          <p:cNvSpPr/>
          <p:nvPr/>
        </p:nvSpPr>
        <p:spPr>
          <a:xfrm>
            <a:off x="3546625" y="1617163"/>
            <a:ext cx="201976" cy="142370"/>
          </a:xfrm>
          <a:prstGeom prst="flowChartDelay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Delai</a:t>
            </a:r>
          </a:p>
        </p:txBody>
      </p:sp>
      <p:sp>
        <p:nvSpPr>
          <p:cNvPr id="15" name="Extraction" descr="A4"/>
          <p:cNvSpPr/>
          <p:nvPr/>
        </p:nvSpPr>
        <p:spPr>
          <a:xfrm>
            <a:off x="3478288" y="1911395"/>
            <a:ext cx="338651" cy="142370"/>
          </a:xfrm>
          <a:prstGeom prst="flowChartExtract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Extraction</a:t>
            </a:r>
          </a:p>
        </p:txBody>
      </p:sp>
      <p:sp>
        <p:nvSpPr>
          <p:cNvPr id="16" name="Fichier manuel" descr="A5"/>
          <p:cNvSpPr/>
          <p:nvPr/>
        </p:nvSpPr>
        <p:spPr>
          <a:xfrm flipV="1">
            <a:off x="3519290" y="2205627"/>
            <a:ext cx="256646" cy="199318"/>
          </a:xfrm>
          <a:prstGeom prst="flowChartExtract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Fichier manuel</a:t>
            </a:r>
          </a:p>
        </p:txBody>
      </p:sp>
      <p:sp>
        <p:nvSpPr>
          <p:cNvPr id="17" name="Stockage interne" descr="A6"/>
          <p:cNvSpPr/>
          <p:nvPr/>
        </p:nvSpPr>
        <p:spPr>
          <a:xfrm>
            <a:off x="3505623" y="2556806"/>
            <a:ext cx="283981" cy="199318"/>
          </a:xfrm>
          <a:prstGeom prst="flowChartInternalStorage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Stockage interne</a:t>
            </a:r>
          </a:p>
        </p:txBody>
      </p:sp>
      <p:sp>
        <p:nvSpPr>
          <p:cNvPr id="18" name="Collationnement" descr="A7"/>
          <p:cNvSpPr/>
          <p:nvPr/>
        </p:nvSpPr>
        <p:spPr>
          <a:xfrm>
            <a:off x="3409950" y="2907986"/>
            <a:ext cx="475326" cy="142370"/>
          </a:xfrm>
          <a:prstGeom prst="flowChartCollate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Collationnement</a:t>
            </a:r>
          </a:p>
        </p:txBody>
      </p:sp>
      <p:sp>
        <p:nvSpPr>
          <p:cNvPr id="19" name="Affichage" descr="A8"/>
          <p:cNvSpPr/>
          <p:nvPr/>
        </p:nvSpPr>
        <p:spPr>
          <a:xfrm>
            <a:off x="3491955" y="3202217"/>
            <a:ext cx="311316" cy="142370"/>
          </a:xfrm>
          <a:prstGeom prst="flowChartDisplay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Affichage</a:t>
            </a:r>
          </a:p>
        </p:txBody>
      </p:sp>
      <p:sp>
        <p:nvSpPr>
          <p:cNvPr id="20" name="Liaison" descr="A9"/>
          <p:cNvSpPr/>
          <p:nvPr/>
        </p:nvSpPr>
        <p:spPr>
          <a:xfrm>
            <a:off x="3519290" y="3496449"/>
            <a:ext cx="256646" cy="142370"/>
          </a:xfrm>
          <a:prstGeom prst="lightningBolt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Liaison</a:t>
            </a:r>
          </a:p>
        </p:txBody>
      </p:sp>
      <p:sp>
        <p:nvSpPr>
          <p:cNvPr id="21" name="Commentaire" descr="A10"/>
          <p:cNvSpPr/>
          <p:nvPr/>
        </p:nvSpPr>
        <p:spPr>
          <a:xfrm>
            <a:off x="3464620" y="3790681"/>
            <a:ext cx="365986" cy="142370"/>
          </a:xfrm>
          <a:prstGeom prst="leftBrace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Commentaire</a:t>
            </a:r>
          </a:p>
        </p:txBody>
      </p:sp>
      <p:sp>
        <p:nvSpPr>
          <p:cNvPr id="22" name="Double accolade" descr="A11"/>
          <p:cNvSpPr/>
          <p:nvPr/>
        </p:nvSpPr>
        <p:spPr>
          <a:xfrm>
            <a:off x="3507901" y="4084912"/>
            <a:ext cx="279425" cy="199318"/>
          </a:xfrm>
          <a:prstGeom prst="bracePair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Double accolade</a:t>
            </a:r>
          </a:p>
        </p:txBody>
      </p:sp>
      <p:sp>
        <p:nvSpPr>
          <p:cNvPr id="23" name="Resume" descr="A12"/>
          <p:cNvSpPr/>
          <p:nvPr/>
        </p:nvSpPr>
        <p:spPr>
          <a:xfrm>
            <a:off x="3532958" y="4436092"/>
            <a:ext cx="229311" cy="142370"/>
          </a:xfrm>
          <a:prstGeom prst="flowChartOr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Resume</a:t>
            </a:r>
          </a:p>
        </p:txBody>
      </p:sp>
      <p:sp>
        <p:nvSpPr>
          <p:cNvPr id="24" name="Jonction" descr="A13"/>
          <p:cNvSpPr/>
          <p:nvPr/>
        </p:nvSpPr>
        <p:spPr>
          <a:xfrm>
            <a:off x="3505623" y="4730324"/>
            <a:ext cx="283981" cy="142370"/>
          </a:xfrm>
          <a:prstGeom prst="flowChartSummingJunction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Jonction</a:t>
            </a:r>
          </a:p>
        </p:txBody>
      </p:sp>
      <p:sp>
        <p:nvSpPr>
          <p:cNvPr id="25" name="Bande papier" descr="A14"/>
          <p:cNvSpPr/>
          <p:nvPr/>
        </p:nvSpPr>
        <p:spPr>
          <a:xfrm>
            <a:off x="3457786" y="5024555"/>
            <a:ext cx="379654" cy="142370"/>
          </a:xfrm>
          <a:prstGeom prst="flowChartPunchedTape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Bande papier</a:t>
            </a:r>
          </a:p>
        </p:txBody>
      </p:sp>
      <p:sp>
        <p:nvSpPr>
          <p:cNvPr id="26" name="Acces direct" descr="A15"/>
          <p:cNvSpPr/>
          <p:nvPr/>
        </p:nvSpPr>
        <p:spPr>
          <a:xfrm>
            <a:off x="3457786" y="5318787"/>
            <a:ext cx="379654" cy="142370"/>
          </a:xfrm>
          <a:prstGeom prst="flowChartMagneticDisk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Acces direct</a:t>
            </a:r>
          </a:p>
        </p:txBody>
      </p:sp>
      <p:sp>
        <p:nvSpPr>
          <p:cNvPr id="27" name="Disque" descr="A16"/>
          <p:cNvSpPr/>
          <p:nvPr/>
        </p:nvSpPr>
        <p:spPr>
          <a:xfrm>
            <a:off x="3532958" y="5613019"/>
            <a:ext cx="229311" cy="142370"/>
          </a:xfrm>
          <a:prstGeom prst="flowChartMagneticDrum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Disque</a:t>
            </a:r>
          </a:p>
        </p:txBody>
      </p:sp>
      <p:sp>
        <p:nvSpPr>
          <p:cNvPr id="28" name="Saisie manuelle" descr="A17"/>
          <p:cNvSpPr/>
          <p:nvPr/>
        </p:nvSpPr>
        <p:spPr>
          <a:xfrm>
            <a:off x="3507901" y="5907250"/>
            <a:ext cx="279425" cy="199318"/>
          </a:xfrm>
          <a:prstGeom prst="flowChartManualInput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Saisie manuelle</a:t>
            </a:r>
          </a:p>
        </p:txBody>
      </p:sp>
      <p:sp>
        <p:nvSpPr>
          <p:cNvPr id="29" name="Evenement" descr="A18"/>
          <p:cNvSpPr/>
          <p:nvPr/>
        </p:nvSpPr>
        <p:spPr>
          <a:xfrm>
            <a:off x="3491955" y="6258430"/>
            <a:ext cx="311316" cy="142370"/>
          </a:xfrm>
          <a:prstGeom prst="roundRect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Evenement</a:t>
            </a:r>
          </a:p>
        </p:txBody>
      </p:sp>
      <p:cxnSp>
        <p:nvCxnSpPr>
          <p:cNvPr id="30" name="A1--A2"/>
          <p:cNvCxnSpPr>
            <a:stCxn id="12" idx="2"/>
            <a:endCxn id="13" idx="0"/>
          </p:cNvCxnSpPr>
          <p:nvPr/>
        </p:nvCxnSpPr>
        <p:spPr>
          <a:xfrm>
            <a:off x="3647613" y="1171070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2--A3"/>
          <p:cNvCxnSpPr>
            <a:stCxn id="13" idx="2"/>
            <a:endCxn id="14" idx="0"/>
          </p:cNvCxnSpPr>
          <p:nvPr/>
        </p:nvCxnSpPr>
        <p:spPr>
          <a:xfrm>
            <a:off x="3647613" y="1465302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3--A4"/>
          <p:cNvCxnSpPr>
            <a:stCxn id="14" idx="2"/>
            <a:endCxn id="15" idx="0"/>
          </p:cNvCxnSpPr>
          <p:nvPr/>
        </p:nvCxnSpPr>
        <p:spPr>
          <a:xfrm>
            <a:off x="3647613" y="1759533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A4--A5"/>
          <p:cNvCxnSpPr>
            <a:stCxn id="15" idx="2"/>
            <a:endCxn id="16" idx="0"/>
          </p:cNvCxnSpPr>
          <p:nvPr/>
        </p:nvCxnSpPr>
        <p:spPr>
          <a:xfrm>
            <a:off x="3647613" y="2053765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A5--A6"/>
          <p:cNvCxnSpPr>
            <a:stCxn id="16" idx="2"/>
            <a:endCxn id="17" idx="0"/>
          </p:cNvCxnSpPr>
          <p:nvPr/>
        </p:nvCxnSpPr>
        <p:spPr>
          <a:xfrm>
            <a:off x="3647613" y="2404945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A6--A7"/>
          <p:cNvCxnSpPr>
            <a:stCxn id="17" idx="2"/>
            <a:endCxn id="18" idx="0"/>
          </p:cNvCxnSpPr>
          <p:nvPr/>
        </p:nvCxnSpPr>
        <p:spPr>
          <a:xfrm>
            <a:off x="3647613" y="2756124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A7--A8"/>
          <p:cNvCxnSpPr>
            <a:stCxn id="18" idx="2"/>
            <a:endCxn id="19" idx="0"/>
          </p:cNvCxnSpPr>
          <p:nvPr/>
        </p:nvCxnSpPr>
        <p:spPr>
          <a:xfrm>
            <a:off x="3647613" y="3050356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A8--A9"/>
          <p:cNvCxnSpPr>
            <a:stCxn id="19" idx="2"/>
            <a:endCxn id="20" idx="0"/>
          </p:cNvCxnSpPr>
          <p:nvPr/>
        </p:nvCxnSpPr>
        <p:spPr>
          <a:xfrm>
            <a:off x="3647613" y="3344588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9--A10"/>
          <p:cNvCxnSpPr>
            <a:stCxn id="20" idx="2"/>
            <a:endCxn id="21" idx="0"/>
          </p:cNvCxnSpPr>
          <p:nvPr/>
        </p:nvCxnSpPr>
        <p:spPr>
          <a:xfrm>
            <a:off x="3647613" y="3638819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A10--A11"/>
          <p:cNvCxnSpPr>
            <a:stCxn id="21" idx="2"/>
            <a:endCxn id="22" idx="0"/>
          </p:cNvCxnSpPr>
          <p:nvPr/>
        </p:nvCxnSpPr>
        <p:spPr>
          <a:xfrm>
            <a:off x="3647613" y="3933051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11--A12"/>
          <p:cNvCxnSpPr>
            <a:stCxn id="22" idx="2"/>
            <a:endCxn id="23" idx="0"/>
          </p:cNvCxnSpPr>
          <p:nvPr/>
        </p:nvCxnSpPr>
        <p:spPr>
          <a:xfrm>
            <a:off x="3647613" y="4284231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A12--A13"/>
          <p:cNvCxnSpPr>
            <a:stCxn id="23" idx="2"/>
            <a:endCxn id="24" idx="0"/>
          </p:cNvCxnSpPr>
          <p:nvPr/>
        </p:nvCxnSpPr>
        <p:spPr>
          <a:xfrm>
            <a:off x="3647613" y="4578462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A13--A14"/>
          <p:cNvCxnSpPr>
            <a:stCxn id="24" idx="2"/>
            <a:endCxn id="25" idx="0"/>
          </p:cNvCxnSpPr>
          <p:nvPr/>
        </p:nvCxnSpPr>
        <p:spPr>
          <a:xfrm>
            <a:off x="3647613" y="4872694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A14--A15"/>
          <p:cNvCxnSpPr>
            <a:stCxn id="25" idx="2"/>
            <a:endCxn id="26" idx="0"/>
          </p:cNvCxnSpPr>
          <p:nvPr/>
        </p:nvCxnSpPr>
        <p:spPr>
          <a:xfrm>
            <a:off x="3647613" y="5166925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A15--A16"/>
          <p:cNvCxnSpPr>
            <a:stCxn id="26" idx="2"/>
            <a:endCxn id="27" idx="0"/>
          </p:cNvCxnSpPr>
          <p:nvPr/>
        </p:nvCxnSpPr>
        <p:spPr>
          <a:xfrm>
            <a:off x="3647613" y="5461157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A16--A17"/>
          <p:cNvCxnSpPr>
            <a:stCxn id="27" idx="2"/>
            <a:endCxn id="28" idx="0"/>
          </p:cNvCxnSpPr>
          <p:nvPr/>
        </p:nvCxnSpPr>
        <p:spPr>
          <a:xfrm>
            <a:off x="3647613" y="5755389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A17--A18"/>
          <p:cNvCxnSpPr>
            <a:stCxn id="28" idx="2"/>
            <a:endCxn id="29" idx="0"/>
          </p:cNvCxnSpPr>
          <p:nvPr/>
        </p:nvCxnSpPr>
        <p:spPr>
          <a:xfrm>
            <a:off x="3647613" y="6106568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shapes</a:t>
            </a:r>
          </a:p>
        </p:txBody>
      </p:sp>
      <p:sp>
        <p:nvSpPr>
          <p:cNvPr id="12" name="Rectangle" descr="R"/>
          <p:cNvSpPr/>
          <p:nvPr/>
        </p:nvSpPr>
        <p:spPr>
          <a:xfrm>
            <a:off x="3620053" y="1028700"/>
            <a:ext cx="395966" cy="181082"/>
          </a:xfrm>
          <a:prstGeom prst="rect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13" name="Arrondi" descr="RR"/>
          <p:cNvSpPr/>
          <p:nvPr/>
        </p:nvSpPr>
        <p:spPr>
          <a:xfrm>
            <a:off x="3654821" y="1402936"/>
            <a:ext cx="326431" cy="181082"/>
          </a:xfrm>
          <a:prstGeom prst="roundRect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Arrondi</a:t>
            </a:r>
          </a:p>
        </p:txBody>
      </p:sp>
      <p:sp>
        <p:nvSpPr>
          <p:cNvPr id="14" name="Stade" descr="ST"/>
          <p:cNvSpPr/>
          <p:nvPr/>
        </p:nvSpPr>
        <p:spPr>
          <a:xfrm>
            <a:off x="3689589" y="1777172"/>
            <a:ext cx="256895" cy="181082"/>
          </a:xfrm>
          <a:prstGeom prst="roundRect">
            <a:avLst/>
          </a:prstGeom>
          <a:solidFill>
            <a:srgbClr val="E1BEE7"/>
          </a:solidFill>
          <a:ln w="321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Stade</a:t>
            </a:r>
          </a:p>
        </p:txBody>
      </p:sp>
      <p:sp>
        <p:nvSpPr>
          <p:cNvPr id="15" name="Losange" descr="DI"/>
          <p:cNvSpPr/>
          <p:nvPr/>
        </p:nvSpPr>
        <p:spPr>
          <a:xfrm>
            <a:off x="3491606" y="2151409"/>
            <a:ext cx="652861" cy="362164"/>
          </a:xfrm>
          <a:prstGeom prst="diamond">
            <a:avLst/>
          </a:prstGeom>
          <a:solidFill>
            <a:srgbClr val="FFCDD2"/>
          </a:solidFill>
          <a:ln w="321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Losange</a:t>
            </a:r>
          </a:p>
        </p:txBody>
      </p:sp>
      <p:sp>
        <p:nvSpPr>
          <p:cNvPr id="16" name="Cylindre" descr="CY"/>
          <p:cNvSpPr/>
          <p:nvPr/>
        </p:nvSpPr>
        <p:spPr>
          <a:xfrm>
            <a:off x="3637437" y="2706727"/>
            <a:ext cx="361198" cy="181082"/>
          </a:xfrm>
          <a:prstGeom prst="can">
            <a:avLst/>
          </a:prstGeom>
          <a:solidFill>
            <a:srgbClr val="FFF9C4"/>
          </a:solidFill>
          <a:ln w="3219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Cylindre</a:t>
            </a:r>
          </a:p>
        </p:txBody>
      </p:sp>
      <p:sp>
        <p:nvSpPr>
          <p:cNvPr id="17" name="Ellipse" descr="EL"/>
          <p:cNvSpPr/>
          <p:nvPr/>
        </p:nvSpPr>
        <p:spPr>
          <a:xfrm>
            <a:off x="3654821" y="3080963"/>
            <a:ext cx="326431" cy="181082"/>
          </a:xfrm>
          <a:prstGeom prst="ellipse">
            <a:avLst/>
          </a:prstGeom>
          <a:solidFill>
            <a:srgbClr val="BBDEFB"/>
          </a:solidFill>
          <a:ln w="3219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8" name="Hexagone" descr="HX"/>
          <p:cNvSpPr/>
          <p:nvPr/>
        </p:nvSpPr>
        <p:spPr>
          <a:xfrm>
            <a:off x="3574228" y="3455199"/>
            <a:ext cx="487618" cy="181082"/>
          </a:xfrm>
          <a:prstGeom prst="hexagon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Hexagone</a:t>
            </a:r>
          </a:p>
        </p:txBody>
      </p:sp>
      <p:sp>
        <p:nvSpPr>
          <p:cNvPr id="19" name="Parallelogramme" descr="PA"/>
          <p:cNvSpPr/>
          <p:nvPr/>
        </p:nvSpPr>
        <p:spPr>
          <a:xfrm>
            <a:off x="3409950" y="3829435"/>
            <a:ext cx="816173" cy="181082"/>
          </a:xfrm>
          <a:prstGeom prst="parallelogram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Parallelogramme</a:t>
            </a:r>
          </a:p>
        </p:txBody>
      </p:sp>
      <p:sp>
        <p:nvSpPr>
          <p:cNvPr id="20" name="Parallelogramme miroir" descr="PB"/>
          <p:cNvSpPr/>
          <p:nvPr/>
        </p:nvSpPr>
        <p:spPr>
          <a:xfrm flipH="1">
            <a:off x="3409950" y="4203671"/>
            <a:ext cx="816173" cy="253515"/>
          </a:xfrm>
          <a:prstGeom prst="parallelogram">
            <a:avLst/>
          </a:prstGeom>
          <a:solidFill>
            <a:srgbClr val="E1BEE7"/>
          </a:solidFill>
          <a:ln w="321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Parallelogramme miroir</a:t>
            </a:r>
          </a:p>
        </p:txBody>
      </p:sp>
      <p:sp>
        <p:nvSpPr>
          <p:cNvPr id="21" name="Trapeze" descr="TA"/>
          <p:cNvSpPr/>
          <p:nvPr/>
        </p:nvSpPr>
        <p:spPr>
          <a:xfrm>
            <a:off x="3597696" y="4650340"/>
            <a:ext cx="440681" cy="181082"/>
          </a:xfrm>
          <a:prstGeom prst="trapezoid">
            <a:avLst/>
          </a:prstGeom>
          <a:solidFill>
            <a:srgbClr val="FFCDD2"/>
          </a:solidFill>
          <a:ln w="321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Trapeze</a:t>
            </a:r>
          </a:p>
        </p:txBody>
      </p:sp>
      <p:sp>
        <p:nvSpPr>
          <p:cNvPr id="22" name="Trapeze miroir" descr="TB"/>
          <p:cNvSpPr/>
          <p:nvPr/>
        </p:nvSpPr>
        <p:spPr>
          <a:xfrm flipV="1">
            <a:off x="3597696" y="5024577"/>
            <a:ext cx="440681" cy="253515"/>
          </a:xfrm>
          <a:prstGeom prst="trapezoid">
            <a:avLst/>
          </a:prstGeom>
          <a:solidFill>
            <a:srgbClr val="FFF9C4"/>
          </a:solidFill>
          <a:ln w="3219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Trapeze miroir</a:t>
            </a:r>
          </a:p>
        </p:txBody>
      </p:sp>
      <p:sp>
        <p:nvSpPr>
          <p:cNvPr id="23" name="Sous-routine" descr="SR"/>
          <p:cNvSpPr/>
          <p:nvPr/>
        </p:nvSpPr>
        <p:spPr>
          <a:xfrm>
            <a:off x="3567902" y="5471246"/>
            <a:ext cx="500269" cy="181082"/>
          </a:xfrm>
          <a:prstGeom prst="flowChartPredefinedProcess">
            <a:avLst/>
          </a:prstGeom>
          <a:solidFill>
            <a:srgbClr val="BBDEFB"/>
          </a:solidFill>
          <a:ln w="3219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Sous-routine</a:t>
            </a:r>
          </a:p>
        </p:txBody>
      </p:sp>
      <p:sp>
        <p:nvSpPr>
          <p:cNvPr id="24" name="Double cercle" descr="DC"/>
          <p:cNvSpPr/>
          <p:nvPr/>
        </p:nvSpPr>
        <p:spPr>
          <a:xfrm>
            <a:off x="3559210" y="5845482"/>
            <a:ext cx="517653" cy="181082"/>
          </a:xfrm>
          <a:prstGeom prst="ellipse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Double cercle</a:t>
            </a:r>
          </a:p>
        </p:txBody>
      </p:sp>
      <p:sp>
        <p:nvSpPr>
          <p:cNvPr id="25" name="Asymetrique" descr="AS"/>
          <p:cNvSpPr/>
          <p:nvPr/>
        </p:nvSpPr>
        <p:spPr>
          <a:xfrm>
            <a:off x="3585286" y="6219718"/>
            <a:ext cx="465502" cy="181082"/>
          </a:xfrm>
          <a:prstGeom prst="homePlate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Asymetrique</a:t>
            </a:r>
          </a:p>
        </p:txBody>
      </p:sp>
      <p:cxnSp>
        <p:nvCxnSpPr>
          <p:cNvPr id="26" name="R--RR"/>
          <p:cNvCxnSpPr>
            <a:stCxn id="12" idx="2"/>
            <a:endCxn id="13" idx="0"/>
          </p:cNvCxnSpPr>
          <p:nvPr/>
        </p:nvCxnSpPr>
        <p:spPr>
          <a:xfrm>
            <a:off x="3818036" y="1209782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R--ST"/>
          <p:cNvCxnSpPr>
            <a:stCxn id="13" idx="2"/>
            <a:endCxn id="14" idx="0"/>
          </p:cNvCxnSpPr>
          <p:nvPr/>
        </p:nvCxnSpPr>
        <p:spPr>
          <a:xfrm>
            <a:off x="3818036" y="1584018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--DI"/>
          <p:cNvCxnSpPr>
            <a:stCxn id="14" idx="2"/>
            <a:endCxn id="15" idx="0"/>
          </p:cNvCxnSpPr>
          <p:nvPr/>
        </p:nvCxnSpPr>
        <p:spPr>
          <a:xfrm>
            <a:off x="3818036" y="1958254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I--CY"/>
          <p:cNvCxnSpPr>
            <a:stCxn id="15" idx="2"/>
            <a:endCxn id="16" idx="0"/>
          </p:cNvCxnSpPr>
          <p:nvPr/>
        </p:nvCxnSpPr>
        <p:spPr>
          <a:xfrm>
            <a:off x="3818036" y="2513573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Y--EL"/>
          <p:cNvCxnSpPr>
            <a:stCxn id="16" idx="2"/>
            <a:endCxn id="17" idx="0"/>
          </p:cNvCxnSpPr>
          <p:nvPr/>
        </p:nvCxnSpPr>
        <p:spPr>
          <a:xfrm>
            <a:off x="3818036" y="2887809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--HX"/>
          <p:cNvCxnSpPr>
            <a:stCxn id="17" idx="2"/>
            <a:endCxn id="18" idx="0"/>
          </p:cNvCxnSpPr>
          <p:nvPr/>
        </p:nvCxnSpPr>
        <p:spPr>
          <a:xfrm>
            <a:off x="3818036" y="3262045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HX--PA"/>
          <p:cNvCxnSpPr>
            <a:stCxn id="18" idx="2"/>
            <a:endCxn id="19" idx="0"/>
          </p:cNvCxnSpPr>
          <p:nvPr/>
        </p:nvCxnSpPr>
        <p:spPr>
          <a:xfrm>
            <a:off x="3818036" y="3636281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PA--PB"/>
          <p:cNvCxnSpPr>
            <a:stCxn id="19" idx="2"/>
            <a:endCxn id="20" idx="0"/>
          </p:cNvCxnSpPr>
          <p:nvPr/>
        </p:nvCxnSpPr>
        <p:spPr>
          <a:xfrm>
            <a:off x="3818036" y="4010517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PB--TA"/>
          <p:cNvCxnSpPr>
            <a:stCxn id="20" idx="2"/>
            <a:endCxn id="21" idx="0"/>
          </p:cNvCxnSpPr>
          <p:nvPr/>
        </p:nvCxnSpPr>
        <p:spPr>
          <a:xfrm>
            <a:off x="3818036" y="4457186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TA--TB"/>
          <p:cNvCxnSpPr>
            <a:stCxn id="21" idx="2"/>
            <a:endCxn id="22" idx="0"/>
          </p:cNvCxnSpPr>
          <p:nvPr/>
        </p:nvCxnSpPr>
        <p:spPr>
          <a:xfrm>
            <a:off x="3818036" y="4831422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TB--SR"/>
          <p:cNvCxnSpPr>
            <a:stCxn id="22" idx="2"/>
            <a:endCxn id="23" idx="0"/>
          </p:cNvCxnSpPr>
          <p:nvPr/>
        </p:nvCxnSpPr>
        <p:spPr>
          <a:xfrm>
            <a:off x="3818036" y="5278091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R--DC"/>
          <p:cNvCxnSpPr>
            <a:stCxn id="23" idx="2"/>
            <a:endCxn id="24" idx="0"/>
          </p:cNvCxnSpPr>
          <p:nvPr/>
        </p:nvCxnSpPr>
        <p:spPr>
          <a:xfrm>
            <a:off x="3818036" y="5652328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DC--AS"/>
          <p:cNvCxnSpPr>
            <a:stCxn id="24" idx="2"/>
            <a:endCxn id="25" idx="0"/>
          </p:cNvCxnSpPr>
          <p:nvPr/>
        </p:nvCxnSpPr>
        <p:spPr>
          <a:xfrm>
            <a:off x="3818036" y="6026564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state-diagram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239746" y="1532334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5166562" y="2683499"/>
            <a:ext cx="825526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363482" y="2923325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fetch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4918904" y="3834663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5" name="Connector 5"/>
          <p:cNvCxnSpPr/>
          <p:nvPr/>
        </p:nvCxnSpPr>
        <p:spPr>
          <a:xfrm>
            <a:off x="5060152" y="4961845"/>
            <a:ext cx="498523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179908" y="5201671"/>
            <a:ext cx="259012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ok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5122756" y="4856310"/>
            <a:ext cx="1738438" cy="838439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8" name="Text 8"/>
          <p:cNvSpPr txBox="1"/>
          <p:nvPr/>
        </p:nvSpPr>
        <p:spPr>
          <a:xfrm>
            <a:off x="5804912" y="5155616"/>
            <a:ext cx="374128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fail</a:t>
            </a:r>
          </a:p>
        </p:txBody>
      </p:sp>
      <p:cxnSp>
        <p:nvCxnSpPr>
          <p:cNvPr id="19" name="Connector 9"/>
          <p:cNvCxnSpPr/>
          <p:nvPr/>
        </p:nvCxnSpPr>
        <p:spPr>
          <a:xfrm flipV="1">
            <a:off x="5741683" y="2683499"/>
            <a:ext cx="464610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0" name="Text 10"/>
          <p:cNvSpPr txBox="1"/>
          <p:nvPr/>
        </p:nvSpPr>
        <p:spPr>
          <a:xfrm>
            <a:off x="5758145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reset</a:t>
            </a:r>
          </a:p>
        </p:txBody>
      </p:sp>
      <p:cxnSp>
        <p:nvCxnSpPr>
          <p:cNvPr id="21" name="Connector 11"/>
          <p:cNvCxnSpPr/>
          <p:nvPr/>
        </p:nvCxnSpPr>
        <p:spPr>
          <a:xfrm flipH="1" flipV="1">
            <a:off x="6305272" y="2683499"/>
            <a:ext cx="910092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2" name="Text 12"/>
          <p:cNvSpPr txBox="1"/>
          <p:nvPr/>
        </p:nvSpPr>
        <p:spPr>
          <a:xfrm>
            <a:off x="6544474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23" name="Connector 13"/>
          <p:cNvCxnSpPr/>
          <p:nvPr/>
        </p:nvCxnSpPr>
        <p:spPr>
          <a:xfrm flipH="1">
            <a:off x="6016845" y="2683499"/>
            <a:ext cx="174561" cy="77943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4" name="Shape 14"/>
          <p:cNvSpPr/>
          <p:nvPr/>
        </p:nvSpPr>
        <p:spPr>
          <a:xfrm>
            <a:off x="6131824" y="1316491"/>
            <a:ext cx="215843" cy="2158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25" name="Idle"/>
          <p:cNvSpPr/>
          <p:nvPr/>
        </p:nvSpPr>
        <p:spPr>
          <a:xfrm>
            <a:off x="5820050" y="225181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5820050" y="225181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27" name="Loading"/>
          <p:cNvSpPr/>
          <p:nvPr/>
        </p:nvSpPr>
        <p:spPr>
          <a:xfrm>
            <a:off x="4491415" y="3402976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91415" y="3402976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29" name="Shape 19"/>
          <p:cNvSpPr/>
          <p:nvPr/>
        </p:nvSpPr>
        <p:spPr>
          <a:xfrm>
            <a:off x="4715052" y="4554141"/>
            <a:ext cx="407704" cy="407704"/>
          </a:xfrm>
          <a:prstGeom prst="diamond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0" name="Success"/>
          <p:cNvSpPr/>
          <p:nvPr/>
        </p:nvSpPr>
        <p:spPr>
          <a:xfrm>
            <a:off x="5280742" y="5681322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280742" y="5681322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32" name="Error"/>
          <p:cNvSpPr/>
          <p:nvPr/>
        </p:nvSpPr>
        <p:spPr>
          <a:xfrm>
            <a:off x="6861194" y="568132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861194" y="568132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34" name="Shape 24"/>
          <p:cNvSpPr/>
          <p:nvPr/>
        </p:nvSpPr>
        <p:spPr>
          <a:xfrm>
            <a:off x="5826047" y="3462933"/>
            <a:ext cx="311774" cy="311774"/>
          </a:xfrm>
          <a:prstGeom prst="ellipse">
            <a:avLst/>
          </a:prstGeom>
          <a:solidFill>
            <a:srgbClr val="FFFFFF"/>
          </a:solidFill>
          <a:ln w="11991">
            <a:solidFill>
              <a:srgbClr val="000000"/>
            </a:solidFill>
          </a:ln>
        </p:spPr>
      </p:sp>
      <p:sp>
        <p:nvSpPr>
          <p:cNvPr id="35" name="Shape 25"/>
          <p:cNvSpPr/>
          <p:nvPr/>
        </p:nvSpPr>
        <p:spPr>
          <a:xfrm>
            <a:off x="5913343" y="3550229"/>
            <a:ext cx="137180" cy="1371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subgraph</a:t>
            </a:r>
          </a:p>
        </p:txBody>
      </p:sp>
      <p:sp>
        <p:nvSpPr>
          <p:cNvPr id="17" name="Groupe externe (container)"/>
          <p:cNvSpPr/>
          <p:nvPr/>
        </p:nvSpPr>
        <p:spPr>
          <a:xfrm>
            <a:off x="3500427" y="1028700"/>
            <a:ext cx="1080703" cy="209857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Groupe externe"/>
          <p:cNvSpPr/>
          <p:nvPr/>
        </p:nvSpPr>
        <p:spPr>
          <a:xfrm>
            <a:off x="3500427" y="1028700"/>
            <a:ext cx="1080703" cy="150796"/>
          </a:xfrm>
          <a:prstGeom prst="rect">
            <a:avLst/>
          </a:prstGeom>
          <a:noFill/>
          <a:ln w="0">
            <a:noFill/>
          </a:ln>
        </p:spPr>
        <p:txBody>
          <a:bodyPr lIns="60318" tIns="30159" rIns="60318" bIns="30159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Groupe externe</a:t>
            </a:r>
          </a:p>
        </p:txBody>
      </p:sp>
      <p:sp>
        <p:nvSpPr>
          <p:cNvPr id="19" name="Groupe interne (container)"/>
          <p:cNvSpPr/>
          <p:nvPr/>
        </p:nvSpPr>
        <p:spPr>
          <a:xfrm>
            <a:off x="3409950" y="3629927"/>
            <a:ext cx="1261658" cy="209857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Groupe interne"/>
          <p:cNvSpPr/>
          <p:nvPr/>
        </p:nvSpPr>
        <p:spPr>
          <a:xfrm>
            <a:off x="3409950" y="3629927"/>
            <a:ext cx="1261658" cy="150796"/>
          </a:xfrm>
          <a:prstGeom prst="rect">
            <a:avLst/>
          </a:prstGeom>
          <a:noFill/>
          <a:ln w="0">
            <a:noFill/>
          </a:ln>
        </p:spPr>
        <p:txBody>
          <a:bodyPr lIns="60318" tIns="30159" rIns="60318" bIns="30159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Groupe interne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820869" y="1430822"/>
            <a:ext cx="439821" cy="471237"/>
          </a:xfrm>
          <a:prstGeom prst="rect">
            <a:avLst/>
          </a:prstGeom>
          <a:solidFill>
            <a:srgbClr val="FFE0B2"/>
          </a:solidFill>
          <a:ln w="837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751754" y="2404712"/>
            <a:ext cx="578051" cy="471237"/>
          </a:xfrm>
          <a:prstGeom prst="rect">
            <a:avLst/>
          </a:prstGeom>
          <a:solidFill>
            <a:srgbClr val="E1BEE7"/>
          </a:solidFill>
          <a:ln w="83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706515" y="4032049"/>
            <a:ext cx="668528" cy="471237"/>
          </a:xfrm>
          <a:prstGeom prst="rect">
            <a:avLst/>
          </a:prstGeom>
          <a:solidFill>
            <a:srgbClr val="FFCDD2"/>
          </a:solidFill>
          <a:ln w="83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661276" y="5005939"/>
            <a:ext cx="759005" cy="471237"/>
          </a:xfrm>
          <a:prstGeom prst="rect">
            <a:avLst/>
          </a:prstGeom>
          <a:solidFill>
            <a:srgbClr val="FFF9C4"/>
          </a:solidFill>
          <a:ln w="837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751754" y="5929563"/>
            <a:ext cx="578051" cy="471237"/>
          </a:xfrm>
          <a:prstGeom prst="rect">
            <a:avLst/>
          </a:prstGeom>
          <a:solidFill>
            <a:srgbClr val="BBDEFB"/>
          </a:solidFill>
          <a:ln w="837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Cinq</a:t>
            </a:r>
          </a:p>
        </p:txBody>
      </p:sp>
      <p:cxnSp>
        <p:nvCxnSpPr>
          <p:cNvPr id="21" name="A--B"/>
          <p:cNvCxnSpPr>
            <a:stCxn id="12" idx="2"/>
            <a:endCxn id="13" idx="0"/>
          </p:cNvCxnSpPr>
          <p:nvPr/>
        </p:nvCxnSpPr>
        <p:spPr>
          <a:xfrm>
            <a:off x="4040779" y="1902059"/>
            <a:ext cx="0" cy="502653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--D"/>
          <p:cNvCxnSpPr>
            <a:stCxn id="14" idx="2"/>
            <a:endCxn id="15" idx="0"/>
          </p:cNvCxnSpPr>
          <p:nvPr/>
        </p:nvCxnSpPr>
        <p:spPr>
          <a:xfrm>
            <a:off x="4040779" y="4503286"/>
            <a:ext cx="0" cy="502653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40779" y="2875948"/>
            <a:ext cx="0" cy="1156101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--E"/>
          <p:cNvCxnSpPr>
            <a:stCxn id="15" idx="2"/>
            <a:endCxn id="16" idx="0"/>
          </p:cNvCxnSpPr>
          <p:nvPr/>
        </p:nvCxnSpPr>
        <p:spPr>
          <a:xfrm>
            <a:off x="4040779" y="5477176"/>
            <a:ext cx="0" cy="452387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swimlane</a:t>
            </a:r>
          </a:p>
        </p:txBody>
      </p:sp>
      <p:sp>
        <p:nvSpPr>
          <p:cNvPr id="17" name="Customer (container)"/>
          <p:cNvSpPr/>
          <p:nvPr/>
        </p:nvSpPr>
        <p:spPr>
          <a:xfrm>
            <a:off x="457200" y="2217816"/>
            <a:ext cx="1127760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Customer"/>
          <p:cNvSpPr/>
          <p:nvPr/>
        </p:nvSpPr>
        <p:spPr>
          <a:xfrm>
            <a:off x="457200" y="2217816"/>
            <a:ext cx="1127760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19" name="Store (container)"/>
          <p:cNvSpPr/>
          <p:nvPr/>
        </p:nvSpPr>
        <p:spPr>
          <a:xfrm>
            <a:off x="2589895" y="3439091"/>
            <a:ext cx="4499874" cy="177259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Store"/>
          <p:cNvSpPr/>
          <p:nvPr/>
        </p:nvSpPr>
        <p:spPr>
          <a:xfrm>
            <a:off x="2589895" y="3439091"/>
            <a:ext cx="4499874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Store</a:t>
            </a:r>
          </a:p>
        </p:txBody>
      </p:sp>
      <p:sp>
        <p:nvSpPr>
          <p:cNvPr id="21" name="Carrier (container)"/>
          <p:cNvSpPr/>
          <p:nvPr/>
        </p:nvSpPr>
        <p:spPr>
          <a:xfrm>
            <a:off x="7648066" y="3700792"/>
            <a:ext cx="195404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Carrier"/>
          <p:cNvSpPr/>
          <p:nvPr/>
        </p:nvSpPr>
        <p:spPr>
          <a:xfrm>
            <a:off x="7648066" y="3700792"/>
            <a:ext cx="195404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Carrier</a:t>
            </a:r>
          </a:p>
        </p:txBody>
      </p:sp>
      <p:sp>
        <p:nvSpPr>
          <p:cNvPr id="12" name="Place order" descr="Order"/>
          <p:cNvSpPr/>
          <p:nvPr/>
        </p:nvSpPr>
        <p:spPr>
          <a:xfrm>
            <a:off x="736349" y="2664454"/>
            <a:ext cx="1295249" cy="523403"/>
          </a:xfrm>
          <a:prstGeom prst="rect">
            <a:avLst/>
          </a:prstGeom>
          <a:solidFill>
            <a:srgbClr val="E1BEE7"/>
          </a:solidFill>
          <a:ln w="930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Place order</a:t>
            </a:r>
          </a:p>
        </p:txBody>
      </p:sp>
      <p:sp>
        <p:nvSpPr>
          <p:cNvPr id="13" name="Pay invoice" descr="Pay"/>
          <p:cNvSpPr/>
          <p:nvPr/>
        </p:nvSpPr>
        <p:spPr>
          <a:xfrm>
            <a:off x="10160402" y="2664454"/>
            <a:ext cx="1295249" cy="523403"/>
          </a:xfrm>
          <a:prstGeom prst="roundRect">
            <a:avLst/>
          </a:prstGeom>
          <a:solidFill>
            <a:srgbClr val="FFCDD2"/>
          </a:solidFill>
          <a:ln w="930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Pay invoice</a:t>
            </a:r>
          </a:p>
        </p:txBody>
      </p:sp>
      <p:sp>
        <p:nvSpPr>
          <p:cNvPr id="14" name="Pack items" descr="Pack"/>
          <p:cNvSpPr/>
          <p:nvPr/>
        </p:nvSpPr>
        <p:spPr>
          <a:xfrm>
            <a:off x="5615865" y="4147430"/>
            <a:ext cx="1194756" cy="523403"/>
          </a:xfrm>
          <a:prstGeom prst="rect">
            <a:avLst/>
          </a:prstGeom>
          <a:solidFill>
            <a:srgbClr val="FFF9C4"/>
          </a:solidFill>
          <a:ln w="930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Pack items</a:t>
            </a:r>
          </a:p>
        </p:txBody>
      </p:sp>
      <p:sp>
        <p:nvSpPr>
          <p:cNvPr id="15" name="In stock?" descr="Decision"/>
          <p:cNvSpPr/>
          <p:nvPr/>
        </p:nvSpPr>
        <p:spPr>
          <a:xfrm>
            <a:off x="2869043" y="3885728"/>
            <a:ext cx="2188524" cy="1046807"/>
          </a:xfrm>
          <a:prstGeom prst="diamond">
            <a:avLst/>
          </a:prstGeom>
          <a:solidFill>
            <a:srgbClr val="BBDEFB"/>
          </a:solidFill>
          <a:ln w="93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In stock?</a:t>
            </a:r>
          </a:p>
        </p:txBody>
      </p:sp>
      <p:sp>
        <p:nvSpPr>
          <p:cNvPr id="16" name="Ship package" descr="Ship"/>
          <p:cNvSpPr/>
          <p:nvPr/>
        </p:nvSpPr>
        <p:spPr>
          <a:xfrm>
            <a:off x="7927214" y="4147430"/>
            <a:ext cx="1395743" cy="523403"/>
          </a:xfrm>
          <a:prstGeom prst="roundRect">
            <a:avLst/>
          </a:prstGeom>
          <a:solidFill>
            <a:srgbClr val="C8E6C9"/>
          </a:solidFill>
          <a:ln w="93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Ship package</a:t>
            </a:r>
          </a:p>
        </p:txBody>
      </p:sp>
      <p:cxnSp>
        <p:nvCxnSpPr>
          <p:cNvPr id="23" name="Order--Decision"/>
          <p:cNvCxnSpPr>
            <a:stCxn id="12" idx="3"/>
            <a:endCxn id="15" idx="1"/>
          </p:cNvCxnSpPr>
          <p:nvPr/>
        </p:nvCxnSpPr>
        <p:spPr>
          <a:xfrm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ecision--Pack"/>
          <p:cNvCxnSpPr>
            <a:stCxn id="15" idx="3"/>
            <a:endCxn id="14" idx="1"/>
          </p:cNvCxnSpPr>
          <p:nvPr/>
        </p:nvCxnSpPr>
        <p:spPr>
          <a:xfrm>
            <a:off x="5057568" y="4409132"/>
            <a:ext cx="558297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5153595" y="4325387"/>
            <a:ext cx="36624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Yes</a:t>
            </a:r>
          </a:p>
        </p:txBody>
      </p:sp>
      <p:cxnSp>
        <p:nvCxnSpPr>
          <p:cNvPr id="26" name="Decision--Order"/>
          <p:cNvCxnSpPr>
            <a:stCxn id="15" idx="1"/>
            <a:endCxn id="12" idx="3"/>
          </p:cNvCxnSpPr>
          <p:nvPr/>
        </p:nvCxnSpPr>
        <p:spPr>
          <a:xfrm flipH="1" flipV="1"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2296789" y="3583899"/>
            <a:ext cx="30706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</a:t>
            </a:r>
          </a:p>
        </p:txBody>
      </p:sp>
      <p:cxnSp>
        <p:nvCxnSpPr>
          <p:cNvPr id="28" name="Pack--Ship"/>
          <p:cNvCxnSpPr>
            <a:stCxn id="14" idx="3"/>
            <a:endCxn id="16" idx="1"/>
          </p:cNvCxnSpPr>
          <p:nvPr/>
        </p:nvCxnSpPr>
        <p:spPr>
          <a:xfrm>
            <a:off x="6810620" y="4409132"/>
            <a:ext cx="1116594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hip--Pay"/>
          <p:cNvCxnSpPr>
            <a:stCxn id="16" idx="3"/>
            <a:endCxn id="13" idx="1"/>
          </p:cNvCxnSpPr>
          <p:nvPr/>
        </p:nvCxnSpPr>
        <p:spPr>
          <a:xfrm flipV="1">
            <a:off x="9322957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timeline</a:t>
            </a:r>
          </a:p>
        </p:txBody>
      </p:sp>
      <p:sp>
        <p:nvSpPr>
          <p:cNvPr id="11" name="Box 1"/>
          <p:cNvSpPr/>
          <p:nvPr/>
        </p:nvSpPr>
        <p:spPr>
          <a:xfrm>
            <a:off x="1925256" y="1198703"/>
            <a:ext cx="8341489" cy="4986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England's History Timeline</a:t>
            </a:r>
          </a:p>
        </p:txBody>
      </p:sp>
      <p:sp>
        <p:nvSpPr>
          <p:cNvPr id="12" name="Box 2"/>
          <p:cNvSpPr/>
          <p:nvPr/>
        </p:nvSpPr>
        <p:spPr>
          <a:xfrm>
            <a:off x="2265262" y="1867382"/>
            <a:ext cx="3762737" cy="385341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Stone Age</a:t>
            </a:r>
          </a:p>
        </p:txBody>
      </p:sp>
      <p:sp>
        <p:nvSpPr>
          <p:cNvPr id="13" name="Box 3"/>
          <p:cNvSpPr/>
          <p:nvPr/>
        </p:nvSpPr>
        <p:spPr>
          <a:xfrm>
            <a:off x="6164001" y="1867382"/>
            <a:ext cx="3762737" cy="38534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Bronze Age</a:t>
            </a:r>
          </a:p>
        </p:txBody>
      </p:sp>
      <p:sp>
        <p:nvSpPr>
          <p:cNvPr id="14" name="Box 4"/>
          <p:cNvSpPr/>
          <p:nvPr/>
        </p:nvSpPr>
        <p:spPr>
          <a:xfrm>
            <a:off x="226526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7600 BC</a:t>
            </a:r>
          </a:p>
        </p:txBody>
      </p:sp>
      <p:sp>
        <p:nvSpPr>
          <p:cNvPr id="15" name="Box 5"/>
          <p:cNvSpPr/>
          <p:nvPr/>
        </p:nvSpPr>
        <p:spPr>
          <a:xfrm>
            <a:off x="421463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6000 BC</a:t>
            </a:r>
          </a:p>
        </p:txBody>
      </p:sp>
      <p:sp>
        <p:nvSpPr>
          <p:cNvPr id="16" name="Box 6"/>
          <p:cNvSpPr/>
          <p:nvPr/>
        </p:nvSpPr>
        <p:spPr>
          <a:xfrm>
            <a:off x="616400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2300 BC</a:t>
            </a:r>
          </a:p>
        </p:txBody>
      </p:sp>
      <p:sp>
        <p:nvSpPr>
          <p:cNvPr id="17" name="Box 7"/>
          <p:cNvSpPr/>
          <p:nvPr/>
        </p:nvSpPr>
        <p:spPr>
          <a:xfrm>
            <a:off x="811337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2200 BC</a:t>
            </a:r>
          </a:p>
        </p:txBody>
      </p:sp>
      <p:sp>
        <p:nvSpPr>
          <p:cNvPr id="18" name="Box 8"/>
          <p:cNvSpPr/>
          <p:nvPr/>
        </p:nvSpPr>
        <p:spPr>
          <a:xfrm>
            <a:off x="2265262" y="2762732"/>
            <a:ext cx="7661476" cy="68001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265262" y="2921402"/>
            <a:ext cx="1813367" cy="99735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Britain's oldest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known house was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built in Orkney,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Scotland</a:t>
            </a:r>
          </a:p>
        </p:txBody>
      </p:sp>
      <p:sp>
        <p:nvSpPr>
          <p:cNvPr id="20" name="Box 10"/>
          <p:cNvSpPr/>
          <p:nvPr/>
        </p:nvSpPr>
        <p:spPr>
          <a:xfrm>
            <a:off x="4214632" y="2921402"/>
            <a:ext cx="1813367" cy="138269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Sea levels rise and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 becomes 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island.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people who live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here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hunter-gatherers.</a:t>
            </a:r>
          </a:p>
        </p:txBody>
      </p:sp>
      <p:sp>
        <p:nvSpPr>
          <p:cNvPr id="21" name="Box 11"/>
          <p:cNvSpPr/>
          <p:nvPr/>
        </p:nvSpPr>
        <p:spPr>
          <a:xfrm>
            <a:off x="6164001" y="2921402"/>
            <a:ext cx="1813367" cy="119002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arrive from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Europe and settle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in Britain.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They bring farming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and metalworking.</a:t>
            </a:r>
          </a:p>
        </p:txBody>
      </p:sp>
      <p:sp>
        <p:nvSpPr>
          <p:cNvPr id="22" name="Box 12"/>
          <p:cNvSpPr/>
          <p:nvPr/>
        </p:nvSpPr>
        <p:spPr>
          <a:xfrm>
            <a:off x="6164001" y="4202092"/>
            <a:ext cx="1813367" cy="99735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New styles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pottery and ways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burying the dead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appear.</a:t>
            </a:r>
          </a:p>
        </p:txBody>
      </p:sp>
      <p:sp>
        <p:nvSpPr>
          <p:cNvPr id="23" name="Box 13"/>
          <p:cNvSpPr/>
          <p:nvPr/>
        </p:nvSpPr>
        <p:spPr>
          <a:xfrm>
            <a:off x="8113371" y="2921402"/>
            <a:ext cx="1813367" cy="1575363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last major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building works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completed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Stonehenge.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now bury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their dead in 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circles.</a:t>
            </a:r>
          </a:p>
        </p:txBody>
      </p:sp>
      <p:sp>
        <p:nvSpPr>
          <p:cNvPr id="24" name="Box 14"/>
          <p:cNvSpPr/>
          <p:nvPr/>
        </p:nvSpPr>
        <p:spPr>
          <a:xfrm>
            <a:off x="8113371" y="4587433"/>
            <a:ext cx="1813367" cy="138269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first metal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objects are made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Britain.Some other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nice things happen.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it is a good time 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be alive.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tree-view</a:t>
            </a:r>
          </a:p>
        </p:txBody>
      </p:sp>
      <p:sp>
        <p:nvSpPr>
          <p:cNvPr id="11" name="Box 1"/>
          <p:cNvSpPr/>
          <p:nvPr/>
        </p:nvSpPr>
        <p:spPr>
          <a:xfrm>
            <a:off x="4157862" y="1768570"/>
            <a:ext cx="32168" cy="3216826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3997021" y="1446887"/>
            <a:ext cx="154407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packages/</a:t>
            </a:r>
          </a:p>
        </p:txBody>
      </p:sp>
      <p:sp>
        <p:nvSpPr>
          <p:cNvPr id="13" name="Box 3"/>
          <p:cNvSpPr/>
          <p:nvPr/>
        </p:nvSpPr>
        <p:spPr>
          <a:xfrm>
            <a:off x="4157862" y="202591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4" name="Box 4"/>
          <p:cNvSpPr/>
          <p:nvPr/>
        </p:nvSpPr>
        <p:spPr>
          <a:xfrm>
            <a:off x="4576050" y="2186757"/>
            <a:ext cx="32168" cy="196226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4415208" y="1865075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core/</a:t>
            </a:r>
          </a:p>
        </p:txBody>
      </p:sp>
      <p:sp>
        <p:nvSpPr>
          <p:cNvPr id="16" name="Box 6"/>
          <p:cNvSpPr/>
          <p:nvPr/>
        </p:nvSpPr>
        <p:spPr>
          <a:xfrm>
            <a:off x="5412424" y="1865075"/>
            <a:ext cx="133498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the moat</a:t>
            </a:r>
          </a:p>
        </p:txBody>
      </p:sp>
      <p:sp>
        <p:nvSpPr>
          <p:cNvPr id="17" name="Box 7"/>
          <p:cNvSpPr/>
          <p:nvPr/>
        </p:nvSpPr>
        <p:spPr>
          <a:xfrm>
            <a:off x="4576050" y="2444104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8" name="Box 8"/>
          <p:cNvSpPr/>
          <p:nvPr/>
        </p:nvSpPr>
        <p:spPr>
          <a:xfrm>
            <a:off x="4994237" y="2604945"/>
            <a:ext cx="32168" cy="1125889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33396" y="2283262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src/</a:t>
            </a:r>
          </a:p>
        </p:txBody>
      </p:sp>
      <p:sp>
        <p:nvSpPr>
          <p:cNvPr id="20" name="Box 10"/>
          <p:cNvSpPr/>
          <p:nvPr/>
        </p:nvSpPr>
        <p:spPr>
          <a:xfrm>
            <a:off x="4994237" y="286229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1" name="Box 11"/>
          <p:cNvSpPr/>
          <p:nvPr/>
        </p:nvSpPr>
        <p:spPr>
          <a:xfrm>
            <a:off x="5251583" y="2701450"/>
            <a:ext cx="127064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parser/</a:t>
            </a:r>
          </a:p>
        </p:txBody>
      </p:sp>
      <p:sp>
        <p:nvSpPr>
          <p:cNvPr id="22" name="Box 12"/>
          <p:cNvSpPr/>
          <p:nvPr/>
        </p:nvSpPr>
        <p:spPr>
          <a:xfrm>
            <a:off x="4994237" y="328047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251583" y="3119637"/>
            <a:ext cx="181750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translator/</a:t>
            </a:r>
          </a:p>
        </p:txBody>
      </p:sp>
      <p:sp>
        <p:nvSpPr>
          <p:cNvPr id="24" name="Box 14"/>
          <p:cNvSpPr/>
          <p:nvPr/>
        </p:nvSpPr>
        <p:spPr>
          <a:xfrm>
            <a:off x="4994237" y="369866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5251583" y="3537825"/>
            <a:ext cx="1415404" cy="353851"/>
          </a:xfrm>
          <a:prstGeom prst="rect">
            <a:avLst/>
          </a:prstGeom>
          <a:solidFill>
            <a:srgbClr val="FFF2CC"/>
          </a:solidFill>
          <a:ln w="16084">
            <a:solidFill>
              <a:srgbClr val="BF9000"/>
            </a:solidFill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index.ts</a:t>
            </a:r>
          </a:p>
        </p:txBody>
      </p:sp>
      <p:sp>
        <p:nvSpPr>
          <p:cNvPr id="26" name="Box 16"/>
          <p:cNvSpPr/>
          <p:nvPr/>
        </p:nvSpPr>
        <p:spPr>
          <a:xfrm>
            <a:off x="4576050" y="411685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4833396" y="3956012"/>
            <a:ext cx="194618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package.json</a:t>
            </a:r>
          </a:p>
        </p:txBody>
      </p:sp>
      <p:sp>
        <p:nvSpPr>
          <p:cNvPr id="28" name="Box 18"/>
          <p:cNvSpPr/>
          <p:nvPr/>
        </p:nvSpPr>
        <p:spPr>
          <a:xfrm>
            <a:off x="4157862" y="453504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4415208" y="4374199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cli/</a:t>
            </a:r>
          </a:p>
        </p:txBody>
      </p:sp>
      <p:sp>
        <p:nvSpPr>
          <p:cNvPr id="30" name="Box 20"/>
          <p:cNvSpPr/>
          <p:nvPr/>
        </p:nvSpPr>
        <p:spPr>
          <a:xfrm>
            <a:off x="4157862" y="495322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4415208" y="4792387"/>
            <a:ext cx="228394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README file.md</a:t>
            </a:r>
          </a:p>
        </p:txBody>
      </p:sp>
      <p:sp>
        <p:nvSpPr>
          <p:cNvPr id="32" name="Box 22"/>
          <p:cNvSpPr/>
          <p:nvPr/>
        </p:nvSpPr>
        <p:spPr>
          <a:xfrm>
            <a:off x="6699155" y="4792387"/>
            <a:ext cx="175317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quick start</a:t>
            </a:r>
          </a:p>
        </p:txBody>
      </p:sp>
      <p:sp>
        <p:nvSpPr>
          <p:cNvPr id="33" name="Box 23"/>
          <p:cNvSpPr/>
          <p:nvPr/>
        </p:nvSpPr>
        <p:spPr>
          <a:xfrm>
            <a:off x="4157862" y="5532257"/>
            <a:ext cx="32168" cy="28951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3997021" y="5210574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docs/</a:t>
            </a:r>
          </a:p>
        </p:txBody>
      </p:sp>
      <p:sp>
        <p:nvSpPr>
          <p:cNvPr id="35" name="Box 25"/>
          <p:cNvSpPr/>
          <p:nvPr/>
        </p:nvSpPr>
        <p:spPr>
          <a:xfrm>
            <a:off x="4157862" y="578960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415208" y="5628762"/>
            <a:ext cx="114197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specs/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</a:t>
            </a:r>
          </a:p>
        </p:txBody>
      </p:sp>
      <p:sp>
        <p:nvSpPr>
          <p:cNvPr id="12" name="Racine" descr="Racine"/>
          <p:cNvSpPr/>
          <p:nvPr/>
        </p:nvSpPr>
        <p:spPr>
          <a:xfrm>
            <a:off x="4150737" y="1344730"/>
            <a:ext cx="1487264" cy="923384"/>
          </a:xfrm>
          <a:prstGeom prst="rect">
            <a:avLst/>
          </a:prstGeom>
          <a:solidFill>
            <a:srgbClr val="FFCDD2"/>
          </a:solidFill>
          <a:ln w="1641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Racine</a:t>
            </a:r>
          </a:p>
        </p:txBody>
      </p:sp>
      <p:sp>
        <p:nvSpPr>
          <p:cNvPr id="13" name="Noeud L1" descr="N1"/>
          <p:cNvSpPr/>
          <p:nvPr/>
        </p:nvSpPr>
        <p:spPr>
          <a:xfrm>
            <a:off x="1602689" y="3253058"/>
            <a:ext cx="1776838" cy="923384"/>
          </a:xfrm>
          <a:prstGeom prst="rect">
            <a:avLst/>
          </a:prstGeom>
          <a:solidFill>
            <a:srgbClr val="FFF9C4"/>
          </a:solidFill>
          <a:ln w="1641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Noeud L1</a:t>
            </a:r>
          </a:p>
        </p:txBody>
      </p:sp>
      <p:sp>
        <p:nvSpPr>
          <p:cNvPr id="14" name="Feuille" descr="N1a"/>
          <p:cNvSpPr/>
          <p:nvPr/>
        </p:nvSpPr>
        <p:spPr>
          <a:xfrm>
            <a:off x="457200" y="5161385"/>
            <a:ext cx="1664554" cy="923384"/>
          </a:xfrm>
          <a:prstGeom prst="rect">
            <a:avLst/>
          </a:prstGeom>
          <a:solidFill>
            <a:srgbClr val="BBDEFB"/>
          </a:solidFill>
          <a:ln w="16416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5" name="Feuille" descr="N1b"/>
          <p:cNvSpPr/>
          <p:nvPr/>
        </p:nvSpPr>
        <p:spPr>
          <a:xfrm>
            <a:off x="2860461" y="5161385"/>
            <a:ext cx="1664554" cy="923384"/>
          </a:xfrm>
          <a:prstGeom prst="rect">
            <a:avLst/>
          </a:prstGeom>
          <a:solidFill>
            <a:srgbClr val="C8E6C9"/>
          </a:solidFill>
          <a:ln w="16416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6" name="Noeud L1 bis" descr="N2"/>
          <p:cNvSpPr/>
          <p:nvPr/>
        </p:nvSpPr>
        <p:spPr>
          <a:xfrm>
            <a:off x="7300586" y="3253058"/>
            <a:ext cx="2397352" cy="923384"/>
          </a:xfrm>
          <a:prstGeom prst="rect">
            <a:avLst/>
          </a:prstGeom>
          <a:solidFill>
            <a:srgbClr val="FFE0B2"/>
          </a:solidFill>
          <a:ln w="16416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Noeud L1 bis</a:t>
            </a:r>
          </a:p>
        </p:txBody>
      </p:sp>
      <p:sp>
        <p:nvSpPr>
          <p:cNvPr id="17" name="Feuille" descr="N2a"/>
          <p:cNvSpPr/>
          <p:nvPr/>
        </p:nvSpPr>
        <p:spPr>
          <a:xfrm>
            <a:off x="5263723" y="5161385"/>
            <a:ext cx="1664554" cy="923384"/>
          </a:xfrm>
          <a:prstGeom prst="rect">
            <a:avLst/>
          </a:prstGeom>
          <a:solidFill>
            <a:srgbClr val="E1BEE7"/>
          </a:solidFill>
          <a:ln w="16416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8" name="Feuille" descr="N2b"/>
          <p:cNvSpPr/>
          <p:nvPr/>
        </p:nvSpPr>
        <p:spPr>
          <a:xfrm>
            <a:off x="7666984" y="5161385"/>
            <a:ext cx="1664554" cy="923384"/>
          </a:xfrm>
          <a:prstGeom prst="rect">
            <a:avLst/>
          </a:prstGeom>
          <a:solidFill>
            <a:srgbClr val="FFCDD2"/>
          </a:solidFill>
          <a:ln w="1641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9" name="Feuille" descr="N2c"/>
          <p:cNvSpPr/>
          <p:nvPr/>
        </p:nvSpPr>
        <p:spPr>
          <a:xfrm>
            <a:off x="10070246" y="5161385"/>
            <a:ext cx="1664554" cy="923384"/>
          </a:xfrm>
          <a:prstGeom prst="rect">
            <a:avLst/>
          </a:prstGeom>
          <a:solidFill>
            <a:srgbClr val="FFF9C4"/>
          </a:solidFill>
          <a:ln w="1641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cxnSp>
        <p:nvCxnSpPr>
          <p:cNvPr id="20" name="Racine--N1"/>
          <p:cNvCxnSpPr>
            <a:stCxn id="12" idx="1"/>
            <a:endCxn id="13" idx="3"/>
          </p:cNvCxnSpPr>
          <p:nvPr/>
        </p:nvCxnSpPr>
        <p:spPr>
          <a:xfrm flipH="1">
            <a:off x="3379527" y="1806423"/>
            <a:ext cx="771211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N1--N1a"/>
          <p:cNvCxnSpPr>
            <a:stCxn id="13" idx="2"/>
            <a:endCxn id="14" idx="0"/>
          </p:cNvCxnSpPr>
          <p:nvPr/>
        </p:nvCxnSpPr>
        <p:spPr>
          <a:xfrm flipH="1">
            <a:off x="1289477" y="4176442"/>
            <a:ext cx="1201631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N1--N1b"/>
          <p:cNvCxnSpPr>
            <a:stCxn id="13" idx="2"/>
            <a:endCxn id="15" idx="0"/>
          </p:cNvCxnSpPr>
          <p:nvPr/>
        </p:nvCxnSpPr>
        <p:spPr>
          <a:xfrm>
            <a:off x="2491108" y="4176442"/>
            <a:ext cx="1201631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acine--N2"/>
          <p:cNvCxnSpPr>
            <a:stCxn id="12" idx="3"/>
            <a:endCxn id="16" idx="1"/>
          </p:cNvCxnSpPr>
          <p:nvPr/>
        </p:nvCxnSpPr>
        <p:spPr>
          <a:xfrm>
            <a:off x="5638001" y="1806423"/>
            <a:ext cx="1662584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N2--N2a"/>
          <p:cNvCxnSpPr>
            <a:stCxn id="16" idx="1"/>
            <a:endCxn id="17" idx="3"/>
          </p:cNvCxnSpPr>
          <p:nvPr/>
        </p:nvCxnSpPr>
        <p:spPr>
          <a:xfrm flipH="1">
            <a:off x="6928277" y="3714751"/>
            <a:ext cx="372309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2--N2b"/>
          <p:cNvCxnSpPr>
            <a:stCxn id="16" idx="2"/>
            <a:endCxn id="18" idx="0"/>
          </p:cNvCxnSpPr>
          <p:nvPr/>
        </p:nvCxnSpPr>
        <p:spPr>
          <a:xfrm>
            <a:off x="8499261" y="4176442"/>
            <a:ext cx="0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N2--N2c"/>
          <p:cNvCxnSpPr>
            <a:stCxn id="16" idx="3"/>
            <a:endCxn id="19" idx="1"/>
          </p:cNvCxnSpPr>
          <p:nvPr/>
        </p:nvCxnSpPr>
        <p:spPr>
          <a:xfrm>
            <a:off x="9697937" y="3714751"/>
            <a:ext cx="372309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treemap</a:t>
            </a:r>
          </a:p>
        </p:txBody>
      </p:sp>
      <p:sp>
        <p:nvSpPr>
          <p:cNvPr id="11" name="Box 1"/>
          <p:cNvSpPr/>
          <p:nvPr/>
        </p:nvSpPr>
        <p:spPr>
          <a:xfrm>
            <a:off x="2207623" y="1233351"/>
            <a:ext cx="5956663" cy="4962797"/>
          </a:xfrm>
          <a:prstGeom prst="rect">
            <a:avLst/>
          </a:prstGeom>
          <a:solidFill>
            <a:srgbClr val="ABC0E4"/>
          </a:solidFill>
          <a:ln w="12791">
            <a:solidFill>
              <a:srgbClr val="FFFFFF"/>
            </a:solidFill>
          </a:ln>
        </p:spPr>
      </p:sp>
      <p:sp>
        <p:nvSpPr>
          <p:cNvPr id="12" name="Box 2"/>
          <p:cNvSpPr/>
          <p:nvPr/>
        </p:nvSpPr>
        <p:spPr>
          <a:xfrm>
            <a:off x="2207623" y="1233351"/>
            <a:ext cx="5956663" cy="281396"/>
          </a:xfrm>
          <a:prstGeom prst="rect">
            <a:avLst/>
          </a:prstGeom>
          <a:solidFill>
            <a:srgbClr val="698ED0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3" name="Box 3"/>
          <p:cNvSpPr/>
          <p:nvPr/>
        </p:nvSpPr>
        <p:spPr>
          <a:xfrm>
            <a:off x="2258786" y="1565910"/>
            <a:ext cx="3252409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4" name="Box 4"/>
          <p:cNvSpPr/>
          <p:nvPr/>
        </p:nvSpPr>
        <p:spPr>
          <a:xfrm>
            <a:off x="2258786" y="1565910"/>
            <a:ext cx="3252409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Electronics</a:t>
            </a:r>
          </a:p>
        </p:txBody>
      </p:sp>
      <p:sp>
        <p:nvSpPr>
          <p:cNvPr id="15" name="Box 5"/>
          <p:cNvSpPr/>
          <p:nvPr/>
        </p:nvSpPr>
        <p:spPr>
          <a:xfrm>
            <a:off x="2309949" y="1898469"/>
            <a:ext cx="315008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Phones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50</a:t>
            </a:r>
          </a:p>
        </p:txBody>
      </p:sp>
      <p:sp>
        <p:nvSpPr>
          <p:cNvPr id="16" name="Box 6"/>
          <p:cNvSpPr/>
          <p:nvPr/>
        </p:nvSpPr>
        <p:spPr>
          <a:xfrm>
            <a:off x="2309949" y="3996146"/>
            <a:ext cx="1890050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Computers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Box 7"/>
          <p:cNvSpPr/>
          <p:nvPr/>
        </p:nvSpPr>
        <p:spPr>
          <a:xfrm>
            <a:off x="4199999" y="3996146"/>
            <a:ext cx="126003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Accessories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18" name="Box 8"/>
          <p:cNvSpPr/>
          <p:nvPr/>
        </p:nvSpPr>
        <p:spPr>
          <a:xfrm>
            <a:off x="5511195" y="1565910"/>
            <a:ext cx="2601928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9" name="Box 9"/>
          <p:cNvSpPr/>
          <p:nvPr/>
        </p:nvSpPr>
        <p:spPr>
          <a:xfrm>
            <a:off x="5511195" y="1565910"/>
            <a:ext cx="2601928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Clothing</a:t>
            </a:r>
          </a:p>
        </p:txBody>
      </p:sp>
      <p:sp>
        <p:nvSpPr>
          <p:cNvPr id="20" name="Box 10"/>
          <p:cNvSpPr/>
          <p:nvPr/>
        </p:nvSpPr>
        <p:spPr>
          <a:xfrm>
            <a:off x="5562358" y="1898469"/>
            <a:ext cx="2499602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Men's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1" name="Box 11"/>
          <p:cNvSpPr/>
          <p:nvPr/>
        </p:nvSpPr>
        <p:spPr>
          <a:xfrm>
            <a:off x="5562358" y="3996146"/>
            <a:ext cx="2499602" cy="2097677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</p:sp>
      <p:sp>
        <p:nvSpPr>
          <p:cNvPr id="22" name="Box 12"/>
          <p:cNvSpPr/>
          <p:nvPr/>
        </p:nvSpPr>
        <p:spPr>
          <a:xfrm>
            <a:off x="5562358" y="3996146"/>
            <a:ext cx="2499602" cy="281396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Women's</a:t>
            </a:r>
          </a:p>
        </p:txBody>
      </p:sp>
      <p:sp>
        <p:nvSpPr>
          <p:cNvPr id="23" name="Box 13"/>
          <p:cNvSpPr/>
          <p:nvPr/>
        </p:nvSpPr>
        <p:spPr>
          <a:xfrm>
            <a:off x="5613521" y="4328704"/>
            <a:ext cx="149829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Dresses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25</a:t>
            </a:r>
          </a:p>
        </p:txBody>
      </p:sp>
      <p:sp>
        <p:nvSpPr>
          <p:cNvPr id="24" name="Box 14"/>
          <p:cNvSpPr/>
          <p:nvPr/>
        </p:nvSpPr>
        <p:spPr>
          <a:xfrm>
            <a:off x="7111819" y="4328704"/>
            <a:ext cx="89897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Tops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15</a:t>
            </a:r>
          </a:p>
        </p:txBody>
      </p:sp>
      <p:sp>
        <p:nvSpPr>
          <p:cNvPr id="25" name="Box 15"/>
          <p:cNvSpPr/>
          <p:nvPr/>
        </p:nvSpPr>
        <p:spPr>
          <a:xfrm>
            <a:off x="8164286" y="1233351"/>
            <a:ext cx="1820091" cy="4962797"/>
          </a:xfrm>
          <a:prstGeom prst="rect">
            <a:avLst/>
          </a:prstGeom>
          <a:solidFill>
            <a:srgbClr val="F7C5A2"/>
          </a:solidFill>
          <a:ln w="12791">
            <a:solidFill>
              <a:srgbClr val="FFFFFF"/>
            </a:solidFill>
          </a:ln>
        </p:spPr>
      </p:sp>
      <p:sp>
        <p:nvSpPr>
          <p:cNvPr id="26" name="Box 16"/>
          <p:cNvSpPr/>
          <p:nvPr/>
        </p:nvSpPr>
        <p:spPr>
          <a:xfrm>
            <a:off x="8164286" y="1233351"/>
            <a:ext cx="1820091" cy="281396"/>
          </a:xfrm>
          <a:prstGeom prst="rect">
            <a:avLst/>
          </a:prstGeom>
          <a:solidFill>
            <a:srgbClr val="F1975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27" name="Box 17"/>
          <p:cNvSpPr/>
          <p:nvPr/>
        </p:nvSpPr>
        <p:spPr>
          <a:xfrm>
            <a:off x="8215449" y="1565910"/>
            <a:ext cx="1717765" cy="2913957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Support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35</a:t>
            </a:r>
          </a:p>
        </p:txBody>
      </p:sp>
      <p:sp>
        <p:nvSpPr>
          <p:cNvPr id="28" name="Box 18"/>
          <p:cNvSpPr/>
          <p:nvPr/>
        </p:nvSpPr>
        <p:spPr>
          <a:xfrm>
            <a:off x="8215449" y="4479867"/>
            <a:ext cx="1030659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Consulting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29" name="Box 19"/>
          <p:cNvSpPr/>
          <p:nvPr/>
        </p:nvSpPr>
        <p:spPr>
          <a:xfrm>
            <a:off x="9246108" y="4479867"/>
            <a:ext cx="687106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Training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venn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510798" y="1028700"/>
            <a:ext cx="5170404" cy="426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25" dirty="0">
                <a:solidFill>
                  <a:srgbClr val="000000"/>
                </a:solidFill>
              </a:rPr>
              <a:t>Skills coverage</a:t>
            </a:r>
          </a:p>
        </p:txBody>
      </p:sp>
      <p:sp>
        <p:nvSpPr>
          <p:cNvPr id="12" name="Set 2"/>
          <p:cNvSpPr/>
          <p:nvPr/>
        </p:nvSpPr>
        <p:spPr>
          <a:xfrm>
            <a:off x="4835399" y="1940212"/>
            <a:ext cx="2521202" cy="2521202"/>
          </a:xfrm>
          <a:prstGeom prst="ellipse">
            <a:avLst/>
          </a:prstGeom>
          <a:solidFill>
            <a:srgbClr val="BBDEFB">
              <a:alpha val="60000"/>
            </a:srgbClr>
          </a:solidFill>
          <a:ln w="19394">
            <a:solidFill>
              <a:srgbClr val="BBDEFB"/>
            </a:solidFill>
          </a:ln>
        </p:spPr>
      </p:sp>
      <p:sp>
        <p:nvSpPr>
          <p:cNvPr id="13" name="Set 3"/>
          <p:cNvSpPr/>
          <p:nvPr/>
        </p:nvSpPr>
        <p:spPr>
          <a:xfrm>
            <a:off x="3995645" y="3394751"/>
            <a:ext cx="2521202" cy="2521202"/>
          </a:xfrm>
          <a:prstGeom prst="ellipse">
            <a:avLst/>
          </a:prstGeom>
          <a:solidFill>
            <a:srgbClr val="C8E6C9">
              <a:alpha val="60000"/>
            </a:srgbClr>
          </a:solidFill>
          <a:ln w="19394">
            <a:solidFill>
              <a:srgbClr val="C8E6C9"/>
            </a:solidFill>
          </a:ln>
        </p:spPr>
      </p:sp>
      <p:sp>
        <p:nvSpPr>
          <p:cNvPr id="14" name="Set 4"/>
          <p:cNvSpPr/>
          <p:nvPr/>
        </p:nvSpPr>
        <p:spPr>
          <a:xfrm>
            <a:off x="5675153" y="3394751"/>
            <a:ext cx="2521202" cy="2521202"/>
          </a:xfrm>
          <a:prstGeom prst="ellipse">
            <a:avLst/>
          </a:prstGeom>
          <a:solidFill>
            <a:srgbClr val="FFE0B2">
              <a:alpha val="60000"/>
            </a:srgbClr>
          </a:solidFill>
          <a:ln w="19394">
            <a:solidFill>
              <a:srgbClr val="FFE0B2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5824001" y="2420210"/>
            <a:ext cx="543998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6" name="Text 6"/>
          <p:cNvSpPr txBox="1"/>
          <p:nvPr/>
        </p:nvSpPr>
        <p:spPr>
          <a:xfrm>
            <a:off x="4459445" y="4914753"/>
            <a:ext cx="392726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7226375" y="4914753"/>
            <a:ext cx="619634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Writing</a:t>
            </a:r>
          </a:p>
        </p:txBody>
      </p:sp>
      <p:sp>
        <p:nvSpPr>
          <p:cNvPr id="18" name="Text 8"/>
          <p:cNvSpPr txBox="1"/>
          <p:nvPr/>
        </p:nvSpPr>
        <p:spPr>
          <a:xfrm>
            <a:off x="4968774" y="3692928"/>
            <a:ext cx="868845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Design+Code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5626669" y="4892928"/>
            <a:ext cx="938663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Code+Writing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6249654" y="3692928"/>
            <a:ext cx="1078299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Design+Writing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754668" y="4092930"/>
            <a:ext cx="682664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All three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wardley</a:t>
            </a:r>
          </a:p>
        </p:txBody>
      </p:sp>
      <p:sp>
        <p:nvSpPr>
          <p:cNvPr id="11" name="Box 1"/>
          <p:cNvSpPr/>
          <p:nvPr/>
        </p:nvSpPr>
        <p:spPr>
          <a:xfrm>
            <a:off x="1899047" y="1079063"/>
            <a:ext cx="8393906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000000"/>
                </a:solidFill>
              </a:rPr>
              <a:t>Tea Shop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2301955" y="5997893"/>
            <a:ext cx="7588091" cy="1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2301955" y="1532334"/>
            <a:ext cx="1" cy="446555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14" name="Box 4"/>
          <p:cNvSpPr/>
          <p:nvPr/>
        </p:nvSpPr>
        <p:spPr>
          <a:xfrm>
            <a:off x="2301955" y="1330881"/>
            <a:ext cx="1007269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Visibility</a:t>
            </a:r>
          </a:p>
        </p:txBody>
      </p:sp>
      <p:sp>
        <p:nvSpPr>
          <p:cNvPr id="15" name="Box 5"/>
          <p:cNvSpPr/>
          <p:nvPr/>
        </p:nvSpPr>
        <p:spPr>
          <a:xfrm>
            <a:off x="2301955" y="6199346"/>
            <a:ext cx="7588091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Evolution</a:t>
            </a:r>
          </a:p>
        </p:txBody>
      </p:sp>
      <p:sp>
        <p:nvSpPr>
          <p:cNvPr id="16" name="Box 6"/>
          <p:cNvSpPr/>
          <p:nvPr/>
        </p:nvSpPr>
        <p:spPr>
          <a:xfrm>
            <a:off x="2301955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Genesis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4198977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18" name="Box 8"/>
          <p:cNvSpPr/>
          <p:nvPr/>
        </p:nvSpPr>
        <p:spPr>
          <a:xfrm>
            <a:off x="4198977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Custom Built</a:t>
            </a:r>
          </a:p>
        </p:txBody>
      </p:sp>
      <p:cxnSp>
        <p:nvCxnSpPr>
          <p:cNvPr id="19" name="Connector 9"/>
          <p:cNvCxnSpPr/>
          <p:nvPr/>
        </p:nvCxnSpPr>
        <p:spPr>
          <a:xfrm>
            <a:off x="6096000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0" name="Box 10"/>
          <p:cNvSpPr/>
          <p:nvPr/>
        </p:nvSpPr>
        <p:spPr>
          <a:xfrm>
            <a:off x="6096000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Product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7993023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2" name="Box 12"/>
          <p:cNvSpPr/>
          <p:nvPr/>
        </p:nvSpPr>
        <p:spPr>
          <a:xfrm>
            <a:off x="7993023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Commodity</a:t>
            </a:r>
          </a:p>
        </p:txBody>
      </p:sp>
      <p:sp>
        <p:nvSpPr>
          <p:cNvPr id="23" name="Pipeline"/>
          <p:cNvSpPr/>
          <p:nvPr/>
        </p:nvSpPr>
        <p:spPr>
          <a:xfrm>
            <a:off x="5666568" y="3976976"/>
            <a:ext cx="1617674" cy="201454"/>
          </a:xfrm>
          <a:prstGeom prst="roundRect">
            <a:avLst/>
          </a:prstGeom>
          <a:noFill/>
          <a:ln w="9525">
            <a:solidFill>
              <a:srgbClr val="000000"/>
            </a:solidFill>
          </a:ln>
        </p:spPr>
      </p:sp>
      <p:cxnSp>
        <p:nvCxnSpPr>
          <p:cNvPr id="24" name="Connector 14"/>
          <p:cNvCxnSpPr/>
          <p:nvPr/>
        </p:nvCxnSpPr>
        <p:spPr>
          <a:xfrm>
            <a:off x="5792476" y="4077703"/>
            <a:ext cx="1365857" cy="1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25" name="Connector 15"/>
          <p:cNvCxnSpPr/>
          <p:nvPr/>
        </p:nvCxnSpPr>
        <p:spPr>
          <a:xfrm flipH="1">
            <a:off x="6941154" y="1804877"/>
            <a:ext cx="130834" cy="615960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6" name="Connector 16"/>
          <p:cNvCxnSpPr/>
          <p:nvPr/>
        </p:nvCxnSpPr>
        <p:spPr>
          <a:xfrm flipH="1">
            <a:off x="6974747" y="1780014"/>
            <a:ext cx="1201862" cy="6656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7" name="Connector 17"/>
          <p:cNvCxnSpPr/>
          <p:nvPr/>
        </p:nvCxnSpPr>
        <p:spPr>
          <a:xfrm>
            <a:off x="6980001" y="2480344"/>
            <a:ext cx="1191354" cy="24744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8" name="Connector 18"/>
          <p:cNvCxnSpPr/>
          <p:nvPr/>
        </p:nvCxnSpPr>
        <p:spPr>
          <a:xfrm>
            <a:off x="6976256" y="2491554"/>
            <a:ext cx="1426486" cy="6715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6969324" y="2502411"/>
            <a:ext cx="1364469" cy="114108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>
            <a:off x="8384308" y="3724744"/>
            <a:ext cx="128001" cy="527294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1" name="Connector 21"/>
          <p:cNvCxnSpPr/>
          <p:nvPr/>
        </p:nvCxnSpPr>
        <p:spPr>
          <a:xfrm flipH="1">
            <a:off x="6531672" y="3683355"/>
            <a:ext cx="1790962" cy="271656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32" name="Box 22"/>
          <p:cNvSpPr/>
          <p:nvPr/>
        </p:nvSpPr>
        <p:spPr>
          <a:xfrm>
            <a:off x="7277020" y="3843906"/>
            <a:ext cx="318968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boils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6508562" y="4009799"/>
            <a:ext cx="1075714" cy="1500605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34" name="Connector 24"/>
          <p:cNvCxnSpPr/>
          <p:nvPr/>
        </p:nvCxnSpPr>
        <p:spPr>
          <a:xfrm>
            <a:off x="3868596" y="4669765"/>
            <a:ext cx="3695999" cy="87003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5" name="Connector 25"/>
          <p:cNvCxnSpPr/>
          <p:nvPr/>
        </p:nvCxnSpPr>
        <p:spPr>
          <a:xfrm>
            <a:off x="8451724" y="3234838"/>
            <a:ext cx="69050" cy="1015895"/>
          </a:xfrm>
          <a:prstGeom prst="line">
            <a:avLst/>
          </a:prstGeom>
          <a:ln w="8394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6525768" y="3963545"/>
            <a:ext cx="480803" cy="1"/>
          </a:xfrm>
          <a:prstGeom prst="line">
            <a:avLst/>
          </a:prstGeom>
          <a:ln w="8394">
            <a:solidFill>
              <a:srgbClr val="DC3545"/>
            </a:solidFill>
            <a:prstDash val="dash"/>
            <a:tailEnd type="triangle" w="sm" len="sm"/>
          </a:ln>
        </p:spPr>
      </p:cxnSp>
      <p:sp>
        <p:nvSpPr>
          <p:cNvPr id="37" name="Shape 27"/>
          <p:cNvSpPr/>
          <p:nvPr/>
        </p:nvSpPr>
        <p:spPr>
          <a:xfrm>
            <a:off x="7032089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38" name="Box 28"/>
          <p:cNvSpPr/>
          <p:nvPr/>
        </p:nvSpPr>
        <p:spPr>
          <a:xfrm>
            <a:off x="7183179" y="1587734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Business</a:t>
            </a:r>
          </a:p>
        </p:txBody>
      </p:sp>
      <p:sp>
        <p:nvSpPr>
          <p:cNvPr id="39" name="Shape 29"/>
          <p:cNvSpPr/>
          <p:nvPr/>
        </p:nvSpPr>
        <p:spPr>
          <a:xfrm>
            <a:off x="8170302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40" name="Box 30"/>
          <p:cNvSpPr/>
          <p:nvPr/>
        </p:nvSpPr>
        <p:spPr>
          <a:xfrm>
            <a:off x="8321393" y="1587734"/>
            <a:ext cx="47845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Public</a:t>
            </a:r>
          </a:p>
        </p:txBody>
      </p:sp>
      <p:sp>
        <p:nvSpPr>
          <p:cNvPr id="41" name="Shape 31"/>
          <p:cNvSpPr/>
          <p:nvPr/>
        </p:nvSpPr>
        <p:spPr>
          <a:xfrm>
            <a:off x="6880327" y="2419738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2" name="Box 32"/>
          <p:cNvSpPr/>
          <p:nvPr/>
        </p:nvSpPr>
        <p:spPr>
          <a:xfrm>
            <a:off x="6317935" y="2486889"/>
            <a:ext cx="58757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 of Tea</a:t>
            </a:r>
          </a:p>
        </p:txBody>
      </p:sp>
      <p:sp>
        <p:nvSpPr>
          <p:cNvPr id="43" name="Shape 33"/>
          <p:cNvSpPr/>
          <p:nvPr/>
        </p:nvSpPr>
        <p:spPr>
          <a:xfrm>
            <a:off x="8170302" y="2687672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8321393" y="2670884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</a:t>
            </a:r>
          </a:p>
        </p:txBody>
      </p:sp>
      <p:sp>
        <p:nvSpPr>
          <p:cNvPr id="45" name="Shape 35"/>
          <p:cNvSpPr/>
          <p:nvPr/>
        </p:nvSpPr>
        <p:spPr>
          <a:xfrm>
            <a:off x="8397945" y="3134227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6" name="Box 36"/>
          <p:cNvSpPr/>
          <p:nvPr/>
        </p:nvSpPr>
        <p:spPr>
          <a:xfrm>
            <a:off x="8549035" y="3117440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Tea</a:t>
            </a:r>
          </a:p>
        </p:txBody>
      </p:sp>
      <p:sp>
        <p:nvSpPr>
          <p:cNvPr id="47" name="Shape 37"/>
          <p:cNvSpPr/>
          <p:nvPr/>
        </p:nvSpPr>
        <p:spPr>
          <a:xfrm>
            <a:off x="8322064" y="36254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8" name="Box 38"/>
          <p:cNvSpPr/>
          <p:nvPr/>
        </p:nvSpPr>
        <p:spPr>
          <a:xfrm>
            <a:off x="8473154" y="3608651"/>
            <a:ext cx="562392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Hot Water</a:t>
            </a:r>
          </a:p>
        </p:txBody>
      </p:sp>
      <p:sp>
        <p:nvSpPr>
          <p:cNvPr id="49" name="Shape 39"/>
          <p:cNvSpPr/>
          <p:nvPr/>
        </p:nvSpPr>
        <p:spPr>
          <a:xfrm>
            <a:off x="8458717" y="4235508"/>
            <a:ext cx="130945" cy="130945"/>
          </a:xfrm>
          <a:prstGeom prst="diamond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0" name="Box 40"/>
          <p:cNvSpPr/>
          <p:nvPr/>
        </p:nvSpPr>
        <p:spPr>
          <a:xfrm>
            <a:off x="8624916" y="4233829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Water</a:t>
            </a:r>
          </a:p>
        </p:txBody>
      </p:sp>
      <p:sp>
        <p:nvSpPr>
          <p:cNvPr id="51" name="Pipeline parent"/>
          <p:cNvSpPr/>
          <p:nvPr/>
        </p:nvSpPr>
        <p:spPr>
          <a:xfrm>
            <a:off x="6435114" y="3923255"/>
            <a:ext cx="80582" cy="8058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52" name="Connector 42"/>
          <p:cNvCxnSpPr/>
          <p:nvPr/>
        </p:nvCxnSpPr>
        <p:spPr>
          <a:xfrm>
            <a:off x="6559344" y="3913182"/>
            <a:ext cx="1" cy="100727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53" name="Box 43"/>
          <p:cNvSpPr/>
          <p:nvPr/>
        </p:nvSpPr>
        <p:spPr>
          <a:xfrm>
            <a:off x="6576132" y="389639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Kettle</a:t>
            </a:r>
          </a:p>
        </p:txBody>
      </p:sp>
      <p:sp>
        <p:nvSpPr>
          <p:cNvPr id="54" name="Shape 44"/>
          <p:cNvSpPr/>
          <p:nvPr/>
        </p:nvSpPr>
        <p:spPr>
          <a:xfrm>
            <a:off x="3754100" y="4592753"/>
            <a:ext cx="130945" cy="115836"/>
          </a:xfrm>
          <a:custGeom>
            <a:avLst/>
            <a:gdLst/>
            <a:ahLst/>
            <a:cxnLst/>
            <a:rect l="0" t="0" r="0" b="0"/>
            <a:pathLst>
              <a:path w="130945" h="115836">
                <a:moveTo>
                  <a:pt x="65473" y="0"/>
                </a:moveTo>
                <a:lnTo>
                  <a:pt x="130945" y="115836"/>
                </a:lnTo>
                <a:lnTo>
                  <a:pt x="0" y="115836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8394">
            <a:solidFill>
              <a:srgbClr val="000000"/>
            </a:solidFill>
          </a:ln>
        </p:spPr>
      </p:sp>
      <p:sp>
        <p:nvSpPr>
          <p:cNvPr id="55" name="Box 45"/>
          <p:cNvSpPr/>
          <p:nvPr/>
        </p:nvSpPr>
        <p:spPr>
          <a:xfrm>
            <a:off x="3920300" y="459107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Boiler</a:t>
            </a:r>
          </a:p>
        </p:txBody>
      </p:sp>
      <p:sp>
        <p:nvSpPr>
          <p:cNvPr id="56" name="Outsource"/>
          <p:cNvSpPr/>
          <p:nvPr/>
        </p:nvSpPr>
        <p:spPr>
          <a:xfrm>
            <a:off x="7563255" y="5500973"/>
            <a:ext cx="100727" cy="100727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7" name="Box 47"/>
          <p:cNvSpPr/>
          <p:nvPr/>
        </p:nvSpPr>
        <p:spPr>
          <a:xfrm>
            <a:off x="7714345" y="5484185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Power</a:t>
            </a:r>
          </a:p>
        </p:txBody>
      </p:sp>
      <p:sp>
        <p:nvSpPr>
          <p:cNvPr id="58" name="Shape 48"/>
          <p:cNvSpPr/>
          <p:nvPr/>
        </p:nvSpPr>
        <p:spPr>
          <a:xfrm>
            <a:off x="7107969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9" name="Box 49"/>
          <p:cNvSpPr/>
          <p:nvPr/>
        </p:nvSpPr>
        <p:spPr>
          <a:xfrm>
            <a:off x="7259060" y="4010551"/>
            <a:ext cx="889754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Electric Kettle</a:t>
            </a:r>
          </a:p>
        </p:txBody>
      </p:sp>
      <p:sp>
        <p:nvSpPr>
          <p:cNvPr id="60" name="Shape 50"/>
          <p:cNvSpPr/>
          <p:nvPr/>
        </p:nvSpPr>
        <p:spPr>
          <a:xfrm>
            <a:off x="5742113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1" name="Box 51"/>
          <p:cNvSpPr/>
          <p:nvPr/>
        </p:nvSpPr>
        <p:spPr>
          <a:xfrm>
            <a:off x="5893203" y="4010551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Gas Kettle</a:t>
            </a:r>
          </a:p>
        </p:txBody>
      </p:sp>
      <p:sp>
        <p:nvSpPr>
          <p:cNvPr id="62" name="Box 52"/>
          <p:cNvSpPr/>
          <p:nvPr/>
        </p:nvSpPr>
        <p:spPr>
          <a:xfrm>
            <a:off x="5716596" y="5618152"/>
            <a:ext cx="27532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800" dirty="0">
                <a:solidFill>
                  <a:srgbClr val="595959"/>
                </a:solidFill>
              </a:rPr>
              <a:t>Standardising power allows Kettles to evolve faster</a:t>
            </a:r>
          </a:p>
        </p:txBody>
      </p:sp>
      <p:cxnSp>
        <p:nvCxnSpPr>
          <p:cNvPr id="63" name="Connector 53"/>
          <p:cNvCxnSpPr/>
          <p:nvPr/>
        </p:nvCxnSpPr>
        <p:spPr>
          <a:xfrm>
            <a:off x="4393716" y="3229246"/>
            <a:ext cx="369332" cy="1"/>
          </a:xfrm>
          <a:prstGeom prst="line">
            <a:avLst/>
          </a:prstGeom>
          <a:ln w="8394">
            <a:solidFill>
              <a:srgbClr val="DC3545"/>
            </a:solidFill>
            <a:prstDash val="solid"/>
            <a:tailEnd type="triangle" w="sm" len="sm"/>
          </a:ln>
        </p:spPr>
      </p:cxnSp>
      <p:sp>
        <p:nvSpPr>
          <p:cNvPr id="64" name="Box 54"/>
          <p:cNvSpPr/>
          <p:nvPr/>
        </p:nvSpPr>
        <p:spPr>
          <a:xfrm>
            <a:off x="4242626" y="3279610"/>
            <a:ext cx="67151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Open Source</a:t>
            </a:r>
          </a:p>
        </p:txBody>
      </p:sp>
      <p:sp>
        <p:nvSpPr>
          <p:cNvPr id="65" name="Shape 55"/>
          <p:cNvSpPr/>
          <p:nvPr/>
        </p:nvSpPr>
        <p:spPr>
          <a:xfrm>
            <a:off x="4511231" y="5037630"/>
            <a:ext cx="134303" cy="134303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6" name="Box 56"/>
          <p:cNvSpPr/>
          <p:nvPr/>
        </p:nvSpPr>
        <p:spPr>
          <a:xfrm>
            <a:off x="4511231" y="5037630"/>
            <a:ext cx="13430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700" dirty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7" name="Annotations"/>
          <p:cNvSpPr/>
          <p:nvPr/>
        </p:nvSpPr>
        <p:spPr>
          <a:xfrm>
            <a:off x="2453716" y="5462026"/>
            <a:ext cx="1309449" cy="1930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8" name="Box 58"/>
          <p:cNvSpPr/>
          <p:nvPr/>
        </p:nvSpPr>
        <p:spPr>
          <a:xfrm>
            <a:off x="2487292" y="5495601"/>
            <a:ext cx="124229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1. Standardising power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xychart-horizontal</a:t>
            </a:r>
          </a:p>
        </p:txBody>
      </p:sp>
      <p:sp>
        <p:nvSpPr>
          <p:cNvPr id="11" name="Box 1"/>
          <p:cNvSpPr/>
          <p:nvPr/>
        </p:nvSpPr>
        <p:spPr>
          <a:xfrm>
            <a:off x="3556997" y="1146337"/>
            <a:ext cx="5078007" cy="352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38" dirty="0">
                <a:solidFill>
                  <a:srgbClr val="000000"/>
                </a:solidFill>
              </a:rPr>
              <a:t>Team velocity</a:t>
            </a:r>
          </a:p>
        </p:txBody>
      </p:sp>
      <p:sp>
        <p:nvSpPr>
          <p:cNvPr id="12" name="Box 2"/>
          <p:cNvSpPr/>
          <p:nvPr/>
        </p:nvSpPr>
        <p:spPr>
          <a:xfrm>
            <a:off x="4086364" y="1558068"/>
            <a:ext cx="117637" cy="11763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13" name="Box 3"/>
          <p:cNvSpPr/>
          <p:nvPr/>
        </p:nvSpPr>
        <p:spPr>
          <a:xfrm>
            <a:off x="4243214" y="1499249"/>
            <a:ext cx="607792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Planned</a:t>
            </a:r>
          </a:p>
        </p:txBody>
      </p:sp>
      <p:sp>
        <p:nvSpPr>
          <p:cNvPr id="14" name="Box 4"/>
          <p:cNvSpPr/>
          <p:nvPr/>
        </p:nvSpPr>
        <p:spPr>
          <a:xfrm>
            <a:off x="4988249" y="1558068"/>
            <a:ext cx="117637" cy="117637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5145099" y="1499249"/>
            <a:ext cx="392124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6" name="Box 6"/>
          <p:cNvSpPr/>
          <p:nvPr/>
        </p:nvSpPr>
        <p:spPr>
          <a:xfrm>
            <a:off x="4086364" y="1754130"/>
            <a:ext cx="4117303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29" dirty="0">
                <a:solidFill>
                  <a:srgbClr val="000000"/>
                </a:solidFill>
              </a:rPr>
              <a:t>Sprint</a:t>
            </a:r>
          </a:p>
        </p:txBody>
      </p:sp>
      <p:sp>
        <p:nvSpPr>
          <p:cNvPr id="17" name="Shape 7"/>
          <p:cNvSpPr/>
          <p:nvPr/>
        </p:nvSpPr>
        <p:spPr>
          <a:xfrm>
            <a:off x="4086364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3792271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19" name="Shape 9"/>
          <p:cNvSpPr/>
          <p:nvPr/>
        </p:nvSpPr>
        <p:spPr>
          <a:xfrm>
            <a:off x="5115690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4821597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21" name="Shape 11"/>
          <p:cNvSpPr/>
          <p:nvPr/>
        </p:nvSpPr>
        <p:spPr>
          <a:xfrm>
            <a:off x="6145016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2" name="Box 12"/>
          <p:cNvSpPr/>
          <p:nvPr/>
        </p:nvSpPr>
        <p:spPr>
          <a:xfrm>
            <a:off x="5850922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23" name="Shape 13"/>
          <p:cNvSpPr/>
          <p:nvPr/>
        </p:nvSpPr>
        <p:spPr>
          <a:xfrm>
            <a:off x="7174341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4" name="Box 14"/>
          <p:cNvSpPr/>
          <p:nvPr/>
        </p:nvSpPr>
        <p:spPr>
          <a:xfrm>
            <a:off x="6880248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25" name="Shape 15"/>
          <p:cNvSpPr/>
          <p:nvPr/>
        </p:nvSpPr>
        <p:spPr>
          <a:xfrm>
            <a:off x="8203667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6" name="Box 16"/>
          <p:cNvSpPr/>
          <p:nvPr/>
        </p:nvSpPr>
        <p:spPr>
          <a:xfrm>
            <a:off x="7909574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7" name="Box 17"/>
          <p:cNvSpPr/>
          <p:nvPr/>
        </p:nvSpPr>
        <p:spPr>
          <a:xfrm>
            <a:off x="3674634" y="2538378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S1</a:t>
            </a:r>
          </a:p>
        </p:txBody>
      </p:sp>
      <p:sp>
        <p:nvSpPr>
          <p:cNvPr id="28" name="Box 18"/>
          <p:cNvSpPr/>
          <p:nvPr/>
        </p:nvSpPr>
        <p:spPr>
          <a:xfrm>
            <a:off x="3674634" y="3420657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S2</a:t>
            </a:r>
          </a:p>
        </p:txBody>
      </p:sp>
      <p:sp>
        <p:nvSpPr>
          <p:cNvPr id="29" name="Box 19"/>
          <p:cNvSpPr/>
          <p:nvPr/>
        </p:nvSpPr>
        <p:spPr>
          <a:xfrm>
            <a:off x="3674634" y="4302936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S3</a:t>
            </a:r>
          </a:p>
        </p:txBody>
      </p:sp>
      <p:sp>
        <p:nvSpPr>
          <p:cNvPr id="30" name="Box 20"/>
          <p:cNvSpPr/>
          <p:nvPr/>
        </p:nvSpPr>
        <p:spPr>
          <a:xfrm>
            <a:off x="3674634" y="5185215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S4</a:t>
            </a:r>
          </a:p>
        </p:txBody>
      </p:sp>
      <p:sp>
        <p:nvSpPr>
          <p:cNvPr id="31" name="Box 21"/>
          <p:cNvSpPr/>
          <p:nvPr/>
        </p:nvSpPr>
        <p:spPr>
          <a:xfrm>
            <a:off x="4086364" y="2317808"/>
            <a:ext cx="3087977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4086364" y="3200088"/>
            <a:ext cx="3293842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4086364" y="4082367"/>
            <a:ext cx="2882112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4086364" y="4964646"/>
            <a:ext cx="3602641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Shape 25"/>
          <p:cNvSpPr/>
          <p:nvPr/>
        </p:nvSpPr>
        <p:spPr>
          <a:xfrm>
            <a:off x="6659679" y="2626606"/>
            <a:ext cx="1132258" cy="2646838"/>
          </a:xfrm>
          <a:custGeom>
            <a:avLst/>
            <a:gdLst/>
            <a:ahLst/>
            <a:cxnLst/>
            <a:rect l="0" t="0" r="0" b="0"/>
            <a:pathLst>
              <a:path w="1100137" h="2571750" fill="none">
                <a:moveTo>
                  <a:pt x="0" y="0"/>
                </a:moveTo>
                <a:lnTo>
                  <a:pt x="600075" y="857250"/>
                </a:lnTo>
                <a:lnTo>
                  <a:pt x="200025" y="1714500"/>
                </a:lnTo>
                <a:lnTo>
                  <a:pt x="1100137" y="2571750"/>
                </a:lnTo>
              </a:path>
            </a:pathLst>
          </a:custGeom>
          <a:noFill/>
          <a:ln w="29409">
            <a:solidFill>
              <a:srgbClr val="ED7D31"/>
            </a:solidFill>
          </a:ln>
        </p:spPr>
      </p:sp>
      <p:sp>
        <p:nvSpPr>
          <p:cNvPr id="36" name="Box 26"/>
          <p:cNvSpPr/>
          <p:nvPr/>
        </p:nvSpPr>
        <p:spPr>
          <a:xfrm>
            <a:off x="6630270" y="2597196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6468518" y="2410937"/>
            <a:ext cx="382321" cy="15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26" dirty="0">
                <a:solidFill>
                  <a:srgbClr val="404040"/>
                </a:solidFill>
              </a:rPr>
              <a:t>late</a:t>
            </a:r>
          </a:p>
        </p:txBody>
      </p:sp>
      <p:sp>
        <p:nvSpPr>
          <p:cNvPr id="38" name="Box 28"/>
          <p:cNvSpPr/>
          <p:nvPr/>
        </p:nvSpPr>
        <p:spPr>
          <a:xfrm>
            <a:off x="7247865" y="3479476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836135" y="4361755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762527" y="5244034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1" name="Shape 31"/>
          <p:cNvSpPr/>
          <p:nvPr/>
        </p:nvSpPr>
        <p:spPr>
          <a:xfrm>
            <a:off x="4086364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29409">
            <a:solidFill>
              <a:srgbClr val="595959"/>
            </a:solidFill>
          </a:ln>
        </p:spPr>
      </p:sp>
      <p:sp>
        <p:nvSpPr>
          <p:cNvPr id="42" name="Box 32"/>
          <p:cNvSpPr/>
          <p:nvPr/>
        </p:nvSpPr>
        <p:spPr>
          <a:xfrm>
            <a:off x="4086364" y="5949857"/>
            <a:ext cx="4117303" cy="2156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29" dirty="0">
                <a:solidFill>
                  <a:srgbClr val="000000"/>
                </a:solidFill>
              </a:rPr>
              <a:t>Points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</a:t>
            </a:r>
          </a:p>
        </p:txBody>
      </p:sp>
      <p:sp>
        <p:nvSpPr>
          <p:cNvPr id="11" name="Box 1"/>
          <p:cNvSpPr/>
          <p:nvPr/>
        </p:nvSpPr>
        <p:spPr>
          <a:xfrm>
            <a:off x="1279424" y="1175212"/>
            <a:ext cx="9633152" cy="4395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66" dirty="0">
                <a:solidFill>
                  <a:srgbClr val="000000"/>
                </a:solidFill>
              </a:rPr>
              <a:t>Sales Revenue</a:t>
            </a:r>
          </a:p>
        </p:txBody>
      </p:sp>
      <p:sp>
        <p:nvSpPr>
          <p:cNvPr id="12" name="Box 2"/>
          <p:cNvSpPr/>
          <p:nvPr/>
        </p:nvSpPr>
        <p:spPr>
          <a:xfrm>
            <a:off x="2170704" y="1614747"/>
            <a:ext cx="8204662" cy="268605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282" dirty="0">
                <a:solidFill>
                  <a:srgbClr val="000000"/>
                </a:solidFill>
              </a:rPr>
              <a:t>Revenue (in $)</a:t>
            </a:r>
          </a:p>
        </p:txBody>
      </p:sp>
      <p:sp>
        <p:nvSpPr>
          <p:cNvPr id="13" name="Shape 3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4" name="Box 4"/>
          <p:cNvSpPr/>
          <p:nvPr/>
        </p:nvSpPr>
        <p:spPr>
          <a:xfrm>
            <a:off x="1340471" y="5704869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4000</a:t>
            </a:r>
          </a:p>
        </p:txBody>
      </p:sp>
      <p:sp>
        <p:nvSpPr>
          <p:cNvPr id="15" name="Shape 5"/>
          <p:cNvSpPr/>
          <p:nvPr/>
        </p:nvSpPr>
        <p:spPr>
          <a:xfrm>
            <a:off x="2170704" y="4768239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6" name="Box 6"/>
          <p:cNvSpPr/>
          <p:nvPr/>
        </p:nvSpPr>
        <p:spPr>
          <a:xfrm>
            <a:off x="1340471" y="4658355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6000</a:t>
            </a:r>
          </a:p>
        </p:txBody>
      </p:sp>
      <p:sp>
        <p:nvSpPr>
          <p:cNvPr id="17" name="Shape 7"/>
          <p:cNvSpPr/>
          <p:nvPr/>
        </p:nvSpPr>
        <p:spPr>
          <a:xfrm>
            <a:off x="2170704" y="3721727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1340471" y="3611843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8000</a:t>
            </a:r>
          </a:p>
        </p:txBody>
      </p:sp>
      <p:sp>
        <p:nvSpPr>
          <p:cNvPr id="19" name="Shape 9"/>
          <p:cNvSpPr/>
          <p:nvPr/>
        </p:nvSpPr>
        <p:spPr>
          <a:xfrm>
            <a:off x="2170704" y="267521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1340471" y="2565330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10000</a:t>
            </a:r>
          </a:p>
        </p:txBody>
      </p:sp>
      <p:sp>
        <p:nvSpPr>
          <p:cNvPr id="21" name="Box 11"/>
          <p:cNvSpPr/>
          <p:nvPr/>
        </p:nvSpPr>
        <p:spPr>
          <a:xfrm>
            <a:off x="217070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jan</a:t>
            </a:r>
          </a:p>
        </p:txBody>
      </p:sp>
      <p:sp>
        <p:nvSpPr>
          <p:cNvPr id="22" name="Box 12"/>
          <p:cNvSpPr/>
          <p:nvPr/>
        </p:nvSpPr>
        <p:spPr>
          <a:xfrm>
            <a:off x="2854426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feb</a:t>
            </a:r>
          </a:p>
        </p:txBody>
      </p:sp>
      <p:sp>
        <p:nvSpPr>
          <p:cNvPr id="23" name="Box 13"/>
          <p:cNvSpPr/>
          <p:nvPr/>
        </p:nvSpPr>
        <p:spPr>
          <a:xfrm>
            <a:off x="3538148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mar</a:t>
            </a:r>
          </a:p>
        </p:txBody>
      </p:sp>
      <p:sp>
        <p:nvSpPr>
          <p:cNvPr id="24" name="Box 14"/>
          <p:cNvSpPr/>
          <p:nvPr/>
        </p:nvSpPr>
        <p:spPr>
          <a:xfrm>
            <a:off x="4221870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apr</a:t>
            </a:r>
          </a:p>
        </p:txBody>
      </p:sp>
      <p:sp>
        <p:nvSpPr>
          <p:cNvPr id="25" name="Box 15"/>
          <p:cNvSpPr/>
          <p:nvPr/>
        </p:nvSpPr>
        <p:spPr>
          <a:xfrm>
            <a:off x="490559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may</a:t>
            </a:r>
          </a:p>
        </p:txBody>
      </p:sp>
      <p:sp>
        <p:nvSpPr>
          <p:cNvPr id="26" name="Box 16"/>
          <p:cNvSpPr/>
          <p:nvPr/>
        </p:nvSpPr>
        <p:spPr>
          <a:xfrm>
            <a:off x="5589313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jun</a:t>
            </a:r>
          </a:p>
        </p:txBody>
      </p:sp>
      <p:sp>
        <p:nvSpPr>
          <p:cNvPr id="27" name="Box 17"/>
          <p:cNvSpPr/>
          <p:nvPr/>
        </p:nvSpPr>
        <p:spPr>
          <a:xfrm>
            <a:off x="6273035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jul</a:t>
            </a:r>
          </a:p>
        </p:txBody>
      </p:sp>
      <p:sp>
        <p:nvSpPr>
          <p:cNvPr id="28" name="Box 18"/>
          <p:cNvSpPr/>
          <p:nvPr/>
        </p:nvSpPr>
        <p:spPr>
          <a:xfrm>
            <a:off x="6956757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aug</a:t>
            </a:r>
          </a:p>
        </p:txBody>
      </p:sp>
      <p:sp>
        <p:nvSpPr>
          <p:cNvPr id="29" name="Box 19"/>
          <p:cNvSpPr/>
          <p:nvPr/>
        </p:nvSpPr>
        <p:spPr>
          <a:xfrm>
            <a:off x="7640479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sep</a:t>
            </a:r>
          </a:p>
        </p:txBody>
      </p:sp>
      <p:sp>
        <p:nvSpPr>
          <p:cNvPr id="30" name="Box 20"/>
          <p:cNvSpPr/>
          <p:nvPr/>
        </p:nvSpPr>
        <p:spPr>
          <a:xfrm>
            <a:off x="832420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oct</a:t>
            </a:r>
          </a:p>
        </p:txBody>
      </p:sp>
      <p:sp>
        <p:nvSpPr>
          <p:cNvPr id="31" name="Box 21"/>
          <p:cNvSpPr/>
          <p:nvPr/>
        </p:nvSpPr>
        <p:spPr>
          <a:xfrm>
            <a:off x="9007922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nov</a:t>
            </a:r>
          </a:p>
        </p:txBody>
      </p:sp>
      <p:sp>
        <p:nvSpPr>
          <p:cNvPr id="32" name="Box 22"/>
          <p:cNvSpPr/>
          <p:nvPr/>
        </p:nvSpPr>
        <p:spPr>
          <a:xfrm>
            <a:off x="969164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dec</a:t>
            </a:r>
          </a:p>
        </p:txBody>
      </p:sp>
      <p:sp>
        <p:nvSpPr>
          <p:cNvPr id="33" name="Box 23"/>
          <p:cNvSpPr/>
          <p:nvPr/>
        </p:nvSpPr>
        <p:spPr>
          <a:xfrm>
            <a:off x="2273262" y="5291497"/>
            <a:ext cx="478605" cy="5232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2956984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3640706" y="3983355"/>
            <a:ext cx="478605" cy="1831398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324428" y="3617075"/>
            <a:ext cx="478605" cy="219767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5008150" y="2936841"/>
            <a:ext cx="478605" cy="287791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8" name="Box 28"/>
          <p:cNvSpPr/>
          <p:nvPr/>
        </p:nvSpPr>
        <p:spPr>
          <a:xfrm>
            <a:off x="5691872" y="2413585"/>
            <a:ext cx="478605" cy="340116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375593" y="2151957"/>
            <a:ext cx="478605" cy="36627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059315" y="2570562"/>
            <a:ext cx="478605" cy="324419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1" name="Box 31"/>
          <p:cNvSpPr/>
          <p:nvPr/>
        </p:nvSpPr>
        <p:spPr>
          <a:xfrm>
            <a:off x="7743037" y="3093819"/>
            <a:ext cx="478605" cy="272093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2" name="Box 32"/>
          <p:cNvSpPr/>
          <p:nvPr/>
        </p:nvSpPr>
        <p:spPr>
          <a:xfrm>
            <a:off x="8426759" y="3460099"/>
            <a:ext cx="478605" cy="235465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3" name="Box 33"/>
          <p:cNvSpPr/>
          <p:nvPr/>
        </p:nvSpPr>
        <p:spPr>
          <a:xfrm>
            <a:off x="9110481" y="4244983"/>
            <a:ext cx="478605" cy="1569770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4" name="Box 34"/>
          <p:cNvSpPr/>
          <p:nvPr/>
        </p:nvSpPr>
        <p:spPr>
          <a:xfrm>
            <a:off x="9794202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5" name="Shape 35"/>
          <p:cNvSpPr/>
          <p:nvPr/>
        </p:nvSpPr>
        <p:spPr>
          <a:xfrm>
            <a:off x="2512565" y="2151957"/>
            <a:ext cx="7520940" cy="3139539"/>
          </a:xfrm>
          <a:custGeom>
            <a:avLst/>
            <a:gdLst/>
            <a:ahLst/>
            <a:cxnLst/>
            <a:rect l="0" t="0" r="0" b="0"/>
            <a:pathLst>
              <a:path w="5867400" h="2449286" fill="none">
                <a:moveTo>
                  <a:pt x="0" y="2449286"/>
                </a:moveTo>
                <a:lnTo>
                  <a:pt x="533400" y="2041071"/>
                </a:lnTo>
                <a:lnTo>
                  <a:pt x="1066800" y="1428750"/>
                </a:lnTo>
                <a:lnTo>
                  <a:pt x="1600200" y="1143000"/>
                </a:lnTo>
                <a:lnTo>
                  <a:pt x="2133600" y="612321"/>
                </a:lnTo>
                <a:lnTo>
                  <a:pt x="2667000" y="204107"/>
                </a:lnTo>
                <a:lnTo>
                  <a:pt x="3200400" y="0"/>
                </a:lnTo>
                <a:lnTo>
                  <a:pt x="3733800" y="326571"/>
                </a:lnTo>
                <a:lnTo>
                  <a:pt x="4267200" y="734786"/>
                </a:lnTo>
                <a:lnTo>
                  <a:pt x="4800600" y="1020536"/>
                </a:lnTo>
                <a:lnTo>
                  <a:pt x="5334000" y="1632857"/>
                </a:lnTo>
                <a:lnTo>
                  <a:pt x="5867400" y="2041071"/>
                </a:lnTo>
              </a:path>
            </a:pathLst>
          </a:custGeom>
          <a:noFill/>
          <a:ln w="36628">
            <a:solidFill>
              <a:srgbClr val="ED7D31"/>
            </a:solidFill>
          </a:ln>
        </p:spPr>
      </p:sp>
      <p:sp>
        <p:nvSpPr>
          <p:cNvPr id="46" name="Box 36"/>
          <p:cNvSpPr/>
          <p:nvPr/>
        </p:nvSpPr>
        <p:spPr>
          <a:xfrm>
            <a:off x="2475937" y="525486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7" name="Box 37"/>
          <p:cNvSpPr/>
          <p:nvPr/>
        </p:nvSpPr>
        <p:spPr>
          <a:xfrm>
            <a:off x="3159659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8" name="Box 38"/>
          <p:cNvSpPr/>
          <p:nvPr/>
        </p:nvSpPr>
        <p:spPr>
          <a:xfrm>
            <a:off x="3843381" y="394672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Box 39"/>
          <p:cNvSpPr/>
          <p:nvPr/>
        </p:nvSpPr>
        <p:spPr>
          <a:xfrm>
            <a:off x="4527103" y="3580448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0" name="Box 40"/>
          <p:cNvSpPr/>
          <p:nvPr/>
        </p:nvSpPr>
        <p:spPr>
          <a:xfrm>
            <a:off x="5210824" y="290021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94546" y="237695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2" name="Box 42"/>
          <p:cNvSpPr/>
          <p:nvPr/>
        </p:nvSpPr>
        <p:spPr>
          <a:xfrm>
            <a:off x="6578268" y="211532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3" name="Box 43"/>
          <p:cNvSpPr/>
          <p:nvPr/>
        </p:nvSpPr>
        <p:spPr>
          <a:xfrm>
            <a:off x="7261990" y="253393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4" name="Box 44"/>
          <p:cNvSpPr/>
          <p:nvPr/>
        </p:nvSpPr>
        <p:spPr>
          <a:xfrm>
            <a:off x="7945712" y="305719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5" name="Box 45"/>
          <p:cNvSpPr/>
          <p:nvPr/>
        </p:nvSpPr>
        <p:spPr>
          <a:xfrm>
            <a:off x="8629434" y="342347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6" name="Box 46"/>
          <p:cNvSpPr/>
          <p:nvPr/>
        </p:nvSpPr>
        <p:spPr>
          <a:xfrm>
            <a:off x="9313155" y="4208355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9996877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8" name="Shape 48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36628">
            <a:solidFill>
              <a:srgbClr val="595959"/>
            </a:solidFill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zenuml</a:t>
            </a:r>
          </a:p>
        </p:txBody>
      </p:sp>
      <p:sp>
        <p:nvSpPr>
          <p:cNvPr id="53" name="Participant _starter"/>
          <p:cNvSpPr/>
          <p:nvPr/>
        </p:nvSpPr>
        <p:spPr>
          <a:xfrm>
            <a:off x="3544758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5" name="Participant _starter"/>
          <p:cNvSpPr/>
          <p:nvPr/>
        </p:nvSpPr>
        <p:spPr>
          <a:xfrm>
            <a:off x="3544758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8" name="Participant Client"/>
          <p:cNvSpPr/>
          <p:nvPr/>
        </p:nvSpPr>
        <p:spPr>
          <a:xfrm>
            <a:off x="4488414" y="1298316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0" name="Participant Client"/>
          <p:cNvSpPr/>
          <p:nvPr/>
        </p:nvSpPr>
        <p:spPr>
          <a:xfrm>
            <a:off x="4488414" y="6036818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3" name="Participant DB"/>
          <p:cNvSpPr/>
          <p:nvPr/>
        </p:nvSpPr>
        <p:spPr>
          <a:xfrm>
            <a:off x="5432070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5" name="Participant DB"/>
          <p:cNvSpPr/>
          <p:nvPr/>
        </p:nvSpPr>
        <p:spPr>
          <a:xfrm>
            <a:off x="5432070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8" name="Participant Booking"/>
          <p:cNvSpPr/>
          <p:nvPr/>
        </p:nvSpPr>
        <p:spPr>
          <a:xfrm>
            <a:off x="6268217" y="1298316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0" name="Participant Booking"/>
          <p:cNvSpPr/>
          <p:nvPr/>
        </p:nvSpPr>
        <p:spPr>
          <a:xfrm>
            <a:off x="6268217" y="6036818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3" name="Participant Mailer"/>
          <p:cNvSpPr/>
          <p:nvPr/>
        </p:nvSpPr>
        <p:spPr>
          <a:xfrm>
            <a:off x="7319383" y="3071042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5" name="Participant Mailer"/>
          <p:cNvSpPr/>
          <p:nvPr/>
        </p:nvSpPr>
        <p:spPr>
          <a:xfrm>
            <a:off x="7319383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7" name="Block alt"/>
          <p:cNvSpPr/>
          <p:nvPr/>
        </p:nvSpPr>
        <p:spPr>
          <a:xfrm>
            <a:off x="4549078" y="2397002"/>
            <a:ext cx="3316278" cy="1354821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28" name="Box 18"/>
          <p:cNvSpPr/>
          <p:nvPr/>
        </p:nvSpPr>
        <p:spPr>
          <a:xfrm>
            <a:off x="4549078" y="2397002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29" name="Box 19"/>
          <p:cNvSpPr/>
          <p:nvPr/>
        </p:nvSpPr>
        <p:spPr>
          <a:xfrm>
            <a:off x="4818694" y="2397002"/>
            <a:ext cx="3006219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[available]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4549078" y="3367619"/>
            <a:ext cx="3316277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31" name="Box 21"/>
          <p:cNvSpPr/>
          <p:nvPr/>
        </p:nvSpPr>
        <p:spPr>
          <a:xfrm>
            <a:off x="4589520" y="3381100"/>
            <a:ext cx="3235393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[else]</a:t>
            </a:r>
          </a:p>
        </p:txBody>
      </p:sp>
      <p:sp>
        <p:nvSpPr>
          <p:cNvPr id="34" name="Block loop"/>
          <p:cNvSpPr/>
          <p:nvPr/>
        </p:nvSpPr>
        <p:spPr>
          <a:xfrm>
            <a:off x="5492734" y="3846188"/>
            <a:ext cx="1428965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5" name="Box 25"/>
          <p:cNvSpPr/>
          <p:nvPr/>
        </p:nvSpPr>
        <p:spPr>
          <a:xfrm>
            <a:off x="5492734" y="3846188"/>
            <a:ext cx="269616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36" name="Box 26"/>
          <p:cNvSpPr/>
          <p:nvPr/>
        </p:nvSpPr>
        <p:spPr>
          <a:xfrm>
            <a:off x="5802793" y="3846188"/>
            <a:ext cx="1078464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[retry]</a:t>
            </a:r>
          </a:p>
        </p:txBody>
      </p:sp>
      <p:sp>
        <p:nvSpPr>
          <p:cNvPr id="44" name="Block break"/>
          <p:cNvSpPr/>
          <p:nvPr/>
        </p:nvSpPr>
        <p:spPr>
          <a:xfrm>
            <a:off x="4549078" y="4587632"/>
            <a:ext cx="2372621" cy="8088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5" name="Box 35"/>
          <p:cNvSpPr/>
          <p:nvPr/>
        </p:nvSpPr>
        <p:spPr>
          <a:xfrm>
            <a:off x="4549078" y="4587632"/>
            <a:ext cx="310058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break</a:t>
            </a:r>
          </a:p>
        </p:txBody>
      </p:sp>
      <p:sp>
        <p:nvSpPr>
          <p:cNvPr id="46" name="Box 36"/>
          <p:cNvSpPr/>
          <p:nvPr/>
        </p:nvSpPr>
        <p:spPr>
          <a:xfrm>
            <a:off x="4899579" y="4587632"/>
            <a:ext cx="1981678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[try]</a:t>
            </a:r>
          </a:p>
        </p:txBody>
      </p:sp>
      <p:cxnSp>
        <p:nvCxnSpPr>
          <p:cNvPr id="47" name="Connector 37"/>
          <p:cNvCxnSpPr/>
          <p:nvPr/>
        </p:nvCxnSpPr>
        <p:spPr>
          <a:xfrm>
            <a:off x="4549078" y="5012277"/>
            <a:ext cx="2372621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48" name="Box 38"/>
          <p:cNvSpPr/>
          <p:nvPr/>
        </p:nvSpPr>
        <p:spPr>
          <a:xfrm>
            <a:off x="4589520" y="5025758"/>
            <a:ext cx="2291737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[catch]</a:t>
            </a:r>
          </a:p>
        </p:txBody>
      </p:sp>
      <p:sp>
        <p:nvSpPr>
          <p:cNvPr id="51" name="Block opt"/>
          <p:cNvSpPr/>
          <p:nvPr/>
        </p:nvSpPr>
        <p:spPr>
          <a:xfrm>
            <a:off x="3605422" y="5490846"/>
            <a:ext cx="3316278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2" name="Box 42"/>
          <p:cNvSpPr/>
          <p:nvPr/>
        </p:nvSpPr>
        <p:spPr>
          <a:xfrm>
            <a:off x="3605422" y="5490846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opt</a:t>
            </a:r>
          </a:p>
        </p:txBody>
      </p:sp>
      <p:cxnSp>
        <p:nvCxnSpPr>
          <p:cNvPr id="57" name="Connector 47"/>
          <p:cNvCxnSpPr/>
          <p:nvPr/>
        </p:nvCxnSpPr>
        <p:spPr>
          <a:xfrm>
            <a:off x="3848076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2" name="Connector 52"/>
          <p:cNvCxnSpPr/>
          <p:nvPr/>
        </p:nvCxnSpPr>
        <p:spPr>
          <a:xfrm>
            <a:off x="4791732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7" name="Connector 57"/>
          <p:cNvCxnSpPr/>
          <p:nvPr/>
        </p:nvCxnSpPr>
        <p:spPr>
          <a:xfrm>
            <a:off x="5735389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2" name="Connector 62"/>
          <p:cNvCxnSpPr/>
          <p:nvPr/>
        </p:nvCxnSpPr>
        <p:spPr>
          <a:xfrm>
            <a:off x="6679045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7" name="Connector 67"/>
          <p:cNvCxnSpPr/>
          <p:nvPr/>
        </p:nvCxnSpPr>
        <p:spPr>
          <a:xfrm>
            <a:off x="7622701" y="3300215"/>
            <a:ext cx="1" cy="2736603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sp>
        <p:nvSpPr>
          <p:cNvPr id="18" name="Activation"/>
          <p:cNvSpPr/>
          <p:nvPr/>
        </p:nvSpPr>
        <p:spPr>
          <a:xfrm>
            <a:off x="5701687" y="2066722"/>
            <a:ext cx="67404" cy="276356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9" name="Activation"/>
          <p:cNvSpPr/>
          <p:nvPr/>
        </p:nvSpPr>
        <p:spPr>
          <a:xfrm>
            <a:off x="6645343" y="1830808"/>
            <a:ext cx="67404" cy="2702901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11" name="Box 1"/>
          <p:cNvSpPr/>
          <p:nvPr/>
        </p:nvSpPr>
        <p:spPr>
          <a:xfrm>
            <a:off x="3409950" y="1069142"/>
            <a:ext cx="4650877" cy="1213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Booking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791732" y="1830808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4818694" y="1689259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book(id)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5769091" y="2066722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5" name="Box 5"/>
          <p:cNvSpPr/>
          <p:nvPr/>
        </p:nvSpPr>
        <p:spPr>
          <a:xfrm>
            <a:off x="5796052" y="1925173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find(id)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769091" y="2302636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5796052" y="2161087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row</a:t>
            </a:r>
          </a:p>
        </p:txBody>
      </p:sp>
      <p:cxnSp>
        <p:nvCxnSpPr>
          <p:cNvPr id="19" name="Connector 9"/>
          <p:cNvCxnSpPr/>
          <p:nvPr/>
        </p:nvCxnSpPr>
        <p:spPr>
          <a:xfrm flipH="1">
            <a:off x="5735389" y="2713800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0" name="Box 10"/>
          <p:cNvSpPr/>
          <p:nvPr/>
        </p:nvSpPr>
        <p:spPr>
          <a:xfrm>
            <a:off x="5762350" y="2572252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save(id)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5735389" y="2949714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2" name="Box 12"/>
          <p:cNvSpPr/>
          <p:nvPr/>
        </p:nvSpPr>
        <p:spPr>
          <a:xfrm>
            <a:off x="5762350" y="2808166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order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6712747" y="3185628"/>
            <a:ext cx="606636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4" name="Box 14"/>
          <p:cNvSpPr/>
          <p:nvPr/>
        </p:nvSpPr>
        <p:spPr>
          <a:xfrm>
            <a:off x="6685111" y="3044080"/>
            <a:ext cx="66190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new Mailer(id)</a:t>
            </a:r>
          </a:p>
        </p:txBody>
      </p:sp>
      <p:cxnSp>
        <p:nvCxnSpPr>
          <p:cNvPr id="25" name="Connector 15"/>
          <p:cNvCxnSpPr/>
          <p:nvPr/>
        </p:nvCxnSpPr>
        <p:spPr>
          <a:xfrm flipH="1">
            <a:off x="4791732" y="3657457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6" name="Box 16"/>
          <p:cNvSpPr/>
          <p:nvPr/>
        </p:nvSpPr>
        <p:spPr>
          <a:xfrm>
            <a:off x="4818694" y="351590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sold_out</a:t>
            </a:r>
          </a:p>
        </p:txBody>
      </p:sp>
      <p:cxnSp>
        <p:nvCxnSpPr>
          <p:cNvPr id="32" name="Connector 22"/>
          <p:cNvCxnSpPr/>
          <p:nvPr/>
        </p:nvCxnSpPr>
        <p:spPr>
          <a:xfrm flipH="1">
            <a:off x="5735389" y="4162987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3" name="Box 23"/>
          <p:cNvSpPr/>
          <p:nvPr/>
        </p:nvSpPr>
        <p:spPr>
          <a:xfrm>
            <a:off x="5762350" y="4021438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</a:t>
            </a:r>
          </a:p>
        </p:txBody>
      </p:sp>
      <p:cxnSp>
        <p:nvCxnSpPr>
          <p:cNvPr id="37" name="Connector 27"/>
          <p:cNvCxnSpPr/>
          <p:nvPr/>
        </p:nvCxnSpPr>
        <p:spPr>
          <a:xfrm flipH="1">
            <a:off x="4791732" y="4493266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38" name="Box 28"/>
          <p:cNvSpPr/>
          <p:nvPr/>
        </p:nvSpPr>
        <p:spPr>
          <a:xfrm>
            <a:off x="4818694" y="435171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791732" y="4904431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1" name="Box 31"/>
          <p:cNvSpPr/>
          <p:nvPr/>
        </p:nvSpPr>
        <p:spPr>
          <a:xfrm>
            <a:off x="4818694" y="4762882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4791732" y="5302115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3" name="Box 33"/>
          <p:cNvSpPr/>
          <p:nvPr/>
        </p:nvSpPr>
        <p:spPr>
          <a:xfrm>
            <a:off x="4818694" y="5160566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cancel</a:t>
            </a:r>
          </a:p>
        </p:txBody>
      </p:sp>
      <p:cxnSp>
        <p:nvCxnSpPr>
          <p:cNvPr id="49" name="Connector 39"/>
          <p:cNvCxnSpPr/>
          <p:nvPr/>
        </p:nvCxnSpPr>
        <p:spPr>
          <a:xfrm>
            <a:off x="3848076" y="5807645"/>
            <a:ext cx="2830969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0" name="Box 40"/>
          <p:cNvSpPr/>
          <p:nvPr/>
        </p:nvSpPr>
        <p:spPr>
          <a:xfrm>
            <a:off x="3875038" y="5666096"/>
            <a:ext cx="2777045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audit()</a:t>
            </a:r>
          </a:p>
        </p:txBody>
      </p:sp>
      <p:sp>
        <p:nvSpPr>
          <p:cNvPr id="54" name="Box 44"/>
          <p:cNvSpPr/>
          <p:nvPr/>
        </p:nvSpPr>
        <p:spPr>
          <a:xfrm>
            <a:off x="3544758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6" name="Box 46"/>
          <p:cNvSpPr/>
          <p:nvPr/>
        </p:nvSpPr>
        <p:spPr>
          <a:xfrm>
            <a:off x="3544758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9" name="Box 49"/>
          <p:cNvSpPr/>
          <p:nvPr/>
        </p:nvSpPr>
        <p:spPr>
          <a:xfrm>
            <a:off x="4488414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1" name="Box 51"/>
          <p:cNvSpPr/>
          <p:nvPr/>
        </p:nvSpPr>
        <p:spPr>
          <a:xfrm>
            <a:off x="4488414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4" name="Box 54"/>
          <p:cNvSpPr/>
          <p:nvPr/>
        </p:nvSpPr>
        <p:spPr>
          <a:xfrm>
            <a:off x="5432070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6" name="Box 56"/>
          <p:cNvSpPr/>
          <p:nvPr/>
        </p:nvSpPr>
        <p:spPr>
          <a:xfrm>
            <a:off x="5432070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9" name="Box 59"/>
          <p:cNvSpPr/>
          <p:nvPr/>
        </p:nvSpPr>
        <p:spPr>
          <a:xfrm>
            <a:off x="6268217" y="1365720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1" name="Box 61"/>
          <p:cNvSpPr/>
          <p:nvPr/>
        </p:nvSpPr>
        <p:spPr>
          <a:xfrm>
            <a:off x="6268217" y="6104222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4" name="Box 64"/>
          <p:cNvSpPr/>
          <p:nvPr/>
        </p:nvSpPr>
        <p:spPr>
          <a:xfrm>
            <a:off x="7319383" y="3138446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  <p:sp>
        <p:nvSpPr>
          <p:cNvPr id="76" name="Box 66"/>
          <p:cNvSpPr/>
          <p:nvPr/>
        </p:nvSpPr>
        <p:spPr>
          <a:xfrm>
            <a:off x="7319383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62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all-types-mega-color.md</dc:title>
  <dc:creator>md2nativedocx</dc:creator>
  <cp:lastModifiedBy>md2nativedocx</cp:lastModifiedBy>
  <dcterms:created xsi:type="dcterms:W3CDTF">2026-10-05T12:06:47Z</dcterms:created>
  <dcterms:modified xsi:type="dcterms:W3CDTF">2026-10-05T12:06:47Z</dcterms:modified>
</cp:coreProperties>
</file>