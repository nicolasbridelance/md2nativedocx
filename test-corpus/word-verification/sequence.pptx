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sequence</a:t>
            </a:r>
          </a:p>
        </p:txBody>
      </p:sp>
      <p:sp>
        <p:nvSpPr>
          <p:cNvPr id="80" name="Participant U"/>
          <p:cNvSpPr/>
          <p:nvPr/>
        </p:nvSpPr>
        <p:spPr>
          <a:xfrm>
            <a:off x="1426820" y="1305256"/>
            <a:ext cx="622251" cy="235073"/>
          </a:xfrm>
          <a:prstGeom prst="rect">
            <a:avLst/>
          </a:prstGeom>
          <a:solidFill>
            <a:srgbClr val="DDEBF7"/>
          </a:solidFill>
          <a:ln w="9525">
            <a:solidFill>
              <a:srgbClr val="5B9BD5"/>
            </a:solidFill>
          </a:ln>
        </p:spPr>
      </p:sp>
      <p:sp>
        <p:nvSpPr>
          <p:cNvPr id="82" name="Participant U"/>
          <p:cNvSpPr/>
          <p:nvPr/>
        </p:nvSpPr>
        <p:spPr>
          <a:xfrm>
            <a:off x="1426820" y="6027449"/>
            <a:ext cx="622251" cy="235073"/>
          </a:xfrm>
          <a:prstGeom prst="rect">
            <a:avLst/>
          </a:prstGeom>
          <a:solidFill>
            <a:srgbClr val="DDEBF7"/>
          </a:solidFill>
          <a:ln w="9525">
            <a:solidFill>
              <a:srgbClr val="5B9BD5"/>
            </a:solidFill>
          </a:ln>
        </p:spPr>
      </p:sp>
      <p:sp>
        <p:nvSpPr>
          <p:cNvPr id="85" name="Participant W"/>
          <p:cNvSpPr/>
          <p:nvPr/>
        </p:nvSpPr>
        <p:spPr>
          <a:xfrm>
            <a:off x="2394766" y="1305256"/>
            <a:ext cx="622251" cy="23507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87" name="Participant W"/>
          <p:cNvSpPr/>
          <p:nvPr/>
        </p:nvSpPr>
        <p:spPr>
          <a:xfrm>
            <a:off x="2394766" y="6027449"/>
            <a:ext cx="622251" cy="23507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90" name="Participant API"/>
          <p:cNvSpPr/>
          <p:nvPr/>
        </p:nvSpPr>
        <p:spPr>
          <a:xfrm>
            <a:off x="3500990" y="1305256"/>
            <a:ext cx="622251" cy="23507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92" name="Participant API"/>
          <p:cNvSpPr/>
          <p:nvPr/>
        </p:nvSpPr>
        <p:spPr>
          <a:xfrm>
            <a:off x="3500990" y="6027449"/>
            <a:ext cx="622251" cy="23507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95" name="Participant DB"/>
          <p:cNvSpPr/>
          <p:nvPr/>
        </p:nvSpPr>
        <p:spPr>
          <a:xfrm>
            <a:off x="4468936" y="1305256"/>
            <a:ext cx="622251" cy="23507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97" name="Participant DB"/>
          <p:cNvSpPr/>
          <p:nvPr/>
        </p:nvSpPr>
        <p:spPr>
          <a:xfrm>
            <a:off x="4468936" y="6027449"/>
            <a:ext cx="622251" cy="23507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100" name="Participant M"/>
          <p:cNvSpPr/>
          <p:nvPr/>
        </p:nvSpPr>
        <p:spPr>
          <a:xfrm>
            <a:off x="5436882" y="5211609"/>
            <a:ext cx="622251" cy="23507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40" name="Block loop"/>
          <p:cNvSpPr/>
          <p:nvPr/>
        </p:nvSpPr>
        <p:spPr>
          <a:xfrm>
            <a:off x="2456991" y="3137439"/>
            <a:ext cx="1604025" cy="421748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41" name="Box 31"/>
          <p:cNvSpPr/>
          <p:nvPr/>
        </p:nvSpPr>
        <p:spPr>
          <a:xfrm>
            <a:off x="2456991" y="3137439"/>
            <a:ext cx="276556" cy="110622"/>
          </a:xfrm>
          <a:prstGeom prst="rect">
            <a:avLst/>
          </a:prstGeom>
          <a:solidFill>
            <a:srgbClr val="E6E6E6"/>
          </a:solidFill>
          <a:ln w="6914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loop</a:t>
            </a:r>
          </a:p>
        </p:txBody>
      </p:sp>
      <p:sp>
        <p:nvSpPr>
          <p:cNvPr id="42" name="Box 32"/>
          <p:cNvSpPr/>
          <p:nvPr/>
        </p:nvSpPr>
        <p:spPr>
          <a:xfrm>
            <a:off x="2775030" y="3137439"/>
            <a:ext cx="1244502" cy="110622"/>
          </a:xfrm>
          <a:prstGeom prst="rect">
            <a:avLst/>
          </a:prstGeom>
          <a:noFill/>
          <a:ln>
            <a:noFill/>
          </a:ln>
        </p:spPr>
        <p:txBody>
          <a:bodyPr wrap="none" lIns="13828" tIns="0" rIns="1382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333333"/>
                </a:solidFill>
              </a:rPr>
              <a:t>[Every minute]</a:t>
            </a:r>
          </a:p>
        </p:txBody>
      </p:sp>
      <p:sp>
        <p:nvSpPr>
          <p:cNvPr id="58" name="Block alt"/>
          <p:cNvSpPr/>
          <p:nvPr/>
        </p:nvSpPr>
        <p:spPr>
          <a:xfrm>
            <a:off x="2456991" y="3655982"/>
            <a:ext cx="1604025" cy="1209932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59" name="Box 49"/>
          <p:cNvSpPr/>
          <p:nvPr/>
        </p:nvSpPr>
        <p:spPr>
          <a:xfrm>
            <a:off x="2456991" y="3655982"/>
            <a:ext cx="235073" cy="110622"/>
          </a:xfrm>
          <a:prstGeom prst="rect">
            <a:avLst/>
          </a:prstGeom>
          <a:solidFill>
            <a:srgbClr val="E6E6E6"/>
          </a:solidFill>
          <a:ln w="6914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alt</a:t>
            </a:r>
          </a:p>
        </p:txBody>
      </p:sp>
      <p:sp>
        <p:nvSpPr>
          <p:cNvPr id="60" name="Box 50"/>
          <p:cNvSpPr/>
          <p:nvPr/>
        </p:nvSpPr>
        <p:spPr>
          <a:xfrm>
            <a:off x="2733547" y="3655982"/>
            <a:ext cx="1285985" cy="110622"/>
          </a:xfrm>
          <a:prstGeom prst="rect">
            <a:avLst/>
          </a:prstGeom>
          <a:noFill/>
          <a:ln>
            <a:noFill/>
          </a:ln>
        </p:spPr>
        <p:txBody>
          <a:bodyPr wrap="none" lIns="13828" tIns="0" rIns="1382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333333"/>
                </a:solidFill>
              </a:rPr>
              <a:t>[paid]</a:t>
            </a:r>
          </a:p>
        </p:txBody>
      </p:sp>
      <p:cxnSp>
        <p:nvCxnSpPr>
          <p:cNvPr id="61" name="Connector 51"/>
          <p:cNvCxnSpPr/>
          <p:nvPr/>
        </p:nvCxnSpPr>
        <p:spPr>
          <a:xfrm>
            <a:off x="2456991" y="4091558"/>
            <a:ext cx="1604025" cy="1"/>
          </a:xfrm>
          <a:prstGeom prst="line">
            <a:avLst/>
          </a:prstGeom>
          <a:ln w="6914">
            <a:solidFill>
              <a:srgbClr val="7F7F7F"/>
            </a:solidFill>
            <a:prstDash val="dash"/>
          </a:ln>
        </p:spPr>
      </p:cxnSp>
      <p:sp>
        <p:nvSpPr>
          <p:cNvPr id="62" name="Box 52"/>
          <p:cNvSpPr/>
          <p:nvPr/>
        </p:nvSpPr>
        <p:spPr>
          <a:xfrm>
            <a:off x="2498474" y="4105385"/>
            <a:ext cx="1521058" cy="96795"/>
          </a:xfrm>
          <a:prstGeom prst="rect">
            <a:avLst/>
          </a:prstGeom>
          <a:noFill/>
          <a:ln>
            <a:noFill/>
          </a:ln>
        </p:spPr>
        <p:txBody>
          <a:bodyPr wrap="none" lIns="13828" tIns="0" rIns="1382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333333"/>
                </a:solidFill>
              </a:rPr>
              <a:t>[failed]</a:t>
            </a:r>
          </a:p>
        </p:txBody>
      </p:sp>
      <p:cxnSp>
        <p:nvCxnSpPr>
          <p:cNvPr id="84" name="Connector 74"/>
          <p:cNvCxnSpPr/>
          <p:nvPr/>
        </p:nvCxnSpPr>
        <p:spPr>
          <a:xfrm>
            <a:off x="1737945" y="1540329"/>
            <a:ext cx="1" cy="4487120"/>
          </a:xfrm>
          <a:prstGeom prst="line">
            <a:avLst/>
          </a:prstGeom>
          <a:ln w="6914">
            <a:solidFill>
              <a:srgbClr val="999999"/>
            </a:solidFill>
            <a:prstDash val="dash"/>
          </a:ln>
        </p:spPr>
      </p:cxnSp>
      <p:cxnSp>
        <p:nvCxnSpPr>
          <p:cNvPr id="89" name="Connector 79"/>
          <p:cNvCxnSpPr/>
          <p:nvPr/>
        </p:nvCxnSpPr>
        <p:spPr>
          <a:xfrm>
            <a:off x="2705891" y="1540329"/>
            <a:ext cx="1" cy="4487120"/>
          </a:xfrm>
          <a:prstGeom prst="line">
            <a:avLst/>
          </a:prstGeom>
          <a:ln w="6914">
            <a:solidFill>
              <a:srgbClr val="999999"/>
            </a:solidFill>
            <a:prstDash val="dash"/>
          </a:ln>
        </p:spPr>
      </p:cxnSp>
      <p:cxnSp>
        <p:nvCxnSpPr>
          <p:cNvPr id="94" name="Connector 84"/>
          <p:cNvCxnSpPr/>
          <p:nvPr/>
        </p:nvCxnSpPr>
        <p:spPr>
          <a:xfrm>
            <a:off x="3812115" y="1540329"/>
            <a:ext cx="1" cy="4487120"/>
          </a:xfrm>
          <a:prstGeom prst="line">
            <a:avLst/>
          </a:prstGeom>
          <a:ln w="6914">
            <a:solidFill>
              <a:srgbClr val="999999"/>
            </a:solidFill>
            <a:prstDash val="dash"/>
          </a:ln>
        </p:spPr>
      </p:cxnSp>
      <p:cxnSp>
        <p:nvCxnSpPr>
          <p:cNvPr id="99" name="Connector 89"/>
          <p:cNvCxnSpPr/>
          <p:nvPr/>
        </p:nvCxnSpPr>
        <p:spPr>
          <a:xfrm>
            <a:off x="4780061" y="1540329"/>
            <a:ext cx="1" cy="4487120"/>
          </a:xfrm>
          <a:prstGeom prst="line">
            <a:avLst/>
          </a:prstGeom>
          <a:ln w="6914">
            <a:solidFill>
              <a:srgbClr val="999999"/>
            </a:solidFill>
            <a:prstDash val="dash"/>
          </a:ln>
        </p:spPr>
      </p:cxnSp>
      <p:cxnSp>
        <p:nvCxnSpPr>
          <p:cNvPr id="102" name="Connector 92"/>
          <p:cNvCxnSpPr/>
          <p:nvPr/>
        </p:nvCxnSpPr>
        <p:spPr>
          <a:xfrm>
            <a:off x="5748007" y="5446682"/>
            <a:ext cx="1" cy="200503"/>
          </a:xfrm>
          <a:prstGeom prst="line">
            <a:avLst/>
          </a:prstGeom>
          <a:ln w="6914">
            <a:solidFill>
              <a:srgbClr val="999999"/>
            </a:solidFill>
            <a:prstDash val="dash"/>
          </a:ln>
        </p:spPr>
      </p:cxnSp>
      <p:sp>
        <p:nvSpPr>
          <p:cNvPr id="47" name="Activation"/>
          <p:cNvSpPr/>
          <p:nvPr/>
        </p:nvSpPr>
        <p:spPr>
          <a:xfrm>
            <a:off x="3777546" y="2190235"/>
            <a:ext cx="69139" cy="1790700"/>
          </a:xfrm>
          <a:prstGeom prst="rect">
            <a:avLst/>
          </a:prstGeom>
          <a:solidFill>
            <a:srgbClr val="F2F2F2"/>
          </a:solidFill>
          <a:ln w="9525">
            <a:solidFill>
              <a:srgbClr val="333333"/>
            </a:solidFill>
          </a:ln>
        </p:spPr>
      </p:sp>
      <p:sp>
        <p:nvSpPr>
          <p:cNvPr id="79" name="Activation"/>
          <p:cNvSpPr/>
          <p:nvPr/>
        </p:nvSpPr>
        <p:spPr>
          <a:xfrm>
            <a:off x="2671322" y="1851454"/>
            <a:ext cx="69139" cy="4037717"/>
          </a:xfrm>
          <a:prstGeom prst="rect">
            <a:avLst/>
          </a:prstGeom>
          <a:solidFill>
            <a:srgbClr val="F2F2F2"/>
          </a:solidFill>
          <a:ln w="9525">
            <a:solidFill>
              <a:srgbClr val="333333"/>
            </a:solidFill>
          </a:ln>
        </p:spPr>
      </p:sp>
      <p:sp>
        <p:nvSpPr>
          <p:cNvPr id="34" name="Note"/>
          <p:cNvSpPr/>
          <p:nvPr/>
        </p:nvSpPr>
        <p:spPr>
          <a:xfrm>
            <a:off x="3742976" y="2916195"/>
            <a:ext cx="1106224" cy="152106"/>
          </a:xfrm>
          <a:prstGeom prst="rect">
            <a:avLst/>
          </a:prstGeom>
          <a:solidFill>
            <a:srgbClr val="FFF2A8"/>
          </a:solidFill>
          <a:ln w="9525">
            <a:solidFill>
              <a:srgbClr val="BFA900"/>
            </a:solidFill>
          </a:ln>
        </p:spPr>
      </p:sp>
      <p:sp>
        <p:nvSpPr>
          <p:cNvPr id="35" name="Box 25"/>
          <p:cNvSpPr/>
          <p:nvPr/>
        </p:nvSpPr>
        <p:spPr>
          <a:xfrm>
            <a:off x="3784460" y="2950764"/>
            <a:ext cx="1023257" cy="82967"/>
          </a:xfrm>
          <a:prstGeom prst="rect">
            <a:avLst/>
          </a:prstGeom>
          <a:noFill/>
          <a:ln>
            <a:noFill/>
          </a:ln>
        </p:spPr>
        <p:txBody>
          <a:bodyPr wrap="none" lIns="13828" tIns="0" rIns="1382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333333"/>
                </a:solidFill>
              </a:rPr>
              <a:t>Retried 3 times</a:t>
            </a:r>
          </a:p>
        </p:txBody>
      </p:sp>
      <p:sp>
        <p:nvSpPr>
          <p:cNvPr id="63" name="Note"/>
          <p:cNvSpPr/>
          <p:nvPr/>
        </p:nvSpPr>
        <p:spPr>
          <a:xfrm>
            <a:off x="2775030" y="4962709"/>
            <a:ext cx="898807" cy="152106"/>
          </a:xfrm>
          <a:prstGeom prst="rect">
            <a:avLst/>
          </a:prstGeom>
          <a:solidFill>
            <a:srgbClr val="FFF2A8"/>
          </a:solidFill>
          <a:ln w="9525">
            <a:solidFill>
              <a:srgbClr val="BFA900"/>
            </a:solidFill>
          </a:ln>
        </p:spPr>
      </p:sp>
      <p:sp>
        <p:nvSpPr>
          <p:cNvPr id="64" name="Box 54"/>
          <p:cNvSpPr/>
          <p:nvPr/>
        </p:nvSpPr>
        <p:spPr>
          <a:xfrm>
            <a:off x="2816514" y="4997278"/>
            <a:ext cx="815840" cy="82967"/>
          </a:xfrm>
          <a:prstGeom prst="rect">
            <a:avLst/>
          </a:prstGeom>
          <a:noFill/>
          <a:ln>
            <a:noFill/>
          </a:ln>
        </p:spPr>
        <p:txBody>
          <a:bodyPr wrap="none" lIns="13828" tIns="0" rIns="1382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333333"/>
                </a:solidFill>
              </a:rPr>
              <a:t>done</a:t>
            </a:r>
          </a:p>
        </p:txBody>
      </p:sp>
      <p:sp>
        <p:nvSpPr>
          <p:cNvPr id="11" name="Box 1"/>
          <p:cNvSpPr/>
          <p:nvPr/>
        </p:nvSpPr>
        <p:spPr>
          <a:xfrm>
            <a:off x="1288542" y="1070183"/>
            <a:ext cx="4908869" cy="1244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50" dirty="0">
                <a:solidFill>
                  <a:srgbClr val="333333"/>
                </a:solidFill>
              </a:rPr>
              <a:t>Checkout</a:t>
            </a:r>
          </a:p>
        </p:txBody>
      </p:sp>
      <p:cxnSp>
        <p:nvCxnSpPr>
          <p:cNvPr id="12" name="Connector 2"/>
          <p:cNvCxnSpPr/>
          <p:nvPr/>
        </p:nvCxnSpPr>
        <p:spPr>
          <a:xfrm>
            <a:off x="1737945" y="1851454"/>
            <a:ext cx="933377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3" name="Box 3"/>
          <p:cNvSpPr/>
          <p:nvPr/>
        </p:nvSpPr>
        <p:spPr>
          <a:xfrm>
            <a:off x="1765601" y="1706262"/>
            <a:ext cx="878065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Place order</a:t>
            </a:r>
          </a:p>
        </p:txBody>
      </p:sp>
      <p:sp>
        <p:nvSpPr>
          <p:cNvPr id="14" name="Shape 4"/>
          <p:cNvSpPr/>
          <p:nvPr/>
        </p:nvSpPr>
        <p:spPr>
          <a:xfrm>
            <a:off x="1758687" y="1803057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15" name="Box 5"/>
          <p:cNvSpPr/>
          <p:nvPr/>
        </p:nvSpPr>
        <p:spPr>
          <a:xfrm>
            <a:off x="1758687" y="1803057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1</a:t>
            </a:r>
          </a:p>
        </p:txBody>
      </p:sp>
      <p:cxnSp>
        <p:nvCxnSpPr>
          <p:cNvPr id="16" name="Connector 6"/>
          <p:cNvCxnSpPr/>
          <p:nvPr/>
        </p:nvCxnSpPr>
        <p:spPr>
          <a:xfrm>
            <a:off x="2740461" y="2093441"/>
            <a:ext cx="1071654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7" name="Box 7"/>
          <p:cNvSpPr/>
          <p:nvPr/>
        </p:nvSpPr>
        <p:spPr>
          <a:xfrm>
            <a:off x="2768117" y="1948249"/>
            <a:ext cx="1016343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POST /orders</a:t>
            </a:r>
          </a:p>
        </p:txBody>
      </p:sp>
      <p:sp>
        <p:nvSpPr>
          <p:cNvPr id="18" name="Shape 8"/>
          <p:cNvSpPr/>
          <p:nvPr/>
        </p:nvSpPr>
        <p:spPr>
          <a:xfrm>
            <a:off x="2761203" y="2045043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19" name="Box 9"/>
          <p:cNvSpPr/>
          <p:nvPr/>
        </p:nvSpPr>
        <p:spPr>
          <a:xfrm>
            <a:off x="2761203" y="2045043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2</a:t>
            </a:r>
          </a:p>
        </p:txBody>
      </p:sp>
      <p:cxnSp>
        <p:nvCxnSpPr>
          <p:cNvPr id="20" name="Connector 10"/>
          <p:cNvCxnSpPr/>
          <p:nvPr/>
        </p:nvCxnSpPr>
        <p:spPr>
          <a:xfrm>
            <a:off x="3846685" y="2335427"/>
            <a:ext cx="933376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21" name="Box 11"/>
          <p:cNvSpPr/>
          <p:nvPr/>
        </p:nvSpPr>
        <p:spPr>
          <a:xfrm>
            <a:off x="3874340" y="2190235"/>
            <a:ext cx="878065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INSERT order</a:t>
            </a:r>
          </a:p>
        </p:txBody>
      </p:sp>
      <p:sp>
        <p:nvSpPr>
          <p:cNvPr id="22" name="Shape 12"/>
          <p:cNvSpPr/>
          <p:nvPr/>
        </p:nvSpPr>
        <p:spPr>
          <a:xfrm>
            <a:off x="3867427" y="2287030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23" name="Box 13"/>
          <p:cNvSpPr/>
          <p:nvPr/>
        </p:nvSpPr>
        <p:spPr>
          <a:xfrm>
            <a:off x="3867427" y="2287030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3</a:t>
            </a:r>
          </a:p>
        </p:txBody>
      </p:sp>
      <p:cxnSp>
        <p:nvCxnSpPr>
          <p:cNvPr id="24" name="Connector 14"/>
          <p:cNvCxnSpPr/>
          <p:nvPr/>
        </p:nvCxnSpPr>
        <p:spPr>
          <a:xfrm flipH="1">
            <a:off x="3846685" y="2577414"/>
            <a:ext cx="933376" cy="1"/>
          </a:xfrm>
          <a:prstGeom prst="line">
            <a:avLst/>
          </a:prstGeom>
          <a:ln w="6914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25" name="Box 15"/>
          <p:cNvSpPr/>
          <p:nvPr/>
        </p:nvSpPr>
        <p:spPr>
          <a:xfrm>
            <a:off x="3874340" y="2432222"/>
            <a:ext cx="878065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ok</a:t>
            </a:r>
          </a:p>
        </p:txBody>
      </p:sp>
      <p:sp>
        <p:nvSpPr>
          <p:cNvPr id="26" name="Shape 16"/>
          <p:cNvSpPr/>
          <p:nvPr/>
        </p:nvSpPr>
        <p:spPr>
          <a:xfrm>
            <a:off x="4662525" y="2529016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27" name="Box 17"/>
          <p:cNvSpPr/>
          <p:nvPr/>
        </p:nvSpPr>
        <p:spPr>
          <a:xfrm>
            <a:off x="4662525" y="2529016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4</a:t>
            </a:r>
          </a:p>
        </p:txBody>
      </p:sp>
      <p:cxnSp>
        <p:nvCxnSpPr>
          <p:cNvPr id="28" name="Connector 18"/>
          <p:cNvCxnSpPr/>
          <p:nvPr/>
        </p:nvCxnSpPr>
        <p:spPr>
          <a:xfrm flipH="1">
            <a:off x="2740461" y="2819400"/>
            <a:ext cx="1037085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</a:ln>
        </p:spPr>
      </p:cxnSp>
      <p:cxnSp>
        <p:nvCxnSpPr>
          <p:cNvPr id="29" name="Connector 19"/>
          <p:cNvCxnSpPr/>
          <p:nvPr/>
        </p:nvCxnSpPr>
        <p:spPr>
          <a:xfrm>
            <a:off x="2747375" y="2791744"/>
            <a:ext cx="55311" cy="55312"/>
          </a:xfrm>
          <a:prstGeom prst="line">
            <a:avLst/>
          </a:prstGeom>
          <a:ln w="6914">
            <a:solidFill>
              <a:srgbClr val="333333"/>
            </a:solidFill>
            <a:prstDash val="solid"/>
          </a:ln>
        </p:spPr>
      </p:cxnSp>
      <p:cxnSp>
        <p:nvCxnSpPr>
          <p:cNvPr id="30" name="Connector 20"/>
          <p:cNvCxnSpPr/>
          <p:nvPr/>
        </p:nvCxnSpPr>
        <p:spPr>
          <a:xfrm flipV="1">
            <a:off x="2747375" y="2791744"/>
            <a:ext cx="55311" cy="55312"/>
          </a:xfrm>
          <a:prstGeom prst="line">
            <a:avLst/>
          </a:prstGeom>
          <a:ln w="6914">
            <a:solidFill>
              <a:srgbClr val="333333"/>
            </a:solidFill>
            <a:prstDash val="solid"/>
          </a:ln>
        </p:spPr>
      </p:cxnSp>
      <p:sp>
        <p:nvSpPr>
          <p:cNvPr id="31" name="Box 21"/>
          <p:cNvSpPr/>
          <p:nvPr/>
        </p:nvSpPr>
        <p:spPr>
          <a:xfrm>
            <a:off x="2768117" y="2674208"/>
            <a:ext cx="981774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Payment declined</a:t>
            </a:r>
          </a:p>
        </p:txBody>
      </p:sp>
      <p:sp>
        <p:nvSpPr>
          <p:cNvPr id="32" name="Shape 22"/>
          <p:cNvSpPr/>
          <p:nvPr/>
        </p:nvSpPr>
        <p:spPr>
          <a:xfrm>
            <a:off x="3660010" y="2771003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33" name="Box 23"/>
          <p:cNvSpPr/>
          <p:nvPr/>
        </p:nvSpPr>
        <p:spPr>
          <a:xfrm>
            <a:off x="3660010" y="2771003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5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2740461" y="3462393"/>
            <a:ext cx="1037085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  <a:tailEnd type="triangle" w="sm" len="sm"/>
          </a:ln>
        </p:spPr>
      </p:cxnSp>
      <p:sp>
        <p:nvSpPr>
          <p:cNvPr id="37" name="Box 27"/>
          <p:cNvSpPr/>
          <p:nvPr/>
        </p:nvSpPr>
        <p:spPr>
          <a:xfrm>
            <a:off x="2768117" y="3317201"/>
            <a:ext cx="981774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poll status</a:t>
            </a:r>
          </a:p>
        </p:txBody>
      </p:sp>
      <p:sp>
        <p:nvSpPr>
          <p:cNvPr id="38" name="Shape 28"/>
          <p:cNvSpPr/>
          <p:nvPr/>
        </p:nvSpPr>
        <p:spPr>
          <a:xfrm>
            <a:off x="2761203" y="3413995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39" name="Box 29"/>
          <p:cNvSpPr/>
          <p:nvPr/>
        </p:nvSpPr>
        <p:spPr>
          <a:xfrm>
            <a:off x="2761203" y="3413995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6</a:t>
            </a:r>
          </a:p>
        </p:txBody>
      </p:sp>
      <p:cxnSp>
        <p:nvCxnSpPr>
          <p:cNvPr id="43" name="Connector 33"/>
          <p:cNvCxnSpPr/>
          <p:nvPr/>
        </p:nvCxnSpPr>
        <p:spPr>
          <a:xfrm flipH="1">
            <a:off x="2740461" y="3980935"/>
            <a:ext cx="1037085" cy="1"/>
          </a:xfrm>
          <a:prstGeom prst="line">
            <a:avLst/>
          </a:prstGeom>
          <a:ln w="6914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44" name="Box 34"/>
          <p:cNvSpPr/>
          <p:nvPr/>
        </p:nvSpPr>
        <p:spPr>
          <a:xfrm>
            <a:off x="2768117" y="3835743"/>
            <a:ext cx="981774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200 OK</a:t>
            </a:r>
          </a:p>
        </p:txBody>
      </p:sp>
      <p:sp>
        <p:nvSpPr>
          <p:cNvPr id="45" name="Shape 35"/>
          <p:cNvSpPr/>
          <p:nvPr/>
        </p:nvSpPr>
        <p:spPr>
          <a:xfrm>
            <a:off x="3660010" y="3932538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46" name="Box 36"/>
          <p:cNvSpPr/>
          <p:nvPr/>
        </p:nvSpPr>
        <p:spPr>
          <a:xfrm>
            <a:off x="3660010" y="3932538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7</a:t>
            </a:r>
          </a:p>
        </p:txBody>
      </p:sp>
      <p:cxnSp>
        <p:nvCxnSpPr>
          <p:cNvPr id="48" name="Connector 38"/>
          <p:cNvCxnSpPr/>
          <p:nvPr/>
        </p:nvCxnSpPr>
        <p:spPr>
          <a:xfrm flipH="1">
            <a:off x="2740461" y="4388855"/>
            <a:ext cx="1071654" cy="1"/>
          </a:xfrm>
          <a:prstGeom prst="line">
            <a:avLst/>
          </a:prstGeom>
          <a:ln w="6914">
            <a:solidFill>
              <a:srgbClr val="595959"/>
            </a:solidFill>
            <a:prstDash val="dash"/>
            <a:tailEnd type="triangle" w="sm" len="sm"/>
          </a:ln>
        </p:spPr>
      </p:cxnSp>
      <p:sp>
        <p:nvSpPr>
          <p:cNvPr id="49" name="Box 39"/>
          <p:cNvSpPr/>
          <p:nvPr/>
        </p:nvSpPr>
        <p:spPr>
          <a:xfrm>
            <a:off x="2768117" y="4243663"/>
            <a:ext cx="1016343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402</a:t>
            </a:r>
          </a:p>
        </p:txBody>
      </p:sp>
      <p:sp>
        <p:nvSpPr>
          <p:cNvPr id="50" name="Shape 40"/>
          <p:cNvSpPr/>
          <p:nvPr/>
        </p:nvSpPr>
        <p:spPr>
          <a:xfrm>
            <a:off x="3694579" y="4340458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51" name="Box 41"/>
          <p:cNvSpPr/>
          <p:nvPr/>
        </p:nvSpPr>
        <p:spPr>
          <a:xfrm>
            <a:off x="3694579" y="4340458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8</a:t>
            </a:r>
          </a:p>
        </p:txBody>
      </p:sp>
      <p:cxnSp>
        <p:nvCxnSpPr>
          <p:cNvPr id="52" name="Connector 42"/>
          <p:cNvCxnSpPr/>
          <p:nvPr/>
        </p:nvCxnSpPr>
        <p:spPr>
          <a:xfrm>
            <a:off x="3812115" y="4630842"/>
            <a:ext cx="207417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</a:ln>
        </p:spPr>
      </p:cxnSp>
      <p:cxnSp>
        <p:nvCxnSpPr>
          <p:cNvPr id="53" name="Connector 43"/>
          <p:cNvCxnSpPr/>
          <p:nvPr/>
        </p:nvCxnSpPr>
        <p:spPr>
          <a:xfrm>
            <a:off x="4019532" y="4630842"/>
            <a:ext cx="1" cy="138278"/>
          </a:xfrm>
          <a:prstGeom prst="line">
            <a:avLst/>
          </a:prstGeom>
          <a:ln w="6914">
            <a:solidFill>
              <a:srgbClr val="595959"/>
            </a:solidFill>
            <a:prstDash val="solid"/>
          </a:ln>
        </p:spPr>
      </p:cxnSp>
      <p:cxnSp>
        <p:nvCxnSpPr>
          <p:cNvPr id="54" name="Connector 44"/>
          <p:cNvCxnSpPr/>
          <p:nvPr/>
        </p:nvCxnSpPr>
        <p:spPr>
          <a:xfrm flipH="1">
            <a:off x="3812115" y="4769120"/>
            <a:ext cx="207417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55" name="Box 45"/>
          <p:cNvSpPr/>
          <p:nvPr/>
        </p:nvSpPr>
        <p:spPr>
          <a:xfrm>
            <a:off x="4061016" y="4485650"/>
            <a:ext cx="506789" cy="89881"/>
          </a:xfrm>
          <a:prstGeom prst="rect">
            <a:avLst/>
          </a:prstGeom>
          <a:noFill/>
          <a:ln>
            <a:noFill/>
          </a:ln>
        </p:spPr>
        <p:txBody>
          <a:bodyPr wrap="none" lIns="13828" tIns="0" rIns="1382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log failure</a:t>
            </a:r>
          </a:p>
        </p:txBody>
      </p:sp>
      <p:sp>
        <p:nvSpPr>
          <p:cNvPr id="56" name="Shape 46"/>
          <p:cNvSpPr/>
          <p:nvPr/>
        </p:nvSpPr>
        <p:spPr>
          <a:xfrm>
            <a:off x="3819029" y="4582444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57" name="Box 47"/>
          <p:cNvSpPr/>
          <p:nvPr/>
        </p:nvSpPr>
        <p:spPr>
          <a:xfrm>
            <a:off x="3819029" y="4582444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9</a:t>
            </a:r>
          </a:p>
        </p:txBody>
      </p:sp>
      <p:cxnSp>
        <p:nvCxnSpPr>
          <p:cNvPr id="65" name="Connector 55"/>
          <p:cNvCxnSpPr/>
          <p:nvPr/>
        </p:nvCxnSpPr>
        <p:spPr>
          <a:xfrm>
            <a:off x="2740461" y="5329146"/>
            <a:ext cx="2696421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66" name="Box 56"/>
          <p:cNvSpPr/>
          <p:nvPr/>
        </p:nvSpPr>
        <p:spPr>
          <a:xfrm>
            <a:off x="2768117" y="5183954"/>
            <a:ext cx="2641110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send receipt</a:t>
            </a:r>
          </a:p>
        </p:txBody>
      </p:sp>
      <p:sp>
        <p:nvSpPr>
          <p:cNvPr id="67" name="Shape 57"/>
          <p:cNvSpPr/>
          <p:nvPr/>
        </p:nvSpPr>
        <p:spPr>
          <a:xfrm>
            <a:off x="2761203" y="5280748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68" name="Box 58"/>
          <p:cNvSpPr/>
          <p:nvPr/>
        </p:nvSpPr>
        <p:spPr>
          <a:xfrm>
            <a:off x="2761203" y="5280748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10</a:t>
            </a:r>
          </a:p>
        </p:txBody>
      </p:sp>
      <p:cxnSp>
        <p:nvCxnSpPr>
          <p:cNvPr id="69" name="Connector 59"/>
          <p:cNvCxnSpPr/>
          <p:nvPr/>
        </p:nvCxnSpPr>
        <p:spPr>
          <a:xfrm flipH="1">
            <a:off x="2740461" y="5647185"/>
            <a:ext cx="3007546" cy="1"/>
          </a:xfrm>
          <a:prstGeom prst="line">
            <a:avLst/>
          </a:prstGeom>
          <a:ln w="6914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70" name="Box 60"/>
          <p:cNvSpPr/>
          <p:nvPr/>
        </p:nvSpPr>
        <p:spPr>
          <a:xfrm>
            <a:off x="2768117" y="5501993"/>
            <a:ext cx="2952235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sent</a:t>
            </a:r>
          </a:p>
        </p:txBody>
      </p:sp>
      <p:sp>
        <p:nvSpPr>
          <p:cNvPr id="71" name="Shape 61"/>
          <p:cNvSpPr/>
          <p:nvPr/>
        </p:nvSpPr>
        <p:spPr>
          <a:xfrm>
            <a:off x="5630471" y="5598788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72" name="Box 62"/>
          <p:cNvSpPr/>
          <p:nvPr/>
        </p:nvSpPr>
        <p:spPr>
          <a:xfrm>
            <a:off x="5630471" y="5598788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11</a:t>
            </a:r>
          </a:p>
        </p:txBody>
      </p:sp>
      <p:cxnSp>
        <p:nvCxnSpPr>
          <p:cNvPr id="73" name="Connector 63"/>
          <p:cNvCxnSpPr/>
          <p:nvPr/>
        </p:nvCxnSpPr>
        <p:spPr>
          <a:xfrm>
            <a:off x="5699610" y="5598788"/>
            <a:ext cx="96795" cy="96794"/>
          </a:xfrm>
          <a:prstGeom prst="line">
            <a:avLst/>
          </a:prstGeom>
          <a:ln w="6914">
            <a:solidFill>
              <a:srgbClr val="333333"/>
            </a:solidFill>
            <a:prstDash val="solid"/>
          </a:ln>
        </p:spPr>
      </p:cxnSp>
      <p:cxnSp>
        <p:nvCxnSpPr>
          <p:cNvPr id="74" name="Connector 64"/>
          <p:cNvCxnSpPr/>
          <p:nvPr/>
        </p:nvCxnSpPr>
        <p:spPr>
          <a:xfrm flipV="1">
            <a:off x="5699610" y="5598788"/>
            <a:ext cx="96795" cy="96794"/>
          </a:xfrm>
          <a:prstGeom prst="line">
            <a:avLst/>
          </a:prstGeom>
          <a:ln w="6914">
            <a:solidFill>
              <a:srgbClr val="333333"/>
            </a:solidFill>
            <a:prstDash val="solid"/>
          </a:ln>
        </p:spPr>
      </p:cxnSp>
      <p:cxnSp>
        <p:nvCxnSpPr>
          <p:cNvPr id="75" name="Connector 65"/>
          <p:cNvCxnSpPr/>
          <p:nvPr/>
        </p:nvCxnSpPr>
        <p:spPr>
          <a:xfrm flipH="1">
            <a:off x="1737945" y="5889171"/>
            <a:ext cx="933377" cy="1"/>
          </a:xfrm>
          <a:prstGeom prst="line">
            <a:avLst/>
          </a:prstGeom>
          <a:ln w="6914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76" name="Box 66"/>
          <p:cNvSpPr/>
          <p:nvPr/>
        </p:nvSpPr>
        <p:spPr>
          <a:xfrm>
            <a:off x="1765601" y="5743980"/>
            <a:ext cx="878065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Confirmation</a:t>
            </a:r>
          </a:p>
        </p:txBody>
      </p:sp>
      <p:sp>
        <p:nvSpPr>
          <p:cNvPr id="77" name="Shape 67"/>
          <p:cNvSpPr/>
          <p:nvPr/>
        </p:nvSpPr>
        <p:spPr>
          <a:xfrm>
            <a:off x="2553786" y="5840774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78" name="Box 68"/>
          <p:cNvSpPr/>
          <p:nvPr/>
        </p:nvSpPr>
        <p:spPr>
          <a:xfrm>
            <a:off x="2553786" y="5840774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81" name="Box 71"/>
          <p:cNvSpPr/>
          <p:nvPr/>
        </p:nvSpPr>
        <p:spPr>
          <a:xfrm>
            <a:off x="1426820" y="1374395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User</a:t>
            </a:r>
          </a:p>
        </p:txBody>
      </p:sp>
      <p:sp>
        <p:nvSpPr>
          <p:cNvPr id="83" name="Box 73"/>
          <p:cNvSpPr/>
          <p:nvPr/>
        </p:nvSpPr>
        <p:spPr>
          <a:xfrm>
            <a:off x="1426820" y="6096588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User</a:t>
            </a:r>
          </a:p>
        </p:txBody>
      </p:sp>
      <p:sp>
        <p:nvSpPr>
          <p:cNvPr id="86" name="Box 76"/>
          <p:cNvSpPr/>
          <p:nvPr/>
        </p:nvSpPr>
        <p:spPr>
          <a:xfrm>
            <a:off x="2394766" y="1374395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Web App</a:t>
            </a:r>
          </a:p>
        </p:txBody>
      </p:sp>
      <p:sp>
        <p:nvSpPr>
          <p:cNvPr id="88" name="Box 78"/>
          <p:cNvSpPr/>
          <p:nvPr/>
        </p:nvSpPr>
        <p:spPr>
          <a:xfrm>
            <a:off x="2394766" y="6096588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Web App</a:t>
            </a:r>
          </a:p>
        </p:txBody>
      </p:sp>
      <p:sp>
        <p:nvSpPr>
          <p:cNvPr id="91" name="Box 81"/>
          <p:cNvSpPr/>
          <p:nvPr/>
        </p:nvSpPr>
        <p:spPr>
          <a:xfrm>
            <a:off x="3500990" y="1374395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API</a:t>
            </a:r>
          </a:p>
        </p:txBody>
      </p:sp>
      <p:sp>
        <p:nvSpPr>
          <p:cNvPr id="93" name="Box 83"/>
          <p:cNvSpPr/>
          <p:nvPr/>
        </p:nvSpPr>
        <p:spPr>
          <a:xfrm>
            <a:off x="3500990" y="6096588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API</a:t>
            </a:r>
          </a:p>
        </p:txBody>
      </p:sp>
      <p:sp>
        <p:nvSpPr>
          <p:cNvPr id="96" name="Box 86"/>
          <p:cNvSpPr/>
          <p:nvPr/>
        </p:nvSpPr>
        <p:spPr>
          <a:xfrm>
            <a:off x="4468936" y="1374395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Database</a:t>
            </a:r>
          </a:p>
        </p:txBody>
      </p:sp>
      <p:sp>
        <p:nvSpPr>
          <p:cNvPr id="98" name="Box 88"/>
          <p:cNvSpPr/>
          <p:nvPr/>
        </p:nvSpPr>
        <p:spPr>
          <a:xfrm>
            <a:off x="4468936" y="6096588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Database</a:t>
            </a:r>
          </a:p>
        </p:txBody>
      </p:sp>
      <p:sp>
        <p:nvSpPr>
          <p:cNvPr id="101" name="Box 91"/>
          <p:cNvSpPr/>
          <p:nvPr/>
        </p:nvSpPr>
        <p:spPr>
          <a:xfrm>
            <a:off x="5436882" y="5280748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Mailer</a:t>
            </a:r>
          </a:p>
        </p:txBody>
      </p:sp>
      <p:sp>
        <p:nvSpPr>
          <p:cNvPr id="4" name="Mermaid source"/>
          <p:cNvSpPr/>
          <p:nvPr/>
        </p:nvSpPr>
        <p:spPr>
          <a:xfrm>
            <a:off x="7674864" y="1028700"/>
            <a:ext cx="4059936" cy="537210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n-US" sz="1100" dirty="0">
                <a:solidFill>
                  <a:srgbClr val="1F2937"/>
                </a:solidFill>
                <a:latin typeface="Consolas"/>
                <a:cs typeface="Consolas"/>
              </a:rPr>
              <a:t>sequenceDiagram</a:t>
            </a:r>
          </a:p>
          <a:p>
            <a:pPr algn="l"/>
            <a:r>
              <a:rPr lang="en-US" sz="1100" dirty="0">
                <a:solidFill>
                  <a:srgbClr val="1F2937"/>
                </a:solidFill>
                <a:latin typeface="Consolas"/>
                <a:cs typeface="Consolas"/>
              </a:rPr>
              <a:t>    title Checkout</a:t>
            </a:r>
          </a:p>
          <a:p>
            <a:pPr algn="l"/>
            <a:r>
              <a:rPr lang="en-US" sz="1100" dirty="0">
                <a:solidFill>
                  <a:srgbClr val="1F2937"/>
                </a:solidFill>
                <a:latin typeface="Consolas"/>
                <a:cs typeface="Consolas"/>
              </a:rPr>
              <a:t>    autonumber</a:t>
            </a:r>
          </a:p>
          <a:p>
            <a:pPr algn="l"/>
            <a:r>
              <a:rPr lang="en-US" sz="1100" dirty="0">
                <a:solidFill>
                  <a:srgbClr val="1F2937"/>
                </a:solidFill>
                <a:latin typeface="Consolas"/>
                <a:cs typeface="Consolas"/>
              </a:rPr>
              <a:t>    actor U as User</a:t>
            </a:r>
          </a:p>
          <a:p>
            <a:pPr algn="l"/>
            <a:r>
              <a:rPr lang="en-US" sz="1100" dirty="0">
                <a:solidFill>
                  <a:srgbClr val="1F2937"/>
                </a:solidFill>
                <a:latin typeface="Consolas"/>
                <a:cs typeface="Consolas"/>
              </a:rPr>
              <a:t>    participant W as Web App</a:t>
            </a:r>
          </a:p>
          <a:p>
            <a:pPr algn="l"/>
            <a:r>
              <a:rPr lang="en-US" sz="1100" dirty="0">
                <a:solidFill>
                  <a:srgbClr val="1F2937"/>
                </a:solidFill>
                <a:latin typeface="Consolas"/>
                <a:cs typeface="Consolas"/>
              </a:rPr>
              <a:t>    participant API</a:t>
            </a:r>
          </a:p>
          <a:p>
            <a:pPr algn="l"/>
            <a:r>
              <a:rPr lang="en-US" sz="1100" dirty="0">
                <a:solidFill>
                  <a:srgbClr val="1F2937"/>
                </a:solidFill>
                <a:latin typeface="Consolas"/>
                <a:cs typeface="Consolas"/>
              </a:rPr>
              <a:t>    participant DB as Database</a:t>
            </a:r>
          </a:p>
          <a:p>
            <a:pPr algn="l"/>
            <a:r>
              <a:rPr lang="en-US" sz="1100" dirty="0">
                <a:solidFill>
                  <a:srgbClr val="1F2937"/>
                </a:solidFill>
                <a:latin typeface="Consolas"/>
                <a:cs typeface="Consolas"/>
              </a:rPr>
              <a:t>    U-&gt;&gt;+W: Place order</a:t>
            </a:r>
          </a:p>
          <a:p>
            <a:pPr algn="l"/>
            <a:r>
              <a:rPr lang="en-US" sz="1100" dirty="0">
                <a:solidFill>
                  <a:srgbClr val="1F2937"/>
                </a:solidFill>
                <a:latin typeface="Consolas"/>
                <a:cs typeface="Consolas"/>
              </a:rPr>
              <a:t>    W-&gt;&gt;API: POST /orders</a:t>
            </a:r>
          </a:p>
          <a:p>
            <a:pPr algn="l"/>
            <a:r>
              <a:rPr lang="en-US" sz="1100" dirty="0">
                <a:solidFill>
                  <a:srgbClr val="1F2937"/>
                </a:solidFill>
                <a:latin typeface="Consolas"/>
                <a:cs typeface="Consolas"/>
              </a:rPr>
              <a:t>    activate API</a:t>
            </a:r>
          </a:p>
          <a:p>
            <a:pPr algn="l"/>
            <a:r>
              <a:rPr lang="en-US" sz="1100" dirty="0">
                <a:solidFill>
                  <a:srgbClr val="1F2937"/>
                </a:solidFill>
                <a:latin typeface="Consolas"/>
                <a:cs typeface="Consolas"/>
              </a:rPr>
              <a:t>    API-&gt;&gt;DB: INSERT order</a:t>
            </a:r>
          </a:p>
          <a:p>
            <a:pPr algn="l"/>
            <a:r>
              <a:rPr lang="en-US" sz="1100" dirty="0">
                <a:solidFill>
                  <a:srgbClr val="1F2937"/>
                </a:solidFill>
                <a:latin typeface="Consolas"/>
                <a:cs typeface="Consolas"/>
              </a:rPr>
              <a:t>    DB--&gt;&gt;API: ok</a:t>
            </a:r>
          </a:p>
          <a:p>
            <a:pPr algn="l"/>
            <a:r>
              <a:rPr lang="en-US" sz="1100" dirty="0">
                <a:solidFill>
                  <a:srgbClr val="1F2937"/>
                </a:solidFill>
                <a:latin typeface="Consolas"/>
                <a:cs typeface="Consolas"/>
              </a:rPr>
              <a:t>    API-xW: Payment declined</a:t>
            </a:r>
          </a:p>
          <a:p>
            <a:pPr algn="l"/>
            <a:r>
              <a:rPr lang="en-US" sz="1100" dirty="0">
                <a:solidFill>
                  <a:srgbClr val="1F2937"/>
                </a:solidFill>
                <a:latin typeface="Consolas"/>
                <a:cs typeface="Consolas"/>
              </a:rPr>
              <a:t>    Note over API,DB: Retried 3 times</a:t>
            </a:r>
          </a:p>
          <a:p>
            <a:pPr algn="l"/>
            <a:r>
              <a:rPr lang="en-US" sz="1100" dirty="0">
                <a:solidFill>
                  <a:srgbClr val="1F2937"/>
                </a:solidFill>
                <a:latin typeface="Consolas"/>
                <a:cs typeface="Consolas"/>
              </a:rPr>
              <a:t>    loop Every minute</a:t>
            </a:r>
          </a:p>
          <a:p>
            <a:pPr algn="l"/>
            <a:r>
              <a:rPr lang="en-US" sz="1100" dirty="0">
                <a:solidFill>
                  <a:srgbClr val="1F2937"/>
                </a:solidFill>
                <a:latin typeface="Consolas"/>
                <a:cs typeface="Consolas"/>
              </a:rPr>
              <a:t>        W-)API: poll status</a:t>
            </a:r>
          </a:p>
          <a:p>
            <a:pPr algn="l"/>
            <a:r>
              <a:rPr lang="en-US" sz="1100" dirty="0">
                <a:solidFill>
                  <a:srgbClr val="1F2937"/>
                </a:solidFill>
                <a:latin typeface="Consolas"/>
                <a:cs typeface="Consolas"/>
              </a:rPr>
              <a:t>    end</a:t>
            </a:r>
          </a:p>
          <a:p>
            <a:pPr algn="l"/>
            <a:r>
              <a:rPr lang="en-US" sz="1100" dirty="0">
                <a:solidFill>
                  <a:srgbClr val="1F2937"/>
                </a:solidFill>
                <a:latin typeface="Consolas"/>
                <a:cs typeface="Consolas"/>
              </a:rPr>
              <a:t>    alt paid</a:t>
            </a:r>
          </a:p>
          <a:p>
            <a:pPr algn="l"/>
            <a:r>
              <a:rPr lang="en-US" sz="1100" dirty="0">
                <a:solidFill>
                  <a:srgbClr val="1F2937"/>
                </a:solidFill>
                <a:latin typeface="Consolas"/>
                <a:cs typeface="Consolas"/>
              </a:rPr>
              <a:t>        API--&gt;&gt;-W: 200 OK</a:t>
            </a:r>
          </a:p>
          <a:p>
            <a:pPr algn="l"/>
            <a:r>
              <a:rPr lang="en-US" sz="1100" dirty="0">
                <a:solidFill>
                  <a:srgbClr val="1F2937"/>
                </a:solidFill>
                <a:latin typeface="Consolas"/>
                <a:cs typeface="Consolas"/>
              </a:rPr>
              <a:t>    else failed</a:t>
            </a:r>
          </a:p>
          <a:p>
            <a:pPr algn="l"/>
            <a:r>
              <a:rPr lang="en-US" sz="1100" dirty="0">
                <a:solidFill>
                  <a:srgbClr val="1F2937"/>
                </a:solidFill>
                <a:latin typeface="Consolas"/>
                <a:cs typeface="Consolas"/>
              </a:rPr>
              <a:t>        API--)W: 402</a:t>
            </a:r>
          </a:p>
          <a:p>
            <a:pPr algn="l"/>
            <a:r>
              <a:rPr lang="en-US" sz="1100" dirty="0">
                <a:solidFill>
                  <a:srgbClr val="1F2937"/>
                </a:solidFill>
                <a:latin typeface="Consolas"/>
                <a:cs typeface="Consolas"/>
              </a:rPr>
              <a:t>        API-&gt;&gt;API: log failure</a:t>
            </a:r>
          </a:p>
          <a:p>
            <a:pPr algn="l"/>
            <a:r>
              <a:rPr lang="en-US" sz="1100" dirty="0">
                <a:solidFill>
                  <a:srgbClr val="1F2937"/>
                </a:solidFill>
                <a:latin typeface="Consolas"/>
                <a:cs typeface="Consolas"/>
              </a:rPr>
              <a:t>    end</a:t>
            </a:r>
          </a:p>
          <a:p>
            <a:pPr algn="l"/>
            <a:r>
              <a:rPr lang="en-US" sz="1100" dirty="0">
                <a:solidFill>
                  <a:srgbClr val="1F2937"/>
                </a:solidFill>
                <a:latin typeface="Consolas"/>
                <a:cs typeface="Consolas"/>
              </a:rPr>
              <a:t>    Note right of W: done</a:t>
            </a:r>
          </a:p>
          <a:p>
            <a:pPr algn="l"/>
            <a:r>
              <a:rPr lang="en-US" sz="1100" dirty="0">
                <a:solidFill>
                  <a:srgbClr val="1F2937"/>
                </a:solidFill>
                <a:latin typeface="Consolas"/>
                <a:cs typeface="Consolas"/>
              </a:rPr>
              <a:t>    create participant M as Mailer</a:t>
            </a:r>
          </a:p>
          <a:p>
            <a:pPr algn="l"/>
            <a:r>
              <a:rPr lang="en-US" sz="1100" dirty="0">
                <a:solidFill>
                  <a:srgbClr val="1F2937"/>
                </a:solidFill>
                <a:latin typeface="Consolas"/>
                <a:cs typeface="Consolas"/>
              </a:rPr>
              <a:t>    W-&gt;&gt;M: send receipt</a:t>
            </a:r>
          </a:p>
          <a:p>
            <a:pPr algn="l"/>
            <a:r>
              <a:rPr lang="en-US" sz="1100" dirty="0">
                <a:solidFill>
                  <a:srgbClr val="1F2937"/>
                </a:solidFill>
                <a:latin typeface="Consolas"/>
                <a:cs typeface="Consolas"/>
              </a:rPr>
              <a:t>    destroy M</a:t>
            </a:r>
          </a:p>
          <a:p>
            <a:pPr algn="l"/>
            <a:r>
              <a:rPr lang="en-US" sz="1100" dirty="0">
                <a:solidFill>
                  <a:srgbClr val="1F2937"/>
                </a:solidFill>
                <a:latin typeface="Consolas"/>
                <a:cs typeface="Consolas"/>
              </a:rPr>
              <a:t>    M--&gt;&gt;W: sent</a:t>
            </a:r>
          </a:p>
          <a:p>
            <a:pPr algn="l"/>
            <a:r>
              <a:rPr lang="en-US" sz="1100" dirty="0">
                <a:solidFill>
                  <a:srgbClr val="1F2937"/>
                </a:solidFill>
                <a:latin typeface="Consolas"/>
                <a:cs typeface="Consolas"/>
              </a:rPr>
              <a:t>    W--&gt;&gt;-U: Confirmation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sequence.md</dc:title>
  <dc:creator>md2nativedocx</dc:creator>
  <cp:lastModifiedBy>md2nativedocx</cp:lastModifiedBy>
  <dcterms:created xsi:type="dcterms:W3CDTF">2026-10-05T12:12:55Z</dcterms:created>
  <dcterms:modified xsi:type="dcterms:W3CDTF">2026-10-05T12:12:55Z</dcterms:modified>
</cp:coreProperties>
</file>