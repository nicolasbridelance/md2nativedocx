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quadrant</a:t>
            </a:r>
          </a:p>
        </p:txBody>
      </p:sp>
      <p:sp>
        <p:nvSpPr>
          <p:cNvPr id="11" name="Text 1"/>
          <p:cNvSpPr txBox="1"/>
          <p:nvPr/>
        </p:nvSpPr>
        <p:spPr>
          <a:xfrm>
            <a:off x="1026489" y="1028700"/>
            <a:ext cx="5896207" cy="4117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400" dirty="0">
                <a:solidFill>
                  <a:srgbClr val="000000"/>
                </a:solidFill>
              </a:rPr>
              <a:t>Reach and engagement of campaigns</a:t>
            </a:r>
          </a:p>
        </p:txBody>
      </p:sp>
      <p:sp>
        <p:nvSpPr>
          <p:cNvPr id="12" name="Shape 2"/>
          <p:cNvSpPr/>
          <p:nvPr/>
        </p:nvSpPr>
        <p:spPr>
          <a:xfrm>
            <a:off x="4489341" y="1440499"/>
            <a:ext cx="2246174" cy="2246174"/>
          </a:xfrm>
          <a:prstGeom prst="rect">
            <a:avLst/>
          </a:prstGeom>
          <a:solidFill>
            <a:srgbClr val="D9E2F3"/>
          </a:solidFill>
          <a:ln w="9525">
            <a:solidFill>
              <a:srgbClr val="BFBFBF"/>
            </a:solidFill>
          </a:ln>
        </p:spPr>
      </p:sp>
      <p:sp>
        <p:nvSpPr>
          <p:cNvPr id="13" name="Text 3"/>
          <p:cNvSpPr txBox="1"/>
          <p:nvPr/>
        </p:nvSpPr>
        <p:spPr>
          <a:xfrm>
            <a:off x="4545495" y="1477935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We should expand</a:t>
            </a:r>
          </a:p>
        </p:txBody>
      </p:sp>
      <p:sp>
        <p:nvSpPr>
          <p:cNvPr id="14" name="Shape 4"/>
          <p:cNvSpPr/>
          <p:nvPr/>
        </p:nvSpPr>
        <p:spPr>
          <a:xfrm>
            <a:off x="2243167" y="1440499"/>
            <a:ext cx="2246174" cy="2246174"/>
          </a:xfrm>
          <a:prstGeom prst="rect">
            <a:avLst/>
          </a:prstGeom>
          <a:solidFill>
            <a:srgbClr val="FCE4D6"/>
          </a:solidFill>
          <a:ln w="9525">
            <a:solidFill>
              <a:srgbClr val="BFBFBF"/>
            </a:solidFill>
          </a:ln>
        </p:spPr>
      </p:sp>
      <p:sp>
        <p:nvSpPr>
          <p:cNvPr id="15" name="Text 5"/>
          <p:cNvSpPr txBox="1"/>
          <p:nvPr/>
        </p:nvSpPr>
        <p:spPr>
          <a:xfrm>
            <a:off x="2299321" y="1477935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Need to promote</a:t>
            </a:r>
          </a:p>
        </p:txBody>
      </p:sp>
      <p:sp>
        <p:nvSpPr>
          <p:cNvPr id="16" name="Shape 6"/>
          <p:cNvSpPr/>
          <p:nvPr/>
        </p:nvSpPr>
        <p:spPr>
          <a:xfrm>
            <a:off x="2243167" y="3686673"/>
            <a:ext cx="2246174" cy="2246174"/>
          </a:xfrm>
          <a:prstGeom prst="rect">
            <a:avLst/>
          </a:prstGeom>
          <a:solidFill>
            <a:srgbClr val="E2EFDA"/>
          </a:solidFill>
          <a:ln w="9525">
            <a:solidFill>
              <a:srgbClr val="BFBFBF"/>
            </a:solidFill>
          </a:ln>
        </p:spPr>
      </p:sp>
      <p:sp>
        <p:nvSpPr>
          <p:cNvPr id="17" name="Text 7"/>
          <p:cNvSpPr txBox="1"/>
          <p:nvPr/>
        </p:nvSpPr>
        <p:spPr>
          <a:xfrm>
            <a:off x="2299321" y="3724109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Re-evaluate</a:t>
            </a:r>
          </a:p>
        </p:txBody>
      </p:sp>
      <p:sp>
        <p:nvSpPr>
          <p:cNvPr id="18" name="Shape 8"/>
          <p:cNvSpPr/>
          <p:nvPr/>
        </p:nvSpPr>
        <p:spPr>
          <a:xfrm>
            <a:off x="4489341" y="3686673"/>
            <a:ext cx="2246174" cy="2246174"/>
          </a:xfrm>
          <a:prstGeom prst="rect">
            <a:avLst/>
          </a:prstGeom>
          <a:solidFill>
            <a:srgbClr val="FFF2CC"/>
          </a:solidFill>
          <a:ln w="9525">
            <a:solidFill>
              <a:srgbClr val="BFBFBF"/>
            </a:solidFill>
          </a:ln>
        </p:spPr>
      </p:sp>
      <p:sp>
        <p:nvSpPr>
          <p:cNvPr id="19" name="Text 9"/>
          <p:cNvSpPr txBox="1"/>
          <p:nvPr/>
        </p:nvSpPr>
        <p:spPr>
          <a:xfrm>
            <a:off x="4545495" y="3724109"/>
            <a:ext cx="2133866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i="1" sz="900" dirty="0">
                <a:solidFill>
                  <a:srgbClr val="595959"/>
                </a:solidFill>
              </a:rPr>
              <a:t>May be improved</a:t>
            </a:r>
          </a:p>
        </p:txBody>
      </p:sp>
      <p:sp>
        <p:nvSpPr>
          <p:cNvPr id="20" name="Text 10"/>
          <p:cNvSpPr txBox="1"/>
          <p:nvPr/>
        </p:nvSpPr>
        <p:spPr>
          <a:xfrm>
            <a:off x="2243167" y="5989001"/>
            <a:ext cx="2246174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Low Reach</a:t>
            </a:r>
          </a:p>
        </p:txBody>
      </p:sp>
      <p:sp>
        <p:nvSpPr>
          <p:cNvPr id="21" name="Text 11"/>
          <p:cNvSpPr txBox="1"/>
          <p:nvPr/>
        </p:nvSpPr>
        <p:spPr>
          <a:xfrm>
            <a:off x="4489341" y="5989001"/>
            <a:ext cx="2246174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High Reach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1026489" y="5745666"/>
            <a:ext cx="1160523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Low Engagement</a:t>
            </a:r>
          </a:p>
        </p:txBody>
      </p:sp>
      <p:sp>
        <p:nvSpPr>
          <p:cNvPr id="23" name="Text 13"/>
          <p:cNvSpPr txBox="1"/>
          <p:nvPr/>
        </p:nvSpPr>
        <p:spPr>
          <a:xfrm>
            <a:off x="1026489" y="1440499"/>
            <a:ext cx="1160523" cy="1871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595959"/>
                </a:solidFill>
              </a:rPr>
              <a:t>High Engagement</a:t>
            </a:r>
          </a:p>
        </p:txBody>
      </p:sp>
      <p:sp>
        <p:nvSpPr>
          <p:cNvPr id="24" name="Point 14"/>
          <p:cNvSpPr/>
          <p:nvPr/>
        </p:nvSpPr>
        <p:spPr>
          <a:xfrm>
            <a:off x="3544076" y="3190643"/>
            <a:ext cx="93591" cy="93591"/>
          </a:xfrm>
          <a:prstGeom prst="ellipse">
            <a:avLst/>
          </a:prstGeom>
          <a:solidFill>
            <a:srgbClr val="2F5496"/>
          </a:solidFill>
          <a:ln w="6350">
            <a:solidFill>
              <a:srgbClr val="000000"/>
            </a:solidFill>
          </a:ln>
        </p:spPr>
      </p:sp>
      <p:sp>
        <p:nvSpPr>
          <p:cNvPr id="25" name="Text 15"/>
          <p:cNvSpPr txBox="1"/>
          <p:nvPr/>
        </p:nvSpPr>
        <p:spPr>
          <a:xfrm>
            <a:off x="3665744" y="3153206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A</a:t>
            </a:r>
          </a:p>
        </p:txBody>
      </p:sp>
      <p:sp>
        <p:nvSpPr>
          <p:cNvPr id="26" name="Point 16"/>
          <p:cNvSpPr/>
          <p:nvPr/>
        </p:nvSpPr>
        <p:spPr>
          <a:xfrm>
            <a:off x="4217928" y="4852812"/>
            <a:ext cx="93591" cy="93591"/>
          </a:xfrm>
          <a:prstGeom prst="ellipse">
            <a:avLst/>
          </a:prstGeom>
          <a:solidFill>
            <a:srgbClr val="2F5496"/>
          </a:solidFill>
          <a:ln w="6350">
            <a:solidFill>
              <a:srgbClr val="000000"/>
            </a:solidFill>
          </a:ln>
        </p:spPr>
      </p:sp>
      <p:sp>
        <p:nvSpPr>
          <p:cNvPr id="27" name="Text 17"/>
          <p:cNvSpPr txBox="1"/>
          <p:nvPr/>
        </p:nvSpPr>
        <p:spPr>
          <a:xfrm>
            <a:off x="4339596" y="4815375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B</a:t>
            </a:r>
          </a:p>
        </p:txBody>
      </p:sp>
      <p:sp>
        <p:nvSpPr>
          <p:cNvPr id="28" name="Point 18"/>
          <p:cNvSpPr/>
          <p:nvPr/>
        </p:nvSpPr>
        <p:spPr>
          <a:xfrm>
            <a:off x="4757010" y="2786331"/>
            <a:ext cx="93591" cy="93591"/>
          </a:xfrm>
          <a:prstGeom prst="ellipse">
            <a:avLst/>
          </a:prstGeom>
          <a:solidFill>
            <a:srgbClr val="FF3300"/>
          </a:solidFill>
          <a:ln w="6350">
            <a:solidFill>
              <a:srgbClr val="000000"/>
            </a:solidFill>
          </a:ln>
        </p:spPr>
      </p:sp>
      <p:sp>
        <p:nvSpPr>
          <p:cNvPr id="29" name="Text 19"/>
          <p:cNvSpPr txBox="1"/>
          <p:nvPr/>
        </p:nvSpPr>
        <p:spPr>
          <a:xfrm>
            <a:off x="4878678" y="2748895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C</a:t>
            </a:r>
          </a:p>
        </p:txBody>
      </p:sp>
      <p:sp>
        <p:nvSpPr>
          <p:cNvPr id="30" name="Point 20"/>
          <p:cNvSpPr/>
          <p:nvPr/>
        </p:nvSpPr>
        <p:spPr>
          <a:xfrm>
            <a:off x="5700403" y="4358653"/>
            <a:ext cx="93591" cy="93591"/>
          </a:xfrm>
          <a:prstGeom prst="ellipse">
            <a:avLst/>
          </a:prstGeom>
          <a:solidFill>
            <a:srgbClr val="2F5496"/>
          </a:solidFill>
          <a:ln w="6350">
            <a:solidFill>
              <a:srgbClr val="000000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5822071" y="4321217"/>
            <a:ext cx="737494" cy="16846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800" dirty="0">
                <a:solidFill>
                  <a:srgbClr val="000000"/>
                </a:solidFill>
              </a:rPr>
              <a:t>Campaign D</a:t>
            </a:r>
          </a:p>
        </p:txBody>
      </p:sp>
      <p:sp>
        <p:nvSpPr>
          <p:cNvPr id="4" name="Mermaid source"/>
          <p:cNvSpPr/>
          <p:nvPr/>
        </p:nvSpPr>
        <p:spPr>
          <a:xfrm>
            <a:off x="7674864" y="1028700"/>
            <a:ext cx="4059936" cy="5372100"/>
          </a:xfrm>
          <a:prstGeom prst="rect">
            <a:avLst/>
          </a:prstGeom>
          <a:solidFill>
            <a:srgbClr val="F3F4F6"/>
          </a:solidFill>
          <a:ln w="9525">
            <a:solidFill>
              <a:srgbClr val="D1D5DB"/>
            </a:solidFill>
          </a:ln>
        </p:spPr>
        <p:txBody>
          <a:bodyPr wrap="square" lIns="91440" tIns="45720" rIns="91440" bIns="45720" anchor="t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quadrantChart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title Reach and engagement of campaigns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x-axis Low Reach --&gt; High Reach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y-axis Low Engagement --&gt; High Engagement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quadrant-1 We should expand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quadrant-2 Need to promote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quadrant-3 Re-evaluate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quadrant-4 May be improved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Campaign A: [0.3, 0.6]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Campaign B: [0.45, 0.23]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Campaign C: [0.57, 0.69] color: #ff3300</a:t>
            </a:r>
          </a:p>
          <a:p>
            <a:pPr algn="l"/>
            <a:r>
              <a:rPr lang="en-US" sz="1400" dirty="0">
                <a:solidFill>
                  <a:srgbClr val="1F2937"/>
                </a:solidFill>
                <a:latin typeface="Consolas"/>
                <a:cs typeface="Consolas"/>
              </a:rPr>
              <a:t>    Campaign D: [0.78, 0.34]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quadrant.md</dc:title>
  <dc:creator>md2nativedocx</dc:creator>
  <cp:lastModifiedBy>md2nativedocx</cp:lastModifiedBy>
  <dcterms:created xsi:type="dcterms:W3CDTF">2026-10-05T12:12:54Z</dcterms:created>
  <dcterms:modified xsi:type="dcterms:W3CDTF">2026-10-05T12:12:54Z</dcterms:modified>
</cp:coreProperties>
</file>