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c4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457200" y="1194339"/>
            <a:ext cx="7034784" cy="1854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Container diagram for Internet Banking System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2928512" y="2787326"/>
            <a:ext cx="1" cy="381881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2732116" y="2923712"/>
            <a:ext cx="392791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[HTTPS]</a:t>
            </a:r>
          </a:p>
        </p:txBody>
      </p:sp>
      <p:cxnSp>
        <p:nvCxnSpPr>
          <p:cNvPr id="14" name="Connector 4"/>
          <p:cNvCxnSpPr/>
          <p:nvPr/>
        </p:nvCxnSpPr>
        <p:spPr>
          <a:xfrm flipH="1">
            <a:off x="2038854" y="2787326"/>
            <a:ext cx="750966" cy="1211107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5" name="Text 5"/>
          <p:cNvSpPr txBox="1"/>
          <p:nvPr/>
        </p:nvSpPr>
        <p:spPr>
          <a:xfrm>
            <a:off x="2217942" y="3338325"/>
            <a:ext cx="392791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[HTTPS]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3216932" y="2787326"/>
            <a:ext cx="1561691" cy="1211107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7" name="Text 7"/>
          <p:cNvSpPr txBox="1"/>
          <p:nvPr/>
        </p:nvSpPr>
        <p:spPr>
          <a:xfrm>
            <a:off x="3910490" y="3338325"/>
            <a:ext cx="174574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</a:t>
            </a:r>
          </a:p>
        </p:txBody>
      </p:sp>
      <p:cxnSp>
        <p:nvCxnSpPr>
          <p:cNvPr id="18" name="Connector 8"/>
          <p:cNvCxnSpPr/>
          <p:nvPr/>
        </p:nvCxnSpPr>
        <p:spPr>
          <a:xfrm flipH="1">
            <a:off x="2177546" y="3616552"/>
            <a:ext cx="473582" cy="381881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9" name="Text 9"/>
          <p:cNvSpPr txBox="1"/>
          <p:nvPr/>
        </p:nvSpPr>
        <p:spPr>
          <a:xfrm>
            <a:off x="2274678" y="3752938"/>
            <a:ext cx="279318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Delivers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2754387" y="4445778"/>
            <a:ext cx="1458432" cy="381881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1" name="Text 11"/>
          <p:cNvSpPr txBox="1"/>
          <p:nvPr/>
        </p:nvSpPr>
        <p:spPr>
          <a:xfrm>
            <a:off x="3127908" y="4582164"/>
            <a:ext cx="711389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[async, JSON/HTTPS]</a:t>
            </a:r>
          </a:p>
        </p:txBody>
      </p:sp>
      <p:cxnSp>
        <p:nvCxnSpPr>
          <p:cNvPr id="22" name="Connector 12"/>
          <p:cNvCxnSpPr/>
          <p:nvPr/>
        </p:nvCxnSpPr>
        <p:spPr>
          <a:xfrm>
            <a:off x="5067043" y="4445778"/>
            <a:ext cx="1" cy="381881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3" name="Text 13"/>
          <p:cNvSpPr txBox="1"/>
          <p:nvPr/>
        </p:nvSpPr>
        <p:spPr>
          <a:xfrm>
            <a:off x="4711348" y="4582164"/>
            <a:ext cx="711389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[async, JSON/HTTPS]</a:t>
            </a:r>
          </a:p>
        </p:txBody>
      </p:sp>
      <p:cxnSp>
        <p:nvCxnSpPr>
          <p:cNvPr id="24" name="Connector 14"/>
          <p:cNvCxnSpPr/>
          <p:nvPr/>
        </p:nvCxnSpPr>
        <p:spPr>
          <a:xfrm flipH="1">
            <a:off x="3543200" y="5275005"/>
            <a:ext cx="960982" cy="381880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5" name="Text 15"/>
          <p:cNvSpPr txBox="1"/>
          <p:nvPr/>
        </p:nvSpPr>
        <p:spPr>
          <a:xfrm>
            <a:off x="3534884" y="5411390"/>
            <a:ext cx="977614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Reads from and writes to [sync, JDBC]</a:t>
            </a:r>
          </a:p>
        </p:txBody>
      </p:sp>
      <p:cxnSp>
        <p:nvCxnSpPr>
          <p:cNvPr id="26" name="Connector 16"/>
          <p:cNvCxnSpPr/>
          <p:nvPr/>
        </p:nvCxnSpPr>
        <p:spPr>
          <a:xfrm flipH="1">
            <a:off x="3594748" y="1953295"/>
            <a:ext cx="1151788" cy="386685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7" name="Text 17"/>
          <p:cNvSpPr txBox="1"/>
          <p:nvPr/>
        </p:nvSpPr>
        <p:spPr>
          <a:xfrm>
            <a:off x="3939332" y="2092083"/>
            <a:ext cx="462621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Sends e-mails to</a:t>
            </a:r>
          </a:p>
        </p:txBody>
      </p:sp>
      <p:cxnSp>
        <p:nvCxnSpPr>
          <p:cNvPr id="28" name="Connector 18"/>
          <p:cNvCxnSpPr/>
          <p:nvPr/>
        </p:nvCxnSpPr>
        <p:spPr>
          <a:xfrm flipV="1">
            <a:off x="5089392" y="1958100"/>
            <a:ext cx="286720" cy="2869559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9" name="Text 19"/>
          <p:cNvSpPr txBox="1"/>
          <p:nvPr/>
        </p:nvSpPr>
        <p:spPr>
          <a:xfrm>
            <a:off x="4796317" y="3338325"/>
            <a:ext cx="872870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Sends e-mails using [sync, SMTP]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5306167" y="5275005"/>
            <a:ext cx="408260" cy="381880"/>
          </a:xfrm>
          <a:prstGeom prst="line">
            <a:avLst/>
          </a:prstGeom>
          <a:ln w="5455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31" name="Text 21"/>
          <p:cNvSpPr txBox="1"/>
          <p:nvPr/>
        </p:nvSpPr>
        <p:spPr>
          <a:xfrm>
            <a:off x="5104412" y="5411390"/>
            <a:ext cx="811769" cy="109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000000"/>
                </a:solidFill>
              </a:rPr>
              <a:t>Uses [sync/async, XML/HTTPS]</a:t>
            </a:r>
          </a:p>
        </p:txBody>
      </p:sp>
      <p:sp>
        <p:nvSpPr>
          <p:cNvPr id="32" name="E-Mail System"/>
          <p:cNvSpPr/>
          <p:nvPr/>
        </p:nvSpPr>
        <p:spPr>
          <a:xfrm>
            <a:off x="4746536" y="1510754"/>
            <a:ext cx="1303849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33" name="E-Mail System title"/>
          <p:cNvSpPr/>
          <p:nvPr/>
        </p:nvSpPr>
        <p:spPr>
          <a:xfrm>
            <a:off x="4746536" y="1510754"/>
            <a:ext cx="1303849" cy="17457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4" name="Divider"/>
          <p:cNvSpPr/>
          <p:nvPr/>
        </p:nvSpPr>
        <p:spPr>
          <a:xfrm>
            <a:off x="4746536" y="1682600"/>
            <a:ext cx="1303849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5" name="Text 25"/>
          <p:cNvSpPr txBox="1"/>
          <p:nvPr/>
        </p:nvSpPr>
        <p:spPr>
          <a:xfrm>
            <a:off x="4746536" y="1510754"/>
            <a:ext cx="1303849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E-Mail System</a:t>
            </a:r>
          </a:p>
        </p:txBody>
      </p:sp>
      <p:sp>
        <p:nvSpPr>
          <p:cNvPr id="36" name="Text 26"/>
          <p:cNvSpPr txBox="1"/>
          <p:nvPr/>
        </p:nvSpPr>
        <p:spPr>
          <a:xfrm>
            <a:off x="4801090" y="1685328"/>
            <a:ext cx="1194741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[System, External]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The internal Microsoft Exchange system</a:t>
            </a:r>
          </a:p>
        </p:txBody>
      </p:sp>
      <p:sp>
        <p:nvSpPr>
          <p:cNvPr id="37" name="Customer"/>
          <p:cNvSpPr/>
          <p:nvPr/>
        </p:nvSpPr>
        <p:spPr>
          <a:xfrm>
            <a:off x="2102014" y="2339980"/>
            <a:ext cx="1652997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38" name="Customer title"/>
          <p:cNvSpPr/>
          <p:nvPr/>
        </p:nvSpPr>
        <p:spPr>
          <a:xfrm>
            <a:off x="2102014" y="2339980"/>
            <a:ext cx="1652997" cy="174574"/>
          </a:xfrm>
          <a:prstGeom prst="rect">
            <a:avLst/>
          </a:prstGeom>
          <a:solidFill>
            <a:srgbClr val="FFE699"/>
          </a:solidFill>
          <a:ln>
            <a:noFill/>
          </a:ln>
        </p:spPr>
      </p:sp>
      <p:sp>
        <p:nvSpPr>
          <p:cNvPr id="39" name="Divider"/>
          <p:cNvSpPr/>
          <p:nvPr/>
        </p:nvSpPr>
        <p:spPr>
          <a:xfrm>
            <a:off x="2102014" y="2511826"/>
            <a:ext cx="1652997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0" name="Text 30"/>
          <p:cNvSpPr txBox="1"/>
          <p:nvPr/>
        </p:nvSpPr>
        <p:spPr>
          <a:xfrm>
            <a:off x="2102014" y="2339980"/>
            <a:ext cx="1652997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2156568" y="2514554"/>
            <a:ext cx="1543889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[Person]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A customer of the bank, with personal bank accounts</a:t>
            </a:r>
          </a:p>
        </p:txBody>
      </p:sp>
      <p:sp>
        <p:nvSpPr>
          <p:cNvPr id="42" name="Single-Page App"/>
          <p:cNvSpPr/>
          <p:nvPr/>
        </p:nvSpPr>
        <p:spPr>
          <a:xfrm>
            <a:off x="588130" y="3998433"/>
            <a:ext cx="2624064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43" name="Single-Page App title"/>
          <p:cNvSpPr/>
          <p:nvPr/>
        </p:nvSpPr>
        <p:spPr>
          <a:xfrm>
            <a:off x="588130" y="3998433"/>
            <a:ext cx="2624064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44" name="Divider"/>
          <p:cNvSpPr/>
          <p:nvPr/>
        </p:nvSpPr>
        <p:spPr>
          <a:xfrm>
            <a:off x="588130" y="4170279"/>
            <a:ext cx="2624064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5" name="Text 35"/>
          <p:cNvSpPr txBox="1"/>
          <p:nvPr/>
        </p:nvSpPr>
        <p:spPr>
          <a:xfrm>
            <a:off x="588130" y="3998433"/>
            <a:ext cx="2624064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Single-Page App</a:t>
            </a:r>
          </a:p>
        </p:txBody>
      </p:sp>
      <p:sp>
        <p:nvSpPr>
          <p:cNvPr id="46" name="Text 36"/>
          <p:cNvSpPr txBox="1"/>
          <p:nvPr/>
        </p:nvSpPr>
        <p:spPr>
          <a:xfrm>
            <a:off x="642684" y="4173007"/>
            <a:ext cx="2514956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[Container: JavaScript, Angular]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Provides all the Internet banking functionality to customers via their web browser</a:t>
            </a:r>
          </a:p>
        </p:txBody>
      </p:sp>
      <p:sp>
        <p:nvSpPr>
          <p:cNvPr id="47" name="Mobile App"/>
          <p:cNvSpPr/>
          <p:nvPr/>
        </p:nvSpPr>
        <p:spPr>
          <a:xfrm>
            <a:off x="3484967" y="3998433"/>
            <a:ext cx="3164152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48" name="Mobile App title"/>
          <p:cNvSpPr/>
          <p:nvPr/>
        </p:nvSpPr>
        <p:spPr>
          <a:xfrm>
            <a:off x="3484967" y="3998433"/>
            <a:ext cx="3164152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49" name="Divider"/>
          <p:cNvSpPr/>
          <p:nvPr/>
        </p:nvSpPr>
        <p:spPr>
          <a:xfrm>
            <a:off x="3484967" y="4170279"/>
            <a:ext cx="3164152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50" name="Text 40"/>
          <p:cNvSpPr txBox="1"/>
          <p:nvPr/>
        </p:nvSpPr>
        <p:spPr>
          <a:xfrm>
            <a:off x="3484967" y="3998433"/>
            <a:ext cx="3164152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Mobile App</a:t>
            </a:r>
          </a:p>
        </p:txBody>
      </p:sp>
      <p:sp>
        <p:nvSpPr>
          <p:cNvPr id="51" name="Text 41"/>
          <p:cNvSpPr txBox="1"/>
          <p:nvPr/>
        </p:nvSpPr>
        <p:spPr>
          <a:xfrm>
            <a:off x="3539521" y="4173007"/>
            <a:ext cx="3055044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[Container, External: C#, Xamarin]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Provides a limited subset of the Internet banking functionality to customers via their mobile device</a:t>
            </a:r>
          </a:p>
        </p:txBody>
      </p:sp>
      <p:sp>
        <p:nvSpPr>
          <p:cNvPr id="52" name="Web Application"/>
          <p:cNvSpPr/>
          <p:nvPr/>
        </p:nvSpPr>
        <p:spPr>
          <a:xfrm>
            <a:off x="2009271" y="3169207"/>
            <a:ext cx="1838482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53" name="Web Application title"/>
          <p:cNvSpPr/>
          <p:nvPr/>
        </p:nvSpPr>
        <p:spPr>
          <a:xfrm>
            <a:off x="2009271" y="3169207"/>
            <a:ext cx="1838482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54" name="Divider"/>
          <p:cNvSpPr/>
          <p:nvPr/>
        </p:nvSpPr>
        <p:spPr>
          <a:xfrm>
            <a:off x="2009271" y="3341053"/>
            <a:ext cx="1838482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55" name="Text 45"/>
          <p:cNvSpPr txBox="1"/>
          <p:nvPr/>
        </p:nvSpPr>
        <p:spPr>
          <a:xfrm>
            <a:off x="2009271" y="3169207"/>
            <a:ext cx="1838482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Web Application</a:t>
            </a:r>
          </a:p>
        </p:txBody>
      </p:sp>
      <p:sp>
        <p:nvSpPr>
          <p:cNvPr id="56" name="Text 46"/>
          <p:cNvSpPr txBox="1"/>
          <p:nvPr/>
        </p:nvSpPr>
        <p:spPr>
          <a:xfrm>
            <a:off x="2063825" y="3343781"/>
            <a:ext cx="1729374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[Container: Java, Spring MVC]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Delivers the static content and the Internet banking SPA</a:t>
            </a:r>
          </a:p>
        </p:txBody>
      </p:sp>
      <p:sp>
        <p:nvSpPr>
          <p:cNvPr id="57" name="Database"/>
          <p:cNvSpPr/>
          <p:nvPr/>
        </p:nvSpPr>
        <p:spPr>
          <a:xfrm>
            <a:off x="1687401" y="5656885"/>
            <a:ext cx="2585876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58" name="Database title"/>
          <p:cNvSpPr/>
          <p:nvPr/>
        </p:nvSpPr>
        <p:spPr>
          <a:xfrm>
            <a:off x="1687401" y="5656885"/>
            <a:ext cx="2585876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59" name="Divider"/>
          <p:cNvSpPr/>
          <p:nvPr/>
        </p:nvSpPr>
        <p:spPr>
          <a:xfrm>
            <a:off x="1687401" y="5828731"/>
            <a:ext cx="2585876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60" name="Text 50"/>
          <p:cNvSpPr txBox="1"/>
          <p:nvPr/>
        </p:nvSpPr>
        <p:spPr>
          <a:xfrm>
            <a:off x="1687401" y="5656885"/>
            <a:ext cx="2585876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61" name="Text 51"/>
          <p:cNvSpPr txBox="1"/>
          <p:nvPr/>
        </p:nvSpPr>
        <p:spPr>
          <a:xfrm>
            <a:off x="1741955" y="5831459"/>
            <a:ext cx="2476768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[Container, Database: SQL Database]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Stores user registration information, hashed auth credentials, access logs, etc.</a:t>
            </a:r>
          </a:p>
        </p:txBody>
      </p:sp>
      <p:sp>
        <p:nvSpPr>
          <p:cNvPr id="62" name="API Application"/>
          <p:cNvSpPr/>
          <p:nvPr/>
        </p:nvSpPr>
        <p:spPr>
          <a:xfrm>
            <a:off x="4136891" y="4827659"/>
            <a:ext cx="1860303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63" name="API Application title"/>
          <p:cNvSpPr/>
          <p:nvPr/>
        </p:nvSpPr>
        <p:spPr>
          <a:xfrm>
            <a:off x="4136891" y="4827659"/>
            <a:ext cx="1860303" cy="174574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64" name="Divider"/>
          <p:cNvSpPr/>
          <p:nvPr/>
        </p:nvSpPr>
        <p:spPr>
          <a:xfrm>
            <a:off x="4136891" y="4999505"/>
            <a:ext cx="1860303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65" name="Text 55"/>
          <p:cNvSpPr txBox="1"/>
          <p:nvPr/>
        </p:nvSpPr>
        <p:spPr>
          <a:xfrm>
            <a:off x="4136891" y="4827659"/>
            <a:ext cx="1860303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API Application</a:t>
            </a:r>
          </a:p>
        </p:txBody>
      </p:sp>
      <p:sp>
        <p:nvSpPr>
          <p:cNvPr id="66" name="Text 56"/>
          <p:cNvSpPr txBox="1"/>
          <p:nvPr/>
        </p:nvSpPr>
        <p:spPr>
          <a:xfrm>
            <a:off x="4191445" y="5002233"/>
            <a:ext cx="1751195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[Container, External, Database: Java, Docker Container]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Provides Internet banking functionality via API</a:t>
            </a:r>
          </a:p>
        </p:txBody>
      </p:sp>
      <p:sp>
        <p:nvSpPr>
          <p:cNvPr id="67" name="Mainframe Banking System"/>
          <p:cNvSpPr/>
          <p:nvPr/>
        </p:nvSpPr>
        <p:spPr>
          <a:xfrm>
            <a:off x="4546049" y="5656885"/>
            <a:ext cx="2815005" cy="447346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68" name="Mainframe Banking System title"/>
          <p:cNvSpPr/>
          <p:nvPr/>
        </p:nvSpPr>
        <p:spPr>
          <a:xfrm>
            <a:off x="4546049" y="5656885"/>
            <a:ext cx="2815005" cy="174574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69" name="Divider"/>
          <p:cNvSpPr/>
          <p:nvPr/>
        </p:nvSpPr>
        <p:spPr>
          <a:xfrm>
            <a:off x="4546049" y="5828731"/>
            <a:ext cx="2815005" cy="5455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70" name="Text 60"/>
          <p:cNvSpPr txBox="1"/>
          <p:nvPr/>
        </p:nvSpPr>
        <p:spPr>
          <a:xfrm>
            <a:off x="4546049" y="5656885"/>
            <a:ext cx="2815005" cy="1745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Mainframe Banking System</a:t>
            </a:r>
          </a:p>
        </p:txBody>
      </p:sp>
      <p:sp>
        <p:nvSpPr>
          <p:cNvPr id="71" name="Text 61"/>
          <p:cNvSpPr txBox="1"/>
          <p:nvPr/>
        </p:nvSpPr>
        <p:spPr>
          <a:xfrm>
            <a:off x="4600603" y="5831459"/>
            <a:ext cx="2705897" cy="2727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[System, External]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Stores all of the core banking information about customers, accounts, transactions, etc.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C4Container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title Container diagram for Internet Banking System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System_Ext(email_system, "E-Mail System", "The internal Microsoft Exchange system")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Person(customer, "Customer", "A customer of the bank, with personal bank accounts")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Container_Boundary(c1, "Internet Banking") {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Container(spa, "Single-Page App", "JavaScript, Angular", "Provides all the Internet banking functionality to customers via their web browser")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Container_Ext(mobile_app, "Mobile App", "C#, Xamarin", "Provides a limited subset of the Internet banking functionality to customers via their mobile device")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Container(web_app, "Web Application", "Java, Spring MVC", "Delivers the static content and the Internet banking SPA")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ContainerDb(database, "Database", "SQL Database", "Stores user registration information, hashed auth credentials, access logs, etc.")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    ContainerDb_Ext(backend_api, "API Application", "Java, Docker Container", "Provides Internet banking functionality via API")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}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System_Ext(banking_system, "Mainframe Banking System", "Stores all of the core banking information about customers, accounts, transactions, etc.")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Rel(customer, web_app, "Uses", "HTTPS")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Rel(customer, spa, "Uses", "HTTPS")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Rel(customer, mobile_app, "Uses")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Rel(web_app, spa, "Delivers")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Rel(spa, backend_api, "Uses", "async, JSON/HTTPS")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Rel(mobile_app, backend_api, "Uses", "async, JSON/HTTPS")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Rel_Back(database, backend_api, "Reads from and writes to", "sync, JDBC")</a:t>
            </a:r>
          </a:p>
          <a:p>
            <a:endParaRPr lang="en-US" sz="750" dirty="0"/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Rel(email_system, customer, "Sends e-mails to")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Rel(backend_api, email_system, "Sends e-mails using", "sync, SMTP")</a:t>
            </a:r>
          </a:p>
          <a:p>
            <a:pPr algn="l"/>
            <a:r>
              <a:rPr lang="en-US" sz="750" dirty="0">
                <a:solidFill>
                  <a:srgbClr val="1F2937"/>
                </a:solidFill>
                <a:latin typeface="Consolas"/>
                <a:cs typeface="Consolas"/>
              </a:rPr>
              <a:t>    Rel(backend_api, banking_system, "Uses", "sync/async, XML/HTTPS")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c4.md</dc:title>
  <dc:creator>md2nativedocx</dc:creator>
  <cp:lastModifiedBy>md2nativedocx</cp:lastModifiedBy>
  <dcterms:created xsi:type="dcterms:W3CDTF">2026-10-05T12:12:46Z</dcterms:created>
  <dcterms:modified xsi:type="dcterms:W3CDTF">2026-10-05T12:12:46Z</dcterms:modified>
</cp:coreProperties>
</file>