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c4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47449" y="1028700"/>
            <a:ext cx="7497103" cy="197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000000"/>
                </a:solidFill>
              </a:rPr>
              <a:t>Container diagram for Internet Banking System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981173" y="2726377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4771871" y="2871726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4033048" y="2726377"/>
            <a:ext cx="800319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4223905" y="3313587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288548" y="2726377"/>
            <a:ext cx="1664323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6027686" y="3313587"/>
            <a:ext cx="18604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</a:t>
            </a:r>
          </a:p>
        </p:txBody>
      </p:sp>
      <p:cxnSp>
        <p:nvCxnSpPr>
          <p:cNvPr id="18" name="Connector 8"/>
          <p:cNvCxnSpPr/>
          <p:nvPr/>
        </p:nvCxnSpPr>
        <p:spPr>
          <a:xfrm flipH="1">
            <a:off x="4180855" y="3610099"/>
            <a:ext cx="504705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284370" y="3755448"/>
            <a:ext cx="29767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Delivers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4795605" y="4493821"/>
            <a:ext cx="1554278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1" name="Text 11"/>
          <p:cNvSpPr txBox="1"/>
          <p:nvPr/>
        </p:nvSpPr>
        <p:spPr>
          <a:xfrm>
            <a:off x="5193674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7260246" y="4493821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3" name="Text 13"/>
          <p:cNvSpPr txBox="1"/>
          <p:nvPr/>
        </p:nvSpPr>
        <p:spPr>
          <a:xfrm>
            <a:off x="6881176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636258" y="5377543"/>
            <a:ext cx="1024136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5" name="Text 15"/>
          <p:cNvSpPr txBox="1"/>
          <p:nvPr/>
        </p:nvSpPr>
        <p:spPr>
          <a:xfrm>
            <a:off x="5627395" y="5522892"/>
            <a:ext cx="1041862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Reads from and writes to [sync, JDBC]</a:t>
            </a:r>
          </a:p>
        </p:txBody>
      </p:sp>
      <p:cxnSp>
        <p:nvCxnSpPr>
          <p:cNvPr id="26" name="Connector 16"/>
          <p:cNvCxnSpPr/>
          <p:nvPr/>
        </p:nvCxnSpPr>
        <p:spPr>
          <a:xfrm flipH="1">
            <a:off x="5691194" y="1837534"/>
            <a:ext cx="1227482" cy="412098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7" name="Text 17"/>
          <p:cNvSpPr txBox="1"/>
          <p:nvPr/>
        </p:nvSpPr>
        <p:spPr>
          <a:xfrm>
            <a:off x="6058423" y="1985443"/>
            <a:ext cx="49302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to</a:t>
            </a:r>
          </a:p>
        </p:txBody>
      </p:sp>
      <p:cxnSp>
        <p:nvCxnSpPr>
          <p:cNvPr id="28" name="Connector 18"/>
          <p:cNvCxnSpPr/>
          <p:nvPr/>
        </p:nvCxnSpPr>
        <p:spPr>
          <a:xfrm flipV="1">
            <a:off x="7284064" y="1842655"/>
            <a:ext cx="305563" cy="3058143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9" name="Text 19"/>
          <p:cNvSpPr txBox="1"/>
          <p:nvPr/>
        </p:nvSpPr>
        <p:spPr>
          <a:xfrm>
            <a:off x="6971728" y="3313587"/>
            <a:ext cx="93023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using [sync, SMTP]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7515085" y="5377543"/>
            <a:ext cx="43509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31" name="Text 21"/>
          <p:cNvSpPr txBox="1"/>
          <p:nvPr/>
        </p:nvSpPr>
        <p:spPr>
          <a:xfrm>
            <a:off x="7300072" y="5522892"/>
            <a:ext cx="86511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[sync/async, XML/HTTPS]</a:t>
            </a:r>
          </a:p>
        </p:txBody>
      </p:sp>
      <p:sp>
        <p:nvSpPr>
          <p:cNvPr id="32" name="E-Mail System"/>
          <p:cNvSpPr/>
          <p:nvPr/>
        </p:nvSpPr>
        <p:spPr>
          <a:xfrm>
            <a:off x="6918676" y="1365910"/>
            <a:ext cx="138953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3" name="E-Mail System title"/>
          <p:cNvSpPr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4" name="Divider"/>
          <p:cNvSpPr/>
          <p:nvPr/>
        </p:nvSpPr>
        <p:spPr>
          <a:xfrm>
            <a:off x="6918676" y="1549050"/>
            <a:ext cx="138953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5" name="Text 25"/>
          <p:cNvSpPr txBox="1"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E-Mail System</a:t>
            </a:r>
          </a:p>
        </p:txBody>
      </p:sp>
      <p:sp>
        <p:nvSpPr>
          <p:cNvPr id="36" name="Text 26"/>
          <p:cNvSpPr txBox="1"/>
          <p:nvPr/>
        </p:nvSpPr>
        <p:spPr>
          <a:xfrm>
            <a:off x="6976816" y="1551957"/>
            <a:ext cx="127325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The internal Microsoft Exchange system</a:t>
            </a:r>
          </a:p>
        </p:txBody>
      </p:sp>
      <p:sp>
        <p:nvSpPr>
          <p:cNvPr id="37" name="Customer"/>
          <p:cNvSpPr/>
          <p:nvPr/>
        </p:nvSpPr>
        <p:spPr>
          <a:xfrm>
            <a:off x="4100358" y="2249632"/>
            <a:ext cx="1761630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8" name="Customer title"/>
          <p:cNvSpPr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solidFill>
            <a:srgbClr val="FFE699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4100358" y="2432772"/>
            <a:ext cx="1761630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4158498" y="2435679"/>
            <a:ext cx="1645350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[Person]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A customer of the bank, with personal bank accounts</a:t>
            </a:r>
          </a:p>
        </p:txBody>
      </p:sp>
      <p:sp>
        <p:nvSpPr>
          <p:cNvPr id="42" name="Single-Page App"/>
          <p:cNvSpPr/>
          <p:nvPr/>
        </p:nvSpPr>
        <p:spPr>
          <a:xfrm>
            <a:off x="2486984" y="4017076"/>
            <a:ext cx="279651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3" name="Single-Page App title"/>
          <p:cNvSpPr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4" name="Divider"/>
          <p:cNvSpPr/>
          <p:nvPr/>
        </p:nvSpPr>
        <p:spPr>
          <a:xfrm>
            <a:off x="2486984" y="4200216"/>
            <a:ext cx="279651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5" name="Text 35"/>
          <p:cNvSpPr txBox="1"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Single-Page App</a:t>
            </a:r>
          </a:p>
        </p:txBody>
      </p:sp>
      <p:sp>
        <p:nvSpPr>
          <p:cNvPr id="46" name="Text 36"/>
          <p:cNvSpPr txBox="1"/>
          <p:nvPr/>
        </p:nvSpPr>
        <p:spPr>
          <a:xfrm>
            <a:off x="2545124" y="4203123"/>
            <a:ext cx="268023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JavaScript, Angular]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all the Internet banking functionality to customers via their web browser</a:t>
            </a:r>
          </a:p>
        </p:txBody>
      </p:sp>
      <p:sp>
        <p:nvSpPr>
          <p:cNvPr id="47" name="Mobile App"/>
          <p:cNvSpPr/>
          <p:nvPr/>
        </p:nvSpPr>
        <p:spPr>
          <a:xfrm>
            <a:off x="5574197" y="4017076"/>
            <a:ext cx="337209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8" name="Mobile App title"/>
          <p:cNvSpPr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9" name="Divider"/>
          <p:cNvSpPr/>
          <p:nvPr/>
        </p:nvSpPr>
        <p:spPr>
          <a:xfrm>
            <a:off x="5574197" y="4200216"/>
            <a:ext cx="337209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0" name="Text 40"/>
          <p:cNvSpPr txBox="1"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51" name="Text 41"/>
          <p:cNvSpPr txBox="1"/>
          <p:nvPr/>
        </p:nvSpPr>
        <p:spPr>
          <a:xfrm>
            <a:off x="5632337" y="4203123"/>
            <a:ext cx="325581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External: C#, Xamarin]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 limited subset of the Internet banking functionality to customers via their mobile device</a:t>
            </a:r>
          </a:p>
        </p:txBody>
      </p:sp>
      <p:sp>
        <p:nvSpPr>
          <p:cNvPr id="52" name="Web Application"/>
          <p:cNvSpPr/>
          <p:nvPr/>
        </p:nvSpPr>
        <p:spPr>
          <a:xfrm>
            <a:off x="4001521" y="3133354"/>
            <a:ext cx="195930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3" name="Web Application title"/>
          <p:cNvSpPr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4" name="Divider"/>
          <p:cNvSpPr/>
          <p:nvPr/>
        </p:nvSpPr>
        <p:spPr>
          <a:xfrm>
            <a:off x="4001521" y="3316494"/>
            <a:ext cx="195930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5" name="Text 45"/>
          <p:cNvSpPr txBox="1"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Web Application</a:t>
            </a:r>
          </a:p>
        </p:txBody>
      </p:sp>
      <p:sp>
        <p:nvSpPr>
          <p:cNvPr id="56" name="Text 46"/>
          <p:cNvSpPr txBox="1"/>
          <p:nvPr/>
        </p:nvSpPr>
        <p:spPr>
          <a:xfrm>
            <a:off x="4059661" y="3319401"/>
            <a:ext cx="184302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Java, Spring MVC]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Delivers the static content and the Internet banking SPA</a:t>
            </a:r>
          </a:p>
        </p:txBody>
      </p:sp>
      <p:sp>
        <p:nvSpPr>
          <p:cNvPr id="57" name="Database"/>
          <p:cNvSpPr/>
          <p:nvPr/>
        </p:nvSpPr>
        <p:spPr>
          <a:xfrm>
            <a:off x="3658497" y="5784520"/>
            <a:ext cx="2755818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8" name="Database title"/>
          <p:cNvSpPr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9" name="Divider"/>
          <p:cNvSpPr/>
          <p:nvPr/>
        </p:nvSpPr>
        <p:spPr>
          <a:xfrm>
            <a:off x="3658497" y="5967660"/>
            <a:ext cx="2755818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0" name="Text 50"/>
          <p:cNvSpPr txBox="1"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61" name="Text 51"/>
          <p:cNvSpPr txBox="1"/>
          <p:nvPr/>
        </p:nvSpPr>
        <p:spPr>
          <a:xfrm>
            <a:off x="3716637" y="5970567"/>
            <a:ext cx="2639538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Database: SQL Database]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user registration information, hashed auth credentials, access logs, etc.</a:t>
            </a:r>
          </a:p>
        </p:txBody>
      </p:sp>
      <p:sp>
        <p:nvSpPr>
          <p:cNvPr id="62" name="API Application"/>
          <p:cNvSpPr/>
          <p:nvPr/>
        </p:nvSpPr>
        <p:spPr>
          <a:xfrm>
            <a:off x="6268966" y="4900798"/>
            <a:ext cx="1982561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3" name="API Application title"/>
          <p:cNvSpPr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64" name="Divider"/>
          <p:cNvSpPr/>
          <p:nvPr/>
        </p:nvSpPr>
        <p:spPr>
          <a:xfrm>
            <a:off x="6268966" y="5083938"/>
            <a:ext cx="1982561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5" name="Text 55"/>
          <p:cNvSpPr txBox="1"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API Application</a:t>
            </a:r>
          </a:p>
        </p:txBody>
      </p:sp>
      <p:sp>
        <p:nvSpPr>
          <p:cNvPr id="66" name="Text 56"/>
          <p:cNvSpPr txBox="1"/>
          <p:nvPr/>
        </p:nvSpPr>
        <p:spPr>
          <a:xfrm>
            <a:off x="6327106" y="5086845"/>
            <a:ext cx="1866281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External, Database: Java, Docker Container]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Internet banking functionality via API</a:t>
            </a:r>
          </a:p>
        </p:txBody>
      </p:sp>
      <p:sp>
        <p:nvSpPr>
          <p:cNvPr id="67" name="Mainframe Banking System"/>
          <p:cNvSpPr/>
          <p:nvPr/>
        </p:nvSpPr>
        <p:spPr>
          <a:xfrm>
            <a:off x="6705013" y="5784520"/>
            <a:ext cx="3000004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8" name="Mainframe Banking System title"/>
          <p:cNvSpPr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69" name="Divider"/>
          <p:cNvSpPr/>
          <p:nvPr/>
        </p:nvSpPr>
        <p:spPr>
          <a:xfrm>
            <a:off x="6705013" y="5967660"/>
            <a:ext cx="3000004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70" name="Text 60"/>
          <p:cNvSpPr txBox="1"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Mainframe Banking System</a:t>
            </a:r>
          </a:p>
        </p:txBody>
      </p:sp>
      <p:sp>
        <p:nvSpPr>
          <p:cNvPr id="71" name="Text 61"/>
          <p:cNvSpPr txBox="1"/>
          <p:nvPr/>
        </p:nvSpPr>
        <p:spPr>
          <a:xfrm>
            <a:off x="6763153" y="5970567"/>
            <a:ext cx="2883724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all of the core banking information about customers, accounts, transactions, etc.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c4.md</dc:title>
  <dc:creator>md2nativedocx</dc:creator>
  <cp:lastModifiedBy>md2nativedocx</cp:lastModifiedBy>
  <dcterms:created xsi:type="dcterms:W3CDTF">2026-10-05T11:54:20Z</dcterms:created>
  <dcterms:modified xsi:type="dcterms:W3CDTF">2026-10-05T11:54:20Z</dcterms:modified>
</cp:coreProperties>
</file>