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packet</a:t>
            </a:r>
          </a:p>
        </p:txBody>
      </p:sp>
      <p:sp>
        <p:nvSpPr>
          <p:cNvPr id="11" name="Box 1"/>
          <p:cNvSpPr/>
          <p:nvPr/>
        </p:nvSpPr>
        <p:spPr>
          <a:xfrm>
            <a:off x="3145128" y="1142195"/>
            <a:ext cx="5901744" cy="3783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0" dirty="0">
                <a:solidFill>
                  <a:srgbClr val="000000"/>
                </a:solidFill>
              </a:rPr>
              <a:t>TCP Packet</a:t>
            </a:r>
          </a:p>
        </p:txBody>
      </p:sp>
      <p:sp>
        <p:nvSpPr>
          <p:cNvPr id="12" name="Box 2"/>
          <p:cNvSpPr/>
          <p:nvPr/>
        </p:nvSpPr>
        <p:spPr>
          <a:xfrm>
            <a:off x="3372118" y="1634007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13" name="Box 3"/>
          <p:cNvSpPr/>
          <p:nvPr/>
        </p:nvSpPr>
        <p:spPr>
          <a:xfrm>
            <a:off x="3372118" y="1634007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15</a:t>
            </a:r>
          </a:p>
        </p:txBody>
      </p:sp>
      <p:sp>
        <p:nvSpPr>
          <p:cNvPr id="14" name="Box 4"/>
          <p:cNvSpPr/>
          <p:nvPr/>
        </p:nvSpPr>
        <p:spPr>
          <a:xfrm>
            <a:off x="3372118" y="1785334"/>
            <a:ext cx="2723882" cy="340485"/>
          </a:xfrm>
          <a:prstGeom prst="rect">
            <a:avLst/>
          </a:prstGeom>
          <a:solidFill>
            <a:srgbClr val="C7D5ED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Source Port</a:t>
            </a:r>
          </a:p>
        </p:txBody>
      </p:sp>
      <p:sp>
        <p:nvSpPr>
          <p:cNvPr id="15" name="Box 5"/>
          <p:cNvSpPr/>
          <p:nvPr/>
        </p:nvSpPr>
        <p:spPr>
          <a:xfrm>
            <a:off x="6096000" y="1634007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16</a:t>
            </a:r>
          </a:p>
        </p:txBody>
      </p:sp>
      <p:sp>
        <p:nvSpPr>
          <p:cNvPr id="16" name="Box 6"/>
          <p:cNvSpPr/>
          <p:nvPr/>
        </p:nvSpPr>
        <p:spPr>
          <a:xfrm>
            <a:off x="6096000" y="1634007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31</a:t>
            </a:r>
          </a:p>
        </p:txBody>
      </p:sp>
      <p:sp>
        <p:nvSpPr>
          <p:cNvPr id="17" name="Box 7"/>
          <p:cNvSpPr/>
          <p:nvPr/>
        </p:nvSpPr>
        <p:spPr>
          <a:xfrm>
            <a:off x="6096000" y="1785334"/>
            <a:ext cx="2723882" cy="340485"/>
          </a:xfrm>
          <a:prstGeom prst="rect">
            <a:avLst/>
          </a:prstGeom>
          <a:solidFill>
            <a:srgbClr val="FAD8C1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Destination Port</a:t>
            </a:r>
          </a:p>
        </p:txBody>
      </p:sp>
      <p:sp>
        <p:nvSpPr>
          <p:cNvPr id="18" name="Box 8"/>
          <p:cNvSpPr/>
          <p:nvPr/>
        </p:nvSpPr>
        <p:spPr>
          <a:xfrm>
            <a:off x="3372118" y="2201482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32</a:t>
            </a:r>
          </a:p>
        </p:txBody>
      </p:sp>
      <p:sp>
        <p:nvSpPr>
          <p:cNvPr id="19" name="Box 9"/>
          <p:cNvSpPr/>
          <p:nvPr/>
        </p:nvSpPr>
        <p:spPr>
          <a:xfrm>
            <a:off x="3372118" y="2201482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63</a:t>
            </a:r>
          </a:p>
        </p:txBody>
      </p:sp>
      <p:sp>
        <p:nvSpPr>
          <p:cNvPr id="20" name="Box 10"/>
          <p:cNvSpPr/>
          <p:nvPr/>
        </p:nvSpPr>
        <p:spPr>
          <a:xfrm>
            <a:off x="3372118" y="2352809"/>
            <a:ext cx="5447763" cy="340485"/>
          </a:xfrm>
          <a:prstGeom prst="rect">
            <a:avLst/>
          </a:prstGeom>
          <a:solidFill>
            <a:srgbClr val="D4E6C8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Sequence Number</a:t>
            </a:r>
          </a:p>
        </p:txBody>
      </p:sp>
      <p:sp>
        <p:nvSpPr>
          <p:cNvPr id="21" name="Box 11"/>
          <p:cNvSpPr/>
          <p:nvPr/>
        </p:nvSpPr>
        <p:spPr>
          <a:xfrm>
            <a:off x="3372118" y="2768958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64</a:t>
            </a:r>
          </a:p>
        </p:txBody>
      </p:sp>
      <p:sp>
        <p:nvSpPr>
          <p:cNvPr id="22" name="Box 12"/>
          <p:cNvSpPr/>
          <p:nvPr/>
        </p:nvSpPr>
        <p:spPr>
          <a:xfrm>
            <a:off x="3372118" y="2768958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95</a:t>
            </a:r>
          </a:p>
        </p:txBody>
      </p:sp>
      <p:sp>
        <p:nvSpPr>
          <p:cNvPr id="23" name="Box 13"/>
          <p:cNvSpPr/>
          <p:nvPr/>
        </p:nvSpPr>
        <p:spPr>
          <a:xfrm>
            <a:off x="3372118" y="2920285"/>
            <a:ext cx="5447763" cy="340485"/>
          </a:xfrm>
          <a:prstGeom prst="rect">
            <a:avLst/>
          </a:prstGeom>
          <a:solidFill>
            <a:srgbClr val="FFECB3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Acknowledgment Number</a:t>
            </a:r>
          </a:p>
        </p:txBody>
      </p:sp>
      <p:sp>
        <p:nvSpPr>
          <p:cNvPr id="24" name="Box 14"/>
          <p:cNvSpPr/>
          <p:nvPr/>
        </p:nvSpPr>
        <p:spPr>
          <a:xfrm>
            <a:off x="3372118" y="3336433"/>
            <a:ext cx="680970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96</a:t>
            </a:r>
          </a:p>
        </p:txBody>
      </p:sp>
      <p:sp>
        <p:nvSpPr>
          <p:cNvPr id="25" name="Box 15"/>
          <p:cNvSpPr/>
          <p:nvPr/>
        </p:nvSpPr>
        <p:spPr>
          <a:xfrm>
            <a:off x="3372118" y="3336433"/>
            <a:ext cx="680970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99</a:t>
            </a:r>
          </a:p>
        </p:txBody>
      </p:sp>
      <p:sp>
        <p:nvSpPr>
          <p:cNvPr id="26" name="Box 16"/>
          <p:cNvSpPr/>
          <p:nvPr/>
        </p:nvSpPr>
        <p:spPr>
          <a:xfrm>
            <a:off x="3372118" y="3487760"/>
            <a:ext cx="680970" cy="340485"/>
          </a:xfrm>
          <a:prstGeom prst="rect">
            <a:avLst/>
          </a:prstGeom>
          <a:solidFill>
            <a:srgbClr val="D4C1E3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Offset</a:t>
            </a:r>
          </a:p>
        </p:txBody>
      </p:sp>
      <p:sp>
        <p:nvSpPr>
          <p:cNvPr id="27" name="Box 17"/>
          <p:cNvSpPr/>
          <p:nvPr/>
        </p:nvSpPr>
        <p:spPr>
          <a:xfrm>
            <a:off x="4053089" y="3336433"/>
            <a:ext cx="1021456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100</a:t>
            </a:r>
          </a:p>
        </p:txBody>
      </p:sp>
      <p:sp>
        <p:nvSpPr>
          <p:cNvPr id="28" name="Box 18"/>
          <p:cNvSpPr/>
          <p:nvPr/>
        </p:nvSpPr>
        <p:spPr>
          <a:xfrm>
            <a:off x="4053089" y="3336433"/>
            <a:ext cx="1021456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105</a:t>
            </a:r>
          </a:p>
        </p:txBody>
      </p:sp>
      <p:sp>
        <p:nvSpPr>
          <p:cNvPr id="29" name="Box 19"/>
          <p:cNvSpPr/>
          <p:nvPr/>
        </p:nvSpPr>
        <p:spPr>
          <a:xfrm>
            <a:off x="4053089" y="3487760"/>
            <a:ext cx="1021456" cy="340485"/>
          </a:xfrm>
          <a:prstGeom prst="rect">
            <a:avLst/>
          </a:prstGeom>
          <a:solidFill>
            <a:srgbClr val="CEE1F2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Reserved</a:t>
            </a:r>
          </a:p>
        </p:txBody>
      </p:sp>
      <p:sp>
        <p:nvSpPr>
          <p:cNvPr id="30" name="Box 20"/>
          <p:cNvSpPr/>
          <p:nvPr/>
        </p:nvSpPr>
        <p:spPr>
          <a:xfrm>
            <a:off x="5074544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106</a:t>
            </a:r>
          </a:p>
        </p:txBody>
      </p:sp>
      <p:sp>
        <p:nvSpPr>
          <p:cNvPr id="31" name="Box 21"/>
          <p:cNvSpPr/>
          <p:nvPr/>
        </p:nvSpPr>
        <p:spPr>
          <a:xfrm>
            <a:off x="5074544" y="3487760"/>
            <a:ext cx="170243" cy="340485"/>
          </a:xfrm>
          <a:prstGeom prst="rect">
            <a:avLst/>
          </a:prstGeom>
          <a:solidFill>
            <a:srgbClr val="ECB3B3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URG</a:t>
            </a:r>
          </a:p>
        </p:txBody>
      </p:sp>
      <p:sp>
        <p:nvSpPr>
          <p:cNvPr id="32" name="Box 22"/>
          <p:cNvSpPr/>
          <p:nvPr/>
        </p:nvSpPr>
        <p:spPr>
          <a:xfrm>
            <a:off x="5244787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107</a:t>
            </a:r>
          </a:p>
        </p:txBody>
      </p:sp>
      <p:sp>
        <p:nvSpPr>
          <p:cNvPr id="33" name="Box 23"/>
          <p:cNvSpPr/>
          <p:nvPr/>
        </p:nvSpPr>
        <p:spPr>
          <a:xfrm>
            <a:off x="5244787" y="3487760"/>
            <a:ext cx="170243" cy="340485"/>
          </a:xfrm>
          <a:prstGeom prst="rect">
            <a:avLst/>
          </a:prstGeom>
          <a:solidFill>
            <a:srgbClr val="C0DCDC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ACK</a:t>
            </a:r>
          </a:p>
        </p:txBody>
      </p:sp>
      <p:sp>
        <p:nvSpPr>
          <p:cNvPr id="34" name="Box 24"/>
          <p:cNvSpPr/>
          <p:nvPr/>
        </p:nvSpPr>
        <p:spPr>
          <a:xfrm>
            <a:off x="5415029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108</a:t>
            </a:r>
          </a:p>
        </p:txBody>
      </p:sp>
      <p:sp>
        <p:nvSpPr>
          <p:cNvPr id="35" name="Box 25"/>
          <p:cNvSpPr/>
          <p:nvPr/>
        </p:nvSpPr>
        <p:spPr>
          <a:xfrm>
            <a:off x="5415029" y="3487760"/>
            <a:ext cx="170243" cy="340485"/>
          </a:xfrm>
          <a:prstGeom prst="rect">
            <a:avLst/>
          </a:prstGeom>
          <a:solidFill>
            <a:srgbClr val="C7D5ED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PSH</a:t>
            </a:r>
          </a:p>
        </p:txBody>
      </p:sp>
      <p:sp>
        <p:nvSpPr>
          <p:cNvPr id="36" name="Box 26"/>
          <p:cNvSpPr/>
          <p:nvPr/>
        </p:nvSpPr>
        <p:spPr>
          <a:xfrm>
            <a:off x="5585272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109</a:t>
            </a:r>
          </a:p>
        </p:txBody>
      </p:sp>
      <p:sp>
        <p:nvSpPr>
          <p:cNvPr id="37" name="Box 27"/>
          <p:cNvSpPr/>
          <p:nvPr/>
        </p:nvSpPr>
        <p:spPr>
          <a:xfrm>
            <a:off x="5585272" y="3487760"/>
            <a:ext cx="170243" cy="340485"/>
          </a:xfrm>
          <a:prstGeom prst="rect">
            <a:avLst/>
          </a:prstGeom>
          <a:solidFill>
            <a:srgbClr val="FAD8C1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RST</a:t>
            </a:r>
          </a:p>
        </p:txBody>
      </p:sp>
      <p:sp>
        <p:nvSpPr>
          <p:cNvPr id="38" name="Box 28"/>
          <p:cNvSpPr/>
          <p:nvPr/>
        </p:nvSpPr>
        <p:spPr>
          <a:xfrm>
            <a:off x="5755515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110</a:t>
            </a:r>
          </a:p>
        </p:txBody>
      </p:sp>
      <p:sp>
        <p:nvSpPr>
          <p:cNvPr id="39" name="Box 29"/>
          <p:cNvSpPr/>
          <p:nvPr/>
        </p:nvSpPr>
        <p:spPr>
          <a:xfrm>
            <a:off x="5755515" y="3487760"/>
            <a:ext cx="170243" cy="340485"/>
          </a:xfrm>
          <a:prstGeom prst="rect">
            <a:avLst/>
          </a:prstGeom>
          <a:solidFill>
            <a:srgbClr val="D4E6C8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SYN</a:t>
            </a:r>
          </a:p>
        </p:txBody>
      </p:sp>
      <p:sp>
        <p:nvSpPr>
          <p:cNvPr id="40" name="Box 30"/>
          <p:cNvSpPr/>
          <p:nvPr/>
        </p:nvSpPr>
        <p:spPr>
          <a:xfrm>
            <a:off x="5925757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111</a:t>
            </a:r>
          </a:p>
        </p:txBody>
      </p:sp>
      <p:sp>
        <p:nvSpPr>
          <p:cNvPr id="41" name="Box 31"/>
          <p:cNvSpPr/>
          <p:nvPr/>
        </p:nvSpPr>
        <p:spPr>
          <a:xfrm>
            <a:off x="5925757" y="3487760"/>
            <a:ext cx="170243" cy="340485"/>
          </a:xfrm>
          <a:prstGeom prst="rect">
            <a:avLst/>
          </a:prstGeom>
          <a:solidFill>
            <a:srgbClr val="FFECB3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FIN</a:t>
            </a:r>
          </a:p>
        </p:txBody>
      </p:sp>
      <p:sp>
        <p:nvSpPr>
          <p:cNvPr id="42" name="Box 32"/>
          <p:cNvSpPr/>
          <p:nvPr/>
        </p:nvSpPr>
        <p:spPr>
          <a:xfrm>
            <a:off x="6096000" y="3336433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112</a:t>
            </a:r>
          </a:p>
        </p:txBody>
      </p:sp>
      <p:sp>
        <p:nvSpPr>
          <p:cNvPr id="43" name="Box 33"/>
          <p:cNvSpPr/>
          <p:nvPr/>
        </p:nvSpPr>
        <p:spPr>
          <a:xfrm>
            <a:off x="6096000" y="3336433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127</a:t>
            </a:r>
          </a:p>
        </p:txBody>
      </p:sp>
      <p:sp>
        <p:nvSpPr>
          <p:cNvPr id="44" name="Box 34"/>
          <p:cNvSpPr/>
          <p:nvPr/>
        </p:nvSpPr>
        <p:spPr>
          <a:xfrm>
            <a:off x="6096000" y="3487760"/>
            <a:ext cx="2723882" cy="340485"/>
          </a:xfrm>
          <a:prstGeom prst="rect">
            <a:avLst/>
          </a:prstGeom>
          <a:solidFill>
            <a:srgbClr val="D4C1E3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Window</a:t>
            </a:r>
          </a:p>
        </p:txBody>
      </p:sp>
      <p:sp>
        <p:nvSpPr>
          <p:cNvPr id="45" name="Box 35"/>
          <p:cNvSpPr/>
          <p:nvPr/>
        </p:nvSpPr>
        <p:spPr>
          <a:xfrm>
            <a:off x="3372118" y="3903908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128</a:t>
            </a:r>
          </a:p>
        </p:txBody>
      </p:sp>
      <p:sp>
        <p:nvSpPr>
          <p:cNvPr id="46" name="Box 36"/>
          <p:cNvSpPr/>
          <p:nvPr/>
        </p:nvSpPr>
        <p:spPr>
          <a:xfrm>
            <a:off x="3372118" y="3903908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143</a:t>
            </a:r>
          </a:p>
        </p:txBody>
      </p:sp>
      <p:sp>
        <p:nvSpPr>
          <p:cNvPr id="47" name="Box 37"/>
          <p:cNvSpPr/>
          <p:nvPr/>
        </p:nvSpPr>
        <p:spPr>
          <a:xfrm>
            <a:off x="3372118" y="4055235"/>
            <a:ext cx="2723882" cy="340485"/>
          </a:xfrm>
          <a:prstGeom prst="rect">
            <a:avLst/>
          </a:prstGeom>
          <a:solidFill>
            <a:srgbClr val="CEE1F2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Checksum</a:t>
            </a:r>
          </a:p>
        </p:txBody>
      </p:sp>
      <p:sp>
        <p:nvSpPr>
          <p:cNvPr id="48" name="Box 38"/>
          <p:cNvSpPr/>
          <p:nvPr/>
        </p:nvSpPr>
        <p:spPr>
          <a:xfrm>
            <a:off x="6096000" y="3903908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144</a:t>
            </a:r>
          </a:p>
        </p:txBody>
      </p:sp>
      <p:sp>
        <p:nvSpPr>
          <p:cNvPr id="49" name="Box 39"/>
          <p:cNvSpPr/>
          <p:nvPr/>
        </p:nvSpPr>
        <p:spPr>
          <a:xfrm>
            <a:off x="6096000" y="3903908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159</a:t>
            </a:r>
          </a:p>
        </p:txBody>
      </p:sp>
      <p:sp>
        <p:nvSpPr>
          <p:cNvPr id="50" name="Box 40"/>
          <p:cNvSpPr/>
          <p:nvPr/>
        </p:nvSpPr>
        <p:spPr>
          <a:xfrm>
            <a:off x="6096000" y="4055235"/>
            <a:ext cx="2723882" cy="340485"/>
          </a:xfrm>
          <a:prstGeom prst="rect">
            <a:avLst/>
          </a:prstGeom>
          <a:solidFill>
            <a:srgbClr val="ECB3B3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Urgent Pointer</a:t>
            </a:r>
          </a:p>
        </p:txBody>
      </p:sp>
      <p:sp>
        <p:nvSpPr>
          <p:cNvPr id="51" name="Box 41"/>
          <p:cNvSpPr/>
          <p:nvPr/>
        </p:nvSpPr>
        <p:spPr>
          <a:xfrm>
            <a:off x="3372118" y="4471384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160</a:t>
            </a:r>
          </a:p>
        </p:txBody>
      </p:sp>
      <p:sp>
        <p:nvSpPr>
          <p:cNvPr id="52" name="Box 42"/>
          <p:cNvSpPr/>
          <p:nvPr/>
        </p:nvSpPr>
        <p:spPr>
          <a:xfrm>
            <a:off x="3372118" y="4471384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191</a:t>
            </a:r>
          </a:p>
        </p:txBody>
      </p:sp>
      <p:sp>
        <p:nvSpPr>
          <p:cNvPr id="53" name="Box 43"/>
          <p:cNvSpPr/>
          <p:nvPr/>
        </p:nvSpPr>
        <p:spPr>
          <a:xfrm>
            <a:off x="3372118" y="4622711"/>
            <a:ext cx="5447763" cy="340485"/>
          </a:xfrm>
          <a:prstGeom prst="rect">
            <a:avLst/>
          </a:prstGeom>
          <a:solidFill>
            <a:srgbClr val="C0DCDC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(Options and Padding)</a:t>
            </a:r>
          </a:p>
        </p:txBody>
      </p:sp>
      <p:sp>
        <p:nvSpPr>
          <p:cNvPr id="54" name="Box 44"/>
          <p:cNvSpPr/>
          <p:nvPr/>
        </p:nvSpPr>
        <p:spPr>
          <a:xfrm>
            <a:off x="3372118" y="5038859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192</a:t>
            </a:r>
          </a:p>
        </p:txBody>
      </p:sp>
      <p:sp>
        <p:nvSpPr>
          <p:cNvPr id="55" name="Box 45"/>
          <p:cNvSpPr/>
          <p:nvPr/>
        </p:nvSpPr>
        <p:spPr>
          <a:xfrm>
            <a:off x="3372118" y="5038859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223</a:t>
            </a:r>
          </a:p>
        </p:txBody>
      </p:sp>
      <p:sp>
        <p:nvSpPr>
          <p:cNvPr id="56" name="Box 46"/>
          <p:cNvSpPr/>
          <p:nvPr/>
        </p:nvSpPr>
        <p:spPr>
          <a:xfrm>
            <a:off x="3372118" y="5190186"/>
            <a:ext cx="5447763" cy="340485"/>
          </a:xfrm>
          <a:prstGeom prst="rect">
            <a:avLst/>
          </a:prstGeom>
          <a:solidFill>
            <a:srgbClr val="C7D5ED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Data (variable length)</a:t>
            </a:r>
          </a:p>
        </p:txBody>
      </p:sp>
      <p:sp>
        <p:nvSpPr>
          <p:cNvPr id="57" name="Box 47"/>
          <p:cNvSpPr/>
          <p:nvPr/>
        </p:nvSpPr>
        <p:spPr>
          <a:xfrm>
            <a:off x="3372118" y="5606335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224</a:t>
            </a:r>
          </a:p>
        </p:txBody>
      </p:sp>
      <p:sp>
        <p:nvSpPr>
          <p:cNvPr id="58" name="Box 48"/>
          <p:cNvSpPr/>
          <p:nvPr/>
        </p:nvSpPr>
        <p:spPr>
          <a:xfrm>
            <a:off x="3372118" y="5606335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255</a:t>
            </a:r>
          </a:p>
        </p:txBody>
      </p:sp>
      <p:sp>
        <p:nvSpPr>
          <p:cNvPr id="59" name="Box 49"/>
          <p:cNvSpPr/>
          <p:nvPr/>
        </p:nvSpPr>
        <p:spPr>
          <a:xfrm>
            <a:off x="3372118" y="5757661"/>
            <a:ext cx="5447763" cy="340485"/>
          </a:xfrm>
          <a:prstGeom prst="rect">
            <a:avLst/>
          </a:prstGeom>
          <a:solidFill>
            <a:srgbClr val="C7D5ED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Data (variable length)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packet.md</dc:title>
  <dc:creator>md2nativedocx</dc:creator>
  <cp:lastModifiedBy>md2nativedocx</cp:lastModifiedBy>
  <dcterms:created xsi:type="dcterms:W3CDTF">2026-10-05T11:54:27Z</dcterms:created>
  <dcterms:modified xsi:type="dcterms:W3CDTF">2026-10-05T11:54:27Z</dcterms:modified>
</cp:coreProperties>
</file>