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packet</a:t>
            </a:r>
          </a:p>
        </p:txBody>
      </p:sp>
      <p:sp>
        <p:nvSpPr>
          <p:cNvPr id="11" name="Box 1"/>
          <p:cNvSpPr/>
          <p:nvPr/>
        </p:nvSpPr>
        <p:spPr>
          <a:xfrm>
            <a:off x="1023720" y="1142195"/>
            <a:ext cx="5901744" cy="3783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0" dirty="0">
                <a:solidFill>
                  <a:srgbClr val="000000"/>
                </a:solidFill>
              </a:rPr>
              <a:t>TCP Packet</a:t>
            </a:r>
          </a:p>
        </p:txBody>
      </p:sp>
      <p:sp>
        <p:nvSpPr>
          <p:cNvPr id="12" name="Box 2"/>
          <p:cNvSpPr/>
          <p:nvPr/>
        </p:nvSpPr>
        <p:spPr>
          <a:xfrm>
            <a:off x="125071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13" name="Box 3"/>
          <p:cNvSpPr/>
          <p:nvPr/>
        </p:nvSpPr>
        <p:spPr>
          <a:xfrm>
            <a:off x="125071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4" name="Box 4"/>
          <p:cNvSpPr/>
          <p:nvPr/>
        </p:nvSpPr>
        <p:spPr>
          <a:xfrm>
            <a:off x="1250710" y="1785334"/>
            <a:ext cx="2723882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Source Port</a:t>
            </a:r>
          </a:p>
        </p:txBody>
      </p:sp>
      <p:sp>
        <p:nvSpPr>
          <p:cNvPr id="15" name="Box 5"/>
          <p:cNvSpPr/>
          <p:nvPr/>
        </p:nvSpPr>
        <p:spPr>
          <a:xfrm>
            <a:off x="3974592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</a:t>
            </a:r>
          </a:p>
        </p:txBody>
      </p:sp>
      <p:sp>
        <p:nvSpPr>
          <p:cNvPr id="16" name="Box 6"/>
          <p:cNvSpPr/>
          <p:nvPr/>
        </p:nvSpPr>
        <p:spPr>
          <a:xfrm>
            <a:off x="3974592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31</a:t>
            </a:r>
          </a:p>
        </p:txBody>
      </p:sp>
      <p:sp>
        <p:nvSpPr>
          <p:cNvPr id="17" name="Box 7"/>
          <p:cNvSpPr/>
          <p:nvPr/>
        </p:nvSpPr>
        <p:spPr>
          <a:xfrm>
            <a:off x="3974592" y="1785334"/>
            <a:ext cx="2723882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Destination Port</a:t>
            </a:r>
          </a:p>
        </p:txBody>
      </p:sp>
      <p:sp>
        <p:nvSpPr>
          <p:cNvPr id="18" name="Box 8"/>
          <p:cNvSpPr/>
          <p:nvPr/>
        </p:nvSpPr>
        <p:spPr>
          <a:xfrm>
            <a:off x="1250710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32</a:t>
            </a:r>
          </a:p>
        </p:txBody>
      </p:sp>
      <p:sp>
        <p:nvSpPr>
          <p:cNvPr id="19" name="Box 9"/>
          <p:cNvSpPr/>
          <p:nvPr/>
        </p:nvSpPr>
        <p:spPr>
          <a:xfrm>
            <a:off x="1250710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63</a:t>
            </a:r>
          </a:p>
        </p:txBody>
      </p:sp>
      <p:sp>
        <p:nvSpPr>
          <p:cNvPr id="20" name="Box 10"/>
          <p:cNvSpPr/>
          <p:nvPr/>
        </p:nvSpPr>
        <p:spPr>
          <a:xfrm>
            <a:off x="1250710" y="2352809"/>
            <a:ext cx="544776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Sequence Number</a:t>
            </a:r>
          </a:p>
        </p:txBody>
      </p:sp>
      <p:sp>
        <p:nvSpPr>
          <p:cNvPr id="21" name="Box 11"/>
          <p:cNvSpPr/>
          <p:nvPr/>
        </p:nvSpPr>
        <p:spPr>
          <a:xfrm>
            <a:off x="1250710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64</a:t>
            </a:r>
          </a:p>
        </p:txBody>
      </p:sp>
      <p:sp>
        <p:nvSpPr>
          <p:cNvPr id="22" name="Box 12"/>
          <p:cNvSpPr/>
          <p:nvPr/>
        </p:nvSpPr>
        <p:spPr>
          <a:xfrm>
            <a:off x="1250710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95</a:t>
            </a:r>
          </a:p>
        </p:txBody>
      </p:sp>
      <p:sp>
        <p:nvSpPr>
          <p:cNvPr id="23" name="Box 13"/>
          <p:cNvSpPr/>
          <p:nvPr/>
        </p:nvSpPr>
        <p:spPr>
          <a:xfrm>
            <a:off x="1250710" y="2920285"/>
            <a:ext cx="544776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Acknowledgment Number</a:t>
            </a:r>
          </a:p>
        </p:txBody>
      </p:sp>
      <p:sp>
        <p:nvSpPr>
          <p:cNvPr id="24" name="Box 14"/>
          <p:cNvSpPr/>
          <p:nvPr/>
        </p:nvSpPr>
        <p:spPr>
          <a:xfrm>
            <a:off x="1250710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96</a:t>
            </a:r>
          </a:p>
        </p:txBody>
      </p:sp>
      <p:sp>
        <p:nvSpPr>
          <p:cNvPr id="25" name="Box 15"/>
          <p:cNvSpPr/>
          <p:nvPr/>
        </p:nvSpPr>
        <p:spPr>
          <a:xfrm>
            <a:off x="1250710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99</a:t>
            </a:r>
          </a:p>
        </p:txBody>
      </p:sp>
      <p:sp>
        <p:nvSpPr>
          <p:cNvPr id="26" name="Box 16"/>
          <p:cNvSpPr/>
          <p:nvPr/>
        </p:nvSpPr>
        <p:spPr>
          <a:xfrm>
            <a:off x="1250710" y="3487760"/>
            <a:ext cx="680970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Offset</a:t>
            </a:r>
          </a:p>
        </p:txBody>
      </p:sp>
      <p:sp>
        <p:nvSpPr>
          <p:cNvPr id="27" name="Box 17"/>
          <p:cNvSpPr/>
          <p:nvPr/>
        </p:nvSpPr>
        <p:spPr>
          <a:xfrm>
            <a:off x="1931681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28" name="Box 18"/>
          <p:cNvSpPr/>
          <p:nvPr/>
        </p:nvSpPr>
        <p:spPr>
          <a:xfrm>
            <a:off x="1931681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105</a:t>
            </a:r>
          </a:p>
        </p:txBody>
      </p:sp>
      <p:sp>
        <p:nvSpPr>
          <p:cNvPr id="29" name="Box 19"/>
          <p:cNvSpPr/>
          <p:nvPr/>
        </p:nvSpPr>
        <p:spPr>
          <a:xfrm>
            <a:off x="1931681" y="3487760"/>
            <a:ext cx="1021456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Reserved</a:t>
            </a:r>
          </a:p>
        </p:txBody>
      </p:sp>
      <p:sp>
        <p:nvSpPr>
          <p:cNvPr id="30" name="Box 20"/>
          <p:cNvSpPr/>
          <p:nvPr/>
        </p:nvSpPr>
        <p:spPr>
          <a:xfrm>
            <a:off x="2953136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106</a:t>
            </a:r>
          </a:p>
        </p:txBody>
      </p:sp>
      <p:sp>
        <p:nvSpPr>
          <p:cNvPr id="31" name="Box 21"/>
          <p:cNvSpPr/>
          <p:nvPr/>
        </p:nvSpPr>
        <p:spPr>
          <a:xfrm>
            <a:off x="2953136" y="3487760"/>
            <a:ext cx="170243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URG</a:t>
            </a:r>
          </a:p>
        </p:txBody>
      </p:sp>
      <p:sp>
        <p:nvSpPr>
          <p:cNvPr id="32" name="Box 22"/>
          <p:cNvSpPr/>
          <p:nvPr/>
        </p:nvSpPr>
        <p:spPr>
          <a:xfrm>
            <a:off x="312337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107</a:t>
            </a:r>
          </a:p>
        </p:txBody>
      </p:sp>
      <p:sp>
        <p:nvSpPr>
          <p:cNvPr id="33" name="Box 23"/>
          <p:cNvSpPr/>
          <p:nvPr/>
        </p:nvSpPr>
        <p:spPr>
          <a:xfrm>
            <a:off x="3123379" y="3487760"/>
            <a:ext cx="17024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ACK</a:t>
            </a:r>
          </a:p>
        </p:txBody>
      </p:sp>
      <p:sp>
        <p:nvSpPr>
          <p:cNvPr id="34" name="Box 24"/>
          <p:cNvSpPr/>
          <p:nvPr/>
        </p:nvSpPr>
        <p:spPr>
          <a:xfrm>
            <a:off x="3293621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108</a:t>
            </a:r>
          </a:p>
        </p:txBody>
      </p:sp>
      <p:sp>
        <p:nvSpPr>
          <p:cNvPr id="35" name="Box 25"/>
          <p:cNvSpPr/>
          <p:nvPr/>
        </p:nvSpPr>
        <p:spPr>
          <a:xfrm>
            <a:off x="3293621" y="3487760"/>
            <a:ext cx="17024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PSH</a:t>
            </a:r>
          </a:p>
        </p:txBody>
      </p:sp>
      <p:sp>
        <p:nvSpPr>
          <p:cNvPr id="36" name="Box 26"/>
          <p:cNvSpPr/>
          <p:nvPr/>
        </p:nvSpPr>
        <p:spPr>
          <a:xfrm>
            <a:off x="3463864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109</a:t>
            </a:r>
          </a:p>
        </p:txBody>
      </p:sp>
      <p:sp>
        <p:nvSpPr>
          <p:cNvPr id="37" name="Box 27"/>
          <p:cNvSpPr/>
          <p:nvPr/>
        </p:nvSpPr>
        <p:spPr>
          <a:xfrm>
            <a:off x="3463864" y="3487760"/>
            <a:ext cx="170243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38" name="Box 28"/>
          <p:cNvSpPr/>
          <p:nvPr/>
        </p:nvSpPr>
        <p:spPr>
          <a:xfrm>
            <a:off x="363410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110</a:t>
            </a:r>
          </a:p>
        </p:txBody>
      </p:sp>
      <p:sp>
        <p:nvSpPr>
          <p:cNvPr id="39" name="Box 29"/>
          <p:cNvSpPr/>
          <p:nvPr/>
        </p:nvSpPr>
        <p:spPr>
          <a:xfrm>
            <a:off x="3634107" y="3487760"/>
            <a:ext cx="17024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</a:t>
            </a:r>
          </a:p>
        </p:txBody>
      </p:sp>
      <p:sp>
        <p:nvSpPr>
          <p:cNvPr id="40" name="Box 30"/>
          <p:cNvSpPr/>
          <p:nvPr/>
        </p:nvSpPr>
        <p:spPr>
          <a:xfrm>
            <a:off x="380434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111</a:t>
            </a:r>
          </a:p>
        </p:txBody>
      </p:sp>
      <p:sp>
        <p:nvSpPr>
          <p:cNvPr id="41" name="Box 31"/>
          <p:cNvSpPr/>
          <p:nvPr/>
        </p:nvSpPr>
        <p:spPr>
          <a:xfrm>
            <a:off x="3804349" y="3487760"/>
            <a:ext cx="17024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42" name="Box 32"/>
          <p:cNvSpPr/>
          <p:nvPr/>
        </p:nvSpPr>
        <p:spPr>
          <a:xfrm>
            <a:off x="3974592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112</a:t>
            </a:r>
          </a:p>
        </p:txBody>
      </p:sp>
      <p:sp>
        <p:nvSpPr>
          <p:cNvPr id="43" name="Box 33"/>
          <p:cNvSpPr/>
          <p:nvPr/>
        </p:nvSpPr>
        <p:spPr>
          <a:xfrm>
            <a:off x="3974592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127</a:t>
            </a:r>
          </a:p>
        </p:txBody>
      </p:sp>
      <p:sp>
        <p:nvSpPr>
          <p:cNvPr id="44" name="Box 34"/>
          <p:cNvSpPr/>
          <p:nvPr/>
        </p:nvSpPr>
        <p:spPr>
          <a:xfrm>
            <a:off x="3974592" y="3487760"/>
            <a:ext cx="2723882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Window</a:t>
            </a:r>
          </a:p>
        </p:txBody>
      </p:sp>
      <p:sp>
        <p:nvSpPr>
          <p:cNvPr id="45" name="Box 35"/>
          <p:cNvSpPr/>
          <p:nvPr/>
        </p:nvSpPr>
        <p:spPr>
          <a:xfrm>
            <a:off x="125071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128</a:t>
            </a:r>
          </a:p>
        </p:txBody>
      </p:sp>
      <p:sp>
        <p:nvSpPr>
          <p:cNvPr id="46" name="Box 36"/>
          <p:cNvSpPr/>
          <p:nvPr/>
        </p:nvSpPr>
        <p:spPr>
          <a:xfrm>
            <a:off x="125071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143</a:t>
            </a:r>
          </a:p>
        </p:txBody>
      </p:sp>
      <p:sp>
        <p:nvSpPr>
          <p:cNvPr id="47" name="Box 37"/>
          <p:cNvSpPr/>
          <p:nvPr/>
        </p:nvSpPr>
        <p:spPr>
          <a:xfrm>
            <a:off x="1250710" y="4055235"/>
            <a:ext cx="2723882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Checksum</a:t>
            </a:r>
          </a:p>
        </p:txBody>
      </p:sp>
      <p:sp>
        <p:nvSpPr>
          <p:cNvPr id="48" name="Box 38"/>
          <p:cNvSpPr/>
          <p:nvPr/>
        </p:nvSpPr>
        <p:spPr>
          <a:xfrm>
            <a:off x="3974592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144</a:t>
            </a:r>
          </a:p>
        </p:txBody>
      </p:sp>
      <p:sp>
        <p:nvSpPr>
          <p:cNvPr id="49" name="Box 39"/>
          <p:cNvSpPr/>
          <p:nvPr/>
        </p:nvSpPr>
        <p:spPr>
          <a:xfrm>
            <a:off x="3974592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159</a:t>
            </a:r>
          </a:p>
        </p:txBody>
      </p:sp>
      <p:sp>
        <p:nvSpPr>
          <p:cNvPr id="50" name="Box 40"/>
          <p:cNvSpPr/>
          <p:nvPr/>
        </p:nvSpPr>
        <p:spPr>
          <a:xfrm>
            <a:off x="3974592" y="4055235"/>
            <a:ext cx="2723882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Urgent Pointer</a:t>
            </a:r>
          </a:p>
        </p:txBody>
      </p:sp>
      <p:sp>
        <p:nvSpPr>
          <p:cNvPr id="51" name="Box 41"/>
          <p:cNvSpPr/>
          <p:nvPr/>
        </p:nvSpPr>
        <p:spPr>
          <a:xfrm>
            <a:off x="1250710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160</a:t>
            </a:r>
          </a:p>
        </p:txBody>
      </p:sp>
      <p:sp>
        <p:nvSpPr>
          <p:cNvPr id="52" name="Box 42"/>
          <p:cNvSpPr/>
          <p:nvPr/>
        </p:nvSpPr>
        <p:spPr>
          <a:xfrm>
            <a:off x="1250710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191</a:t>
            </a:r>
          </a:p>
        </p:txBody>
      </p:sp>
      <p:sp>
        <p:nvSpPr>
          <p:cNvPr id="53" name="Box 43"/>
          <p:cNvSpPr/>
          <p:nvPr/>
        </p:nvSpPr>
        <p:spPr>
          <a:xfrm>
            <a:off x="1250710" y="4622711"/>
            <a:ext cx="544776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(Options and Padding)</a:t>
            </a:r>
          </a:p>
        </p:txBody>
      </p:sp>
      <p:sp>
        <p:nvSpPr>
          <p:cNvPr id="54" name="Box 44"/>
          <p:cNvSpPr/>
          <p:nvPr/>
        </p:nvSpPr>
        <p:spPr>
          <a:xfrm>
            <a:off x="1250710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192</a:t>
            </a:r>
          </a:p>
        </p:txBody>
      </p:sp>
      <p:sp>
        <p:nvSpPr>
          <p:cNvPr id="55" name="Box 45"/>
          <p:cNvSpPr/>
          <p:nvPr/>
        </p:nvSpPr>
        <p:spPr>
          <a:xfrm>
            <a:off x="1250710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223</a:t>
            </a:r>
          </a:p>
        </p:txBody>
      </p:sp>
      <p:sp>
        <p:nvSpPr>
          <p:cNvPr id="56" name="Box 46"/>
          <p:cNvSpPr/>
          <p:nvPr/>
        </p:nvSpPr>
        <p:spPr>
          <a:xfrm>
            <a:off x="1250710" y="5190186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57" name="Box 47"/>
          <p:cNvSpPr/>
          <p:nvPr/>
        </p:nvSpPr>
        <p:spPr>
          <a:xfrm>
            <a:off x="1250710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224</a:t>
            </a:r>
          </a:p>
        </p:txBody>
      </p:sp>
      <p:sp>
        <p:nvSpPr>
          <p:cNvPr id="58" name="Box 48"/>
          <p:cNvSpPr/>
          <p:nvPr/>
        </p:nvSpPr>
        <p:spPr>
          <a:xfrm>
            <a:off x="1250710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255</a:t>
            </a:r>
          </a:p>
        </p:txBody>
      </p:sp>
      <p:sp>
        <p:nvSpPr>
          <p:cNvPr id="59" name="Box 49"/>
          <p:cNvSpPr/>
          <p:nvPr/>
        </p:nvSpPr>
        <p:spPr>
          <a:xfrm>
            <a:off x="1250710" y="5757661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title: "TCP Packet"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packet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0-15: "Source Port"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16-31: "Destination Port"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32-63: "Sequence Number"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64-95: "Acknowledgment Number"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96-99: "Data Offset"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100-105: "Reserved"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106: "URG"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107: "ACK"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108: "PSH"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109: "RST"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110: "SYN"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111: "FIN"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112-127: "Window"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128-143: "Checksum"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144-159: "Urgent Pointer"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160-191: "(Options and Padding)"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192-255: "Data (variable length)"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packet.md</dc:title>
  <dc:creator>md2nativedocx</dc:creator>
  <cp:lastModifiedBy>md2nativedocx</cp:lastModifiedBy>
  <dcterms:created xsi:type="dcterms:W3CDTF">2026-10-05T12:12:53Z</dcterms:created>
  <dcterms:modified xsi:type="dcterms:W3CDTF">2026-10-05T12:12:53Z</dcterms:modified>
</cp:coreProperties>
</file>