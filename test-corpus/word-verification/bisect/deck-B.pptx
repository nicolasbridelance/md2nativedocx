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edge-types-extended</a:t>
            </a:r>
          </a:p>
        </p:txBody>
      </p:sp>
      <p:sp>
        <p:nvSpPr>
          <p:cNvPr id="12" name="Fin" descr="F"/>
          <p:cNvSpPr/>
          <p:nvPr/>
        </p:nvSpPr>
        <p:spPr>
          <a:xfrm>
            <a:off x="3712776" y="1028700"/>
            <a:ext cx="296708" cy="286767"/>
          </a:xfrm>
          <a:prstGeom prst="rect">
            <a:avLst/>
          </a:prstGeom>
          <a:solidFill>
            <a:srgbClr val="FFCDD2"/>
          </a:solidFill>
          <a:ln w="5098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706" tIns="18353" rIns="36706" bIns="183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Fin</a:t>
            </a:r>
          </a:p>
        </p:txBody>
      </p:sp>
      <p:sp>
        <p:nvSpPr>
          <p:cNvPr id="13" name="Ligne pointillee" descr="G"/>
          <p:cNvSpPr/>
          <p:nvPr/>
        </p:nvSpPr>
        <p:spPr>
          <a:xfrm>
            <a:off x="3524657" y="1621352"/>
            <a:ext cx="672946" cy="401474"/>
          </a:xfrm>
          <a:prstGeom prst="rect">
            <a:avLst/>
          </a:prstGeom>
          <a:solidFill>
            <a:srgbClr val="FFF9C4"/>
          </a:solidFill>
          <a:ln w="5098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706" tIns="18353" rIns="36706" bIns="183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Ligne pointillee</a:t>
            </a:r>
          </a:p>
        </p:txBody>
      </p:sp>
      <p:sp>
        <p:nvSpPr>
          <p:cNvPr id="14" name="Ligne epaisse" descr="H"/>
          <p:cNvSpPr/>
          <p:nvPr/>
        </p:nvSpPr>
        <p:spPr>
          <a:xfrm>
            <a:off x="3451244" y="2328710"/>
            <a:ext cx="819771" cy="286767"/>
          </a:xfrm>
          <a:prstGeom prst="rect">
            <a:avLst/>
          </a:prstGeom>
          <a:solidFill>
            <a:srgbClr val="BBDEFB"/>
          </a:solidFill>
          <a:ln w="5098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706" tIns="18353" rIns="36706" bIns="183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Ligne epaisse</a:t>
            </a:r>
          </a:p>
        </p:txBody>
      </p:sp>
      <p:sp>
        <p:nvSpPr>
          <p:cNvPr id="15" name="Bidirectionnel" descr="I"/>
          <p:cNvSpPr/>
          <p:nvPr/>
        </p:nvSpPr>
        <p:spPr>
          <a:xfrm>
            <a:off x="3409950" y="2921362"/>
            <a:ext cx="902360" cy="286767"/>
          </a:xfrm>
          <a:prstGeom prst="rect">
            <a:avLst/>
          </a:prstGeom>
          <a:solidFill>
            <a:srgbClr val="C8E6C9"/>
          </a:solidFill>
          <a:ln w="5098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706" tIns="18353" rIns="36706" bIns="183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Bidirectionnel</a:t>
            </a:r>
          </a:p>
        </p:txBody>
      </p:sp>
      <p:sp>
        <p:nvSpPr>
          <p:cNvPr id="16" name="Tete cercle" descr="J"/>
          <p:cNvSpPr/>
          <p:nvPr/>
        </p:nvSpPr>
        <p:spPr>
          <a:xfrm>
            <a:off x="3506304" y="3514013"/>
            <a:ext cx="709652" cy="286767"/>
          </a:xfrm>
          <a:prstGeom prst="rect">
            <a:avLst/>
          </a:prstGeom>
          <a:solidFill>
            <a:srgbClr val="FFE0B2"/>
          </a:solidFill>
          <a:ln w="5098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706" tIns="18353" rIns="36706" bIns="183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Tete cercle</a:t>
            </a:r>
          </a:p>
        </p:txBody>
      </p:sp>
      <p:sp>
        <p:nvSpPr>
          <p:cNvPr id="17" name="Tete croix" descr="K"/>
          <p:cNvSpPr/>
          <p:nvPr/>
        </p:nvSpPr>
        <p:spPr>
          <a:xfrm>
            <a:off x="3533833" y="4106665"/>
            <a:ext cx="654593" cy="286767"/>
          </a:xfrm>
          <a:prstGeom prst="rect">
            <a:avLst/>
          </a:prstGeom>
          <a:solidFill>
            <a:srgbClr val="E1BEE7"/>
          </a:solidFill>
          <a:ln w="5098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706" tIns="18353" rIns="36706" bIns="183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Tete croix</a:t>
            </a:r>
          </a:p>
        </p:txBody>
      </p:sp>
      <p:sp>
        <p:nvSpPr>
          <p:cNvPr id="18" name="Cercle des deux cotes" descr="L"/>
          <p:cNvSpPr/>
          <p:nvPr/>
        </p:nvSpPr>
        <p:spPr>
          <a:xfrm>
            <a:off x="3533833" y="4699316"/>
            <a:ext cx="654593" cy="401474"/>
          </a:xfrm>
          <a:prstGeom prst="rect">
            <a:avLst/>
          </a:prstGeom>
          <a:solidFill>
            <a:srgbClr val="FFCDD2"/>
          </a:solidFill>
          <a:ln w="5098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706" tIns="18353" rIns="36706" bIns="183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Cercle des deux cotes</a:t>
            </a:r>
          </a:p>
        </p:txBody>
      </p:sp>
      <p:sp>
        <p:nvSpPr>
          <p:cNvPr id="19" name="Croix des deux cotes" descr="M"/>
          <p:cNvSpPr/>
          <p:nvPr/>
        </p:nvSpPr>
        <p:spPr>
          <a:xfrm>
            <a:off x="3437480" y="5406675"/>
            <a:ext cx="847301" cy="401474"/>
          </a:xfrm>
          <a:prstGeom prst="rect">
            <a:avLst/>
          </a:prstGeom>
          <a:solidFill>
            <a:srgbClr val="FFF9C4"/>
          </a:solidFill>
          <a:ln w="5098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706" tIns="18353" rIns="36706" bIns="183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Croix des deux cotes</a:t>
            </a:r>
          </a:p>
        </p:txBody>
      </p:sp>
      <p:sp>
        <p:nvSpPr>
          <p:cNvPr id="20" name="Invisible" descr="N"/>
          <p:cNvSpPr/>
          <p:nvPr/>
        </p:nvSpPr>
        <p:spPr>
          <a:xfrm>
            <a:off x="3547598" y="6114033"/>
            <a:ext cx="627064" cy="286767"/>
          </a:xfrm>
          <a:prstGeom prst="rect">
            <a:avLst/>
          </a:prstGeom>
          <a:solidFill>
            <a:srgbClr val="BBDEFB"/>
          </a:solidFill>
          <a:ln w="5098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706" tIns="18353" rIns="36706" bIns="183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Invisible</a:t>
            </a:r>
          </a:p>
        </p:txBody>
      </p:sp>
      <p:cxnSp>
        <p:nvCxnSpPr>
          <p:cNvPr id="21" name="F--G"/>
          <p:cNvCxnSpPr>
            <a:stCxn id="12" idx="2"/>
            <a:endCxn id="13" idx="0"/>
          </p:cNvCxnSpPr>
          <p:nvPr/>
        </p:nvCxnSpPr>
        <p:spPr>
          <a:xfrm>
            <a:off x="3861130" y="1315467"/>
            <a:ext cx="0" cy="305885"/>
          </a:xfrm>
          <a:prstGeom prst="line">
            <a:avLst/>
          </a:prstGeom>
          <a:ln w="5098" cap="flat" cmpd="sng" algn="ctr">
            <a:solidFill>
              <a:srgbClr val="2F54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--H"/>
          <p:cNvCxnSpPr>
            <a:stCxn id="13" idx="2"/>
            <a:endCxn id="14" idx="0"/>
          </p:cNvCxnSpPr>
          <p:nvPr/>
        </p:nvCxnSpPr>
        <p:spPr>
          <a:xfrm>
            <a:off x="3861130" y="2022825"/>
            <a:ext cx="0" cy="305885"/>
          </a:xfrm>
          <a:prstGeom prst="line">
            <a:avLst/>
          </a:prstGeom>
          <a:ln w="10196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H--I"/>
          <p:cNvCxnSpPr>
            <a:stCxn id="14" idx="2"/>
            <a:endCxn id="15" idx="0"/>
          </p:cNvCxnSpPr>
          <p:nvPr/>
        </p:nvCxnSpPr>
        <p:spPr>
          <a:xfrm>
            <a:off x="3861130" y="2615477"/>
            <a:ext cx="0" cy="305885"/>
          </a:xfrm>
          <a:prstGeom prst="line">
            <a:avLst/>
          </a:prstGeom>
          <a:ln w="5098" cap="flat" cmpd="sng" algn="ctr">
            <a:solidFill>
              <a:srgbClr val="2F5496"/>
            </a:solidFill>
            <a:prstDash val="solid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I--J"/>
          <p:cNvCxnSpPr>
            <a:stCxn id="15" idx="2"/>
            <a:endCxn id="16" idx="0"/>
          </p:cNvCxnSpPr>
          <p:nvPr/>
        </p:nvCxnSpPr>
        <p:spPr>
          <a:xfrm>
            <a:off x="3861130" y="3208128"/>
            <a:ext cx="0" cy="305885"/>
          </a:xfrm>
          <a:prstGeom prst="line">
            <a:avLst/>
          </a:prstGeom>
          <a:ln w="5098" cap="flat" cmpd="sng" algn="ctr">
            <a:solidFill>
              <a:srgbClr val="2F5496"/>
            </a:solidFill>
            <a:prstDash val="soli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J--K"/>
          <p:cNvCxnSpPr>
            <a:stCxn id="16" idx="2"/>
            <a:endCxn id="17" idx="0"/>
          </p:cNvCxnSpPr>
          <p:nvPr/>
        </p:nvCxnSpPr>
        <p:spPr>
          <a:xfrm>
            <a:off x="3861130" y="3800780"/>
            <a:ext cx="0" cy="305885"/>
          </a:xfrm>
          <a:prstGeom prst="line">
            <a:avLst/>
          </a:prstGeom>
          <a:ln w="5098" cap="flat" cmpd="sng" algn="ctr">
            <a:solidFill>
              <a:srgbClr val="2F5496"/>
            </a:solidFill>
            <a:prstDash val="solid"/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K--L"/>
          <p:cNvCxnSpPr>
            <a:stCxn id="17" idx="2"/>
            <a:endCxn id="18" idx="0"/>
          </p:cNvCxnSpPr>
          <p:nvPr/>
        </p:nvCxnSpPr>
        <p:spPr>
          <a:xfrm>
            <a:off x="3861130" y="4393432"/>
            <a:ext cx="0" cy="305884"/>
          </a:xfrm>
          <a:prstGeom prst="line">
            <a:avLst/>
          </a:prstGeom>
          <a:ln w="5098" cap="flat" cmpd="sng" algn="ctr">
            <a:solidFill>
              <a:srgbClr val="2F5496"/>
            </a:solidFill>
            <a:prstDash val="solid"/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L--M"/>
          <p:cNvCxnSpPr>
            <a:stCxn id="18" idx="2"/>
            <a:endCxn id="19" idx="0"/>
          </p:cNvCxnSpPr>
          <p:nvPr/>
        </p:nvCxnSpPr>
        <p:spPr>
          <a:xfrm>
            <a:off x="3861130" y="5100790"/>
            <a:ext cx="0" cy="305885"/>
          </a:xfrm>
          <a:prstGeom prst="line">
            <a:avLst/>
          </a:prstGeom>
          <a:ln w="5098" cap="flat" cmpd="sng" algn="ctr">
            <a:solidFill>
              <a:srgbClr val="2F5496"/>
            </a:solidFill>
            <a:prstDash val="solid"/>
            <a:headEnd type="diamond" w="med" len="med"/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M--N"/>
          <p:cNvCxnSpPr>
            <a:stCxn id="19" idx="2"/>
            <a:endCxn id="20" idx="0"/>
          </p:cNvCxnSpPr>
          <p:nvPr/>
        </p:nvCxnSpPr>
        <p:spPr>
          <a:xfrm>
            <a:off x="3861130" y="5808148"/>
            <a:ext cx="0" cy="305885"/>
          </a:xfrm>
          <a:prstGeom prst="line">
            <a:avLst/>
          </a:prstGeom>
          <a:ln w="5098" cap="flat" cmpd="sng" algn="ctr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edge-types</a:t>
            </a:r>
          </a:p>
        </p:txBody>
      </p:sp>
      <p:sp>
        <p:nvSpPr>
          <p:cNvPr id="12" name="Depart" descr="A"/>
          <p:cNvSpPr/>
          <p:nvPr/>
        </p:nvSpPr>
        <p:spPr>
          <a:xfrm>
            <a:off x="457200" y="3328883"/>
            <a:ext cx="1243006" cy="771734"/>
          </a:xfrm>
          <a:prstGeom prst="rect">
            <a:avLst/>
          </a:prstGeom>
          <a:solidFill>
            <a:srgbClr val="FFF9C4"/>
          </a:solidFill>
          <a:ln w="13720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782" tIns="49391" rIns="98782" bIns="4939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96" dirty="0">
                <a:solidFill>
                  <a:srgbClr val="000000"/>
                </a:solidFill>
              </a:rPr>
              <a:t>Depart</a:t>
            </a:r>
          </a:p>
        </p:txBody>
      </p:sp>
      <p:sp>
        <p:nvSpPr>
          <p:cNvPr id="13" name="Fleche" descr="B"/>
          <p:cNvSpPr/>
          <p:nvPr/>
        </p:nvSpPr>
        <p:spPr>
          <a:xfrm>
            <a:off x="2523388" y="3328883"/>
            <a:ext cx="1243006" cy="771734"/>
          </a:xfrm>
          <a:prstGeom prst="rect">
            <a:avLst/>
          </a:prstGeom>
          <a:solidFill>
            <a:srgbClr val="BBDEFB"/>
          </a:solidFill>
          <a:ln w="13720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782" tIns="49391" rIns="98782" bIns="4939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96" dirty="0">
                <a:solidFill>
                  <a:srgbClr val="000000"/>
                </a:solidFill>
              </a:rPr>
              <a:t>Fleche</a:t>
            </a:r>
          </a:p>
        </p:txBody>
      </p:sp>
      <p:sp>
        <p:nvSpPr>
          <p:cNvPr id="14" name="Ligne" descr="C"/>
          <p:cNvSpPr/>
          <p:nvPr/>
        </p:nvSpPr>
        <p:spPr>
          <a:xfrm>
            <a:off x="4589576" y="3328883"/>
            <a:ext cx="1094833" cy="771734"/>
          </a:xfrm>
          <a:prstGeom prst="rect">
            <a:avLst/>
          </a:prstGeom>
          <a:solidFill>
            <a:srgbClr val="C8E6C9"/>
          </a:solidFill>
          <a:ln w="13720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782" tIns="49391" rIns="98782" bIns="4939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96" dirty="0">
                <a:solidFill>
                  <a:srgbClr val="000000"/>
                </a:solidFill>
              </a:rPr>
              <a:t>Ligne</a:t>
            </a:r>
          </a:p>
        </p:txBody>
      </p:sp>
      <p:sp>
        <p:nvSpPr>
          <p:cNvPr id="15" name="Pointille" descr="D"/>
          <p:cNvSpPr/>
          <p:nvPr/>
        </p:nvSpPr>
        <p:spPr>
          <a:xfrm>
            <a:off x="6507591" y="3328883"/>
            <a:ext cx="1687524" cy="771734"/>
          </a:xfrm>
          <a:prstGeom prst="rect">
            <a:avLst/>
          </a:prstGeom>
          <a:solidFill>
            <a:srgbClr val="FFE0B2"/>
          </a:solidFill>
          <a:ln w="13720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782" tIns="49391" rIns="98782" bIns="4939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96" dirty="0">
                <a:solidFill>
                  <a:srgbClr val="000000"/>
                </a:solidFill>
              </a:rPr>
              <a:t>Pointille</a:t>
            </a:r>
          </a:p>
        </p:txBody>
      </p:sp>
      <p:sp>
        <p:nvSpPr>
          <p:cNvPr id="16" name="Epais" descr="E"/>
          <p:cNvSpPr/>
          <p:nvPr/>
        </p:nvSpPr>
        <p:spPr>
          <a:xfrm>
            <a:off x="9018298" y="3328883"/>
            <a:ext cx="1094833" cy="771734"/>
          </a:xfrm>
          <a:prstGeom prst="rect">
            <a:avLst/>
          </a:prstGeom>
          <a:solidFill>
            <a:srgbClr val="E1BEE7"/>
          </a:solidFill>
          <a:ln w="13720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782" tIns="49391" rIns="98782" bIns="4939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96" dirty="0">
                <a:solidFill>
                  <a:srgbClr val="000000"/>
                </a:solidFill>
              </a:rPr>
              <a:t>Epais</a:t>
            </a:r>
          </a:p>
        </p:txBody>
      </p:sp>
      <p:sp>
        <p:nvSpPr>
          <p:cNvPr id="17" name="Fin" descr="F"/>
          <p:cNvSpPr/>
          <p:nvPr/>
        </p:nvSpPr>
        <p:spPr>
          <a:xfrm>
            <a:off x="10936313" y="3328883"/>
            <a:ext cx="798487" cy="771734"/>
          </a:xfrm>
          <a:prstGeom prst="rect">
            <a:avLst/>
          </a:prstGeom>
          <a:solidFill>
            <a:srgbClr val="FFCDD2"/>
          </a:solidFill>
          <a:ln w="13720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782" tIns="49391" rIns="98782" bIns="4939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96" dirty="0">
                <a:solidFill>
                  <a:srgbClr val="000000"/>
                </a:solidFill>
              </a:rPr>
              <a:t>Fin</a:t>
            </a:r>
          </a:p>
        </p:txBody>
      </p:sp>
      <p:cxnSp>
        <p:nvCxnSpPr>
          <p:cNvPr id="18" name="A--B"/>
          <p:cNvCxnSpPr>
            <a:stCxn id="12" idx="3"/>
            <a:endCxn id="13" idx="1"/>
          </p:cNvCxnSpPr>
          <p:nvPr/>
        </p:nvCxnSpPr>
        <p:spPr>
          <a:xfrm>
            <a:off x="1700206" y="3714751"/>
            <a:ext cx="823182" cy="0"/>
          </a:xfrm>
          <a:prstGeom prst="line">
            <a:avLst/>
          </a:prstGeom>
          <a:ln w="13720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B--C"/>
          <p:cNvCxnSpPr>
            <a:stCxn id="13" idx="3"/>
            <a:endCxn id="14" idx="1"/>
          </p:cNvCxnSpPr>
          <p:nvPr/>
        </p:nvCxnSpPr>
        <p:spPr>
          <a:xfrm>
            <a:off x="3766394" y="3714751"/>
            <a:ext cx="823182" cy="0"/>
          </a:xfrm>
          <a:prstGeom prst="line">
            <a:avLst/>
          </a:prstGeom>
          <a:ln w="13720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--D"/>
          <p:cNvCxnSpPr>
            <a:stCxn id="14" idx="3"/>
            <a:endCxn id="15" idx="1"/>
          </p:cNvCxnSpPr>
          <p:nvPr/>
        </p:nvCxnSpPr>
        <p:spPr>
          <a:xfrm>
            <a:off x="5684409" y="3714751"/>
            <a:ext cx="823182" cy="0"/>
          </a:xfrm>
          <a:prstGeom prst="line">
            <a:avLst/>
          </a:prstGeom>
          <a:ln w="13720" cap="flat" cmpd="sng" algn="ctr">
            <a:solidFill>
              <a:srgbClr val="2F549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D--E"/>
          <p:cNvCxnSpPr>
            <a:stCxn id="15" idx="3"/>
            <a:endCxn id="16" idx="1"/>
          </p:cNvCxnSpPr>
          <p:nvPr/>
        </p:nvCxnSpPr>
        <p:spPr>
          <a:xfrm>
            <a:off x="8195115" y="3714751"/>
            <a:ext cx="823182" cy="0"/>
          </a:xfrm>
          <a:prstGeom prst="line">
            <a:avLst/>
          </a:prstGeom>
          <a:ln w="2743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--F"/>
          <p:cNvCxnSpPr>
            <a:stCxn id="16" idx="3"/>
            <a:endCxn id="17" idx="1"/>
          </p:cNvCxnSpPr>
          <p:nvPr/>
        </p:nvCxnSpPr>
        <p:spPr>
          <a:xfrm>
            <a:off x="10113131" y="3714751"/>
            <a:ext cx="823182" cy="0"/>
          </a:xfrm>
          <a:prstGeom prst="line">
            <a:avLst/>
          </a:prstGeom>
          <a:ln w="13720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dgeLabel"/>
          <p:cNvSpPr txBox="1"/>
          <p:nvPr/>
        </p:nvSpPr>
        <p:spPr>
          <a:xfrm>
            <a:off x="9879347" y="3591273"/>
            <a:ext cx="1290750" cy="2469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41159" tIns="0" rIns="41159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64" dirty="0">
                <a:solidFill>
                  <a:srgbClr val="000000"/>
                </a:solidFill>
              </a:rPr>
              <a:t>avec label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er-diagram</a:t>
            </a:r>
          </a:p>
        </p:txBody>
      </p:sp>
      <p:cxnSp>
        <p:nvCxnSpPr>
          <p:cNvPr id="11" name="Connector 1"/>
          <p:cNvCxnSpPr/>
          <p:nvPr/>
        </p:nvCxnSpPr>
        <p:spPr>
          <a:xfrm flipH="1">
            <a:off x="6011059" y="2403958"/>
            <a:ext cx="209635" cy="752094"/>
          </a:xfrm>
          <a:prstGeom prst="line">
            <a:avLst/>
          </a:prstGeom>
          <a:ln w="10744">
            <a:solidFill>
              <a:srgbClr val="2F5496"/>
            </a:solidFill>
            <a:prstDash val="solid"/>
            <a:tailEnd type="diamond" w="lg" len="lg"/>
          </a:ln>
        </p:spPr>
      </p:cxnSp>
      <p:sp>
        <p:nvSpPr>
          <p:cNvPr id="12" name="Text 2"/>
          <p:cNvSpPr txBox="1"/>
          <p:nvPr/>
        </p:nvSpPr>
        <p:spPr>
          <a:xfrm>
            <a:off x="5896695" y="2672563"/>
            <a:ext cx="438363" cy="2148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2" dirty="0">
                <a:solidFill>
                  <a:srgbClr val="000000"/>
                </a:solidFill>
              </a:rPr>
              <a:t>places</a:t>
            </a:r>
          </a:p>
        </p:txBody>
      </p:sp>
      <p:cxnSp>
        <p:nvCxnSpPr>
          <p:cNvPr id="13" name="Connector 3"/>
          <p:cNvCxnSpPr/>
          <p:nvPr/>
        </p:nvCxnSpPr>
        <p:spPr>
          <a:xfrm>
            <a:off x="6011059" y="4273448"/>
            <a:ext cx="209635" cy="752094"/>
          </a:xfrm>
          <a:prstGeom prst="line">
            <a:avLst/>
          </a:prstGeom>
          <a:ln w="10744">
            <a:solidFill>
              <a:srgbClr val="2F5496"/>
            </a:solidFill>
            <a:prstDash val="solid"/>
            <a:tailEnd type="triangle" w="lg" len="lg"/>
          </a:ln>
        </p:spPr>
      </p:cxnSp>
      <p:sp>
        <p:nvSpPr>
          <p:cNvPr id="14" name="Text 4"/>
          <p:cNvSpPr txBox="1"/>
          <p:nvPr/>
        </p:nvSpPr>
        <p:spPr>
          <a:xfrm>
            <a:off x="5845123" y="4542053"/>
            <a:ext cx="541508" cy="2148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2" dirty="0">
                <a:solidFill>
                  <a:srgbClr val="000000"/>
                </a:solidFill>
              </a:rPr>
              <a:t>contains</a:t>
            </a:r>
          </a:p>
        </p:txBody>
      </p:sp>
      <p:cxnSp>
        <p:nvCxnSpPr>
          <p:cNvPr id="15" name="Connector 5"/>
          <p:cNvCxnSpPr/>
          <p:nvPr/>
        </p:nvCxnSpPr>
        <p:spPr>
          <a:xfrm>
            <a:off x="6376423" y="2403958"/>
            <a:ext cx="1" cy="2621585"/>
          </a:xfrm>
          <a:prstGeom prst="line">
            <a:avLst/>
          </a:prstGeom>
          <a:ln w="10744">
            <a:solidFill>
              <a:srgbClr val="2F5496"/>
            </a:solidFill>
            <a:prstDash val="dash"/>
            <a:headEnd type="triangle" w="lg" len="lg"/>
            <a:tailEnd type="triangle" w="lg" len="lg"/>
          </a:ln>
        </p:spPr>
      </p:cxnSp>
      <p:sp>
        <p:nvSpPr>
          <p:cNvPr id="16" name="Text 6"/>
          <p:cNvSpPr txBox="1"/>
          <p:nvPr/>
        </p:nvSpPr>
        <p:spPr>
          <a:xfrm>
            <a:off x="6131455" y="3607308"/>
            <a:ext cx="489936" cy="2148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2" dirty="0">
                <a:solidFill>
                  <a:srgbClr val="000000"/>
                </a:solidFill>
              </a:rPr>
              <a:t>reviews</a:t>
            </a:r>
          </a:p>
        </p:txBody>
      </p:sp>
      <p:sp>
        <p:nvSpPr>
          <p:cNvPr id="17" name="CUSTOMER"/>
          <p:cNvSpPr/>
          <p:nvPr/>
        </p:nvSpPr>
        <p:spPr>
          <a:xfrm>
            <a:off x="5791939" y="1286561"/>
            <a:ext cx="1168969" cy="1117397"/>
          </a:xfrm>
          <a:prstGeom prst="rect">
            <a:avLst/>
          </a:prstGeom>
          <a:solidFill>
            <a:srgbClr val="FFFFFF"/>
          </a:solidFill>
          <a:ln w="10744">
            <a:solidFill>
              <a:srgbClr val="2F5496"/>
            </a:solidFill>
          </a:ln>
        </p:spPr>
      </p:sp>
      <p:sp>
        <p:nvSpPr>
          <p:cNvPr id="18" name="CUSTOMER title"/>
          <p:cNvSpPr/>
          <p:nvPr/>
        </p:nvSpPr>
        <p:spPr>
          <a:xfrm>
            <a:off x="5791939" y="1286561"/>
            <a:ext cx="1168969" cy="343814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19" name="Divider"/>
          <p:cNvSpPr/>
          <p:nvPr/>
        </p:nvSpPr>
        <p:spPr>
          <a:xfrm>
            <a:off x="5791939" y="1625003"/>
            <a:ext cx="1168969" cy="1074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20" name="Text 10"/>
          <p:cNvSpPr txBox="1"/>
          <p:nvPr/>
        </p:nvSpPr>
        <p:spPr>
          <a:xfrm>
            <a:off x="5791939" y="1286561"/>
            <a:ext cx="1168969" cy="343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241" dirty="0">
                <a:solidFill>
                  <a:srgbClr val="000000"/>
                </a:solidFill>
              </a:rPr>
              <a:t>CUSTOMER</a:t>
            </a:r>
          </a:p>
        </p:txBody>
      </p:sp>
      <p:sp>
        <p:nvSpPr>
          <p:cNvPr id="21" name="Text 11"/>
          <p:cNvSpPr txBox="1"/>
          <p:nvPr/>
        </p:nvSpPr>
        <p:spPr>
          <a:xfrm>
            <a:off x="5899381" y="1630375"/>
            <a:ext cx="954085" cy="7735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15" dirty="0">
                <a:solidFill>
                  <a:srgbClr val="000000"/>
                </a:solidFill>
              </a:rPr>
              <a:t>PK int id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15" dirty="0">
                <a:solidFill>
                  <a:srgbClr val="000000"/>
                </a:solidFill>
              </a:rPr>
              <a:t>UK string email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15" dirty="0">
                <a:solidFill>
                  <a:srgbClr val="000000"/>
                </a:solidFill>
              </a:rPr>
              <a:t>string name</a:t>
            </a:r>
          </a:p>
        </p:txBody>
      </p:sp>
      <p:sp>
        <p:nvSpPr>
          <p:cNvPr id="22" name="ORDER"/>
          <p:cNvSpPr/>
          <p:nvPr/>
        </p:nvSpPr>
        <p:spPr>
          <a:xfrm>
            <a:off x="5189190" y="3156052"/>
            <a:ext cx="1332281" cy="1117397"/>
          </a:xfrm>
          <a:prstGeom prst="rect">
            <a:avLst/>
          </a:prstGeom>
          <a:solidFill>
            <a:srgbClr val="FFFFFF"/>
          </a:solidFill>
          <a:ln w="10744">
            <a:solidFill>
              <a:srgbClr val="2F5496"/>
            </a:solidFill>
          </a:ln>
        </p:spPr>
      </p:sp>
      <p:sp>
        <p:nvSpPr>
          <p:cNvPr id="23" name="ORDER title"/>
          <p:cNvSpPr/>
          <p:nvPr/>
        </p:nvSpPr>
        <p:spPr>
          <a:xfrm>
            <a:off x="5189190" y="3156052"/>
            <a:ext cx="1332281" cy="343814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24" name="Divider"/>
          <p:cNvSpPr/>
          <p:nvPr/>
        </p:nvSpPr>
        <p:spPr>
          <a:xfrm>
            <a:off x="5189190" y="3494493"/>
            <a:ext cx="1332281" cy="1074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25" name="Text 15"/>
          <p:cNvSpPr txBox="1"/>
          <p:nvPr/>
        </p:nvSpPr>
        <p:spPr>
          <a:xfrm>
            <a:off x="5189190" y="3156052"/>
            <a:ext cx="1332281" cy="343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241" dirty="0">
                <a:solidFill>
                  <a:srgbClr val="000000"/>
                </a:solidFill>
              </a:rPr>
              <a:t>ORDER</a:t>
            </a:r>
          </a:p>
        </p:txBody>
      </p:sp>
      <p:sp>
        <p:nvSpPr>
          <p:cNvPr id="26" name="Text 16"/>
          <p:cNvSpPr txBox="1"/>
          <p:nvPr/>
        </p:nvSpPr>
        <p:spPr>
          <a:xfrm>
            <a:off x="5296632" y="3499866"/>
            <a:ext cx="1117397" cy="7735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15" dirty="0">
                <a:solidFill>
                  <a:srgbClr val="000000"/>
                </a:solidFill>
              </a:rPr>
              <a:t>PK int id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15" dirty="0">
                <a:solidFill>
                  <a:srgbClr val="000000"/>
                </a:solidFill>
              </a:rPr>
              <a:t>FK int customer_id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15" dirty="0">
                <a:solidFill>
                  <a:srgbClr val="000000"/>
                </a:solidFill>
              </a:rPr>
              <a:t>string status</a:t>
            </a:r>
          </a:p>
        </p:txBody>
      </p:sp>
      <p:sp>
        <p:nvSpPr>
          <p:cNvPr id="27" name="LINE-ITEM"/>
          <p:cNvSpPr/>
          <p:nvPr/>
        </p:nvSpPr>
        <p:spPr>
          <a:xfrm>
            <a:off x="5750037" y="5025542"/>
            <a:ext cx="1252774" cy="1117397"/>
          </a:xfrm>
          <a:prstGeom prst="rect">
            <a:avLst/>
          </a:prstGeom>
          <a:solidFill>
            <a:srgbClr val="FFFFFF"/>
          </a:solidFill>
          <a:ln w="10744">
            <a:solidFill>
              <a:srgbClr val="2F5496"/>
            </a:solidFill>
          </a:ln>
        </p:spPr>
      </p:sp>
      <p:sp>
        <p:nvSpPr>
          <p:cNvPr id="28" name="LINE-ITEM title"/>
          <p:cNvSpPr/>
          <p:nvPr/>
        </p:nvSpPr>
        <p:spPr>
          <a:xfrm>
            <a:off x="5750037" y="5025542"/>
            <a:ext cx="1252774" cy="343814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29" name="Divider"/>
          <p:cNvSpPr/>
          <p:nvPr/>
        </p:nvSpPr>
        <p:spPr>
          <a:xfrm>
            <a:off x="5750037" y="5363984"/>
            <a:ext cx="1252774" cy="1074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30" name="Text 20"/>
          <p:cNvSpPr txBox="1"/>
          <p:nvPr/>
        </p:nvSpPr>
        <p:spPr>
          <a:xfrm>
            <a:off x="5750037" y="5025542"/>
            <a:ext cx="1252774" cy="343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241" dirty="0">
                <a:solidFill>
                  <a:srgbClr val="000000"/>
                </a:solidFill>
              </a:rPr>
              <a:t>LINE-ITEM</a:t>
            </a:r>
          </a:p>
        </p:txBody>
      </p:sp>
      <p:sp>
        <p:nvSpPr>
          <p:cNvPr id="31" name="Text 21"/>
          <p:cNvSpPr txBox="1"/>
          <p:nvPr/>
        </p:nvSpPr>
        <p:spPr>
          <a:xfrm>
            <a:off x="5857479" y="5369357"/>
            <a:ext cx="1037890" cy="7735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15" dirty="0">
                <a:solidFill>
                  <a:srgbClr val="000000"/>
                </a:solidFill>
              </a:rPr>
              <a:t>PK int id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15" dirty="0">
                <a:solidFill>
                  <a:srgbClr val="000000"/>
                </a:solidFill>
              </a:rPr>
              <a:t>FK int order_id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15" dirty="0">
                <a:solidFill>
                  <a:srgbClr val="000000"/>
                </a:solidFill>
              </a:rPr>
              <a:t>string product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escape-xml</a:t>
            </a:r>
          </a:p>
        </p:txBody>
      </p:sp>
      <p:sp>
        <p:nvSpPr>
          <p:cNvPr id="12" name="Requete &lt;GET&gt; &amp; valeur" descr="A"/>
          <p:cNvSpPr/>
          <p:nvPr/>
        </p:nvSpPr>
        <p:spPr>
          <a:xfrm>
            <a:off x="4370642" y="1028700"/>
            <a:ext cx="1619670" cy="767443"/>
          </a:xfrm>
          <a:prstGeom prst="rect">
            <a:avLst/>
          </a:prstGeom>
          <a:solidFill>
            <a:srgbClr val="D9E2F3"/>
          </a:solidFill>
          <a:ln w="9745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0166" tIns="35083" rIns="70166" bIns="350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Requete &lt;GET&gt; &amp; valeur</a:t>
            </a:r>
          </a:p>
        </p:txBody>
      </p:sp>
      <p:sp>
        <p:nvSpPr>
          <p:cNvPr id="13" name="Valide?" descr="B"/>
          <p:cNvSpPr/>
          <p:nvPr/>
        </p:nvSpPr>
        <p:spPr>
          <a:xfrm>
            <a:off x="4192303" y="2380861"/>
            <a:ext cx="1976348" cy="1096347"/>
          </a:xfrm>
          <a:prstGeom prst="diamond">
            <a:avLst/>
          </a:prstGeom>
          <a:solidFill>
            <a:srgbClr val="D9E2F3"/>
          </a:solidFill>
          <a:ln w="9745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0166" tIns="35083" rIns="70166" bIns="350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Valide?</a:t>
            </a:r>
          </a:p>
        </p:txBody>
      </p:sp>
      <p:sp>
        <p:nvSpPr>
          <p:cNvPr id="14" name="Resultat &lt;OK&gt;" descr="C"/>
          <p:cNvSpPr/>
          <p:nvPr/>
        </p:nvSpPr>
        <p:spPr>
          <a:xfrm>
            <a:off x="3409950" y="4171561"/>
            <a:ext cx="1602128" cy="548173"/>
          </a:xfrm>
          <a:prstGeom prst="rect">
            <a:avLst/>
          </a:prstGeom>
          <a:solidFill>
            <a:srgbClr val="D9E2F3"/>
          </a:solidFill>
          <a:ln w="9745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0166" tIns="35083" rIns="70166" bIns="350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Resultat &lt;OK&gt;</a:t>
            </a:r>
          </a:p>
        </p:txBody>
      </p:sp>
      <p:sp>
        <p:nvSpPr>
          <p:cNvPr id="15" name="Erreur 500 &amp; echec" descr="D"/>
          <p:cNvSpPr/>
          <p:nvPr/>
        </p:nvSpPr>
        <p:spPr>
          <a:xfrm>
            <a:off x="5450617" y="4061927"/>
            <a:ext cx="1398646" cy="767443"/>
          </a:xfrm>
          <a:prstGeom prst="rect">
            <a:avLst/>
          </a:prstGeom>
          <a:solidFill>
            <a:srgbClr val="D9E2F3"/>
          </a:solidFill>
          <a:ln w="9745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0166" tIns="35083" rIns="70166" bIns="350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Erreur 500 &amp; echec</a:t>
            </a:r>
          </a:p>
        </p:txBody>
      </p:sp>
      <p:sp>
        <p:nvSpPr>
          <p:cNvPr id="16" name="Sauver 'donnees' &amp; finir" descr="E"/>
          <p:cNvSpPr/>
          <p:nvPr/>
        </p:nvSpPr>
        <p:spPr>
          <a:xfrm>
            <a:off x="3541512" y="5414088"/>
            <a:ext cx="1339005" cy="986712"/>
          </a:xfrm>
          <a:prstGeom prst="rect">
            <a:avLst/>
          </a:prstGeom>
          <a:solidFill>
            <a:srgbClr val="D9E2F3"/>
          </a:solidFill>
          <a:ln w="9745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0166" tIns="35083" rIns="70166" bIns="350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Sauver 'donnees' &amp; finir</a:t>
            </a:r>
          </a:p>
        </p:txBody>
      </p:sp>
      <p:cxnSp>
        <p:nvCxnSpPr>
          <p:cNvPr id="17" name="A--B"/>
          <p:cNvCxnSpPr>
            <a:stCxn id="12" idx="2"/>
            <a:endCxn id="13" idx="0"/>
          </p:cNvCxnSpPr>
          <p:nvPr/>
        </p:nvCxnSpPr>
        <p:spPr>
          <a:xfrm>
            <a:off x="5180477" y="1796143"/>
            <a:ext cx="0" cy="584718"/>
          </a:xfrm>
          <a:prstGeom prst="line">
            <a:avLst/>
          </a:prstGeom>
          <a:ln w="9745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B--C"/>
          <p:cNvCxnSpPr>
            <a:stCxn id="13" idx="2"/>
            <a:endCxn id="14" idx="0"/>
          </p:cNvCxnSpPr>
          <p:nvPr/>
        </p:nvCxnSpPr>
        <p:spPr>
          <a:xfrm flipH="1">
            <a:off x="4211014" y="3477208"/>
            <a:ext cx="969463" cy="694353"/>
          </a:xfrm>
          <a:prstGeom prst="line">
            <a:avLst/>
          </a:prstGeom>
          <a:ln w="9745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Label"/>
          <p:cNvSpPr txBox="1"/>
          <p:nvPr/>
        </p:nvSpPr>
        <p:spPr>
          <a:xfrm>
            <a:off x="4510975" y="3736677"/>
            <a:ext cx="369542" cy="1754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29236" tIns="0" rIns="29236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oui</a:t>
            </a:r>
          </a:p>
        </p:txBody>
      </p:sp>
      <p:cxnSp>
        <p:nvCxnSpPr>
          <p:cNvPr id="20" name="B--D"/>
          <p:cNvCxnSpPr>
            <a:stCxn id="13" idx="2"/>
            <a:endCxn id="15" idx="0"/>
          </p:cNvCxnSpPr>
          <p:nvPr/>
        </p:nvCxnSpPr>
        <p:spPr>
          <a:xfrm>
            <a:off x="5180477" y="3477208"/>
            <a:ext cx="969463" cy="584719"/>
          </a:xfrm>
          <a:prstGeom prst="line">
            <a:avLst/>
          </a:prstGeom>
          <a:ln w="9745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dgeLabel"/>
          <p:cNvSpPr txBox="1"/>
          <p:nvPr/>
        </p:nvSpPr>
        <p:spPr>
          <a:xfrm>
            <a:off x="5480438" y="3681859"/>
            <a:ext cx="369542" cy="1754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29236" tIns="0" rIns="29236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non</a:t>
            </a:r>
          </a:p>
        </p:txBody>
      </p:sp>
      <p:cxnSp>
        <p:nvCxnSpPr>
          <p:cNvPr id="22" name="C--E"/>
          <p:cNvCxnSpPr>
            <a:stCxn id="14" idx="2"/>
            <a:endCxn id="16" idx="0"/>
          </p:cNvCxnSpPr>
          <p:nvPr/>
        </p:nvCxnSpPr>
        <p:spPr>
          <a:xfrm>
            <a:off x="4211014" y="4719735"/>
            <a:ext cx="0" cy="694353"/>
          </a:xfrm>
          <a:prstGeom prst="line">
            <a:avLst/>
          </a:prstGeom>
          <a:ln w="9745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eventmodeling</a:t>
            </a:r>
          </a:p>
        </p:txBody>
      </p:sp>
      <p:sp>
        <p:nvSpPr>
          <p:cNvPr id="11" name="Lane UI / Automation"/>
          <p:cNvSpPr/>
          <p:nvPr/>
        </p:nvSpPr>
        <p:spPr>
          <a:xfrm>
            <a:off x="457200" y="2688653"/>
            <a:ext cx="11277600" cy="366238"/>
          </a:xfrm>
          <a:prstGeom prst="rect">
            <a:avLst/>
          </a:prstGeom>
          <a:solidFill>
            <a:srgbClr val="F7F7F7"/>
          </a:solidFill>
          <a:ln w="9525">
            <a:solidFill>
              <a:srgbClr val="D0D0D0"/>
            </a:solidFill>
          </a:ln>
        </p:spPr>
      </p:sp>
      <p:sp>
        <p:nvSpPr>
          <p:cNvPr id="12" name="Box 2"/>
          <p:cNvSpPr/>
          <p:nvPr/>
        </p:nvSpPr>
        <p:spPr>
          <a:xfrm>
            <a:off x="495087" y="2783370"/>
            <a:ext cx="681960" cy="88402"/>
          </a:xfrm>
          <a:prstGeom prst="rect">
            <a:avLst/>
          </a:prstGeom>
          <a:noFill/>
          <a:ln>
            <a:noFill/>
          </a:ln>
        </p:spPr>
        <p:txBody>
          <a:bodyPr wrap="none" lIns="12629" tIns="0" rIns="12629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333333"/>
                </a:solidFill>
              </a:rPr>
              <a:t>UI / Automation</a:t>
            </a:r>
          </a:p>
        </p:txBody>
      </p:sp>
      <p:sp>
        <p:nvSpPr>
          <p:cNvPr id="13" name="Lane Command / Read Model"/>
          <p:cNvSpPr/>
          <p:nvPr/>
        </p:nvSpPr>
        <p:spPr>
          <a:xfrm>
            <a:off x="457200" y="3054891"/>
            <a:ext cx="11277600" cy="54304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</p:sp>
      <p:sp>
        <p:nvSpPr>
          <p:cNvPr id="14" name="Box 4"/>
          <p:cNvSpPr/>
          <p:nvPr/>
        </p:nvSpPr>
        <p:spPr>
          <a:xfrm>
            <a:off x="495087" y="3238010"/>
            <a:ext cx="681960" cy="176804"/>
          </a:xfrm>
          <a:prstGeom prst="rect">
            <a:avLst/>
          </a:prstGeom>
          <a:noFill/>
          <a:ln>
            <a:noFill/>
          </a:ln>
        </p:spPr>
        <p:txBody>
          <a:bodyPr wrap="none" lIns="12629" tIns="0" rIns="12629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333333"/>
                </a:solidFill>
              </a:rPr>
              <a:t>Command / Read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333333"/>
                </a:solidFill>
              </a:rPr>
              <a:t>Model</a:t>
            </a:r>
          </a:p>
        </p:txBody>
      </p:sp>
      <p:sp>
        <p:nvSpPr>
          <p:cNvPr id="15" name="Lane Events"/>
          <p:cNvSpPr/>
          <p:nvPr/>
        </p:nvSpPr>
        <p:spPr>
          <a:xfrm>
            <a:off x="457200" y="3597933"/>
            <a:ext cx="11277600" cy="745105"/>
          </a:xfrm>
          <a:prstGeom prst="rect">
            <a:avLst/>
          </a:prstGeom>
          <a:solidFill>
            <a:srgbClr val="F7F7F7"/>
          </a:solidFill>
          <a:ln w="9525">
            <a:solidFill>
              <a:srgbClr val="D0D0D0"/>
            </a:solidFill>
          </a:ln>
        </p:spPr>
      </p:sp>
      <p:sp>
        <p:nvSpPr>
          <p:cNvPr id="16" name="Box 6"/>
          <p:cNvSpPr/>
          <p:nvPr/>
        </p:nvSpPr>
        <p:spPr>
          <a:xfrm>
            <a:off x="495087" y="3882083"/>
            <a:ext cx="681960" cy="88402"/>
          </a:xfrm>
          <a:prstGeom prst="rect">
            <a:avLst/>
          </a:prstGeom>
          <a:noFill/>
          <a:ln>
            <a:noFill/>
          </a:ln>
        </p:spPr>
        <p:txBody>
          <a:bodyPr wrap="none" lIns="12629" tIns="0" rIns="12629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333333"/>
                </a:solidFill>
              </a:rPr>
              <a:t>Events</a:t>
            </a:r>
          </a:p>
        </p:txBody>
      </p:sp>
      <p:sp>
        <p:nvSpPr>
          <p:cNvPr id="17" name="Lane Billing / Events"/>
          <p:cNvSpPr/>
          <p:nvPr/>
        </p:nvSpPr>
        <p:spPr>
          <a:xfrm>
            <a:off x="457200" y="4343038"/>
            <a:ext cx="11277600" cy="366238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</p:sp>
      <p:sp>
        <p:nvSpPr>
          <p:cNvPr id="18" name="Box 8"/>
          <p:cNvSpPr/>
          <p:nvPr/>
        </p:nvSpPr>
        <p:spPr>
          <a:xfrm>
            <a:off x="495087" y="4437755"/>
            <a:ext cx="681960" cy="88402"/>
          </a:xfrm>
          <a:prstGeom prst="rect">
            <a:avLst/>
          </a:prstGeom>
          <a:noFill/>
          <a:ln>
            <a:noFill/>
          </a:ln>
        </p:spPr>
        <p:txBody>
          <a:bodyPr wrap="none" lIns="12629" tIns="0" rIns="12629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333333"/>
                </a:solidFill>
              </a:rPr>
              <a:t>Billing / Events</a:t>
            </a:r>
          </a:p>
        </p:txBody>
      </p:sp>
      <p:sp>
        <p:nvSpPr>
          <p:cNvPr id="19" name="Box 9"/>
          <p:cNvSpPr/>
          <p:nvPr/>
        </p:nvSpPr>
        <p:spPr>
          <a:xfrm>
            <a:off x="1214933" y="2511849"/>
            <a:ext cx="947167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7F7F7F"/>
                </a:solidFill>
              </a:rPr>
              <a:t>01</a:t>
            </a:r>
          </a:p>
        </p:txBody>
      </p:sp>
      <p:sp>
        <p:nvSpPr>
          <p:cNvPr id="20" name="Box 10"/>
          <p:cNvSpPr/>
          <p:nvPr/>
        </p:nvSpPr>
        <p:spPr>
          <a:xfrm>
            <a:off x="2162100" y="2511849"/>
            <a:ext cx="947167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7F7F7F"/>
                </a:solidFill>
              </a:rPr>
              <a:t>02</a:t>
            </a:r>
          </a:p>
        </p:txBody>
      </p:sp>
      <p:sp>
        <p:nvSpPr>
          <p:cNvPr id="21" name="Box 11"/>
          <p:cNvSpPr/>
          <p:nvPr/>
        </p:nvSpPr>
        <p:spPr>
          <a:xfrm>
            <a:off x="3109267" y="2511849"/>
            <a:ext cx="947167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7F7F7F"/>
                </a:solidFill>
              </a:rPr>
              <a:t>03</a:t>
            </a:r>
          </a:p>
        </p:txBody>
      </p:sp>
      <p:sp>
        <p:nvSpPr>
          <p:cNvPr id="22" name="Box 12"/>
          <p:cNvSpPr/>
          <p:nvPr/>
        </p:nvSpPr>
        <p:spPr>
          <a:xfrm>
            <a:off x="4056434" y="2511849"/>
            <a:ext cx="947167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7F7F7F"/>
                </a:solidFill>
              </a:rPr>
              <a:t>04</a:t>
            </a:r>
          </a:p>
        </p:txBody>
      </p:sp>
      <p:sp>
        <p:nvSpPr>
          <p:cNvPr id="23" name="Box 13"/>
          <p:cNvSpPr/>
          <p:nvPr/>
        </p:nvSpPr>
        <p:spPr>
          <a:xfrm>
            <a:off x="5003601" y="2511849"/>
            <a:ext cx="947167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7F7F7F"/>
                </a:solidFill>
              </a:rPr>
              <a:t>05</a:t>
            </a:r>
          </a:p>
        </p:txBody>
      </p:sp>
      <p:sp>
        <p:nvSpPr>
          <p:cNvPr id="24" name="Box 14"/>
          <p:cNvSpPr/>
          <p:nvPr/>
        </p:nvSpPr>
        <p:spPr>
          <a:xfrm>
            <a:off x="5950768" y="2511849"/>
            <a:ext cx="947167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7F7F7F"/>
                </a:solidFill>
              </a:rPr>
              <a:t>06</a:t>
            </a:r>
          </a:p>
        </p:txBody>
      </p:sp>
      <p:sp>
        <p:nvSpPr>
          <p:cNvPr id="25" name="Box 15"/>
          <p:cNvSpPr/>
          <p:nvPr/>
        </p:nvSpPr>
        <p:spPr>
          <a:xfrm>
            <a:off x="6897935" y="2511849"/>
            <a:ext cx="947167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7F7F7F"/>
                </a:solidFill>
              </a:rPr>
              <a:t>07</a:t>
            </a:r>
          </a:p>
        </p:txBody>
      </p:sp>
      <p:sp>
        <p:nvSpPr>
          <p:cNvPr id="26" name="Box 16"/>
          <p:cNvSpPr/>
          <p:nvPr/>
        </p:nvSpPr>
        <p:spPr>
          <a:xfrm>
            <a:off x="7845101" y="2511849"/>
            <a:ext cx="947167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7F7F7F"/>
                </a:solidFill>
              </a:rPr>
              <a:t>08</a:t>
            </a:r>
          </a:p>
        </p:txBody>
      </p:sp>
      <p:sp>
        <p:nvSpPr>
          <p:cNvPr id="27" name="Box 17"/>
          <p:cNvSpPr/>
          <p:nvPr/>
        </p:nvSpPr>
        <p:spPr>
          <a:xfrm>
            <a:off x="8792268" y="2511849"/>
            <a:ext cx="947167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7F7F7F"/>
                </a:solidFill>
              </a:rPr>
              <a:t>09 (reset)</a:t>
            </a:r>
          </a:p>
        </p:txBody>
      </p:sp>
      <p:sp>
        <p:nvSpPr>
          <p:cNvPr id="28" name="Box 18"/>
          <p:cNvSpPr/>
          <p:nvPr/>
        </p:nvSpPr>
        <p:spPr>
          <a:xfrm>
            <a:off x="9739435" y="2511849"/>
            <a:ext cx="947167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7F7F7F"/>
                </a:solidFill>
              </a:rPr>
              <a:t>10</a:t>
            </a:r>
          </a:p>
        </p:txBody>
      </p:sp>
      <p:sp>
        <p:nvSpPr>
          <p:cNvPr id="29" name="Box 19"/>
          <p:cNvSpPr/>
          <p:nvPr/>
        </p:nvSpPr>
        <p:spPr>
          <a:xfrm>
            <a:off x="10686602" y="2511849"/>
            <a:ext cx="947167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7F7F7F"/>
                </a:solidFill>
              </a:rPr>
              <a:t>11</a:t>
            </a:r>
          </a:p>
        </p:txBody>
      </p:sp>
      <p:cxnSp>
        <p:nvCxnSpPr>
          <p:cNvPr id="30" name="Connector 20"/>
          <p:cNvCxnSpPr/>
          <p:nvPr/>
        </p:nvCxnSpPr>
        <p:spPr>
          <a:xfrm>
            <a:off x="1859533" y="2953860"/>
            <a:ext cx="420963" cy="202062"/>
          </a:xfrm>
          <a:prstGeom prst="line">
            <a:avLst/>
          </a:prstGeom>
          <a:ln w="6314">
            <a:solidFill>
              <a:srgbClr val="595959"/>
            </a:solidFill>
            <a:prstDash val="solid"/>
            <a:tailEnd type="triangle" w="sm" len="sm"/>
          </a:ln>
        </p:spPr>
      </p:cxnSp>
      <p:cxnSp>
        <p:nvCxnSpPr>
          <p:cNvPr id="31" name="Connector 21"/>
          <p:cNvCxnSpPr/>
          <p:nvPr/>
        </p:nvCxnSpPr>
        <p:spPr>
          <a:xfrm>
            <a:off x="2933050" y="3496902"/>
            <a:ext cx="352434" cy="202063"/>
          </a:xfrm>
          <a:prstGeom prst="line">
            <a:avLst/>
          </a:prstGeom>
          <a:ln w="6314">
            <a:solidFill>
              <a:srgbClr val="595959"/>
            </a:solidFill>
            <a:prstDash val="solid"/>
            <a:tailEnd type="triangle" w="sm" len="sm"/>
          </a:ln>
        </p:spPr>
      </p:cxnSp>
      <p:cxnSp>
        <p:nvCxnSpPr>
          <p:cNvPr id="32" name="Connector 22"/>
          <p:cNvCxnSpPr/>
          <p:nvPr/>
        </p:nvCxnSpPr>
        <p:spPr>
          <a:xfrm flipV="1">
            <a:off x="3838586" y="3320098"/>
            <a:ext cx="568300" cy="378867"/>
          </a:xfrm>
          <a:prstGeom prst="line">
            <a:avLst/>
          </a:prstGeom>
          <a:ln w="6314">
            <a:solidFill>
              <a:srgbClr val="595959"/>
            </a:solidFill>
            <a:prstDash val="solid"/>
            <a:tailEnd type="triangle" w="sm" len="sm"/>
          </a:ln>
        </p:spPr>
      </p:cxnSp>
      <p:cxnSp>
        <p:nvCxnSpPr>
          <p:cNvPr id="33" name="Connector 23"/>
          <p:cNvCxnSpPr/>
          <p:nvPr/>
        </p:nvCxnSpPr>
        <p:spPr>
          <a:xfrm flipV="1">
            <a:off x="4742313" y="2953860"/>
            <a:ext cx="522575" cy="202062"/>
          </a:xfrm>
          <a:prstGeom prst="line">
            <a:avLst/>
          </a:prstGeom>
          <a:ln w="6314">
            <a:solidFill>
              <a:srgbClr val="595959"/>
            </a:solidFill>
            <a:prstDash val="solid"/>
            <a:tailEnd type="triangle" w="sm" len="sm"/>
          </a:ln>
        </p:spPr>
      </p:cxnSp>
      <p:cxnSp>
        <p:nvCxnSpPr>
          <p:cNvPr id="34" name="Connector 24"/>
          <p:cNvCxnSpPr/>
          <p:nvPr/>
        </p:nvCxnSpPr>
        <p:spPr>
          <a:xfrm flipV="1">
            <a:off x="4934142" y="2949903"/>
            <a:ext cx="1086085" cy="209976"/>
          </a:xfrm>
          <a:prstGeom prst="line">
            <a:avLst/>
          </a:prstGeom>
          <a:ln w="6314">
            <a:solidFill>
              <a:srgbClr val="595959"/>
            </a:solidFill>
            <a:prstDash val="solid"/>
            <a:tailEnd type="triangle" w="sm" len="sm"/>
          </a:ln>
        </p:spPr>
      </p:cxnSp>
      <p:cxnSp>
        <p:nvCxnSpPr>
          <p:cNvPr id="35" name="Connector 25"/>
          <p:cNvCxnSpPr/>
          <p:nvPr/>
        </p:nvCxnSpPr>
        <p:spPr>
          <a:xfrm>
            <a:off x="6636647" y="2953860"/>
            <a:ext cx="522575" cy="202062"/>
          </a:xfrm>
          <a:prstGeom prst="line">
            <a:avLst/>
          </a:prstGeom>
          <a:ln w="6314">
            <a:solidFill>
              <a:srgbClr val="595959"/>
            </a:solidFill>
            <a:prstDash val="solid"/>
            <a:tailEnd type="triangle" w="sm" len="sm"/>
          </a:ln>
        </p:spPr>
      </p:cxnSp>
      <p:cxnSp>
        <p:nvCxnSpPr>
          <p:cNvPr id="36" name="Connector 26"/>
          <p:cNvCxnSpPr/>
          <p:nvPr/>
        </p:nvCxnSpPr>
        <p:spPr>
          <a:xfrm>
            <a:off x="7431877" y="3320098"/>
            <a:ext cx="826449" cy="1123971"/>
          </a:xfrm>
          <a:prstGeom prst="line">
            <a:avLst/>
          </a:prstGeom>
          <a:ln w="6314">
            <a:solidFill>
              <a:srgbClr val="595959"/>
            </a:solidFill>
            <a:prstDash val="solid"/>
            <a:tailEnd type="triangle" w="sm" len="sm"/>
          </a:ln>
        </p:spPr>
      </p:cxnSp>
      <p:cxnSp>
        <p:nvCxnSpPr>
          <p:cNvPr id="37" name="Connector 27"/>
          <p:cNvCxnSpPr/>
          <p:nvPr/>
        </p:nvCxnSpPr>
        <p:spPr>
          <a:xfrm flipV="1">
            <a:off x="4934142" y="2903024"/>
            <a:ext cx="3927585" cy="303734"/>
          </a:xfrm>
          <a:prstGeom prst="line">
            <a:avLst/>
          </a:prstGeom>
          <a:ln w="6314">
            <a:solidFill>
              <a:srgbClr val="595959"/>
            </a:solidFill>
            <a:prstDash val="solid"/>
            <a:tailEnd type="triangle" w="sm" len="sm"/>
          </a:ln>
        </p:spPr>
      </p:cxnSp>
      <p:cxnSp>
        <p:nvCxnSpPr>
          <p:cNvPr id="38" name="Connector 28"/>
          <p:cNvCxnSpPr/>
          <p:nvPr/>
        </p:nvCxnSpPr>
        <p:spPr>
          <a:xfrm>
            <a:off x="9478148" y="2953860"/>
            <a:ext cx="522575" cy="202062"/>
          </a:xfrm>
          <a:prstGeom prst="line">
            <a:avLst/>
          </a:prstGeom>
          <a:ln w="6314">
            <a:solidFill>
              <a:srgbClr val="595959"/>
            </a:solidFill>
            <a:prstDash val="solid"/>
            <a:tailEnd type="triangle" w="sm" len="sm"/>
          </a:ln>
        </p:spPr>
      </p:cxnSp>
      <p:cxnSp>
        <p:nvCxnSpPr>
          <p:cNvPr id="39" name="Connector 29"/>
          <p:cNvCxnSpPr/>
          <p:nvPr/>
        </p:nvCxnSpPr>
        <p:spPr>
          <a:xfrm>
            <a:off x="10273377" y="3320098"/>
            <a:ext cx="826450" cy="1123971"/>
          </a:xfrm>
          <a:prstGeom prst="line">
            <a:avLst/>
          </a:prstGeom>
          <a:ln w="6314">
            <a:solidFill>
              <a:srgbClr val="595959"/>
            </a:solidFill>
            <a:prstDash val="solid"/>
            <a:tailEnd type="triangle" w="sm" len="sm"/>
          </a:ln>
        </p:spPr>
      </p:cxnSp>
      <p:sp>
        <p:nvSpPr>
          <p:cNvPr id="40" name="Frame 01"/>
          <p:cNvSpPr/>
          <p:nvPr/>
        </p:nvSpPr>
        <p:spPr>
          <a:xfrm>
            <a:off x="1284392" y="2789684"/>
            <a:ext cx="808249" cy="1641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</p:sp>
      <p:sp>
        <p:nvSpPr>
          <p:cNvPr id="41" name="Box 31"/>
          <p:cNvSpPr/>
          <p:nvPr/>
        </p:nvSpPr>
        <p:spPr>
          <a:xfrm>
            <a:off x="1309650" y="2827571"/>
            <a:ext cx="757733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00" dirty="0">
                <a:solidFill>
                  <a:srgbClr val="333333"/>
                </a:solidFill>
              </a:rPr>
              <a:t>CartScreen</a:t>
            </a:r>
          </a:p>
        </p:txBody>
      </p:sp>
      <p:sp>
        <p:nvSpPr>
          <p:cNvPr id="42" name="Frame 02"/>
          <p:cNvSpPr/>
          <p:nvPr/>
        </p:nvSpPr>
        <p:spPr>
          <a:xfrm>
            <a:off x="2231559" y="3155922"/>
            <a:ext cx="808249" cy="340980"/>
          </a:xfrm>
          <a:prstGeom prst="roundRect">
            <a:avLst/>
          </a:prstGeom>
          <a:solidFill>
            <a:srgbClr val="A9C9F5"/>
          </a:solidFill>
          <a:ln w="9525">
            <a:solidFill>
              <a:srgbClr val="333333"/>
            </a:solidFill>
          </a:ln>
        </p:spPr>
      </p:sp>
      <p:sp>
        <p:nvSpPr>
          <p:cNvPr id="43" name="Box 33"/>
          <p:cNvSpPr/>
          <p:nvPr/>
        </p:nvSpPr>
        <p:spPr>
          <a:xfrm>
            <a:off x="2256817" y="3193809"/>
            <a:ext cx="757733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00" dirty="0">
                <a:solidFill>
                  <a:srgbClr val="333333"/>
                </a:solidFill>
              </a:rPr>
              <a:t>AddItem</a:t>
            </a:r>
          </a:p>
        </p:txBody>
      </p:sp>
      <p:sp>
        <p:nvSpPr>
          <p:cNvPr id="44" name="Box 34"/>
          <p:cNvSpPr/>
          <p:nvPr/>
        </p:nvSpPr>
        <p:spPr>
          <a:xfrm>
            <a:off x="2256817" y="3294840"/>
            <a:ext cx="757733" cy="1515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404040"/>
                </a:solidFill>
              </a:rPr>
              <a:t>description: 'john'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404040"/>
                </a:solidFill>
              </a:rPr>
              <a:t>price: 20.4</a:t>
            </a:r>
          </a:p>
        </p:txBody>
      </p:sp>
      <p:sp>
        <p:nvSpPr>
          <p:cNvPr id="45" name="Frame 03"/>
          <p:cNvSpPr/>
          <p:nvPr/>
        </p:nvSpPr>
        <p:spPr>
          <a:xfrm>
            <a:off x="3178726" y="3698965"/>
            <a:ext cx="808249" cy="340980"/>
          </a:xfrm>
          <a:prstGeom prst="roundRect">
            <a:avLst/>
          </a:prstGeom>
          <a:solidFill>
            <a:srgbClr val="FFC078"/>
          </a:solidFill>
          <a:ln w="9525">
            <a:solidFill>
              <a:srgbClr val="333333"/>
            </a:solidFill>
          </a:ln>
        </p:spPr>
      </p:sp>
      <p:sp>
        <p:nvSpPr>
          <p:cNvPr id="46" name="Box 36"/>
          <p:cNvSpPr/>
          <p:nvPr/>
        </p:nvSpPr>
        <p:spPr>
          <a:xfrm>
            <a:off x="3203984" y="3736851"/>
            <a:ext cx="757733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00" dirty="0">
                <a:solidFill>
                  <a:srgbClr val="333333"/>
                </a:solidFill>
              </a:rPr>
              <a:t>ItemAdded</a:t>
            </a:r>
          </a:p>
        </p:txBody>
      </p:sp>
      <p:sp>
        <p:nvSpPr>
          <p:cNvPr id="47" name="Box 37"/>
          <p:cNvSpPr/>
          <p:nvPr/>
        </p:nvSpPr>
        <p:spPr>
          <a:xfrm>
            <a:off x="3203984" y="3837882"/>
            <a:ext cx="757733" cy="1515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404040"/>
                </a:solidFill>
              </a:rPr>
              <a:t>{"itemId": "42",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404040"/>
                </a:solidFill>
              </a:rPr>
              <a:t>"qty": 1}</a:t>
            </a:r>
          </a:p>
        </p:txBody>
      </p:sp>
      <p:sp>
        <p:nvSpPr>
          <p:cNvPr id="48" name="Note"/>
          <p:cNvSpPr/>
          <p:nvPr/>
        </p:nvSpPr>
        <p:spPr>
          <a:xfrm>
            <a:off x="3178726" y="4077831"/>
            <a:ext cx="808249" cy="176804"/>
          </a:xfrm>
          <a:prstGeom prst="rect">
            <a:avLst/>
          </a:prstGeom>
          <a:solidFill>
            <a:srgbClr val="FFF2A8"/>
          </a:solidFill>
          <a:ln w="9525">
            <a:solidFill>
              <a:srgbClr val="BFA900"/>
            </a:solidFill>
          </a:ln>
        </p:spPr>
      </p:sp>
      <p:sp>
        <p:nvSpPr>
          <p:cNvPr id="49" name="Box 39"/>
          <p:cNvSpPr/>
          <p:nvPr/>
        </p:nvSpPr>
        <p:spPr>
          <a:xfrm>
            <a:off x="3203984" y="4090460"/>
            <a:ext cx="757733" cy="151547"/>
          </a:xfrm>
          <a:prstGeom prst="rect">
            <a:avLst/>
          </a:prstGeom>
          <a:noFill/>
          <a:ln>
            <a:noFill/>
          </a:ln>
        </p:spPr>
        <p:txBody>
          <a:bodyPr wrap="none" lIns="12629" tIns="0" rIns="12629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333333"/>
                </a:solidFill>
              </a:rPr>
              <a:t>stock reserved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333333"/>
                </a:solidFill>
              </a:rPr>
              <a:t>elsewhere</a:t>
            </a:r>
          </a:p>
        </p:txBody>
      </p:sp>
      <p:sp>
        <p:nvSpPr>
          <p:cNvPr id="50" name="Frame 04"/>
          <p:cNvSpPr/>
          <p:nvPr/>
        </p:nvSpPr>
        <p:spPr>
          <a:xfrm>
            <a:off x="4125893" y="3155922"/>
            <a:ext cx="808249" cy="164176"/>
          </a:xfrm>
          <a:prstGeom prst="roundRect">
            <a:avLst/>
          </a:prstGeom>
          <a:solidFill>
            <a:srgbClr val="B5E0A0"/>
          </a:solidFill>
          <a:ln w="9525">
            <a:solidFill>
              <a:srgbClr val="333333"/>
            </a:solidFill>
          </a:ln>
        </p:spPr>
      </p:sp>
      <p:sp>
        <p:nvSpPr>
          <p:cNvPr id="51" name="Box 41"/>
          <p:cNvSpPr/>
          <p:nvPr/>
        </p:nvSpPr>
        <p:spPr>
          <a:xfrm>
            <a:off x="4151151" y="3193809"/>
            <a:ext cx="757733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00" dirty="0">
                <a:solidFill>
                  <a:srgbClr val="333333"/>
                </a:solidFill>
              </a:rPr>
              <a:t>CartItems</a:t>
            </a:r>
          </a:p>
        </p:txBody>
      </p:sp>
      <p:sp>
        <p:nvSpPr>
          <p:cNvPr id="52" name="Frame 05"/>
          <p:cNvSpPr/>
          <p:nvPr/>
        </p:nvSpPr>
        <p:spPr>
          <a:xfrm>
            <a:off x="5073060" y="2789684"/>
            <a:ext cx="808249" cy="1641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</p:sp>
      <p:sp>
        <p:nvSpPr>
          <p:cNvPr id="53" name="Box 43"/>
          <p:cNvSpPr/>
          <p:nvPr/>
        </p:nvSpPr>
        <p:spPr>
          <a:xfrm>
            <a:off x="5098318" y="2827571"/>
            <a:ext cx="757733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333333"/>
                </a:solidFill>
              </a:rPr>
              <a:t>CartScreenUpdated</a:t>
            </a:r>
          </a:p>
        </p:txBody>
      </p:sp>
      <p:sp>
        <p:nvSpPr>
          <p:cNvPr id="54" name="Frame 06"/>
          <p:cNvSpPr/>
          <p:nvPr/>
        </p:nvSpPr>
        <p:spPr>
          <a:xfrm>
            <a:off x="6020227" y="2789684"/>
            <a:ext cx="808249" cy="164176"/>
          </a:xfrm>
          <a:prstGeom prst="roundRect">
            <a:avLst/>
          </a:prstGeom>
          <a:solidFill>
            <a:srgbClr val="D9D9D9"/>
          </a:solidFill>
          <a:ln w="9525">
            <a:solidFill>
              <a:srgbClr val="333333"/>
            </a:solidFill>
          </a:ln>
        </p:spPr>
      </p:sp>
      <p:sp>
        <p:nvSpPr>
          <p:cNvPr id="55" name="Box 45"/>
          <p:cNvSpPr/>
          <p:nvPr/>
        </p:nvSpPr>
        <p:spPr>
          <a:xfrm>
            <a:off x="6045484" y="2827571"/>
            <a:ext cx="757733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333333"/>
                </a:solidFill>
              </a:rPr>
              <a:t>PriceCalculator</a:t>
            </a:r>
          </a:p>
        </p:txBody>
      </p:sp>
      <p:sp>
        <p:nvSpPr>
          <p:cNvPr id="56" name="Frame 07"/>
          <p:cNvSpPr/>
          <p:nvPr/>
        </p:nvSpPr>
        <p:spPr>
          <a:xfrm>
            <a:off x="6967394" y="3155922"/>
            <a:ext cx="808249" cy="164176"/>
          </a:xfrm>
          <a:prstGeom prst="roundRect">
            <a:avLst/>
          </a:prstGeom>
          <a:solidFill>
            <a:srgbClr val="A9C9F5"/>
          </a:solidFill>
          <a:ln w="9525">
            <a:solidFill>
              <a:srgbClr val="333333"/>
            </a:solidFill>
          </a:ln>
        </p:spPr>
      </p:sp>
      <p:sp>
        <p:nvSpPr>
          <p:cNvPr id="57" name="Box 47"/>
          <p:cNvSpPr/>
          <p:nvPr/>
        </p:nvSpPr>
        <p:spPr>
          <a:xfrm>
            <a:off x="6992651" y="3193809"/>
            <a:ext cx="757733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00" dirty="0">
                <a:solidFill>
                  <a:srgbClr val="333333"/>
                </a:solidFill>
              </a:rPr>
              <a:t>ApplyDiscount</a:t>
            </a:r>
          </a:p>
        </p:txBody>
      </p:sp>
      <p:sp>
        <p:nvSpPr>
          <p:cNvPr id="58" name="Frame 08"/>
          <p:cNvSpPr/>
          <p:nvPr/>
        </p:nvSpPr>
        <p:spPr>
          <a:xfrm>
            <a:off x="7914560" y="4444069"/>
            <a:ext cx="808249" cy="164176"/>
          </a:xfrm>
          <a:prstGeom prst="roundRect">
            <a:avLst/>
          </a:prstGeom>
          <a:solidFill>
            <a:srgbClr val="FFC078"/>
          </a:solidFill>
          <a:ln w="9525">
            <a:solidFill>
              <a:srgbClr val="333333"/>
            </a:solidFill>
          </a:ln>
        </p:spPr>
      </p:sp>
      <p:sp>
        <p:nvSpPr>
          <p:cNvPr id="59" name="Box 49"/>
          <p:cNvSpPr/>
          <p:nvPr/>
        </p:nvSpPr>
        <p:spPr>
          <a:xfrm>
            <a:off x="7939818" y="4481956"/>
            <a:ext cx="757733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333333"/>
                </a:solidFill>
              </a:rPr>
              <a:t>DiscountApplied</a:t>
            </a:r>
          </a:p>
        </p:txBody>
      </p:sp>
      <p:sp>
        <p:nvSpPr>
          <p:cNvPr id="60" name="Frame 09"/>
          <p:cNvSpPr/>
          <p:nvPr/>
        </p:nvSpPr>
        <p:spPr>
          <a:xfrm>
            <a:off x="8861727" y="2789684"/>
            <a:ext cx="808249" cy="1641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</p:sp>
      <p:sp>
        <p:nvSpPr>
          <p:cNvPr id="61" name="Box 51"/>
          <p:cNvSpPr/>
          <p:nvPr/>
        </p:nvSpPr>
        <p:spPr>
          <a:xfrm>
            <a:off x="8886985" y="2827571"/>
            <a:ext cx="757733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00" dirty="0">
                <a:solidFill>
                  <a:srgbClr val="333333"/>
                </a:solidFill>
              </a:rPr>
              <a:t>Checkout</a:t>
            </a:r>
          </a:p>
        </p:txBody>
      </p:sp>
      <p:sp>
        <p:nvSpPr>
          <p:cNvPr id="62" name="Frame 10"/>
          <p:cNvSpPr/>
          <p:nvPr/>
        </p:nvSpPr>
        <p:spPr>
          <a:xfrm>
            <a:off x="9808894" y="3155922"/>
            <a:ext cx="808249" cy="164176"/>
          </a:xfrm>
          <a:prstGeom prst="roundRect">
            <a:avLst/>
          </a:prstGeom>
          <a:solidFill>
            <a:srgbClr val="A9C9F5"/>
          </a:solidFill>
          <a:ln w="9525">
            <a:solidFill>
              <a:srgbClr val="333333"/>
            </a:solidFill>
          </a:ln>
        </p:spPr>
      </p:sp>
      <p:sp>
        <p:nvSpPr>
          <p:cNvPr id="63" name="Box 53"/>
          <p:cNvSpPr/>
          <p:nvPr/>
        </p:nvSpPr>
        <p:spPr>
          <a:xfrm>
            <a:off x="9834152" y="3193809"/>
            <a:ext cx="757733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00" dirty="0">
                <a:solidFill>
                  <a:srgbClr val="333333"/>
                </a:solidFill>
              </a:rPr>
              <a:t>Pay</a:t>
            </a:r>
          </a:p>
        </p:txBody>
      </p:sp>
      <p:sp>
        <p:nvSpPr>
          <p:cNvPr id="64" name="Frame 11"/>
          <p:cNvSpPr/>
          <p:nvPr/>
        </p:nvSpPr>
        <p:spPr>
          <a:xfrm>
            <a:off x="10756061" y="4444069"/>
            <a:ext cx="808249" cy="164176"/>
          </a:xfrm>
          <a:prstGeom prst="roundRect">
            <a:avLst/>
          </a:prstGeom>
          <a:solidFill>
            <a:srgbClr val="FFC078"/>
          </a:solidFill>
          <a:ln w="9525">
            <a:solidFill>
              <a:srgbClr val="333333"/>
            </a:solidFill>
          </a:ln>
        </p:spPr>
      </p:sp>
      <p:sp>
        <p:nvSpPr>
          <p:cNvPr id="65" name="Box 55"/>
          <p:cNvSpPr/>
          <p:nvPr/>
        </p:nvSpPr>
        <p:spPr>
          <a:xfrm>
            <a:off x="10781319" y="4481956"/>
            <a:ext cx="757733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00" dirty="0">
                <a:solidFill>
                  <a:srgbClr val="333333"/>
                </a:solidFill>
              </a:rPr>
              <a:t>Paid</a:t>
            </a:r>
          </a:p>
        </p:txBody>
      </p:sp>
      <p:sp>
        <p:nvSpPr>
          <p:cNvPr id="66" name="Box 56"/>
          <p:cNvSpPr/>
          <p:nvPr/>
        </p:nvSpPr>
        <p:spPr>
          <a:xfrm>
            <a:off x="558231" y="4734534"/>
            <a:ext cx="11075538" cy="82088"/>
          </a:xfrm>
          <a:prstGeom prst="rect">
            <a:avLst/>
          </a:prstGeom>
          <a:noFill/>
          <a:ln>
            <a:noFill/>
          </a:ln>
        </p:spPr>
        <p:txBody>
          <a:bodyPr wrap="none" lIns="12629" tIns="0" rIns="12629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i="1" sz="550" dirty="0">
                <a:solidFill>
                  <a:srgbClr val="404040"/>
                </a:solidFill>
              </a:rPr>
              <a:t>Scenario @03: Given Event ItemAdded; When Command AddItem; Then Event ItemAdded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fan-out</a:t>
            </a:r>
          </a:p>
        </p:txBody>
      </p:sp>
      <p:sp>
        <p:nvSpPr>
          <p:cNvPr id="12" name="Repartiteur" descr="A"/>
          <p:cNvSpPr/>
          <p:nvPr/>
        </p:nvSpPr>
        <p:spPr>
          <a:xfrm>
            <a:off x="4750882" y="1028700"/>
            <a:ext cx="2690236" cy="1046513"/>
          </a:xfrm>
          <a:prstGeom prst="rect">
            <a:avLst/>
          </a:prstGeom>
          <a:solidFill>
            <a:srgbClr val="BBDEFB"/>
          </a:solidFill>
          <a:ln w="18605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3954" tIns="66977" rIns="133954" bIns="669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758" dirty="0">
                <a:solidFill>
                  <a:srgbClr val="000000"/>
                </a:solidFill>
              </a:rPr>
              <a:t>Repartiteur</a:t>
            </a:r>
          </a:p>
        </p:txBody>
      </p:sp>
      <p:sp>
        <p:nvSpPr>
          <p:cNvPr id="13" name="Branche 1" descr="B"/>
          <p:cNvSpPr/>
          <p:nvPr/>
        </p:nvSpPr>
        <p:spPr>
          <a:xfrm>
            <a:off x="1986971" y="3191494"/>
            <a:ext cx="2181212" cy="1046513"/>
          </a:xfrm>
          <a:prstGeom prst="rect">
            <a:avLst/>
          </a:prstGeom>
          <a:solidFill>
            <a:srgbClr val="C8E6C9"/>
          </a:solidFill>
          <a:ln w="18605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3954" tIns="66977" rIns="133954" bIns="669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758" dirty="0">
                <a:solidFill>
                  <a:srgbClr val="000000"/>
                </a:solidFill>
              </a:rPr>
              <a:t>Branche 1</a:t>
            </a:r>
          </a:p>
        </p:txBody>
      </p:sp>
      <p:sp>
        <p:nvSpPr>
          <p:cNvPr id="14" name="Branche 2" descr="C"/>
          <p:cNvSpPr/>
          <p:nvPr/>
        </p:nvSpPr>
        <p:spPr>
          <a:xfrm>
            <a:off x="5005394" y="3191494"/>
            <a:ext cx="2181212" cy="1046513"/>
          </a:xfrm>
          <a:prstGeom prst="rect">
            <a:avLst/>
          </a:prstGeom>
          <a:solidFill>
            <a:srgbClr val="FFE0B2"/>
          </a:solidFill>
          <a:ln w="18605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3954" tIns="66977" rIns="133954" bIns="669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758" dirty="0">
                <a:solidFill>
                  <a:srgbClr val="000000"/>
                </a:solidFill>
              </a:rPr>
              <a:t>Branche 2</a:t>
            </a:r>
          </a:p>
        </p:txBody>
      </p:sp>
      <p:sp>
        <p:nvSpPr>
          <p:cNvPr id="15" name="Branche 3" descr="D"/>
          <p:cNvSpPr/>
          <p:nvPr/>
        </p:nvSpPr>
        <p:spPr>
          <a:xfrm>
            <a:off x="8023816" y="3191494"/>
            <a:ext cx="2181212" cy="1046513"/>
          </a:xfrm>
          <a:prstGeom prst="rect">
            <a:avLst/>
          </a:prstGeom>
          <a:solidFill>
            <a:srgbClr val="E1BEE7"/>
          </a:solidFill>
          <a:ln w="18605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3954" tIns="66977" rIns="133954" bIns="669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758" dirty="0">
                <a:solidFill>
                  <a:srgbClr val="000000"/>
                </a:solidFill>
              </a:rPr>
              <a:t>Branche 3</a:t>
            </a:r>
          </a:p>
        </p:txBody>
      </p:sp>
      <p:sp>
        <p:nvSpPr>
          <p:cNvPr id="16" name="Fin" descr="E"/>
          <p:cNvSpPr/>
          <p:nvPr/>
        </p:nvSpPr>
        <p:spPr>
          <a:xfrm>
            <a:off x="5554604" y="5354287"/>
            <a:ext cx="1082792" cy="1046513"/>
          </a:xfrm>
          <a:prstGeom prst="rect">
            <a:avLst/>
          </a:prstGeom>
          <a:solidFill>
            <a:srgbClr val="FFCDD2"/>
          </a:solidFill>
          <a:ln w="18605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3954" tIns="66977" rIns="133954" bIns="669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758" dirty="0">
                <a:solidFill>
                  <a:srgbClr val="000000"/>
                </a:solidFill>
              </a:rPr>
              <a:t>Fin</a:t>
            </a:r>
          </a:p>
        </p:txBody>
      </p:sp>
      <p:cxnSp>
        <p:nvCxnSpPr>
          <p:cNvPr id="17" name="A--B"/>
          <p:cNvCxnSpPr>
            <a:stCxn id="12" idx="1"/>
            <a:endCxn id="13" idx="3"/>
          </p:cNvCxnSpPr>
          <p:nvPr/>
        </p:nvCxnSpPr>
        <p:spPr>
          <a:xfrm flipH="1">
            <a:off x="4168184" y="1551957"/>
            <a:ext cx="582698" cy="2162794"/>
          </a:xfrm>
          <a:prstGeom prst="line">
            <a:avLst/>
          </a:prstGeom>
          <a:ln w="18605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A--C"/>
          <p:cNvCxnSpPr>
            <a:stCxn id="12" idx="2"/>
            <a:endCxn id="14" idx="0"/>
          </p:cNvCxnSpPr>
          <p:nvPr/>
        </p:nvCxnSpPr>
        <p:spPr>
          <a:xfrm>
            <a:off x="6096000" y="2075213"/>
            <a:ext cx="0" cy="1116281"/>
          </a:xfrm>
          <a:prstGeom prst="line">
            <a:avLst/>
          </a:prstGeom>
          <a:ln w="18605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A--D"/>
          <p:cNvCxnSpPr>
            <a:stCxn id="12" idx="3"/>
            <a:endCxn id="15" idx="1"/>
          </p:cNvCxnSpPr>
          <p:nvPr/>
        </p:nvCxnSpPr>
        <p:spPr>
          <a:xfrm>
            <a:off x="7441118" y="1551957"/>
            <a:ext cx="582698" cy="2162794"/>
          </a:xfrm>
          <a:prstGeom prst="line">
            <a:avLst/>
          </a:prstGeom>
          <a:ln w="18605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B--E"/>
          <p:cNvCxnSpPr>
            <a:stCxn id="13" idx="3"/>
            <a:endCxn id="16" idx="1"/>
          </p:cNvCxnSpPr>
          <p:nvPr/>
        </p:nvCxnSpPr>
        <p:spPr>
          <a:xfrm>
            <a:off x="4168184" y="3714751"/>
            <a:ext cx="1386420" cy="2162794"/>
          </a:xfrm>
          <a:prstGeom prst="line">
            <a:avLst/>
          </a:prstGeom>
          <a:ln w="18605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--E"/>
          <p:cNvCxnSpPr>
            <a:stCxn id="14" idx="2"/>
            <a:endCxn id="16" idx="0"/>
          </p:cNvCxnSpPr>
          <p:nvPr/>
        </p:nvCxnSpPr>
        <p:spPr>
          <a:xfrm>
            <a:off x="6096000" y="4238006"/>
            <a:ext cx="0" cy="1116281"/>
          </a:xfrm>
          <a:prstGeom prst="line">
            <a:avLst/>
          </a:prstGeom>
          <a:ln w="18605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D--E"/>
          <p:cNvCxnSpPr>
            <a:stCxn id="15" idx="1"/>
            <a:endCxn id="16" idx="3"/>
          </p:cNvCxnSpPr>
          <p:nvPr/>
        </p:nvCxnSpPr>
        <p:spPr>
          <a:xfrm flipH="1">
            <a:off x="6637396" y="3714751"/>
            <a:ext cx="1386420" cy="2162794"/>
          </a:xfrm>
          <a:prstGeom prst="line">
            <a:avLst/>
          </a:prstGeom>
          <a:ln w="18605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gantt</a:t>
            </a:r>
          </a:p>
        </p:txBody>
      </p:sp>
      <p:sp>
        <p:nvSpPr>
          <p:cNvPr id="11" name="Text 1"/>
          <p:cNvSpPr txBox="1"/>
          <p:nvPr/>
        </p:nvSpPr>
        <p:spPr>
          <a:xfrm>
            <a:off x="457200" y="2180665"/>
            <a:ext cx="11277600" cy="4422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2031" dirty="0">
                <a:solidFill>
                  <a:srgbClr val="000000"/>
                </a:solidFill>
              </a:rPr>
              <a:t>Adoption d'un logiciel</a:t>
            </a:r>
          </a:p>
        </p:txBody>
      </p:sp>
      <p:sp>
        <p:nvSpPr>
          <p:cNvPr id="12" name="Shape 2"/>
          <p:cNvSpPr/>
          <p:nvPr/>
        </p:nvSpPr>
        <p:spPr>
          <a:xfrm>
            <a:off x="3912347" y="2982259"/>
            <a:ext cx="304053" cy="226657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" name="Shape 3"/>
          <p:cNvSpPr/>
          <p:nvPr/>
        </p:nvSpPr>
        <p:spPr>
          <a:xfrm>
            <a:off x="4216400" y="2982259"/>
            <a:ext cx="304053" cy="226657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" name="Shape 4"/>
          <p:cNvSpPr/>
          <p:nvPr/>
        </p:nvSpPr>
        <p:spPr>
          <a:xfrm>
            <a:off x="6040718" y="2982259"/>
            <a:ext cx="304053" cy="226657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5" name="Shape 5"/>
          <p:cNvSpPr/>
          <p:nvPr/>
        </p:nvSpPr>
        <p:spPr>
          <a:xfrm>
            <a:off x="6344771" y="2982259"/>
            <a:ext cx="304053" cy="226657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6" name="Shape 6"/>
          <p:cNvSpPr/>
          <p:nvPr/>
        </p:nvSpPr>
        <p:spPr>
          <a:xfrm>
            <a:off x="8169088" y="2982259"/>
            <a:ext cx="304053" cy="226657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7" name="Shape 7"/>
          <p:cNvSpPr/>
          <p:nvPr/>
        </p:nvSpPr>
        <p:spPr>
          <a:xfrm>
            <a:off x="8473141" y="2982259"/>
            <a:ext cx="304053" cy="226657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8" name="Shape 8"/>
          <p:cNvSpPr/>
          <p:nvPr/>
        </p:nvSpPr>
        <p:spPr>
          <a:xfrm>
            <a:off x="10297459" y="2982259"/>
            <a:ext cx="304053" cy="226657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9" name="Shape 9"/>
          <p:cNvSpPr/>
          <p:nvPr/>
        </p:nvSpPr>
        <p:spPr>
          <a:xfrm>
            <a:off x="10601512" y="2982259"/>
            <a:ext cx="304053" cy="226657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0" name="Shape 10"/>
          <p:cNvSpPr/>
          <p:nvPr/>
        </p:nvSpPr>
        <p:spPr>
          <a:xfrm>
            <a:off x="2392082" y="2982259"/>
            <a:ext cx="13821" cy="2266576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21" name="Text 11"/>
          <p:cNvSpPr txBox="1"/>
          <p:nvPr/>
        </p:nvSpPr>
        <p:spPr>
          <a:xfrm>
            <a:off x="2392082" y="2678206"/>
            <a:ext cx="1216212" cy="3040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16" dirty="0">
                <a:solidFill>
                  <a:srgbClr val="595959"/>
                </a:solidFill>
              </a:rPr>
              <a:t>01-05</a:t>
            </a:r>
          </a:p>
        </p:txBody>
      </p:sp>
      <p:sp>
        <p:nvSpPr>
          <p:cNvPr id="22" name="Shape 12"/>
          <p:cNvSpPr/>
          <p:nvPr/>
        </p:nvSpPr>
        <p:spPr>
          <a:xfrm>
            <a:off x="4520453" y="2982259"/>
            <a:ext cx="13821" cy="2266576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23" name="Text 13"/>
          <p:cNvSpPr txBox="1"/>
          <p:nvPr/>
        </p:nvSpPr>
        <p:spPr>
          <a:xfrm>
            <a:off x="4520453" y="2678206"/>
            <a:ext cx="1216212" cy="3040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16" dirty="0">
                <a:solidFill>
                  <a:srgbClr val="595959"/>
                </a:solidFill>
              </a:rPr>
              <a:t>01-12</a:t>
            </a:r>
          </a:p>
        </p:txBody>
      </p:sp>
      <p:sp>
        <p:nvSpPr>
          <p:cNvPr id="24" name="Shape 14"/>
          <p:cNvSpPr/>
          <p:nvPr/>
        </p:nvSpPr>
        <p:spPr>
          <a:xfrm>
            <a:off x="6648824" y="2982259"/>
            <a:ext cx="13821" cy="2266576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25" name="Text 15"/>
          <p:cNvSpPr txBox="1"/>
          <p:nvPr/>
        </p:nvSpPr>
        <p:spPr>
          <a:xfrm>
            <a:off x="6648824" y="2678206"/>
            <a:ext cx="1216212" cy="3040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16" dirty="0">
                <a:solidFill>
                  <a:srgbClr val="595959"/>
                </a:solidFill>
              </a:rPr>
              <a:t>01-19</a:t>
            </a:r>
          </a:p>
        </p:txBody>
      </p:sp>
      <p:sp>
        <p:nvSpPr>
          <p:cNvPr id="26" name="Shape 16"/>
          <p:cNvSpPr/>
          <p:nvPr/>
        </p:nvSpPr>
        <p:spPr>
          <a:xfrm>
            <a:off x="8777194" y="2982259"/>
            <a:ext cx="13821" cy="2266576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27" name="Text 17"/>
          <p:cNvSpPr txBox="1"/>
          <p:nvPr/>
        </p:nvSpPr>
        <p:spPr>
          <a:xfrm>
            <a:off x="8777194" y="2678206"/>
            <a:ext cx="1216212" cy="3040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16" dirty="0">
                <a:solidFill>
                  <a:srgbClr val="595959"/>
                </a:solidFill>
              </a:rPr>
              <a:t>01-26</a:t>
            </a:r>
          </a:p>
        </p:txBody>
      </p:sp>
      <p:sp>
        <p:nvSpPr>
          <p:cNvPr id="28" name="Shape 18"/>
          <p:cNvSpPr/>
          <p:nvPr/>
        </p:nvSpPr>
        <p:spPr>
          <a:xfrm>
            <a:off x="10905565" y="2982259"/>
            <a:ext cx="13821" cy="2266576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29" name="Text 19"/>
          <p:cNvSpPr txBox="1"/>
          <p:nvPr/>
        </p:nvSpPr>
        <p:spPr>
          <a:xfrm>
            <a:off x="10905565" y="2678206"/>
            <a:ext cx="1216212" cy="3040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16" dirty="0">
                <a:solidFill>
                  <a:srgbClr val="595959"/>
                </a:solidFill>
              </a:rPr>
              <a:t>02-02</a:t>
            </a:r>
          </a:p>
        </p:txBody>
      </p:sp>
      <p:sp>
        <p:nvSpPr>
          <p:cNvPr id="30" name="Shape 20"/>
          <p:cNvSpPr/>
          <p:nvPr/>
        </p:nvSpPr>
        <p:spPr>
          <a:xfrm>
            <a:off x="2392082" y="2982259"/>
            <a:ext cx="9121588" cy="2266576"/>
          </a:xfrm>
          <a:prstGeom prst="rect">
            <a:avLst/>
          </a:prstGeom>
          <a:noFill/>
          <a:ln w="9214">
            <a:solidFill>
              <a:srgbClr val="BFBFBF"/>
            </a:solidFill>
          </a:ln>
        </p:spPr>
      </p:sp>
      <p:sp>
        <p:nvSpPr>
          <p:cNvPr id="31" name="Shape 21"/>
          <p:cNvSpPr/>
          <p:nvPr/>
        </p:nvSpPr>
        <p:spPr>
          <a:xfrm>
            <a:off x="457200" y="2982259"/>
            <a:ext cx="11277600" cy="304053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32" name="Text 22"/>
          <p:cNvSpPr txBox="1"/>
          <p:nvPr/>
        </p:nvSpPr>
        <p:spPr>
          <a:xfrm>
            <a:off x="540124" y="3009900"/>
            <a:ext cx="1769035" cy="248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1161" dirty="0">
                <a:solidFill>
                  <a:srgbClr val="000000"/>
                </a:solidFill>
              </a:rPr>
              <a:t>Cadrage</a:t>
            </a:r>
          </a:p>
        </p:txBody>
      </p:sp>
      <p:sp>
        <p:nvSpPr>
          <p:cNvPr id="33" name="Text 23"/>
          <p:cNvSpPr txBox="1"/>
          <p:nvPr/>
        </p:nvSpPr>
        <p:spPr>
          <a:xfrm>
            <a:off x="540124" y="3313953"/>
            <a:ext cx="1796676" cy="2764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88" dirty="0">
                <a:solidFill>
                  <a:srgbClr val="000000"/>
                </a:solidFill>
              </a:rPr>
              <a:t>Recueil besoins</a:t>
            </a:r>
          </a:p>
        </p:txBody>
      </p:sp>
      <p:sp>
        <p:nvSpPr>
          <p:cNvPr id="34" name="Task 24"/>
          <p:cNvSpPr/>
          <p:nvPr/>
        </p:nvSpPr>
        <p:spPr>
          <a:xfrm>
            <a:off x="2392082" y="3341594"/>
            <a:ext cx="2128371" cy="221129"/>
          </a:xfrm>
          <a:prstGeom prst="roundRect">
            <a:avLst/>
          </a:prstGeom>
          <a:solidFill>
            <a:srgbClr val="A6A6A6"/>
          </a:solidFill>
          <a:ln w="9214">
            <a:solidFill>
              <a:srgbClr val="595959"/>
            </a:solidFill>
          </a:ln>
        </p:spPr>
      </p:sp>
      <p:sp>
        <p:nvSpPr>
          <p:cNvPr id="35" name="Text 25"/>
          <p:cNvSpPr txBox="1"/>
          <p:nvPr/>
        </p:nvSpPr>
        <p:spPr>
          <a:xfrm>
            <a:off x="540124" y="3645647"/>
            <a:ext cx="1796676" cy="2764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88" dirty="0">
                <a:solidFill>
                  <a:srgbClr val="000000"/>
                </a:solidFill>
              </a:rPr>
              <a:t>Choix outil</a:t>
            </a:r>
          </a:p>
        </p:txBody>
      </p:sp>
      <p:sp>
        <p:nvSpPr>
          <p:cNvPr id="36" name="Task 26"/>
          <p:cNvSpPr/>
          <p:nvPr/>
        </p:nvSpPr>
        <p:spPr>
          <a:xfrm>
            <a:off x="4520453" y="3673288"/>
            <a:ext cx="912159" cy="221129"/>
          </a:xfrm>
          <a:prstGeom prst="roundRect">
            <a:avLst/>
          </a:prstGeom>
          <a:solidFill>
            <a:srgbClr val="FFC000"/>
          </a:solidFill>
          <a:ln w="9214">
            <a:solidFill>
              <a:srgbClr val="595959"/>
            </a:solidFill>
          </a:ln>
        </p:spPr>
      </p:sp>
      <p:sp>
        <p:nvSpPr>
          <p:cNvPr id="37" name="Shape 27"/>
          <p:cNvSpPr/>
          <p:nvPr/>
        </p:nvSpPr>
        <p:spPr>
          <a:xfrm>
            <a:off x="457200" y="3949700"/>
            <a:ext cx="11277600" cy="304053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38" name="Text 28"/>
          <p:cNvSpPr txBox="1"/>
          <p:nvPr/>
        </p:nvSpPr>
        <p:spPr>
          <a:xfrm>
            <a:off x="540124" y="3977341"/>
            <a:ext cx="1769035" cy="248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1161" dirty="0">
                <a:solidFill>
                  <a:srgbClr val="000000"/>
                </a:solidFill>
              </a:rPr>
              <a:t>Deploiement</a:t>
            </a:r>
          </a:p>
        </p:txBody>
      </p:sp>
      <p:sp>
        <p:nvSpPr>
          <p:cNvPr id="39" name="Text 29"/>
          <p:cNvSpPr txBox="1"/>
          <p:nvPr/>
        </p:nvSpPr>
        <p:spPr>
          <a:xfrm>
            <a:off x="540124" y="4281394"/>
            <a:ext cx="1796676" cy="2764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88" dirty="0">
                <a:solidFill>
                  <a:srgbClr val="000000"/>
                </a:solidFill>
              </a:rPr>
              <a:t>Formation</a:t>
            </a:r>
          </a:p>
        </p:txBody>
      </p:sp>
      <p:sp>
        <p:nvSpPr>
          <p:cNvPr id="40" name="Task 30"/>
          <p:cNvSpPr/>
          <p:nvPr/>
        </p:nvSpPr>
        <p:spPr>
          <a:xfrm>
            <a:off x="5432612" y="4309035"/>
            <a:ext cx="1824318" cy="221129"/>
          </a:xfrm>
          <a:prstGeom prst="roundRect">
            <a:avLst/>
          </a:prstGeom>
          <a:solidFill>
            <a:srgbClr val="C00000"/>
          </a:solidFill>
          <a:ln w="9214">
            <a:solidFill>
              <a:srgbClr val="595959"/>
            </a:solidFill>
          </a:ln>
        </p:spPr>
      </p:sp>
      <p:sp>
        <p:nvSpPr>
          <p:cNvPr id="41" name="Text 31"/>
          <p:cNvSpPr txBox="1"/>
          <p:nvPr/>
        </p:nvSpPr>
        <p:spPr>
          <a:xfrm>
            <a:off x="540124" y="4613088"/>
            <a:ext cx="1796676" cy="2764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88" dirty="0">
                <a:solidFill>
                  <a:srgbClr val="000000"/>
                </a:solidFill>
              </a:rPr>
              <a:t>Go-live</a:t>
            </a:r>
          </a:p>
        </p:txBody>
      </p:sp>
      <p:sp>
        <p:nvSpPr>
          <p:cNvPr id="42" name="Milestone 32"/>
          <p:cNvSpPr/>
          <p:nvPr/>
        </p:nvSpPr>
        <p:spPr>
          <a:xfrm>
            <a:off x="7146365" y="4640729"/>
            <a:ext cx="221129" cy="221129"/>
          </a:xfrm>
          <a:prstGeom prst="diamond">
            <a:avLst/>
          </a:prstGeom>
          <a:solidFill>
            <a:srgbClr val="C00000"/>
          </a:solidFill>
          <a:ln w="9214">
            <a:solidFill>
              <a:srgbClr val="595959"/>
            </a:solidFill>
          </a:ln>
        </p:spPr>
      </p:sp>
      <p:sp>
        <p:nvSpPr>
          <p:cNvPr id="43" name="Text 33"/>
          <p:cNvSpPr txBox="1"/>
          <p:nvPr/>
        </p:nvSpPr>
        <p:spPr>
          <a:xfrm>
            <a:off x="540124" y="4944782"/>
            <a:ext cx="1796676" cy="2764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88" dirty="0">
                <a:solidFill>
                  <a:srgbClr val="000000"/>
                </a:solidFill>
              </a:rPr>
              <a:t>Suivi post go-live</a:t>
            </a:r>
          </a:p>
        </p:txBody>
      </p:sp>
      <p:sp>
        <p:nvSpPr>
          <p:cNvPr id="44" name="Task 34"/>
          <p:cNvSpPr/>
          <p:nvPr/>
        </p:nvSpPr>
        <p:spPr>
          <a:xfrm>
            <a:off x="7256929" y="4972424"/>
            <a:ext cx="4256741" cy="221129"/>
          </a:xfrm>
          <a:prstGeom prst="roundRect">
            <a:avLst/>
          </a:prstGeom>
          <a:solidFill>
            <a:srgbClr val="4472C4"/>
          </a:solidFill>
          <a:ln w="9214">
            <a:solidFill>
              <a:srgbClr val="595959"/>
            </a:solidFill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git-graph</a:t>
            </a:r>
          </a:p>
        </p:txBody>
      </p:sp>
      <p:cxnSp>
        <p:nvCxnSpPr>
          <p:cNvPr id="11" name="Connector 1"/>
          <p:cNvCxnSpPr/>
          <p:nvPr/>
        </p:nvCxnSpPr>
        <p:spPr>
          <a:xfrm>
            <a:off x="1248709" y="3188175"/>
            <a:ext cx="1077176" cy="1053150"/>
          </a:xfrm>
          <a:prstGeom prst="line">
            <a:avLst/>
          </a:prstGeom>
          <a:ln w="16455">
            <a:solidFill>
              <a:srgbClr val="4472C4"/>
            </a:solidFill>
            <a:prstDash val="solid"/>
          </a:ln>
        </p:spPr>
      </p:cxnSp>
      <p:cxnSp>
        <p:nvCxnSpPr>
          <p:cNvPr id="12" name="Connector 2"/>
          <p:cNvCxnSpPr/>
          <p:nvPr/>
        </p:nvCxnSpPr>
        <p:spPr>
          <a:xfrm>
            <a:off x="1248709" y="3188175"/>
            <a:ext cx="2154351" cy="1"/>
          </a:xfrm>
          <a:prstGeom prst="line">
            <a:avLst/>
          </a:prstGeom>
          <a:ln w="16455">
            <a:solidFill>
              <a:srgbClr val="4472C4"/>
            </a:solidFill>
            <a:prstDash val="solid"/>
          </a:ln>
        </p:spPr>
      </p:cxnSp>
      <p:cxnSp>
        <p:nvCxnSpPr>
          <p:cNvPr id="13" name="Connector 3"/>
          <p:cNvCxnSpPr/>
          <p:nvPr/>
        </p:nvCxnSpPr>
        <p:spPr>
          <a:xfrm>
            <a:off x="1248709" y="3188175"/>
            <a:ext cx="3231527" cy="526575"/>
          </a:xfrm>
          <a:prstGeom prst="line">
            <a:avLst/>
          </a:prstGeom>
          <a:ln w="16455">
            <a:solidFill>
              <a:srgbClr val="4472C4"/>
            </a:solidFill>
            <a:prstDash val="solid"/>
          </a:ln>
        </p:spPr>
      </p:cxnSp>
      <p:cxnSp>
        <p:nvCxnSpPr>
          <p:cNvPr id="14" name="Connector 4"/>
          <p:cNvCxnSpPr/>
          <p:nvPr/>
        </p:nvCxnSpPr>
        <p:spPr>
          <a:xfrm>
            <a:off x="3403060" y="3188175"/>
            <a:ext cx="2154352" cy="1"/>
          </a:xfrm>
          <a:prstGeom prst="line">
            <a:avLst/>
          </a:prstGeom>
          <a:ln w="16455">
            <a:solidFill>
              <a:srgbClr val="4472C4"/>
            </a:solidFill>
            <a:prstDash val="solid"/>
          </a:ln>
        </p:spPr>
      </p:cxnSp>
      <p:cxnSp>
        <p:nvCxnSpPr>
          <p:cNvPr id="15" name="Connector 5"/>
          <p:cNvCxnSpPr/>
          <p:nvPr/>
        </p:nvCxnSpPr>
        <p:spPr>
          <a:xfrm flipV="1">
            <a:off x="4480236" y="3188175"/>
            <a:ext cx="1077176" cy="526575"/>
          </a:xfrm>
          <a:prstGeom prst="line">
            <a:avLst/>
          </a:prstGeom>
          <a:ln w="16455">
            <a:solidFill>
              <a:srgbClr val="ED7D31"/>
            </a:solidFill>
            <a:prstDash val="solid"/>
          </a:ln>
        </p:spPr>
      </p:cxnSp>
      <p:cxnSp>
        <p:nvCxnSpPr>
          <p:cNvPr id="16" name="Connector 6"/>
          <p:cNvCxnSpPr/>
          <p:nvPr/>
        </p:nvCxnSpPr>
        <p:spPr>
          <a:xfrm>
            <a:off x="5557412" y="3188175"/>
            <a:ext cx="1077176" cy="1"/>
          </a:xfrm>
          <a:prstGeom prst="line">
            <a:avLst/>
          </a:prstGeom>
          <a:ln w="16455">
            <a:solidFill>
              <a:srgbClr val="4472C4"/>
            </a:solidFill>
            <a:prstDash val="solid"/>
          </a:ln>
        </p:spPr>
      </p:cxnSp>
      <p:cxnSp>
        <p:nvCxnSpPr>
          <p:cNvPr id="17" name="Connector 7"/>
          <p:cNvCxnSpPr/>
          <p:nvPr/>
        </p:nvCxnSpPr>
        <p:spPr>
          <a:xfrm>
            <a:off x="2325885" y="4241325"/>
            <a:ext cx="5385879" cy="1"/>
          </a:xfrm>
          <a:prstGeom prst="line">
            <a:avLst/>
          </a:prstGeom>
          <a:ln w="16455">
            <a:solidFill>
              <a:srgbClr val="70AD47"/>
            </a:solidFill>
            <a:prstDash val="solid"/>
          </a:ln>
        </p:spPr>
      </p:cxnSp>
      <p:cxnSp>
        <p:nvCxnSpPr>
          <p:cNvPr id="18" name="Connector 8"/>
          <p:cNvCxnSpPr/>
          <p:nvPr/>
        </p:nvCxnSpPr>
        <p:spPr>
          <a:xfrm>
            <a:off x="5557412" y="3188175"/>
            <a:ext cx="2154352" cy="1053150"/>
          </a:xfrm>
          <a:prstGeom prst="line">
            <a:avLst/>
          </a:prstGeom>
          <a:ln w="8228">
            <a:solidFill>
              <a:srgbClr val="808080"/>
            </a:solidFill>
            <a:prstDash val="dash"/>
          </a:ln>
        </p:spPr>
      </p:cxnSp>
      <p:cxnSp>
        <p:nvCxnSpPr>
          <p:cNvPr id="19" name="Connector 9"/>
          <p:cNvCxnSpPr/>
          <p:nvPr/>
        </p:nvCxnSpPr>
        <p:spPr>
          <a:xfrm>
            <a:off x="7711764" y="4241325"/>
            <a:ext cx="1077176" cy="1"/>
          </a:xfrm>
          <a:prstGeom prst="line">
            <a:avLst/>
          </a:prstGeom>
          <a:ln w="16455">
            <a:solidFill>
              <a:srgbClr val="70AD47"/>
            </a:solidFill>
            <a:prstDash val="solid"/>
          </a:ln>
        </p:spPr>
      </p:cxnSp>
      <p:cxnSp>
        <p:nvCxnSpPr>
          <p:cNvPr id="20" name="Connector 10"/>
          <p:cNvCxnSpPr/>
          <p:nvPr/>
        </p:nvCxnSpPr>
        <p:spPr>
          <a:xfrm>
            <a:off x="4480236" y="3714750"/>
            <a:ext cx="5385879" cy="1"/>
          </a:xfrm>
          <a:prstGeom prst="line">
            <a:avLst/>
          </a:prstGeom>
          <a:ln w="16455">
            <a:solidFill>
              <a:srgbClr val="ED7D31"/>
            </a:solidFill>
            <a:prstDash val="solid"/>
          </a:ln>
        </p:spPr>
      </p:cxnSp>
      <p:sp>
        <p:nvSpPr>
          <p:cNvPr id="21" name="Shape 11"/>
          <p:cNvSpPr/>
          <p:nvPr/>
        </p:nvSpPr>
        <p:spPr>
          <a:xfrm>
            <a:off x="1182887" y="3122353"/>
            <a:ext cx="131644" cy="131644"/>
          </a:xfrm>
          <a:prstGeom prst="ellipse">
            <a:avLst/>
          </a:prstGeom>
          <a:solidFill>
            <a:srgbClr val="4472C4"/>
          </a:solidFill>
          <a:ln w="9525">
            <a:solidFill>
              <a:srgbClr val="404040"/>
            </a:solidFill>
          </a:ln>
        </p:spPr>
      </p:sp>
      <p:sp>
        <p:nvSpPr>
          <p:cNvPr id="22" name="Text 12"/>
          <p:cNvSpPr txBox="1"/>
          <p:nvPr/>
        </p:nvSpPr>
        <p:spPr>
          <a:xfrm>
            <a:off x="1112128" y="3303363"/>
            <a:ext cx="273161" cy="1316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404040"/>
                </a:solidFill>
              </a:rPr>
              <a:t>ZERO</a:t>
            </a:r>
          </a:p>
        </p:txBody>
      </p:sp>
      <p:sp>
        <p:nvSpPr>
          <p:cNvPr id="23" name="Shape 13"/>
          <p:cNvSpPr/>
          <p:nvPr/>
        </p:nvSpPr>
        <p:spPr>
          <a:xfrm>
            <a:off x="2260063" y="4175503"/>
            <a:ext cx="131644" cy="131644"/>
          </a:xfrm>
          <a:prstGeom prst="ellipse">
            <a:avLst/>
          </a:prstGeom>
          <a:solidFill>
            <a:srgbClr val="70AD47"/>
          </a:solidFill>
          <a:ln w="9525">
            <a:solidFill>
              <a:srgbClr val="404040"/>
            </a:solidFill>
          </a:ln>
        </p:spPr>
      </p:sp>
      <p:sp>
        <p:nvSpPr>
          <p:cNvPr id="24" name="Text 14"/>
          <p:cNvSpPr txBox="1"/>
          <p:nvPr/>
        </p:nvSpPr>
        <p:spPr>
          <a:xfrm>
            <a:off x="2267056" y="4356514"/>
            <a:ext cx="117657" cy="1316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404040"/>
                </a:solidFill>
              </a:rPr>
              <a:t>A</a:t>
            </a:r>
          </a:p>
        </p:txBody>
      </p:sp>
      <p:sp>
        <p:nvSpPr>
          <p:cNvPr id="25" name="Shape 15"/>
          <p:cNvSpPr/>
          <p:nvPr/>
        </p:nvSpPr>
        <p:spPr>
          <a:xfrm>
            <a:off x="3337238" y="3122353"/>
            <a:ext cx="131644" cy="131644"/>
          </a:xfrm>
          <a:prstGeom prst="ellipse">
            <a:avLst/>
          </a:prstGeom>
          <a:solidFill>
            <a:srgbClr val="4472C4"/>
          </a:solidFill>
          <a:ln w="9525">
            <a:solidFill>
              <a:srgbClr val="404040"/>
            </a:solidFill>
          </a:ln>
        </p:spPr>
      </p:sp>
      <p:sp>
        <p:nvSpPr>
          <p:cNvPr id="26" name="Text 16"/>
          <p:cNvSpPr txBox="1"/>
          <p:nvPr/>
        </p:nvSpPr>
        <p:spPr>
          <a:xfrm>
            <a:off x="3292397" y="3303363"/>
            <a:ext cx="221326" cy="1316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404040"/>
                </a:solidFill>
              </a:rPr>
              <a:t>ONE</a:t>
            </a:r>
          </a:p>
        </p:txBody>
      </p:sp>
      <p:sp>
        <p:nvSpPr>
          <p:cNvPr id="27" name="Shape 17"/>
          <p:cNvSpPr/>
          <p:nvPr/>
        </p:nvSpPr>
        <p:spPr>
          <a:xfrm>
            <a:off x="4414414" y="3648928"/>
            <a:ext cx="131644" cy="131644"/>
          </a:xfrm>
          <a:prstGeom prst="ellipse">
            <a:avLst/>
          </a:prstGeom>
          <a:solidFill>
            <a:srgbClr val="ED7D31"/>
          </a:solidFill>
          <a:ln w="9525">
            <a:solidFill>
              <a:srgbClr val="404040"/>
            </a:solidFill>
          </a:ln>
        </p:spPr>
      </p:sp>
      <p:sp>
        <p:nvSpPr>
          <p:cNvPr id="28" name="Text 18"/>
          <p:cNvSpPr txBox="1"/>
          <p:nvPr/>
        </p:nvSpPr>
        <p:spPr>
          <a:xfrm>
            <a:off x="4421408" y="3829938"/>
            <a:ext cx="117657" cy="1316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404040"/>
                </a:solidFill>
              </a:rPr>
              <a:t>B</a:t>
            </a:r>
          </a:p>
        </p:txBody>
      </p:sp>
      <p:sp>
        <p:nvSpPr>
          <p:cNvPr id="29" name="Shape 19"/>
          <p:cNvSpPr/>
          <p:nvPr/>
        </p:nvSpPr>
        <p:spPr>
          <a:xfrm>
            <a:off x="5491590" y="3122353"/>
            <a:ext cx="131644" cy="131644"/>
          </a:xfrm>
          <a:prstGeom prst="ellipse">
            <a:avLst/>
          </a:prstGeom>
          <a:solidFill>
            <a:srgbClr val="4472C4"/>
          </a:solidFill>
          <a:ln w="9525">
            <a:solidFill>
              <a:srgbClr val="404040"/>
            </a:solidFill>
          </a:ln>
        </p:spPr>
      </p:sp>
      <p:sp>
        <p:nvSpPr>
          <p:cNvPr id="30" name="Shape 20"/>
          <p:cNvSpPr/>
          <p:nvPr/>
        </p:nvSpPr>
        <p:spPr>
          <a:xfrm>
            <a:off x="5524501" y="3155264"/>
            <a:ext cx="65822" cy="65822"/>
          </a:xfrm>
          <a:prstGeom prst="ellipse">
            <a:avLst/>
          </a:prstGeom>
          <a:solidFill>
            <a:srgbClr val="FFFFFF"/>
          </a:solidFill>
          <a:ln w="9525">
            <a:solidFill>
              <a:srgbClr val="4472C4"/>
            </a:solidFill>
          </a:ln>
        </p:spPr>
      </p:sp>
      <p:sp>
        <p:nvSpPr>
          <p:cNvPr id="31" name="Text 21"/>
          <p:cNvSpPr txBox="1"/>
          <p:nvPr/>
        </p:nvSpPr>
        <p:spPr>
          <a:xfrm>
            <a:off x="5394914" y="3303363"/>
            <a:ext cx="324996" cy="1316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404040"/>
                </a:solidFill>
              </a:rPr>
              <a:t>MERGE</a:t>
            </a:r>
          </a:p>
        </p:txBody>
      </p:sp>
      <p:sp>
        <p:nvSpPr>
          <p:cNvPr id="32" name="Shape 22"/>
          <p:cNvSpPr/>
          <p:nvPr/>
        </p:nvSpPr>
        <p:spPr>
          <a:xfrm>
            <a:off x="6568766" y="3122353"/>
            <a:ext cx="131644" cy="131644"/>
          </a:xfrm>
          <a:prstGeom prst="ellipse">
            <a:avLst/>
          </a:prstGeom>
          <a:solidFill>
            <a:srgbClr val="4472C4"/>
          </a:solidFill>
          <a:ln w="9525">
            <a:solidFill>
              <a:srgbClr val="404040"/>
            </a:solidFill>
          </a:ln>
        </p:spPr>
      </p:sp>
      <p:sp>
        <p:nvSpPr>
          <p:cNvPr id="33" name="Text 23"/>
          <p:cNvSpPr txBox="1"/>
          <p:nvPr/>
        </p:nvSpPr>
        <p:spPr>
          <a:xfrm>
            <a:off x="6523925" y="3303363"/>
            <a:ext cx="221326" cy="1316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404040"/>
                </a:solidFill>
              </a:rPr>
              <a:t>TWO</a:t>
            </a:r>
          </a:p>
        </p:txBody>
      </p:sp>
      <p:sp>
        <p:nvSpPr>
          <p:cNvPr id="34" name="Shape 24"/>
          <p:cNvSpPr/>
          <p:nvPr/>
        </p:nvSpPr>
        <p:spPr>
          <a:xfrm>
            <a:off x="7645942" y="4175503"/>
            <a:ext cx="131644" cy="131644"/>
          </a:xfrm>
          <a:prstGeom prst="ellipse">
            <a:avLst/>
          </a:prstGeom>
          <a:solidFill>
            <a:srgbClr val="70AD47"/>
          </a:solidFill>
          <a:ln w="9525">
            <a:solidFill>
              <a:srgbClr val="404040"/>
            </a:solidFill>
          </a:ln>
        </p:spPr>
      </p:sp>
      <p:sp>
        <p:nvSpPr>
          <p:cNvPr id="35" name="Text 25"/>
          <p:cNvSpPr txBox="1"/>
          <p:nvPr/>
        </p:nvSpPr>
        <p:spPr>
          <a:xfrm>
            <a:off x="6742865" y="4356514"/>
            <a:ext cx="1937798" cy="1316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404040"/>
                </a:solidFill>
              </a:rPr>
              <a:t>MERGE-cherry-pick-1 (cherry-pick of MERGE)</a:t>
            </a:r>
          </a:p>
        </p:txBody>
      </p:sp>
      <p:sp>
        <p:nvSpPr>
          <p:cNvPr id="36" name="Shape 26"/>
          <p:cNvSpPr/>
          <p:nvPr/>
        </p:nvSpPr>
        <p:spPr>
          <a:xfrm>
            <a:off x="8723118" y="4175503"/>
            <a:ext cx="131644" cy="131644"/>
          </a:xfrm>
          <a:prstGeom prst="ellipse">
            <a:avLst/>
          </a:prstGeom>
          <a:solidFill>
            <a:srgbClr val="70AD47"/>
          </a:solidFill>
          <a:ln w="9525">
            <a:solidFill>
              <a:srgbClr val="404040"/>
            </a:solidFill>
          </a:ln>
        </p:spPr>
      </p:sp>
      <p:sp>
        <p:nvSpPr>
          <p:cNvPr id="37" name="Text 27"/>
          <p:cNvSpPr txBox="1"/>
          <p:nvPr/>
        </p:nvSpPr>
        <p:spPr>
          <a:xfrm>
            <a:off x="8626442" y="4356514"/>
            <a:ext cx="324996" cy="1316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404040"/>
                </a:solidFill>
              </a:rPr>
              <a:t>THREE</a:t>
            </a:r>
          </a:p>
        </p:txBody>
      </p:sp>
      <p:sp>
        <p:nvSpPr>
          <p:cNvPr id="38" name="Shape 28"/>
          <p:cNvSpPr/>
          <p:nvPr/>
        </p:nvSpPr>
        <p:spPr>
          <a:xfrm>
            <a:off x="9800293" y="3648928"/>
            <a:ext cx="131644" cy="131644"/>
          </a:xfrm>
          <a:prstGeom prst="ellipse">
            <a:avLst/>
          </a:prstGeom>
          <a:solidFill>
            <a:srgbClr val="ED7D31"/>
          </a:solidFill>
          <a:ln w="9525">
            <a:solidFill>
              <a:srgbClr val="404040"/>
            </a:solidFill>
          </a:ln>
        </p:spPr>
      </p:sp>
      <p:sp>
        <p:nvSpPr>
          <p:cNvPr id="39" name="Text 29"/>
          <p:cNvSpPr txBox="1"/>
          <p:nvPr/>
        </p:nvSpPr>
        <p:spPr>
          <a:xfrm>
            <a:off x="9807287" y="3829938"/>
            <a:ext cx="117657" cy="1316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404040"/>
                </a:solidFill>
              </a:rPr>
              <a:t>C</a:t>
            </a:r>
          </a:p>
        </p:txBody>
      </p:sp>
      <p:sp>
        <p:nvSpPr>
          <p:cNvPr id="40" name="Text 30"/>
          <p:cNvSpPr txBox="1"/>
          <p:nvPr/>
        </p:nvSpPr>
        <p:spPr>
          <a:xfrm>
            <a:off x="10801774" y="3122353"/>
            <a:ext cx="283034" cy="1480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800" dirty="0">
                <a:solidFill>
                  <a:srgbClr val="4472C4"/>
                </a:solidFill>
              </a:rPr>
              <a:t>main</a:t>
            </a:r>
          </a:p>
        </p:txBody>
      </p:sp>
      <p:sp>
        <p:nvSpPr>
          <p:cNvPr id="41" name="Text 31"/>
          <p:cNvSpPr txBox="1"/>
          <p:nvPr/>
        </p:nvSpPr>
        <p:spPr>
          <a:xfrm>
            <a:off x="10720320" y="3648928"/>
            <a:ext cx="445944" cy="1480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800" dirty="0">
                <a:solidFill>
                  <a:srgbClr val="ED7D31"/>
                </a:solidFill>
              </a:rPr>
              <a:t>develop</a:t>
            </a:r>
          </a:p>
        </p:txBody>
      </p:sp>
      <p:sp>
        <p:nvSpPr>
          <p:cNvPr id="42" name="Text 32"/>
          <p:cNvSpPr txBox="1"/>
          <p:nvPr/>
        </p:nvSpPr>
        <p:spPr>
          <a:xfrm>
            <a:off x="10720320" y="4175504"/>
            <a:ext cx="445944" cy="1480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800" dirty="0">
                <a:solidFill>
                  <a:srgbClr val="70AD47"/>
                </a:solidFill>
              </a:rPr>
              <a:t>release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ishikawa</a:t>
            </a:r>
          </a:p>
        </p:txBody>
      </p:sp>
      <p:sp>
        <p:nvSpPr>
          <p:cNvPr id="11" name="Shape 1"/>
          <p:cNvSpPr/>
          <p:nvPr/>
        </p:nvSpPr>
        <p:spPr>
          <a:xfrm>
            <a:off x="768844" y="4428933"/>
            <a:ext cx="8940273" cy="1"/>
          </a:xfrm>
          <a:custGeom>
            <a:avLst/>
            <a:gdLst/>
            <a:ahLst/>
            <a:cxnLst/>
            <a:rect l="0" t="0" r="0" b="0"/>
            <a:pathLst>
              <a:path w="6557962" h="1" fill="none">
                <a:moveTo>
                  <a:pt x="0" y="0"/>
                </a:moveTo>
                <a:lnTo>
                  <a:pt x="6557962" y="0"/>
                </a:lnTo>
              </a:path>
            </a:pathLst>
          </a:custGeom>
          <a:noFill/>
          <a:ln w="51941">
            <a:solidFill>
              <a:srgbClr val="404040"/>
            </a:solidFill>
          </a:ln>
        </p:spPr>
      </p:sp>
      <p:sp>
        <p:nvSpPr>
          <p:cNvPr id="12" name="Box 2"/>
          <p:cNvSpPr/>
          <p:nvPr/>
        </p:nvSpPr>
        <p:spPr>
          <a:xfrm>
            <a:off x="9709117" y="4065349"/>
            <a:ext cx="1714039" cy="72716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636" dirty="0">
                <a:solidFill>
                  <a:srgbClr val="FFFFFF"/>
                </a:solidFill>
              </a:rPr>
              <a:t>Blurry Photo</a:t>
            </a:r>
          </a:p>
        </p:txBody>
      </p:sp>
      <p:sp>
        <p:nvSpPr>
          <p:cNvPr id="13" name="Shape 3"/>
          <p:cNvSpPr/>
          <p:nvPr/>
        </p:nvSpPr>
        <p:spPr>
          <a:xfrm>
            <a:off x="4063175" y="2143547"/>
            <a:ext cx="936230" cy="2285386"/>
          </a:xfrm>
          <a:custGeom>
            <a:avLst/>
            <a:gdLst/>
            <a:ahLst/>
            <a:cxnLst/>
            <a:rect l="0" t="0" r="0" b="0"/>
            <a:pathLst>
              <a:path w="686753" h="1676400" fill="none">
                <a:moveTo>
                  <a:pt x="0" y="0"/>
                </a:moveTo>
                <a:lnTo>
                  <a:pt x="686753" y="1676400"/>
                </a:lnTo>
              </a:path>
            </a:pathLst>
          </a:custGeom>
          <a:noFill/>
          <a:ln w="30299">
            <a:solidFill>
              <a:srgbClr val="4472C4"/>
            </a:solidFill>
          </a:ln>
        </p:spPr>
      </p:sp>
      <p:sp>
        <p:nvSpPr>
          <p:cNvPr id="14" name="Box 4"/>
          <p:cNvSpPr/>
          <p:nvPr/>
        </p:nvSpPr>
        <p:spPr>
          <a:xfrm>
            <a:off x="3543769" y="1753993"/>
            <a:ext cx="1038812" cy="38955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500" dirty="0">
                <a:solidFill>
                  <a:srgbClr val="FFFFFF"/>
                </a:solidFill>
              </a:rPr>
              <a:t>Process</a:t>
            </a:r>
          </a:p>
        </p:txBody>
      </p:sp>
      <p:sp>
        <p:nvSpPr>
          <p:cNvPr id="15" name="Box 5"/>
          <p:cNvSpPr/>
          <p:nvPr/>
        </p:nvSpPr>
        <p:spPr>
          <a:xfrm>
            <a:off x="2693324" y="2143547"/>
            <a:ext cx="1324485" cy="285673"/>
          </a:xfrm>
          <a:prstGeom prst="rect">
            <a:avLst/>
          </a:prstGeom>
          <a:noFill/>
          <a:ln>
            <a:noFill/>
          </a:ln>
        </p:spPr>
        <p:txBody>
          <a:bodyPr wrap="none" lIns="25970" tIns="0" rIns="2597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500" dirty="0">
                <a:solidFill>
                  <a:srgbClr val="000000"/>
                </a:solidFill>
              </a:rPr>
              <a:t>Out of focus</a:t>
            </a:r>
          </a:p>
        </p:txBody>
      </p:sp>
      <p:sp>
        <p:nvSpPr>
          <p:cNvPr id="16" name="Shape 6"/>
          <p:cNvSpPr/>
          <p:nvPr/>
        </p:nvSpPr>
        <p:spPr>
          <a:xfrm>
            <a:off x="4017809" y="2286384"/>
            <a:ext cx="103881" cy="1"/>
          </a:xfrm>
          <a:custGeom>
            <a:avLst/>
            <a:gdLst/>
            <a:ahLst/>
            <a:cxnLst/>
            <a:rect l="0" t="0" r="0" b="0"/>
            <a:pathLst>
              <a:path w="76200" h="1" fill="none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12985">
            <a:solidFill>
              <a:srgbClr val="85A3D9"/>
            </a:solidFill>
          </a:ln>
        </p:spPr>
      </p:sp>
      <p:sp>
        <p:nvSpPr>
          <p:cNvPr id="17" name="Box 7"/>
          <p:cNvSpPr/>
          <p:nvPr/>
        </p:nvSpPr>
        <p:spPr>
          <a:xfrm>
            <a:off x="1849452" y="2429220"/>
            <a:ext cx="2285386" cy="285673"/>
          </a:xfrm>
          <a:prstGeom prst="rect">
            <a:avLst/>
          </a:prstGeom>
          <a:noFill/>
          <a:ln>
            <a:noFill/>
          </a:ln>
        </p:spPr>
        <p:txBody>
          <a:bodyPr wrap="none" lIns="25970" tIns="0" rIns="2597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500" dirty="0">
                <a:solidFill>
                  <a:srgbClr val="000000"/>
                </a:solidFill>
              </a:rPr>
              <a:t>Shutter speed too slow</a:t>
            </a:r>
          </a:p>
        </p:txBody>
      </p:sp>
      <p:sp>
        <p:nvSpPr>
          <p:cNvPr id="18" name="Shape 8"/>
          <p:cNvSpPr/>
          <p:nvPr/>
        </p:nvSpPr>
        <p:spPr>
          <a:xfrm>
            <a:off x="4134838" y="2572057"/>
            <a:ext cx="103881" cy="1"/>
          </a:xfrm>
          <a:custGeom>
            <a:avLst/>
            <a:gdLst/>
            <a:ahLst/>
            <a:cxnLst/>
            <a:rect l="0" t="0" r="0" b="0"/>
            <a:pathLst>
              <a:path w="76200" h="1" fill="none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12985">
            <a:solidFill>
              <a:srgbClr val="85A3D9"/>
            </a:solidFill>
          </a:ln>
        </p:spPr>
      </p:sp>
      <p:sp>
        <p:nvSpPr>
          <p:cNvPr id="19" name="Box 9"/>
          <p:cNvSpPr/>
          <p:nvPr/>
        </p:nvSpPr>
        <p:spPr>
          <a:xfrm>
            <a:off x="1460060" y="2714894"/>
            <a:ext cx="2791807" cy="285673"/>
          </a:xfrm>
          <a:prstGeom prst="rect">
            <a:avLst/>
          </a:prstGeom>
          <a:noFill/>
          <a:ln>
            <a:noFill/>
          </a:ln>
        </p:spPr>
        <p:txBody>
          <a:bodyPr wrap="none" lIns="25970" tIns="0" rIns="2597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500" dirty="0">
                <a:solidFill>
                  <a:srgbClr val="000000"/>
                </a:solidFill>
              </a:rPr>
              <a:t>Protective film not removed</a:t>
            </a:r>
          </a:p>
        </p:txBody>
      </p:sp>
      <p:sp>
        <p:nvSpPr>
          <p:cNvPr id="20" name="Shape 10"/>
          <p:cNvSpPr/>
          <p:nvPr/>
        </p:nvSpPr>
        <p:spPr>
          <a:xfrm>
            <a:off x="4251866" y="2857730"/>
            <a:ext cx="103881" cy="1"/>
          </a:xfrm>
          <a:custGeom>
            <a:avLst/>
            <a:gdLst/>
            <a:ahLst/>
            <a:cxnLst/>
            <a:rect l="0" t="0" r="0" b="0"/>
            <a:pathLst>
              <a:path w="76200" h="1" fill="none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12985">
            <a:solidFill>
              <a:srgbClr val="85A3D9"/>
            </a:solidFill>
          </a:ln>
        </p:spPr>
      </p:sp>
      <p:sp>
        <p:nvSpPr>
          <p:cNvPr id="21" name="Box 11"/>
          <p:cNvSpPr/>
          <p:nvPr/>
        </p:nvSpPr>
        <p:spPr>
          <a:xfrm>
            <a:off x="1330370" y="3000567"/>
            <a:ext cx="3038525" cy="285673"/>
          </a:xfrm>
          <a:prstGeom prst="rect">
            <a:avLst/>
          </a:prstGeom>
          <a:noFill/>
          <a:ln>
            <a:noFill/>
          </a:ln>
        </p:spPr>
        <p:txBody>
          <a:bodyPr wrap="none" lIns="25970" tIns="0" rIns="2597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500" dirty="0">
                <a:solidFill>
                  <a:srgbClr val="000000"/>
                </a:solidFill>
              </a:rPr>
              <a:t>Beautification filter applied</a:t>
            </a:r>
          </a:p>
        </p:txBody>
      </p:sp>
      <p:sp>
        <p:nvSpPr>
          <p:cNvPr id="22" name="Shape 12"/>
          <p:cNvSpPr/>
          <p:nvPr/>
        </p:nvSpPr>
        <p:spPr>
          <a:xfrm>
            <a:off x="4368895" y="3143404"/>
            <a:ext cx="103881" cy="1"/>
          </a:xfrm>
          <a:custGeom>
            <a:avLst/>
            <a:gdLst/>
            <a:ahLst/>
            <a:cxnLst/>
            <a:rect l="0" t="0" r="0" b="0"/>
            <a:pathLst>
              <a:path w="76200" h="1" fill="none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12985">
            <a:solidFill>
              <a:srgbClr val="85A3D9"/>
            </a:solidFill>
          </a:ln>
        </p:spPr>
      </p:sp>
      <p:sp>
        <p:nvSpPr>
          <p:cNvPr id="23" name="Shape 13"/>
          <p:cNvSpPr/>
          <p:nvPr/>
        </p:nvSpPr>
        <p:spPr>
          <a:xfrm>
            <a:off x="4563104" y="4428933"/>
            <a:ext cx="436301" cy="857020"/>
          </a:xfrm>
          <a:custGeom>
            <a:avLst/>
            <a:gdLst/>
            <a:ahLst/>
            <a:cxnLst/>
            <a:rect l="0" t="0" r="0" b="0"/>
            <a:pathLst>
              <a:path w="320040" h="628650" fill="none">
                <a:moveTo>
                  <a:pt x="0" y="628650"/>
                </a:moveTo>
                <a:lnTo>
                  <a:pt x="320040" y="0"/>
                </a:lnTo>
              </a:path>
            </a:pathLst>
          </a:custGeom>
          <a:noFill/>
          <a:ln w="30299">
            <a:solidFill>
              <a:srgbClr val="ED7D31"/>
            </a:solidFill>
          </a:ln>
        </p:spPr>
      </p:sp>
      <p:sp>
        <p:nvSpPr>
          <p:cNvPr id="24" name="Box 14"/>
          <p:cNvSpPr/>
          <p:nvPr/>
        </p:nvSpPr>
        <p:spPr>
          <a:xfrm>
            <a:off x="4193026" y="5285953"/>
            <a:ext cx="740153" cy="38955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500" dirty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25" name="Box 15"/>
          <p:cNvSpPr/>
          <p:nvPr/>
        </p:nvSpPr>
        <p:spPr>
          <a:xfrm>
            <a:off x="3259395" y="5000280"/>
            <a:ext cx="1272544" cy="285673"/>
          </a:xfrm>
          <a:prstGeom prst="rect">
            <a:avLst/>
          </a:prstGeom>
          <a:noFill/>
          <a:ln>
            <a:noFill/>
          </a:ln>
        </p:spPr>
        <p:txBody>
          <a:bodyPr wrap="none" lIns="25970" tIns="0" rIns="2597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500" dirty="0">
                <a:solidFill>
                  <a:srgbClr val="000000"/>
                </a:solidFill>
              </a:rPr>
              <a:t>Shaky hands</a:t>
            </a:r>
          </a:p>
        </p:txBody>
      </p:sp>
      <p:sp>
        <p:nvSpPr>
          <p:cNvPr id="26" name="Shape 16"/>
          <p:cNvSpPr/>
          <p:nvPr/>
        </p:nvSpPr>
        <p:spPr>
          <a:xfrm>
            <a:off x="4531939" y="5143116"/>
            <a:ext cx="103881" cy="1"/>
          </a:xfrm>
          <a:custGeom>
            <a:avLst/>
            <a:gdLst/>
            <a:ahLst/>
            <a:cxnLst/>
            <a:rect l="0" t="0" r="0" b="0"/>
            <a:pathLst>
              <a:path w="76200" h="1" fill="none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12985">
            <a:solidFill>
              <a:srgbClr val="F3AB79"/>
            </a:solidFill>
          </a:ln>
        </p:spPr>
      </p:sp>
      <p:sp>
        <p:nvSpPr>
          <p:cNvPr id="27" name="Shape 17"/>
          <p:cNvSpPr/>
          <p:nvPr/>
        </p:nvSpPr>
        <p:spPr>
          <a:xfrm>
            <a:off x="8045720" y="2143547"/>
            <a:ext cx="936228" cy="2285386"/>
          </a:xfrm>
          <a:custGeom>
            <a:avLst/>
            <a:gdLst/>
            <a:ahLst/>
            <a:cxnLst/>
            <a:rect l="0" t="0" r="0" b="0"/>
            <a:pathLst>
              <a:path w="686752" h="1676400" fill="none">
                <a:moveTo>
                  <a:pt x="0" y="0"/>
                </a:moveTo>
                <a:lnTo>
                  <a:pt x="686752" y="1676400"/>
                </a:lnTo>
              </a:path>
            </a:pathLst>
          </a:custGeom>
          <a:noFill/>
          <a:ln w="30299">
            <a:solidFill>
              <a:srgbClr val="70AD47"/>
            </a:solidFill>
          </a:ln>
        </p:spPr>
      </p:sp>
      <p:sp>
        <p:nvSpPr>
          <p:cNvPr id="28" name="Box 18"/>
          <p:cNvSpPr/>
          <p:nvPr/>
        </p:nvSpPr>
        <p:spPr>
          <a:xfrm>
            <a:off x="7422433" y="1753993"/>
            <a:ext cx="1246574" cy="38955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500" dirty="0">
                <a:solidFill>
                  <a:srgbClr val="FFFFFF"/>
                </a:solidFill>
              </a:rPr>
              <a:t>Equipment</a:t>
            </a:r>
          </a:p>
        </p:txBody>
      </p:sp>
      <p:sp>
        <p:nvSpPr>
          <p:cNvPr id="29" name="Box 19"/>
          <p:cNvSpPr/>
          <p:nvPr/>
        </p:nvSpPr>
        <p:spPr>
          <a:xfrm>
            <a:off x="7338111" y="2143547"/>
            <a:ext cx="662243" cy="285673"/>
          </a:xfrm>
          <a:prstGeom prst="rect">
            <a:avLst/>
          </a:prstGeom>
          <a:noFill/>
          <a:ln>
            <a:noFill/>
          </a:ln>
        </p:spPr>
        <p:txBody>
          <a:bodyPr wrap="none" lIns="25970" tIns="0" rIns="2597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500" dirty="0">
                <a:solidFill>
                  <a:srgbClr val="000000"/>
                </a:solidFill>
              </a:rPr>
              <a:t>LENS</a:t>
            </a:r>
          </a:p>
        </p:txBody>
      </p:sp>
      <p:sp>
        <p:nvSpPr>
          <p:cNvPr id="30" name="Shape 20"/>
          <p:cNvSpPr/>
          <p:nvPr/>
        </p:nvSpPr>
        <p:spPr>
          <a:xfrm>
            <a:off x="8000353" y="2286384"/>
            <a:ext cx="103881" cy="1"/>
          </a:xfrm>
          <a:custGeom>
            <a:avLst/>
            <a:gdLst/>
            <a:ahLst/>
            <a:cxnLst/>
            <a:rect l="0" t="0" r="0" b="0"/>
            <a:pathLst>
              <a:path w="76200" h="1" fill="none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12985">
            <a:solidFill>
              <a:srgbClr val="A2CA87"/>
            </a:solidFill>
          </a:ln>
        </p:spPr>
      </p:sp>
      <p:sp>
        <p:nvSpPr>
          <p:cNvPr id="31" name="Box 21"/>
          <p:cNvSpPr/>
          <p:nvPr/>
        </p:nvSpPr>
        <p:spPr>
          <a:xfrm>
            <a:off x="5961847" y="2429220"/>
            <a:ext cx="1973742" cy="285673"/>
          </a:xfrm>
          <a:prstGeom prst="rect">
            <a:avLst/>
          </a:prstGeom>
          <a:noFill/>
          <a:ln>
            <a:noFill/>
          </a:ln>
        </p:spPr>
        <p:txBody>
          <a:bodyPr wrap="none" lIns="25970" tIns="0" rIns="2597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i="1" sz="1500" dirty="0">
                <a:solidFill>
                  <a:srgbClr val="595959"/>
                </a:solidFill>
              </a:rPr>
              <a:t>Inappropriate lens</a:t>
            </a:r>
          </a:p>
        </p:txBody>
      </p:sp>
      <p:sp>
        <p:nvSpPr>
          <p:cNvPr id="32" name="Shape 22"/>
          <p:cNvSpPr/>
          <p:nvPr/>
        </p:nvSpPr>
        <p:spPr>
          <a:xfrm>
            <a:off x="7935590" y="2572057"/>
            <a:ext cx="285673" cy="1"/>
          </a:xfrm>
          <a:custGeom>
            <a:avLst/>
            <a:gdLst/>
            <a:ahLst/>
            <a:cxnLst/>
            <a:rect l="0" t="0" r="0" b="0"/>
            <a:pathLst>
              <a:path w="209550" h="1" fill="none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/>
          <a:ln w="12985">
            <a:solidFill>
              <a:srgbClr val="A2CA87"/>
            </a:solidFill>
          </a:ln>
        </p:spPr>
      </p:sp>
      <p:sp>
        <p:nvSpPr>
          <p:cNvPr id="33" name="Box 23"/>
          <p:cNvSpPr/>
          <p:nvPr/>
        </p:nvSpPr>
        <p:spPr>
          <a:xfrm>
            <a:off x="6689178" y="2714894"/>
            <a:ext cx="1363440" cy="285673"/>
          </a:xfrm>
          <a:prstGeom prst="rect">
            <a:avLst/>
          </a:prstGeom>
          <a:noFill/>
          <a:ln>
            <a:noFill/>
          </a:ln>
        </p:spPr>
        <p:txBody>
          <a:bodyPr wrap="none" lIns="25970" tIns="0" rIns="2597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i="1" sz="1500" dirty="0">
                <a:solidFill>
                  <a:srgbClr val="595959"/>
                </a:solidFill>
              </a:rPr>
              <a:t>Damaged lens</a:t>
            </a:r>
          </a:p>
        </p:txBody>
      </p:sp>
      <p:sp>
        <p:nvSpPr>
          <p:cNvPr id="34" name="Shape 24"/>
          <p:cNvSpPr/>
          <p:nvPr/>
        </p:nvSpPr>
        <p:spPr>
          <a:xfrm>
            <a:off x="8052618" y="2857730"/>
            <a:ext cx="285673" cy="1"/>
          </a:xfrm>
          <a:custGeom>
            <a:avLst/>
            <a:gdLst/>
            <a:ahLst/>
            <a:cxnLst/>
            <a:rect l="0" t="0" r="0" b="0"/>
            <a:pathLst>
              <a:path w="209550" h="1" fill="none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/>
          <a:ln w="12985">
            <a:solidFill>
              <a:srgbClr val="A2CA87"/>
            </a:solidFill>
          </a:ln>
        </p:spPr>
      </p:sp>
      <p:sp>
        <p:nvSpPr>
          <p:cNvPr id="35" name="Box 25"/>
          <p:cNvSpPr/>
          <p:nvPr/>
        </p:nvSpPr>
        <p:spPr>
          <a:xfrm>
            <a:off x="7000984" y="3000567"/>
            <a:ext cx="1168663" cy="285673"/>
          </a:xfrm>
          <a:prstGeom prst="rect">
            <a:avLst/>
          </a:prstGeom>
          <a:noFill/>
          <a:ln>
            <a:noFill/>
          </a:ln>
        </p:spPr>
        <p:txBody>
          <a:bodyPr wrap="none" lIns="25970" tIns="0" rIns="2597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i="1" sz="1500" dirty="0">
                <a:solidFill>
                  <a:srgbClr val="595959"/>
                </a:solidFill>
              </a:rPr>
              <a:t>Dirty lens</a:t>
            </a:r>
          </a:p>
        </p:txBody>
      </p:sp>
      <p:sp>
        <p:nvSpPr>
          <p:cNvPr id="36" name="Shape 26"/>
          <p:cNvSpPr/>
          <p:nvPr/>
        </p:nvSpPr>
        <p:spPr>
          <a:xfrm>
            <a:off x="8169647" y="3143404"/>
            <a:ext cx="285673" cy="1"/>
          </a:xfrm>
          <a:custGeom>
            <a:avLst/>
            <a:gdLst/>
            <a:ahLst/>
            <a:cxnLst/>
            <a:rect l="0" t="0" r="0" b="0"/>
            <a:pathLst>
              <a:path w="209550" h="1" fill="none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/>
          <a:ln w="12985">
            <a:solidFill>
              <a:srgbClr val="A2CA87"/>
            </a:solidFill>
          </a:ln>
        </p:spPr>
      </p:sp>
      <p:sp>
        <p:nvSpPr>
          <p:cNvPr id="37" name="Box 27"/>
          <p:cNvSpPr/>
          <p:nvPr/>
        </p:nvSpPr>
        <p:spPr>
          <a:xfrm>
            <a:off x="7572492" y="3286240"/>
            <a:ext cx="895975" cy="285673"/>
          </a:xfrm>
          <a:prstGeom prst="rect">
            <a:avLst/>
          </a:prstGeom>
          <a:noFill/>
          <a:ln>
            <a:noFill/>
          </a:ln>
        </p:spPr>
        <p:txBody>
          <a:bodyPr wrap="none" lIns="25970" tIns="0" rIns="2597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500" dirty="0">
                <a:solidFill>
                  <a:srgbClr val="000000"/>
                </a:solidFill>
              </a:rPr>
              <a:t>SENSOR</a:t>
            </a:r>
          </a:p>
        </p:txBody>
      </p:sp>
      <p:sp>
        <p:nvSpPr>
          <p:cNvPr id="38" name="Shape 28"/>
          <p:cNvSpPr/>
          <p:nvPr/>
        </p:nvSpPr>
        <p:spPr>
          <a:xfrm>
            <a:off x="8468468" y="3429077"/>
            <a:ext cx="103881" cy="1"/>
          </a:xfrm>
          <a:custGeom>
            <a:avLst/>
            <a:gdLst/>
            <a:ahLst/>
            <a:cxnLst/>
            <a:rect l="0" t="0" r="0" b="0"/>
            <a:pathLst>
              <a:path w="76200" h="1" fill="none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12985">
            <a:solidFill>
              <a:srgbClr val="A2CA87"/>
            </a:solidFill>
          </a:ln>
        </p:spPr>
      </p:sp>
      <p:sp>
        <p:nvSpPr>
          <p:cNvPr id="39" name="Box 29"/>
          <p:cNvSpPr/>
          <p:nvPr/>
        </p:nvSpPr>
        <p:spPr>
          <a:xfrm>
            <a:off x="6832501" y="3571913"/>
            <a:ext cx="1571203" cy="285673"/>
          </a:xfrm>
          <a:prstGeom prst="rect">
            <a:avLst/>
          </a:prstGeom>
          <a:noFill/>
          <a:ln>
            <a:noFill/>
          </a:ln>
        </p:spPr>
        <p:txBody>
          <a:bodyPr wrap="none" lIns="25970" tIns="0" rIns="2597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i="1" sz="1500" dirty="0">
                <a:solidFill>
                  <a:srgbClr val="595959"/>
                </a:solidFill>
              </a:rPr>
              <a:t>Damaged sensor</a:t>
            </a:r>
          </a:p>
        </p:txBody>
      </p:sp>
      <p:sp>
        <p:nvSpPr>
          <p:cNvPr id="40" name="Shape 30"/>
          <p:cNvSpPr/>
          <p:nvPr/>
        </p:nvSpPr>
        <p:spPr>
          <a:xfrm>
            <a:off x="8403704" y="3714750"/>
            <a:ext cx="285673" cy="1"/>
          </a:xfrm>
          <a:custGeom>
            <a:avLst/>
            <a:gdLst/>
            <a:ahLst/>
            <a:cxnLst/>
            <a:rect l="0" t="0" r="0" b="0"/>
            <a:pathLst>
              <a:path w="209550" h="1" fill="none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/>
          <a:ln w="12985">
            <a:solidFill>
              <a:srgbClr val="A2CA87"/>
            </a:solidFill>
          </a:ln>
        </p:spPr>
      </p:sp>
      <p:sp>
        <p:nvSpPr>
          <p:cNvPr id="41" name="Box 31"/>
          <p:cNvSpPr/>
          <p:nvPr/>
        </p:nvSpPr>
        <p:spPr>
          <a:xfrm>
            <a:off x="7157292" y="3857587"/>
            <a:ext cx="1363440" cy="285673"/>
          </a:xfrm>
          <a:prstGeom prst="rect">
            <a:avLst/>
          </a:prstGeom>
          <a:noFill/>
          <a:ln>
            <a:noFill/>
          </a:ln>
        </p:spPr>
        <p:txBody>
          <a:bodyPr wrap="none" lIns="25970" tIns="0" rIns="2597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i="1" sz="1500" dirty="0">
                <a:solidFill>
                  <a:srgbClr val="595959"/>
                </a:solidFill>
              </a:rPr>
              <a:t>Dirty sensor</a:t>
            </a:r>
          </a:p>
        </p:txBody>
      </p:sp>
      <p:sp>
        <p:nvSpPr>
          <p:cNvPr id="42" name="Shape 32"/>
          <p:cNvSpPr/>
          <p:nvPr/>
        </p:nvSpPr>
        <p:spPr>
          <a:xfrm>
            <a:off x="8520733" y="4000423"/>
            <a:ext cx="285673" cy="1"/>
          </a:xfrm>
          <a:custGeom>
            <a:avLst/>
            <a:gdLst/>
            <a:ahLst/>
            <a:cxnLst/>
            <a:rect l="0" t="0" r="0" b="0"/>
            <a:pathLst>
              <a:path w="209550" h="1" fill="none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/>
          <a:ln w="12985">
            <a:solidFill>
              <a:srgbClr val="A2CA87"/>
            </a:solidFill>
          </a:ln>
        </p:spPr>
      </p:sp>
      <p:sp>
        <p:nvSpPr>
          <p:cNvPr id="43" name="Shape 33"/>
          <p:cNvSpPr/>
          <p:nvPr/>
        </p:nvSpPr>
        <p:spPr>
          <a:xfrm>
            <a:off x="8545648" y="4428933"/>
            <a:ext cx="436301" cy="857020"/>
          </a:xfrm>
          <a:custGeom>
            <a:avLst/>
            <a:gdLst/>
            <a:ahLst/>
            <a:cxnLst/>
            <a:rect l="0" t="0" r="0" b="0"/>
            <a:pathLst>
              <a:path w="320040" h="628650" fill="none">
                <a:moveTo>
                  <a:pt x="0" y="628650"/>
                </a:moveTo>
                <a:lnTo>
                  <a:pt x="320040" y="0"/>
                </a:lnTo>
              </a:path>
            </a:pathLst>
          </a:custGeom>
          <a:noFill/>
          <a:ln w="30299">
            <a:solidFill>
              <a:srgbClr val="FFC000"/>
            </a:solidFill>
          </a:ln>
        </p:spPr>
      </p:sp>
      <p:sp>
        <p:nvSpPr>
          <p:cNvPr id="44" name="Box 34"/>
          <p:cNvSpPr/>
          <p:nvPr/>
        </p:nvSpPr>
        <p:spPr>
          <a:xfrm>
            <a:off x="7818479" y="5285953"/>
            <a:ext cx="1454337" cy="38955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500" dirty="0">
                <a:solidFill>
                  <a:srgbClr val="FFFFFF"/>
                </a:solidFill>
              </a:rPr>
              <a:t>Environment</a:t>
            </a:r>
          </a:p>
        </p:txBody>
      </p:sp>
      <p:sp>
        <p:nvSpPr>
          <p:cNvPr id="45" name="Box 35"/>
          <p:cNvSpPr/>
          <p:nvPr/>
        </p:nvSpPr>
        <p:spPr>
          <a:xfrm>
            <a:off x="5930439" y="5000280"/>
            <a:ext cx="2584044" cy="285673"/>
          </a:xfrm>
          <a:prstGeom prst="rect">
            <a:avLst/>
          </a:prstGeom>
          <a:noFill/>
          <a:ln>
            <a:noFill/>
          </a:ln>
        </p:spPr>
        <p:txBody>
          <a:bodyPr wrap="none" lIns="25970" tIns="0" rIns="2597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500" dirty="0">
                <a:solidFill>
                  <a:srgbClr val="000000"/>
                </a:solidFill>
              </a:rPr>
              <a:t>Subject moved too quickly</a:t>
            </a:r>
          </a:p>
        </p:txBody>
      </p:sp>
      <p:sp>
        <p:nvSpPr>
          <p:cNvPr id="46" name="Shape 36"/>
          <p:cNvSpPr/>
          <p:nvPr/>
        </p:nvSpPr>
        <p:spPr>
          <a:xfrm>
            <a:off x="8514483" y="5143116"/>
            <a:ext cx="103881" cy="1"/>
          </a:xfrm>
          <a:custGeom>
            <a:avLst/>
            <a:gdLst/>
            <a:ahLst/>
            <a:cxnLst/>
            <a:rect l="0" t="0" r="0" b="0"/>
            <a:pathLst>
              <a:path w="76200" h="1" fill="none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12985">
            <a:solidFill>
              <a:srgbClr val="FFD659"/>
            </a:solidFill>
          </a:ln>
        </p:spPr>
      </p:sp>
      <p:sp>
        <p:nvSpPr>
          <p:cNvPr id="47" name="Box 37"/>
          <p:cNvSpPr/>
          <p:nvPr/>
        </p:nvSpPr>
        <p:spPr>
          <a:xfrm>
            <a:off x="7699016" y="4714606"/>
            <a:ext cx="960901" cy="285673"/>
          </a:xfrm>
          <a:prstGeom prst="rect">
            <a:avLst/>
          </a:prstGeom>
          <a:noFill/>
          <a:ln>
            <a:noFill/>
          </a:ln>
        </p:spPr>
        <p:txBody>
          <a:bodyPr wrap="none" lIns="25970" tIns="0" rIns="2597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500" dirty="0">
                <a:solidFill>
                  <a:srgbClr val="000000"/>
                </a:solidFill>
              </a:rPr>
              <a:t>Too dark</a:t>
            </a:r>
          </a:p>
        </p:txBody>
      </p:sp>
      <p:sp>
        <p:nvSpPr>
          <p:cNvPr id="48" name="Shape 38"/>
          <p:cNvSpPr/>
          <p:nvPr/>
        </p:nvSpPr>
        <p:spPr>
          <a:xfrm>
            <a:off x="8659917" y="4857443"/>
            <a:ext cx="103881" cy="1"/>
          </a:xfrm>
          <a:custGeom>
            <a:avLst/>
            <a:gdLst/>
            <a:ahLst/>
            <a:cxnLst/>
            <a:rect l="0" t="0" r="0" b="0"/>
            <a:pathLst>
              <a:path w="76200" h="1" fill="none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12985">
            <a:solidFill>
              <a:srgbClr val="FFD659"/>
            </a:solidFill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isolated</a:t>
            </a:r>
          </a:p>
        </p:txBody>
      </p:sp>
      <p:sp>
        <p:nvSpPr>
          <p:cNvPr id="12" name="Entree" descr="A"/>
          <p:cNvSpPr/>
          <p:nvPr/>
        </p:nvSpPr>
        <p:spPr>
          <a:xfrm>
            <a:off x="817708" y="1854987"/>
            <a:ext cx="1728149" cy="1072940"/>
          </a:xfrm>
          <a:prstGeom prst="rect">
            <a:avLst/>
          </a:prstGeom>
          <a:solidFill>
            <a:srgbClr val="C8E6C9"/>
          </a:solidFill>
          <a:ln w="19074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336" tIns="68668" rIns="137336" bIns="6866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2" dirty="0">
                <a:solidFill>
                  <a:srgbClr val="000000"/>
                </a:solidFill>
              </a:rPr>
              <a:t>Entree</a:t>
            </a:r>
          </a:p>
        </p:txBody>
      </p:sp>
      <p:sp>
        <p:nvSpPr>
          <p:cNvPr id="13" name="Noeud isole 2" descr="B"/>
          <p:cNvSpPr/>
          <p:nvPr/>
        </p:nvSpPr>
        <p:spPr>
          <a:xfrm>
            <a:off x="3404208" y="1854987"/>
            <a:ext cx="2957309" cy="1072940"/>
          </a:xfrm>
          <a:prstGeom prst="rect">
            <a:avLst/>
          </a:prstGeom>
          <a:solidFill>
            <a:srgbClr val="FFE0B2"/>
          </a:solidFill>
          <a:ln w="19074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336" tIns="68668" rIns="137336" bIns="6866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2" dirty="0">
                <a:solidFill>
                  <a:srgbClr val="000000"/>
                </a:solidFill>
              </a:rPr>
              <a:t>Noeud isole 2</a:t>
            </a:r>
          </a:p>
        </p:txBody>
      </p:sp>
      <p:sp>
        <p:nvSpPr>
          <p:cNvPr id="14" name="C" descr="C"/>
          <p:cNvSpPr/>
          <p:nvPr/>
        </p:nvSpPr>
        <p:spPr>
          <a:xfrm>
            <a:off x="7219869" y="1854987"/>
            <a:ext cx="1001411" cy="1072940"/>
          </a:xfrm>
          <a:prstGeom prst="rect">
            <a:avLst/>
          </a:prstGeom>
          <a:solidFill>
            <a:srgbClr val="E1BEE7"/>
          </a:solidFill>
          <a:ln w="19074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336" tIns="68668" rIns="137336" bIns="6866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2" dirty="0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15" name="D" descr="D"/>
          <p:cNvSpPr/>
          <p:nvPr/>
        </p:nvSpPr>
        <p:spPr>
          <a:xfrm>
            <a:off x="7219869" y="4286985"/>
            <a:ext cx="1001411" cy="1072940"/>
          </a:xfrm>
          <a:prstGeom prst="rect">
            <a:avLst/>
          </a:prstGeom>
          <a:solidFill>
            <a:srgbClr val="FFCDD2"/>
          </a:solidFill>
          <a:ln w="19074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336" tIns="68668" rIns="137336" bIns="6866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2" dirty="0">
                <a:solidFill>
                  <a:srgbClr val="000000"/>
                </a:solidFill>
              </a:rPr>
              <a:t>D</a:t>
            </a:r>
          </a:p>
        </p:txBody>
      </p:sp>
      <p:sp>
        <p:nvSpPr>
          <p:cNvPr id="16" name="Rejoint le graphe" descr="E"/>
          <p:cNvSpPr/>
          <p:nvPr/>
        </p:nvSpPr>
        <p:spPr>
          <a:xfrm>
            <a:off x="457200" y="4072397"/>
            <a:ext cx="2449164" cy="1502116"/>
          </a:xfrm>
          <a:prstGeom prst="rect">
            <a:avLst/>
          </a:prstGeom>
          <a:solidFill>
            <a:srgbClr val="FFF9C4"/>
          </a:solidFill>
          <a:ln w="19074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336" tIns="68668" rIns="137336" bIns="6866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2" dirty="0">
                <a:solidFill>
                  <a:srgbClr val="000000"/>
                </a:solidFill>
              </a:rPr>
              <a:t>Rejoint le graphe</a:t>
            </a:r>
          </a:p>
        </p:txBody>
      </p:sp>
      <p:sp>
        <p:nvSpPr>
          <p:cNvPr id="17" name="Noeud isole" descr="F"/>
          <p:cNvSpPr/>
          <p:nvPr/>
        </p:nvSpPr>
        <p:spPr>
          <a:xfrm>
            <a:off x="9079631" y="1854987"/>
            <a:ext cx="2655169" cy="1072940"/>
          </a:xfrm>
          <a:prstGeom prst="rect">
            <a:avLst/>
          </a:prstGeom>
          <a:solidFill>
            <a:srgbClr val="BBDEFB"/>
          </a:solidFill>
          <a:ln w="19074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336" tIns="68668" rIns="137336" bIns="6866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2" dirty="0">
                <a:solidFill>
                  <a:srgbClr val="000000"/>
                </a:solidFill>
              </a:rPr>
              <a:t>Noeud isole</a:t>
            </a:r>
          </a:p>
        </p:txBody>
      </p:sp>
      <p:sp>
        <p:nvSpPr>
          <p:cNvPr id="18" name="Lien seul" descr="G"/>
          <p:cNvSpPr/>
          <p:nvPr/>
        </p:nvSpPr>
        <p:spPr>
          <a:xfrm>
            <a:off x="9285636" y="4286985"/>
            <a:ext cx="2243160" cy="1072940"/>
          </a:xfrm>
          <a:prstGeom prst="rect">
            <a:avLst/>
          </a:prstGeom>
          <a:solidFill>
            <a:srgbClr val="C8E6C9"/>
          </a:solidFill>
          <a:ln w="19074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336" tIns="68668" rIns="137336" bIns="6866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2" dirty="0">
                <a:solidFill>
                  <a:srgbClr val="000000"/>
                </a:solidFill>
              </a:rPr>
              <a:t>Lien seul</a:t>
            </a:r>
          </a:p>
        </p:txBody>
      </p:sp>
      <p:cxnSp>
        <p:nvCxnSpPr>
          <p:cNvPr id="19" name="C--D"/>
          <p:cNvCxnSpPr>
            <a:stCxn id="14" idx="2"/>
            <a:endCxn id="15" idx="0"/>
          </p:cNvCxnSpPr>
          <p:nvPr/>
        </p:nvCxnSpPr>
        <p:spPr>
          <a:xfrm>
            <a:off x="7720574" y="2927927"/>
            <a:ext cx="0" cy="1359057"/>
          </a:xfrm>
          <a:prstGeom prst="line">
            <a:avLst/>
          </a:prstGeom>
          <a:ln w="1907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A--E"/>
          <p:cNvCxnSpPr>
            <a:stCxn id="12" idx="2"/>
            <a:endCxn id="16" idx="0"/>
          </p:cNvCxnSpPr>
          <p:nvPr/>
        </p:nvCxnSpPr>
        <p:spPr>
          <a:xfrm>
            <a:off x="1681782" y="2927927"/>
            <a:ext cx="0" cy="1144469"/>
          </a:xfrm>
          <a:prstGeom prst="line">
            <a:avLst/>
          </a:prstGeom>
          <a:ln w="1907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--G"/>
          <p:cNvCxnSpPr>
            <a:stCxn id="17" idx="2"/>
            <a:endCxn id="18" idx="0"/>
          </p:cNvCxnSpPr>
          <p:nvPr/>
        </p:nvCxnSpPr>
        <p:spPr>
          <a:xfrm>
            <a:off x="10407216" y="2927927"/>
            <a:ext cx="0" cy="1359057"/>
          </a:xfrm>
          <a:prstGeom prst="line">
            <a:avLst/>
          </a:prstGeom>
          <a:ln w="1907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journey</a:t>
            </a:r>
          </a:p>
        </p:txBody>
      </p:sp>
      <p:sp>
        <p:nvSpPr>
          <p:cNvPr id="11" name="Box 1"/>
          <p:cNvSpPr/>
          <p:nvPr/>
        </p:nvSpPr>
        <p:spPr>
          <a:xfrm>
            <a:off x="457200" y="1883880"/>
            <a:ext cx="11277600" cy="612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608" dirty="0">
                <a:solidFill>
                  <a:srgbClr val="000000"/>
                </a:solidFill>
              </a:rPr>
              <a:t>My working day</a:t>
            </a:r>
          </a:p>
        </p:txBody>
      </p:sp>
      <p:sp>
        <p:nvSpPr>
          <p:cNvPr id="12" name="Box 2"/>
          <p:cNvSpPr/>
          <p:nvPr/>
        </p:nvSpPr>
        <p:spPr>
          <a:xfrm>
            <a:off x="2517799" y="2705335"/>
            <a:ext cx="5235034" cy="417689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608" dirty="0">
                <a:solidFill>
                  <a:srgbClr val="FFFFFF"/>
                </a:solidFill>
              </a:rPr>
              <a:t>Go to work</a:t>
            </a:r>
          </a:p>
        </p:txBody>
      </p:sp>
      <p:sp>
        <p:nvSpPr>
          <p:cNvPr id="13" name="Box 3"/>
          <p:cNvSpPr/>
          <p:nvPr/>
        </p:nvSpPr>
        <p:spPr>
          <a:xfrm>
            <a:off x="7864216" y="2705335"/>
            <a:ext cx="3452895" cy="41768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608" dirty="0">
                <a:solidFill>
                  <a:srgbClr val="FFFFFF"/>
                </a:solidFill>
              </a:rPr>
              <a:t>Go home</a:t>
            </a:r>
          </a:p>
        </p:txBody>
      </p:sp>
      <p:sp>
        <p:nvSpPr>
          <p:cNvPr id="14" name="Box 4"/>
          <p:cNvSpPr/>
          <p:nvPr/>
        </p:nvSpPr>
        <p:spPr>
          <a:xfrm>
            <a:off x="2517799" y="3234408"/>
            <a:ext cx="1670756" cy="515150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608" dirty="0">
                <a:solidFill>
                  <a:srgbClr val="000000"/>
                </a:solidFill>
              </a:rPr>
              <a:t>Make tea</a:t>
            </a:r>
          </a:p>
        </p:txBody>
      </p:sp>
      <p:sp>
        <p:nvSpPr>
          <p:cNvPr id="15" name="Box 5"/>
          <p:cNvSpPr/>
          <p:nvPr/>
        </p:nvSpPr>
        <p:spPr>
          <a:xfrm>
            <a:off x="4299938" y="3234408"/>
            <a:ext cx="1670756" cy="515150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608" dirty="0">
                <a:solidFill>
                  <a:srgbClr val="000000"/>
                </a:solidFill>
              </a:rPr>
              <a:t>Go upstairs</a:t>
            </a:r>
          </a:p>
        </p:txBody>
      </p:sp>
      <p:sp>
        <p:nvSpPr>
          <p:cNvPr id="16" name="Box 6"/>
          <p:cNvSpPr/>
          <p:nvPr/>
        </p:nvSpPr>
        <p:spPr>
          <a:xfrm>
            <a:off x="6082077" y="3234408"/>
            <a:ext cx="1670756" cy="515150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608" dirty="0">
                <a:solidFill>
                  <a:srgbClr val="000000"/>
                </a:solidFill>
              </a:rPr>
              <a:t>Do work</a:t>
            </a:r>
          </a:p>
        </p:txBody>
      </p:sp>
      <p:sp>
        <p:nvSpPr>
          <p:cNvPr id="17" name="Box 7"/>
          <p:cNvSpPr/>
          <p:nvPr/>
        </p:nvSpPr>
        <p:spPr>
          <a:xfrm>
            <a:off x="7864216" y="3234408"/>
            <a:ext cx="1670756" cy="515150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608" dirty="0">
                <a:solidFill>
                  <a:srgbClr val="000000"/>
                </a:solidFill>
              </a:rPr>
              <a:t>Go downstairs</a:t>
            </a:r>
          </a:p>
        </p:txBody>
      </p:sp>
      <p:sp>
        <p:nvSpPr>
          <p:cNvPr id="18" name="Box 8"/>
          <p:cNvSpPr/>
          <p:nvPr/>
        </p:nvSpPr>
        <p:spPr>
          <a:xfrm>
            <a:off x="9646356" y="3234408"/>
            <a:ext cx="1670756" cy="515150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608" dirty="0">
                <a:solidFill>
                  <a:srgbClr val="000000"/>
                </a:solidFill>
              </a:rPr>
              <a:t>Sit down</a:t>
            </a:r>
          </a:p>
        </p:txBody>
      </p:sp>
      <p:sp>
        <p:nvSpPr>
          <p:cNvPr id="19" name="Box 9"/>
          <p:cNvSpPr/>
          <p:nvPr/>
        </p:nvSpPr>
        <p:spPr>
          <a:xfrm>
            <a:off x="2517799" y="3860941"/>
            <a:ext cx="1670756" cy="417689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608" dirty="0">
                <a:solidFill>
                  <a:srgbClr val="000000"/>
                </a:solidFill>
              </a:rPr>
              <a:t>5/5</a:t>
            </a:r>
          </a:p>
        </p:txBody>
      </p:sp>
      <p:sp>
        <p:nvSpPr>
          <p:cNvPr id="20" name="Box 10"/>
          <p:cNvSpPr/>
          <p:nvPr/>
        </p:nvSpPr>
        <p:spPr>
          <a:xfrm>
            <a:off x="4299938" y="3860941"/>
            <a:ext cx="1670756" cy="417689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608" dirty="0">
                <a:solidFill>
                  <a:srgbClr val="000000"/>
                </a:solidFill>
              </a:rPr>
              <a:t>3/5</a:t>
            </a:r>
          </a:p>
        </p:txBody>
      </p:sp>
      <p:sp>
        <p:nvSpPr>
          <p:cNvPr id="21" name="Box 11"/>
          <p:cNvSpPr/>
          <p:nvPr/>
        </p:nvSpPr>
        <p:spPr>
          <a:xfrm>
            <a:off x="6082077" y="3860941"/>
            <a:ext cx="1670756" cy="417689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608" dirty="0">
                <a:solidFill>
                  <a:srgbClr val="000000"/>
                </a:solidFill>
              </a:rPr>
              <a:t>1/5</a:t>
            </a:r>
          </a:p>
        </p:txBody>
      </p:sp>
      <p:sp>
        <p:nvSpPr>
          <p:cNvPr id="22" name="Box 12"/>
          <p:cNvSpPr/>
          <p:nvPr/>
        </p:nvSpPr>
        <p:spPr>
          <a:xfrm>
            <a:off x="7864216" y="3860941"/>
            <a:ext cx="1670756" cy="417689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608" dirty="0">
                <a:solidFill>
                  <a:srgbClr val="000000"/>
                </a:solidFill>
              </a:rPr>
              <a:t>5/5</a:t>
            </a:r>
          </a:p>
        </p:txBody>
      </p:sp>
      <p:sp>
        <p:nvSpPr>
          <p:cNvPr id="23" name="Box 13"/>
          <p:cNvSpPr/>
          <p:nvPr/>
        </p:nvSpPr>
        <p:spPr>
          <a:xfrm>
            <a:off x="9646356" y="3860941"/>
            <a:ext cx="1670756" cy="417689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608" dirty="0">
                <a:solidFill>
                  <a:srgbClr val="000000"/>
                </a:solidFill>
              </a:rPr>
              <a:t>5/5</a:t>
            </a:r>
          </a:p>
        </p:txBody>
      </p:sp>
      <p:sp>
        <p:nvSpPr>
          <p:cNvPr id="24" name="Box 14"/>
          <p:cNvSpPr/>
          <p:nvPr/>
        </p:nvSpPr>
        <p:spPr>
          <a:xfrm>
            <a:off x="874889" y="4390014"/>
            <a:ext cx="1531526" cy="361997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608" dirty="0">
                <a:solidFill>
                  <a:srgbClr val="FFFFFF"/>
                </a:solidFill>
              </a:rPr>
              <a:t>Me</a:t>
            </a:r>
          </a:p>
        </p:txBody>
      </p:sp>
      <p:sp>
        <p:nvSpPr>
          <p:cNvPr id="25" name="Box 15"/>
          <p:cNvSpPr/>
          <p:nvPr/>
        </p:nvSpPr>
        <p:spPr>
          <a:xfrm>
            <a:off x="2517799" y="4390014"/>
            <a:ext cx="1670756" cy="361997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8" dirty="0">
                <a:solidFill>
                  <a:srgbClr val="000000"/>
                </a:solidFill>
              </a:rPr>
              <a:t>Me</a:t>
            </a:r>
          </a:p>
        </p:txBody>
      </p:sp>
      <p:sp>
        <p:nvSpPr>
          <p:cNvPr id="26" name="Box 16"/>
          <p:cNvSpPr/>
          <p:nvPr/>
        </p:nvSpPr>
        <p:spPr>
          <a:xfrm>
            <a:off x="4299938" y="4390014"/>
            <a:ext cx="1670756" cy="361997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8" dirty="0">
                <a:solidFill>
                  <a:srgbClr val="000000"/>
                </a:solidFill>
              </a:rPr>
              <a:t>Me</a:t>
            </a:r>
          </a:p>
        </p:txBody>
      </p:sp>
      <p:sp>
        <p:nvSpPr>
          <p:cNvPr id="27" name="Box 17"/>
          <p:cNvSpPr/>
          <p:nvPr/>
        </p:nvSpPr>
        <p:spPr>
          <a:xfrm>
            <a:off x="6082077" y="4390014"/>
            <a:ext cx="1670756" cy="361997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8" dirty="0">
                <a:solidFill>
                  <a:srgbClr val="000000"/>
                </a:solidFill>
              </a:rPr>
              <a:t>Me</a:t>
            </a:r>
          </a:p>
        </p:txBody>
      </p:sp>
      <p:sp>
        <p:nvSpPr>
          <p:cNvPr id="28" name="Box 18"/>
          <p:cNvSpPr/>
          <p:nvPr/>
        </p:nvSpPr>
        <p:spPr>
          <a:xfrm>
            <a:off x="7864216" y="4390014"/>
            <a:ext cx="1670756" cy="361997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8" dirty="0">
                <a:solidFill>
                  <a:srgbClr val="000000"/>
                </a:solidFill>
              </a:rPr>
              <a:t>Me</a:t>
            </a:r>
          </a:p>
        </p:txBody>
      </p:sp>
      <p:sp>
        <p:nvSpPr>
          <p:cNvPr id="29" name="Box 19"/>
          <p:cNvSpPr/>
          <p:nvPr/>
        </p:nvSpPr>
        <p:spPr>
          <a:xfrm>
            <a:off x="9646356" y="4390014"/>
            <a:ext cx="1670756" cy="361997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8" dirty="0">
                <a:solidFill>
                  <a:srgbClr val="000000"/>
                </a:solidFill>
              </a:rPr>
              <a:t>Me</a:t>
            </a:r>
          </a:p>
        </p:txBody>
      </p:sp>
      <p:sp>
        <p:nvSpPr>
          <p:cNvPr id="30" name="Box 20"/>
          <p:cNvSpPr/>
          <p:nvPr/>
        </p:nvSpPr>
        <p:spPr>
          <a:xfrm>
            <a:off x="874889" y="4863394"/>
            <a:ext cx="1531526" cy="361997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608" dirty="0">
                <a:solidFill>
                  <a:srgbClr val="FFFFFF"/>
                </a:solidFill>
              </a:rPr>
              <a:t>Cat</a:t>
            </a:r>
          </a:p>
        </p:txBody>
      </p:sp>
      <p:sp>
        <p:nvSpPr>
          <p:cNvPr id="31" name="Box 21"/>
          <p:cNvSpPr/>
          <p:nvPr/>
        </p:nvSpPr>
        <p:spPr>
          <a:xfrm>
            <a:off x="6082077" y="4863394"/>
            <a:ext cx="1670756" cy="361997"/>
          </a:xfrm>
          <a:prstGeom prst="rect">
            <a:avLst/>
          </a:prstGeom>
          <a:solidFill>
            <a:srgbClr val="F8CBA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8" dirty="0">
                <a:solidFill>
                  <a:srgbClr val="000000"/>
                </a:solidFill>
              </a:rPr>
              <a:t>Cat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kanban</a:t>
            </a:r>
          </a:p>
        </p:txBody>
      </p:sp>
      <p:sp>
        <p:nvSpPr>
          <p:cNvPr id="11" name="Box 1"/>
          <p:cNvSpPr/>
          <p:nvPr/>
        </p:nvSpPr>
        <p:spPr>
          <a:xfrm>
            <a:off x="662558" y="2581000"/>
            <a:ext cx="1711320" cy="2267499"/>
          </a:xfrm>
          <a:prstGeom prst="rect">
            <a:avLst/>
          </a:prstGeom>
          <a:solidFill>
            <a:srgbClr val="E9EEF8"/>
          </a:solidFill>
          <a:ln>
            <a:noFill/>
          </a:ln>
        </p:spPr>
      </p:sp>
      <p:sp>
        <p:nvSpPr>
          <p:cNvPr id="12" name="Box 2"/>
          <p:cNvSpPr/>
          <p:nvPr/>
        </p:nvSpPr>
        <p:spPr>
          <a:xfrm>
            <a:off x="662558" y="2581000"/>
            <a:ext cx="1711320" cy="31659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FFFFFF"/>
                </a:solidFill>
              </a:rPr>
              <a:t>Todo</a:t>
            </a:r>
          </a:p>
        </p:txBody>
      </p:sp>
      <p:sp>
        <p:nvSpPr>
          <p:cNvPr id="13" name="Box 3"/>
          <p:cNvSpPr/>
          <p:nvPr/>
        </p:nvSpPr>
        <p:spPr>
          <a:xfrm>
            <a:off x="696785" y="2966047"/>
            <a:ext cx="1642867" cy="462056"/>
          </a:xfrm>
          <a:prstGeom prst="rect">
            <a:avLst/>
          </a:prstGeom>
          <a:solidFill>
            <a:srgbClr val="FFFFFF"/>
          </a:solidFill>
          <a:ln w="8557">
            <a:solidFill>
              <a:srgbClr val="BFBFBF"/>
            </a:solidFill>
          </a:ln>
        </p:spPr>
        <p:txBody>
          <a:bodyPr wrap="square" lIns="68453" tIns="0" rIns="68453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Create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Documentation</a:t>
            </a:r>
          </a:p>
        </p:txBody>
      </p:sp>
      <p:sp>
        <p:nvSpPr>
          <p:cNvPr id="14" name="Box 4"/>
          <p:cNvSpPr/>
          <p:nvPr/>
        </p:nvSpPr>
        <p:spPr>
          <a:xfrm>
            <a:off x="696785" y="3496557"/>
            <a:ext cx="1642867" cy="462056"/>
          </a:xfrm>
          <a:prstGeom prst="rect">
            <a:avLst/>
          </a:prstGeom>
          <a:solidFill>
            <a:srgbClr val="FFFFFF"/>
          </a:solidFill>
          <a:ln w="8557">
            <a:solidFill>
              <a:srgbClr val="BFBFBF"/>
            </a:solidFill>
          </a:ln>
        </p:spPr>
        <p:txBody>
          <a:bodyPr wrap="square" lIns="68453" tIns="0" rIns="68453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Create Blog about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the new diagram</a:t>
            </a:r>
          </a:p>
        </p:txBody>
      </p:sp>
      <p:sp>
        <p:nvSpPr>
          <p:cNvPr id="15" name="Box 5"/>
          <p:cNvSpPr/>
          <p:nvPr/>
        </p:nvSpPr>
        <p:spPr>
          <a:xfrm>
            <a:off x="2493671" y="2581000"/>
            <a:ext cx="1711320" cy="2267499"/>
          </a:xfrm>
          <a:prstGeom prst="rect">
            <a:avLst/>
          </a:prstGeom>
          <a:solidFill>
            <a:srgbClr val="FDEFE6"/>
          </a:solidFill>
          <a:ln>
            <a:noFill/>
          </a:ln>
        </p:spPr>
      </p:sp>
      <p:sp>
        <p:nvSpPr>
          <p:cNvPr id="16" name="Box 6"/>
          <p:cNvSpPr/>
          <p:nvPr/>
        </p:nvSpPr>
        <p:spPr>
          <a:xfrm>
            <a:off x="2493671" y="2581000"/>
            <a:ext cx="1711320" cy="31659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17" name="Box 7"/>
          <p:cNvSpPr/>
          <p:nvPr/>
        </p:nvSpPr>
        <p:spPr>
          <a:xfrm>
            <a:off x="2527897" y="2966047"/>
            <a:ext cx="1642867" cy="1334830"/>
          </a:xfrm>
          <a:prstGeom prst="rect">
            <a:avLst/>
          </a:prstGeom>
          <a:solidFill>
            <a:srgbClr val="FFFFFF"/>
          </a:solidFill>
          <a:ln w="8557">
            <a:solidFill>
              <a:srgbClr val="BFBFBF"/>
            </a:solidFill>
          </a:ln>
        </p:spPr>
        <p:txBody>
          <a:bodyPr wrap="square" lIns="68453" tIns="0" rIns="68453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Create renderer so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that it works in all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cases. We also add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some extra text here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for testing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purposes. And some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more just for the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extra flare.</a:t>
            </a:r>
          </a:p>
        </p:txBody>
      </p:sp>
      <p:sp>
        <p:nvSpPr>
          <p:cNvPr id="18" name="Box 8"/>
          <p:cNvSpPr/>
          <p:nvPr/>
        </p:nvSpPr>
        <p:spPr>
          <a:xfrm>
            <a:off x="4324784" y="2581000"/>
            <a:ext cx="1711320" cy="2267499"/>
          </a:xfrm>
          <a:prstGeom prst="rect">
            <a:avLst/>
          </a:prstGeom>
          <a:solidFill>
            <a:srgbClr val="EEF5E9"/>
          </a:solidFill>
          <a:ln>
            <a:noFill/>
          </a:ln>
        </p:spPr>
      </p:sp>
      <p:sp>
        <p:nvSpPr>
          <p:cNvPr id="19" name="Box 9"/>
          <p:cNvSpPr/>
          <p:nvPr/>
        </p:nvSpPr>
        <p:spPr>
          <a:xfrm>
            <a:off x="4324784" y="2581000"/>
            <a:ext cx="1711320" cy="31659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FFFFFF"/>
                </a:solidFill>
              </a:rPr>
              <a:t>Ready for deploy</a:t>
            </a:r>
          </a:p>
        </p:txBody>
      </p:sp>
      <p:sp>
        <p:nvSpPr>
          <p:cNvPr id="20" name="Box 10"/>
          <p:cNvSpPr/>
          <p:nvPr/>
        </p:nvSpPr>
        <p:spPr>
          <a:xfrm>
            <a:off x="4359010" y="2966047"/>
            <a:ext cx="1642867" cy="462056"/>
          </a:xfrm>
          <a:prstGeom prst="rect">
            <a:avLst/>
          </a:prstGeom>
          <a:solidFill>
            <a:srgbClr val="FFFFFF"/>
          </a:solidFill>
          <a:ln w="8557">
            <a:solidFill>
              <a:srgbClr val="BFBFBF"/>
            </a:solidFill>
          </a:ln>
        </p:spPr>
        <p:txBody>
          <a:bodyPr wrap="square" lIns="68453" tIns="0" rIns="68453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Design grammar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knsv</a:t>
            </a:r>
          </a:p>
        </p:txBody>
      </p:sp>
      <p:sp>
        <p:nvSpPr>
          <p:cNvPr id="21" name="Box 11"/>
          <p:cNvSpPr/>
          <p:nvPr/>
        </p:nvSpPr>
        <p:spPr>
          <a:xfrm>
            <a:off x="6155896" y="2581000"/>
            <a:ext cx="1711320" cy="2267499"/>
          </a:xfrm>
          <a:prstGeom prst="rect">
            <a:avLst/>
          </a:prstGeom>
          <a:solidFill>
            <a:srgbClr val="FFF7E0"/>
          </a:solidFill>
          <a:ln>
            <a:noFill/>
          </a:ln>
        </p:spPr>
      </p:sp>
      <p:sp>
        <p:nvSpPr>
          <p:cNvPr id="22" name="Box 12"/>
          <p:cNvSpPr/>
          <p:nvPr/>
        </p:nvSpPr>
        <p:spPr>
          <a:xfrm>
            <a:off x="6155896" y="2581000"/>
            <a:ext cx="1711320" cy="31659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FFFFFF"/>
                </a:solidFill>
              </a:rPr>
              <a:t>Ready for test</a:t>
            </a:r>
          </a:p>
        </p:txBody>
      </p:sp>
      <p:sp>
        <p:nvSpPr>
          <p:cNvPr id="23" name="Box 13"/>
          <p:cNvSpPr/>
          <p:nvPr/>
        </p:nvSpPr>
        <p:spPr>
          <a:xfrm>
            <a:off x="6190123" y="2966047"/>
            <a:ext cx="1642867" cy="462056"/>
          </a:xfrm>
          <a:prstGeom prst="rect">
            <a:avLst/>
          </a:prstGeom>
          <a:solidFill>
            <a:srgbClr val="FFFFFF"/>
          </a:solidFill>
          <a:ln w="8557">
            <a:solidFill>
              <a:srgbClr val="BFBFBF"/>
            </a:solidFill>
          </a:ln>
        </p:spPr>
        <p:txBody>
          <a:bodyPr wrap="square" lIns="68453" tIns="0" rIns="68453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Create parsing tests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MC-2038 · K.Sveidqvist</a:t>
            </a:r>
          </a:p>
        </p:txBody>
      </p:sp>
      <p:sp>
        <p:nvSpPr>
          <p:cNvPr id="24" name="Box 14"/>
          <p:cNvSpPr/>
          <p:nvPr/>
        </p:nvSpPr>
        <p:spPr>
          <a:xfrm>
            <a:off x="6190123" y="2966047"/>
            <a:ext cx="42783" cy="46205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25" name="Box 15"/>
          <p:cNvSpPr/>
          <p:nvPr/>
        </p:nvSpPr>
        <p:spPr>
          <a:xfrm>
            <a:off x="6190123" y="3496557"/>
            <a:ext cx="1642867" cy="462056"/>
          </a:xfrm>
          <a:prstGeom prst="rect">
            <a:avLst/>
          </a:prstGeom>
          <a:solidFill>
            <a:srgbClr val="FFFFFF"/>
          </a:solidFill>
          <a:ln w="8557">
            <a:solidFill>
              <a:srgbClr val="BFBFBF"/>
            </a:solidFill>
          </a:ln>
        </p:spPr>
        <p:txBody>
          <a:bodyPr wrap="square" lIns="68453" tIns="0" rIns="68453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last item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knsv</a:t>
            </a:r>
          </a:p>
        </p:txBody>
      </p:sp>
      <p:sp>
        <p:nvSpPr>
          <p:cNvPr id="26" name="Box 16"/>
          <p:cNvSpPr/>
          <p:nvPr/>
        </p:nvSpPr>
        <p:spPr>
          <a:xfrm>
            <a:off x="6190123" y="3496557"/>
            <a:ext cx="42783" cy="462056"/>
          </a:xfrm>
          <a:prstGeom prst="rect">
            <a:avLst/>
          </a:prstGeom>
          <a:solidFill>
            <a:srgbClr val="BDD7EE"/>
          </a:solidFill>
          <a:ln>
            <a:noFill/>
          </a:ln>
        </p:spPr>
      </p:sp>
      <p:sp>
        <p:nvSpPr>
          <p:cNvPr id="27" name="Box 17"/>
          <p:cNvSpPr/>
          <p:nvPr/>
        </p:nvSpPr>
        <p:spPr>
          <a:xfrm>
            <a:off x="7987009" y="2581000"/>
            <a:ext cx="1711320" cy="2267499"/>
          </a:xfrm>
          <a:prstGeom prst="rect">
            <a:avLst/>
          </a:prstGeom>
          <a:solidFill>
            <a:srgbClr val="EEE6F4"/>
          </a:solidFill>
          <a:ln>
            <a:noFill/>
          </a:ln>
        </p:spPr>
      </p:sp>
      <p:sp>
        <p:nvSpPr>
          <p:cNvPr id="28" name="Box 18"/>
          <p:cNvSpPr/>
          <p:nvPr/>
        </p:nvSpPr>
        <p:spPr>
          <a:xfrm>
            <a:off x="7987009" y="2581000"/>
            <a:ext cx="1711320" cy="31659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29" name="Box 19"/>
          <p:cNvSpPr/>
          <p:nvPr/>
        </p:nvSpPr>
        <p:spPr>
          <a:xfrm>
            <a:off x="8021235" y="2966047"/>
            <a:ext cx="1642867" cy="316594"/>
          </a:xfrm>
          <a:prstGeom prst="rect">
            <a:avLst/>
          </a:prstGeom>
          <a:solidFill>
            <a:srgbClr val="FFFFFF"/>
          </a:solidFill>
          <a:ln w="8557">
            <a:solidFill>
              <a:srgbClr val="BFBFBF"/>
            </a:solidFill>
          </a:ln>
        </p:spPr>
        <p:txBody>
          <a:bodyPr wrap="square" lIns="68453" tIns="0" rIns="68453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define getData</a:t>
            </a:r>
          </a:p>
        </p:txBody>
      </p:sp>
      <p:sp>
        <p:nvSpPr>
          <p:cNvPr id="30" name="Box 20"/>
          <p:cNvSpPr/>
          <p:nvPr/>
        </p:nvSpPr>
        <p:spPr>
          <a:xfrm>
            <a:off x="8021235" y="3351095"/>
            <a:ext cx="1642867" cy="898443"/>
          </a:xfrm>
          <a:prstGeom prst="rect">
            <a:avLst/>
          </a:prstGeom>
          <a:solidFill>
            <a:srgbClr val="FFFFFF"/>
          </a:solidFill>
          <a:ln w="8557">
            <a:solidFill>
              <a:srgbClr val="BFBFBF"/>
            </a:solidFill>
          </a:ln>
        </p:spPr>
        <p:txBody>
          <a:bodyPr wrap="square" lIns="68453" tIns="0" rIns="68453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Title of diagram is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more than 100 chars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when user duplicates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diagram with 100 char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MC-2036</a:t>
            </a:r>
          </a:p>
        </p:txBody>
      </p:sp>
      <p:sp>
        <p:nvSpPr>
          <p:cNvPr id="31" name="Box 21"/>
          <p:cNvSpPr/>
          <p:nvPr/>
        </p:nvSpPr>
        <p:spPr>
          <a:xfrm>
            <a:off x="8021235" y="3351095"/>
            <a:ext cx="42783" cy="898443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32" name="Box 22"/>
          <p:cNvSpPr/>
          <p:nvPr/>
        </p:nvSpPr>
        <p:spPr>
          <a:xfrm>
            <a:off x="8021235" y="4317990"/>
            <a:ext cx="1642867" cy="462056"/>
          </a:xfrm>
          <a:prstGeom prst="rect">
            <a:avLst/>
          </a:prstGeom>
          <a:solidFill>
            <a:srgbClr val="FFFFFF"/>
          </a:solidFill>
          <a:ln w="8557">
            <a:solidFill>
              <a:srgbClr val="BFBFBF"/>
            </a:solidFill>
          </a:ln>
        </p:spPr>
        <p:txBody>
          <a:bodyPr wrap="square" lIns="68453" tIns="0" rIns="68453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Update DB function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MC-2037 · knsv</a:t>
            </a:r>
          </a:p>
        </p:txBody>
      </p:sp>
      <p:sp>
        <p:nvSpPr>
          <p:cNvPr id="33" name="Box 23"/>
          <p:cNvSpPr/>
          <p:nvPr/>
        </p:nvSpPr>
        <p:spPr>
          <a:xfrm>
            <a:off x="8021235" y="4317990"/>
            <a:ext cx="42783" cy="46205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34" name="Box 24"/>
          <p:cNvSpPr/>
          <p:nvPr/>
        </p:nvSpPr>
        <p:spPr>
          <a:xfrm>
            <a:off x="9818121" y="2581000"/>
            <a:ext cx="1711320" cy="2267499"/>
          </a:xfrm>
          <a:prstGeom prst="rect">
            <a:avLst/>
          </a:prstGeom>
          <a:solidFill>
            <a:srgbClr val="EBF3FA"/>
          </a:solidFill>
          <a:ln>
            <a:noFill/>
          </a:ln>
        </p:spPr>
      </p:sp>
      <p:sp>
        <p:nvSpPr>
          <p:cNvPr id="35" name="Box 25"/>
          <p:cNvSpPr/>
          <p:nvPr/>
        </p:nvSpPr>
        <p:spPr>
          <a:xfrm>
            <a:off x="9818121" y="2581000"/>
            <a:ext cx="1711320" cy="31659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FFFFFF"/>
                </a:solidFill>
              </a:rPr>
              <a:t>Can't reproduce</a:t>
            </a:r>
          </a:p>
        </p:txBody>
      </p:sp>
      <p:sp>
        <p:nvSpPr>
          <p:cNvPr id="36" name="Box 26"/>
          <p:cNvSpPr/>
          <p:nvPr/>
        </p:nvSpPr>
        <p:spPr>
          <a:xfrm>
            <a:off x="9852348" y="2966047"/>
            <a:ext cx="1642867" cy="462056"/>
          </a:xfrm>
          <a:prstGeom prst="rect">
            <a:avLst/>
          </a:prstGeom>
          <a:solidFill>
            <a:srgbClr val="FFFFFF"/>
          </a:solidFill>
          <a:ln w="8557">
            <a:solidFill>
              <a:srgbClr val="BFBFBF"/>
            </a:solidFill>
          </a:ln>
        </p:spPr>
        <p:txBody>
          <a:bodyPr wrap="square" lIns="68453" tIns="0" rIns="68453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Weird flickering 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Firefox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long-labels</a:t>
            </a:r>
          </a:p>
        </p:txBody>
      </p:sp>
      <p:sp>
        <p:nvSpPr>
          <p:cNvPr id="12" name="Ceci est un label assez long pour deborder" descr="A"/>
          <p:cNvSpPr/>
          <p:nvPr/>
        </p:nvSpPr>
        <p:spPr>
          <a:xfrm>
            <a:off x="5225054" y="1028700"/>
            <a:ext cx="1741892" cy="1568843"/>
          </a:xfrm>
          <a:prstGeom prst="rect">
            <a:avLst/>
          </a:prstGeom>
          <a:solidFill>
            <a:srgbClr val="FFE0B2"/>
          </a:solidFill>
          <a:ln w="12678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278" tIns="45639" rIns="91278" bIns="45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000000"/>
                </a:solidFill>
              </a:rPr>
              <a:t>Ceci est un label assez long pour deborder</a:t>
            </a:r>
          </a:p>
        </p:txBody>
      </p:sp>
      <p:sp>
        <p:nvSpPr>
          <p:cNvPr id="13" name="Court" descr="B"/>
          <p:cNvSpPr/>
          <p:nvPr/>
        </p:nvSpPr>
        <p:spPr>
          <a:xfrm>
            <a:off x="5590167" y="3358195"/>
            <a:ext cx="1011666" cy="713111"/>
          </a:xfrm>
          <a:prstGeom prst="rect">
            <a:avLst/>
          </a:prstGeom>
          <a:solidFill>
            <a:srgbClr val="E1BEE7"/>
          </a:solidFill>
          <a:ln w="12678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278" tIns="45639" rIns="91278" bIns="45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000000"/>
                </a:solidFill>
              </a:rPr>
              <a:t>Court</a:t>
            </a:r>
          </a:p>
        </p:txBody>
      </p:sp>
      <p:sp>
        <p:nvSpPr>
          <p:cNvPr id="14" name="Un autre label qui depasse la largeur du noeud" descr="C"/>
          <p:cNvSpPr/>
          <p:nvPr/>
        </p:nvSpPr>
        <p:spPr>
          <a:xfrm>
            <a:off x="5042498" y="4831957"/>
            <a:ext cx="2107004" cy="1568843"/>
          </a:xfrm>
          <a:prstGeom prst="rect">
            <a:avLst/>
          </a:prstGeom>
          <a:solidFill>
            <a:srgbClr val="FFCDD2"/>
          </a:solidFill>
          <a:ln w="12678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278" tIns="45639" rIns="91278" bIns="45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000000"/>
                </a:solidFill>
              </a:rPr>
              <a:t>Un autre label qui depasse la largeur du noeud</a:t>
            </a:r>
          </a:p>
        </p:txBody>
      </p:sp>
      <p:cxnSp>
        <p:nvCxnSpPr>
          <p:cNvPr id="15" name="A--B"/>
          <p:cNvCxnSpPr>
            <a:stCxn id="12" idx="2"/>
            <a:endCxn id="13" idx="0"/>
          </p:cNvCxnSpPr>
          <p:nvPr/>
        </p:nvCxnSpPr>
        <p:spPr>
          <a:xfrm>
            <a:off x="6096000" y="2597543"/>
            <a:ext cx="0" cy="760652"/>
          </a:xfrm>
          <a:prstGeom prst="line">
            <a:avLst/>
          </a:prstGeom>
          <a:ln w="1267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B--C"/>
          <p:cNvCxnSpPr>
            <a:stCxn id="13" idx="2"/>
            <a:endCxn id="14" idx="0"/>
          </p:cNvCxnSpPr>
          <p:nvPr/>
        </p:nvCxnSpPr>
        <p:spPr>
          <a:xfrm>
            <a:off x="6096000" y="4071305"/>
            <a:ext cx="0" cy="760652"/>
          </a:xfrm>
          <a:prstGeom prst="line">
            <a:avLst/>
          </a:prstGeom>
          <a:ln w="1267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lr-direction</a:t>
            </a:r>
          </a:p>
        </p:txBody>
      </p:sp>
      <p:sp>
        <p:nvSpPr>
          <p:cNvPr id="12" name="Entree" descr="A"/>
          <p:cNvSpPr/>
          <p:nvPr/>
        </p:nvSpPr>
        <p:spPr>
          <a:xfrm>
            <a:off x="457200" y="3260204"/>
            <a:ext cx="1464246" cy="909093"/>
          </a:xfrm>
          <a:prstGeom prst="rect">
            <a:avLst/>
          </a:prstGeom>
          <a:solidFill>
            <a:srgbClr val="E1BEE7"/>
          </a:solidFill>
          <a:ln w="16162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364" tIns="58182" rIns="116364" bIns="581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27" dirty="0">
                <a:solidFill>
                  <a:srgbClr val="000000"/>
                </a:solidFill>
              </a:rPr>
              <a:t>Entree</a:t>
            </a:r>
          </a:p>
        </p:txBody>
      </p:sp>
      <p:sp>
        <p:nvSpPr>
          <p:cNvPr id="13" name="Traitement" descr="B"/>
          <p:cNvSpPr/>
          <p:nvPr/>
        </p:nvSpPr>
        <p:spPr>
          <a:xfrm>
            <a:off x="2891145" y="3260204"/>
            <a:ext cx="2162429" cy="909093"/>
          </a:xfrm>
          <a:prstGeom prst="rect">
            <a:avLst/>
          </a:prstGeom>
          <a:solidFill>
            <a:srgbClr val="FFCDD2"/>
          </a:solidFill>
          <a:ln w="16162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364" tIns="58182" rIns="116364" bIns="581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27" dirty="0">
                <a:solidFill>
                  <a:srgbClr val="000000"/>
                </a:solidFill>
              </a:rPr>
              <a:t>Traitement</a:t>
            </a:r>
          </a:p>
        </p:txBody>
      </p:sp>
      <p:sp>
        <p:nvSpPr>
          <p:cNvPr id="14" name="Valide?" descr="C"/>
          <p:cNvSpPr/>
          <p:nvPr/>
        </p:nvSpPr>
        <p:spPr>
          <a:xfrm>
            <a:off x="6023273" y="2805657"/>
            <a:ext cx="3277583" cy="1818186"/>
          </a:xfrm>
          <a:prstGeom prst="diamond">
            <a:avLst/>
          </a:prstGeom>
          <a:solidFill>
            <a:srgbClr val="FFF9C4"/>
          </a:solidFill>
          <a:ln w="16162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364" tIns="58182" rIns="116364" bIns="581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27" dirty="0">
                <a:solidFill>
                  <a:srgbClr val="000000"/>
                </a:solidFill>
              </a:rPr>
              <a:t>Valide?</a:t>
            </a:r>
          </a:p>
        </p:txBody>
      </p:sp>
      <p:sp>
        <p:nvSpPr>
          <p:cNvPr id="15" name="Sortie" descr="D"/>
          <p:cNvSpPr/>
          <p:nvPr/>
        </p:nvSpPr>
        <p:spPr>
          <a:xfrm>
            <a:off x="10270554" y="2442020"/>
            <a:ext cx="1464246" cy="909093"/>
          </a:xfrm>
          <a:prstGeom prst="rect">
            <a:avLst/>
          </a:prstGeom>
          <a:solidFill>
            <a:srgbClr val="BBDEFB"/>
          </a:solidFill>
          <a:ln w="16162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364" tIns="58182" rIns="116364" bIns="581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27" dirty="0">
                <a:solidFill>
                  <a:srgbClr val="000000"/>
                </a:solidFill>
              </a:rPr>
              <a:t>Sortie</a:t>
            </a:r>
          </a:p>
        </p:txBody>
      </p:sp>
      <p:sp>
        <p:nvSpPr>
          <p:cNvPr id="16" name="Erreur" descr="E"/>
          <p:cNvSpPr/>
          <p:nvPr/>
        </p:nvSpPr>
        <p:spPr>
          <a:xfrm>
            <a:off x="10270554" y="4078387"/>
            <a:ext cx="1464246" cy="909093"/>
          </a:xfrm>
          <a:prstGeom prst="rect">
            <a:avLst/>
          </a:prstGeom>
          <a:solidFill>
            <a:srgbClr val="C8E6C9"/>
          </a:solidFill>
          <a:ln w="16162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364" tIns="58182" rIns="116364" bIns="581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27" dirty="0">
                <a:solidFill>
                  <a:srgbClr val="000000"/>
                </a:solidFill>
              </a:rPr>
              <a:t>Erreur</a:t>
            </a:r>
          </a:p>
        </p:txBody>
      </p:sp>
      <p:cxnSp>
        <p:nvCxnSpPr>
          <p:cNvPr id="17" name="A--B"/>
          <p:cNvCxnSpPr>
            <a:stCxn id="12" idx="3"/>
            <a:endCxn id="13" idx="1"/>
          </p:cNvCxnSpPr>
          <p:nvPr/>
        </p:nvCxnSpPr>
        <p:spPr>
          <a:xfrm>
            <a:off x="1921446" y="3714750"/>
            <a:ext cx="969699" cy="0"/>
          </a:xfrm>
          <a:prstGeom prst="line">
            <a:avLst/>
          </a:prstGeom>
          <a:ln w="1616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B--C"/>
          <p:cNvCxnSpPr>
            <a:stCxn id="13" idx="3"/>
            <a:endCxn id="14" idx="1"/>
          </p:cNvCxnSpPr>
          <p:nvPr/>
        </p:nvCxnSpPr>
        <p:spPr>
          <a:xfrm>
            <a:off x="5053574" y="3714750"/>
            <a:ext cx="969699" cy="0"/>
          </a:xfrm>
          <a:prstGeom prst="line">
            <a:avLst/>
          </a:prstGeom>
          <a:ln w="1616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--D"/>
          <p:cNvCxnSpPr>
            <a:stCxn id="14" idx="3"/>
            <a:endCxn id="15" idx="1"/>
          </p:cNvCxnSpPr>
          <p:nvPr/>
        </p:nvCxnSpPr>
        <p:spPr>
          <a:xfrm flipV="1">
            <a:off x="9300855" y="2896567"/>
            <a:ext cx="969699" cy="818183"/>
          </a:xfrm>
          <a:prstGeom prst="line">
            <a:avLst/>
          </a:prstGeom>
          <a:ln w="1616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dgeLabel"/>
          <p:cNvSpPr txBox="1"/>
          <p:nvPr/>
        </p:nvSpPr>
        <p:spPr>
          <a:xfrm>
            <a:off x="9479280" y="3160203"/>
            <a:ext cx="612850" cy="290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48485" tIns="0" rIns="48485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18" dirty="0">
                <a:solidFill>
                  <a:srgbClr val="000000"/>
                </a:solidFill>
              </a:rPr>
              <a:t>oui</a:t>
            </a:r>
          </a:p>
        </p:txBody>
      </p:sp>
      <p:cxnSp>
        <p:nvCxnSpPr>
          <p:cNvPr id="21" name="C--E"/>
          <p:cNvCxnSpPr>
            <a:stCxn id="14" idx="3"/>
            <a:endCxn id="16" idx="1"/>
          </p:cNvCxnSpPr>
          <p:nvPr/>
        </p:nvCxnSpPr>
        <p:spPr>
          <a:xfrm>
            <a:off x="9300855" y="3714750"/>
            <a:ext cx="969699" cy="818184"/>
          </a:xfrm>
          <a:prstGeom prst="line">
            <a:avLst/>
          </a:prstGeom>
          <a:ln w="1616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dgeLabel"/>
          <p:cNvSpPr txBox="1"/>
          <p:nvPr/>
        </p:nvSpPr>
        <p:spPr>
          <a:xfrm>
            <a:off x="9479280" y="3978387"/>
            <a:ext cx="612850" cy="290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48485" tIns="0" rIns="48485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18" dirty="0">
                <a:solidFill>
                  <a:srgbClr val="000000"/>
                </a:solidFill>
              </a:rPr>
              <a:t>non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lr-subgraphs</a:t>
            </a:r>
          </a:p>
        </p:txBody>
      </p:sp>
      <p:sp>
        <p:nvSpPr>
          <p:cNvPr id="20" name="Nord (container)"/>
          <p:cNvSpPr/>
          <p:nvPr/>
        </p:nvSpPr>
        <p:spPr>
          <a:xfrm>
            <a:off x="457200" y="1342612"/>
            <a:ext cx="6744828" cy="1736657"/>
          </a:xfrm>
          <a:prstGeom prst="rect">
            <a:avLst/>
          </a:prstGeom>
          <a:solidFill>
            <a:srgbClr val="E8E8E8">
              <a:alpha val="40000"/>
            </a:srgbClr>
          </a:solidFill>
          <a:ln w="9702">
            <a:solidFill>
              <a:srgbClr val="999999"/>
            </a:solidFill>
            <a:prstDash val="dash"/>
          </a:ln>
        </p:spPr>
      </p:sp>
      <p:sp>
        <p:nvSpPr>
          <p:cNvPr id="21" name="Nord"/>
          <p:cNvSpPr/>
          <p:nvPr/>
        </p:nvSpPr>
        <p:spPr>
          <a:xfrm>
            <a:off x="457200" y="1342612"/>
            <a:ext cx="6744828" cy="232848"/>
          </a:xfrm>
          <a:prstGeom prst="rect">
            <a:avLst/>
          </a:prstGeom>
          <a:noFill/>
          <a:ln w="1">
            <a:noFill/>
          </a:ln>
        </p:spPr>
        <p:txBody>
          <a:bodyPr lIns="93139" tIns="46570" rIns="93139" bIns="46570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22" dirty="0">
                <a:solidFill>
                  <a:srgbClr val="000000"/>
                </a:solidFill>
              </a:rPr>
              <a:t>Nord</a:t>
            </a:r>
          </a:p>
        </p:txBody>
      </p:sp>
      <p:sp>
        <p:nvSpPr>
          <p:cNvPr id="22" name="Sud (container)"/>
          <p:cNvSpPr/>
          <p:nvPr/>
        </p:nvSpPr>
        <p:spPr>
          <a:xfrm>
            <a:off x="2653732" y="3040461"/>
            <a:ext cx="4548296" cy="3046427"/>
          </a:xfrm>
          <a:prstGeom prst="rect">
            <a:avLst/>
          </a:prstGeom>
          <a:solidFill>
            <a:srgbClr val="E8E8E8">
              <a:alpha val="40000"/>
            </a:srgbClr>
          </a:solidFill>
          <a:ln w="9702">
            <a:solidFill>
              <a:srgbClr val="999999"/>
            </a:solidFill>
            <a:prstDash val="dash"/>
          </a:ln>
        </p:spPr>
      </p:sp>
      <p:sp>
        <p:nvSpPr>
          <p:cNvPr id="23" name="Sud"/>
          <p:cNvSpPr/>
          <p:nvPr/>
        </p:nvSpPr>
        <p:spPr>
          <a:xfrm>
            <a:off x="2653732" y="3040461"/>
            <a:ext cx="4548296" cy="232848"/>
          </a:xfrm>
          <a:prstGeom prst="rect">
            <a:avLst/>
          </a:prstGeom>
          <a:noFill/>
          <a:ln w="1">
            <a:noFill/>
          </a:ln>
        </p:spPr>
        <p:txBody>
          <a:bodyPr lIns="93139" tIns="46570" rIns="93139" bIns="46570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22" dirty="0">
                <a:solidFill>
                  <a:srgbClr val="000000"/>
                </a:solidFill>
              </a:rPr>
              <a:t>Sud</a:t>
            </a:r>
          </a:p>
        </p:txBody>
      </p:sp>
      <p:sp>
        <p:nvSpPr>
          <p:cNvPr id="24" name="Ouest (container)"/>
          <p:cNvSpPr/>
          <p:nvPr/>
        </p:nvSpPr>
        <p:spPr>
          <a:xfrm>
            <a:off x="7978187" y="1524525"/>
            <a:ext cx="3756613" cy="2973662"/>
          </a:xfrm>
          <a:prstGeom prst="rect">
            <a:avLst/>
          </a:prstGeom>
          <a:solidFill>
            <a:srgbClr val="E8E8E8">
              <a:alpha val="40000"/>
            </a:srgbClr>
          </a:solidFill>
          <a:ln w="9702">
            <a:solidFill>
              <a:srgbClr val="999999"/>
            </a:solidFill>
            <a:prstDash val="dash"/>
          </a:ln>
        </p:spPr>
      </p:sp>
      <p:sp>
        <p:nvSpPr>
          <p:cNvPr id="25" name="Ouest"/>
          <p:cNvSpPr/>
          <p:nvPr/>
        </p:nvSpPr>
        <p:spPr>
          <a:xfrm>
            <a:off x="7978187" y="1524525"/>
            <a:ext cx="3756613" cy="232848"/>
          </a:xfrm>
          <a:prstGeom prst="rect">
            <a:avLst/>
          </a:prstGeom>
          <a:noFill/>
          <a:ln w="1">
            <a:noFill/>
          </a:ln>
        </p:spPr>
        <p:txBody>
          <a:bodyPr lIns="93139" tIns="46570" rIns="93139" bIns="46570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22" dirty="0">
                <a:solidFill>
                  <a:srgbClr val="000000"/>
                </a:solidFill>
              </a:rPr>
              <a:t>Ouest</a:t>
            </a:r>
          </a:p>
        </p:txBody>
      </p:sp>
      <p:sp>
        <p:nvSpPr>
          <p:cNvPr id="12" name="Paris" descr="A"/>
          <p:cNvSpPr/>
          <p:nvPr/>
        </p:nvSpPr>
        <p:spPr>
          <a:xfrm>
            <a:off x="845280" y="1963540"/>
            <a:ext cx="1032292" cy="727650"/>
          </a:xfrm>
          <a:prstGeom prst="rect">
            <a:avLst/>
          </a:prstGeom>
          <a:solidFill>
            <a:srgbClr val="FFCDD2"/>
          </a:solidFill>
          <a:ln w="12936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139" tIns="46570" rIns="93139" bIns="465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22" dirty="0">
                <a:solidFill>
                  <a:srgbClr val="000000"/>
                </a:solidFill>
              </a:rPr>
              <a:t>Paris</a:t>
            </a:r>
          </a:p>
        </p:txBody>
      </p:sp>
      <p:sp>
        <p:nvSpPr>
          <p:cNvPr id="13" name="Rouen" descr="B"/>
          <p:cNvSpPr/>
          <p:nvPr/>
        </p:nvSpPr>
        <p:spPr>
          <a:xfrm>
            <a:off x="3321229" y="1963540"/>
            <a:ext cx="1032292" cy="727650"/>
          </a:xfrm>
          <a:prstGeom prst="rect">
            <a:avLst/>
          </a:prstGeom>
          <a:solidFill>
            <a:srgbClr val="FFF9C4"/>
          </a:solidFill>
          <a:ln w="12936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139" tIns="46570" rIns="93139" bIns="465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22" dirty="0">
                <a:solidFill>
                  <a:srgbClr val="000000"/>
                </a:solidFill>
              </a:rPr>
              <a:t>Rouen</a:t>
            </a:r>
          </a:p>
        </p:txBody>
      </p:sp>
      <p:sp>
        <p:nvSpPr>
          <p:cNvPr id="14" name="Le Havre" descr="C"/>
          <p:cNvSpPr/>
          <p:nvPr/>
        </p:nvSpPr>
        <p:spPr>
          <a:xfrm>
            <a:off x="5409099" y="1963540"/>
            <a:ext cx="1404849" cy="727650"/>
          </a:xfrm>
          <a:prstGeom prst="rect">
            <a:avLst/>
          </a:prstGeom>
          <a:solidFill>
            <a:srgbClr val="BBDEFB"/>
          </a:solidFill>
          <a:ln w="12936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139" tIns="46570" rIns="93139" bIns="465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22" dirty="0">
                <a:solidFill>
                  <a:srgbClr val="000000"/>
                </a:solidFill>
              </a:rPr>
              <a:t>Le Havre</a:t>
            </a:r>
          </a:p>
        </p:txBody>
      </p:sp>
      <p:sp>
        <p:nvSpPr>
          <p:cNvPr id="15" name="Marseille" descr="D"/>
          <p:cNvSpPr/>
          <p:nvPr/>
        </p:nvSpPr>
        <p:spPr>
          <a:xfrm>
            <a:off x="3041812" y="4316274"/>
            <a:ext cx="1591127" cy="727650"/>
          </a:xfrm>
          <a:prstGeom prst="rect">
            <a:avLst/>
          </a:prstGeom>
          <a:solidFill>
            <a:srgbClr val="C8E6C9"/>
          </a:solidFill>
          <a:ln w="12936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139" tIns="46570" rIns="93139" bIns="465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22" dirty="0">
                <a:solidFill>
                  <a:srgbClr val="000000"/>
                </a:solidFill>
              </a:rPr>
              <a:t>Marseille</a:t>
            </a:r>
          </a:p>
        </p:txBody>
      </p:sp>
      <p:sp>
        <p:nvSpPr>
          <p:cNvPr id="16" name="Toulon" descr="E"/>
          <p:cNvSpPr/>
          <p:nvPr/>
        </p:nvSpPr>
        <p:spPr>
          <a:xfrm>
            <a:off x="5525523" y="3661389"/>
            <a:ext cx="1172001" cy="727650"/>
          </a:xfrm>
          <a:prstGeom prst="rect">
            <a:avLst/>
          </a:prstGeom>
          <a:solidFill>
            <a:srgbClr val="FFE0B2"/>
          </a:solidFill>
          <a:ln w="12936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139" tIns="46570" rIns="93139" bIns="465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22" dirty="0">
                <a:solidFill>
                  <a:srgbClr val="000000"/>
                </a:solidFill>
              </a:rPr>
              <a:t>Toulon</a:t>
            </a:r>
          </a:p>
        </p:txBody>
      </p:sp>
      <p:sp>
        <p:nvSpPr>
          <p:cNvPr id="17" name="Nice" descr="F"/>
          <p:cNvSpPr/>
          <p:nvPr/>
        </p:nvSpPr>
        <p:spPr>
          <a:xfrm>
            <a:off x="5665231" y="4971158"/>
            <a:ext cx="892584" cy="727650"/>
          </a:xfrm>
          <a:prstGeom prst="rect">
            <a:avLst/>
          </a:prstGeom>
          <a:solidFill>
            <a:srgbClr val="E1BEE7"/>
          </a:solidFill>
          <a:ln w="12936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139" tIns="46570" rIns="93139" bIns="465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22" dirty="0">
                <a:solidFill>
                  <a:srgbClr val="000000"/>
                </a:solidFill>
              </a:rPr>
              <a:t>Nice</a:t>
            </a:r>
          </a:p>
        </p:txBody>
      </p:sp>
      <p:sp>
        <p:nvSpPr>
          <p:cNvPr id="18" name="Nantes" descr="G"/>
          <p:cNvSpPr/>
          <p:nvPr/>
        </p:nvSpPr>
        <p:spPr>
          <a:xfrm>
            <a:off x="8366267" y="2812465"/>
            <a:ext cx="1172001" cy="727650"/>
          </a:xfrm>
          <a:prstGeom prst="rect">
            <a:avLst/>
          </a:prstGeom>
          <a:solidFill>
            <a:srgbClr val="FFCDD2"/>
          </a:solidFill>
          <a:ln w="12936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139" tIns="46570" rIns="93139" bIns="465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22" dirty="0">
                <a:solidFill>
                  <a:srgbClr val="000000"/>
                </a:solidFill>
              </a:rPr>
              <a:t>Nantes</a:t>
            </a:r>
          </a:p>
        </p:txBody>
      </p:sp>
      <p:sp>
        <p:nvSpPr>
          <p:cNvPr id="19" name="Brest" descr="H"/>
          <p:cNvSpPr/>
          <p:nvPr/>
        </p:nvSpPr>
        <p:spPr>
          <a:xfrm>
            <a:off x="10314428" y="2812465"/>
            <a:ext cx="1032292" cy="727650"/>
          </a:xfrm>
          <a:prstGeom prst="rect">
            <a:avLst/>
          </a:prstGeom>
          <a:solidFill>
            <a:srgbClr val="FFF9C4"/>
          </a:solidFill>
          <a:ln w="12936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139" tIns="46570" rIns="93139" bIns="465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22" dirty="0">
                <a:solidFill>
                  <a:srgbClr val="000000"/>
                </a:solidFill>
              </a:rPr>
              <a:t>Brest</a:t>
            </a:r>
          </a:p>
        </p:txBody>
      </p:sp>
      <p:cxnSp>
        <p:nvCxnSpPr>
          <p:cNvPr id="26" name="A--B"/>
          <p:cNvCxnSpPr>
            <a:stCxn id="12" idx="3"/>
            <a:endCxn id="13" idx="1"/>
          </p:cNvCxnSpPr>
          <p:nvPr/>
        </p:nvCxnSpPr>
        <p:spPr>
          <a:xfrm>
            <a:off x="1877572" y="2327365"/>
            <a:ext cx="1443657" cy="0"/>
          </a:xfrm>
          <a:prstGeom prst="line">
            <a:avLst/>
          </a:prstGeom>
          <a:ln w="1293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B--C"/>
          <p:cNvCxnSpPr>
            <a:stCxn id="13" idx="3"/>
            <a:endCxn id="14" idx="1"/>
          </p:cNvCxnSpPr>
          <p:nvPr/>
        </p:nvCxnSpPr>
        <p:spPr>
          <a:xfrm>
            <a:off x="4353522" y="2327365"/>
            <a:ext cx="1055577" cy="0"/>
          </a:xfrm>
          <a:prstGeom prst="line">
            <a:avLst/>
          </a:prstGeom>
          <a:ln w="1293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D--E"/>
          <p:cNvCxnSpPr>
            <a:stCxn id="15" idx="3"/>
            <a:endCxn id="16" idx="1"/>
          </p:cNvCxnSpPr>
          <p:nvPr/>
        </p:nvCxnSpPr>
        <p:spPr>
          <a:xfrm flipV="1">
            <a:off x="4632939" y="4025214"/>
            <a:ext cx="892584" cy="654884"/>
          </a:xfrm>
          <a:prstGeom prst="line">
            <a:avLst/>
          </a:prstGeom>
          <a:ln w="1293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D--F"/>
          <p:cNvCxnSpPr>
            <a:stCxn id="15" idx="3"/>
            <a:endCxn id="17" idx="1"/>
          </p:cNvCxnSpPr>
          <p:nvPr/>
        </p:nvCxnSpPr>
        <p:spPr>
          <a:xfrm>
            <a:off x="4632939" y="4680099"/>
            <a:ext cx="1032292" cy="654885"/>
          </a:xfrm>
          <a:prstGeom prst="line">
            <a:avLst/>
          </a:prstGeom>
          <a:ln w="1293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--H"/>
          <p:cNvCxnSpPr>
            <a:stCxn id="18" idx="3"/>
            <a:endCxn id="19" idx="1"/>
          </p:cNvCxnSpPr>
          <p:nvPr/>
        </p:nvCxnSpPr>
        <p:spPr>
          <a:xfrm>
            <a:off x="9538268" y="3176289"/>
            <a:ext cx="776160" cy="0"/>
          </a:xfrm>
          <a:prstGeom prst="line">
            <a:avLst/>
          </a:prstGeom>
          <a:ln w="1293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--G"/>
          <p:cNvCxnSpPr>
            <a:stCxn id="14" idx="3"/>
            <a:endCxn id="18" idx="1"/>
          </p:cNvCxnSpPr>
          <p:nvPr/>
        </p:nvCxnSpPr>
        <p:spPr>
          <a:xfrm>
            <a:off x="6813948" y="2327365"/>
            <a:ext cx="1552319" cy="848924"/>
          </a:xfrm>
          <a:prstGeom prst="line">
            <a:avLst/>
          </a:prstGeom>
          <a:ln w="1293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E--G"/>
          <p:cNvCxnSpPr>
            <a:stCxn id="16" idx="3"/>
            <a:endCxn id="18" idx="1"/>
          </p:cNvCxnSpPr>
          <p:nvPr/>
        </p:nvCxnSpPr>
        <p:spPr>
          <a:xfrm flipV="1">
            <a:off x="6697524" y="3176289"/>
            <a:ext cx="1668743" cy="848925"/>
          </a:xfrm>
          <a:prstGeom prst="line">
            <a:avLst/>
          </a:prstGeom>
          <a:ln w="1293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deck-B.md</dc:title>
  <dc:creator>md2nativedocx</dc:creator>
  <cp:lastModifiedBy>md2nativedocx</cp:lastModifiedBy>
  <dcterms:created xsi:type="dcterms:W3CDTF">2026-10-05T12:02:45Z</dcterms:created>
  <dcterms:modified xsi:type="dcterms:W3CDTF">2026-10-05T12:02:45Z</dcterms:modified>
</cp:coreProperties>
</file>