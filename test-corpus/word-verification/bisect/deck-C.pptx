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medium-realistic</a:t>
            </a:r>
          </a:p>
        </p:txBody>
      </p:sp>
      <p:sp>
        <p:nvSpPr>
          <p:cNvPr id="12" name="Demarrer" descr="Start"/>
          <p:cNvSpPr/>
          <p:nvPr/>
        </p:nvSpPr>
        <p:spPr>
          <a:xfrm>
            <a:off x="4518299" y="1028700"/>
            <a:ext cx="469980" cy="235618"/>
          </a:xfrm>
          <a:prstGeom prst="roundRect">
            <a:avLst/>
          </a:prstGeom>
          <a:solidFill>
            <a:srgbClr val="C6E0B4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Demarrer</a:t>
            </a:r>
          </a:p>
        </p:txBody>
      </p:sp>
      <p:sp>
        <p:nvSpPr>
          <p:cNvPr id="13" name="Lire config" descr="Lire"/>
          <p:cNvSpPr/>
          <p:nvPr/>
        </p:nvSpPr>
        <p:spPr>
          <a:xfrm>
            <a:off x="4461751" y="1515645"/>
            <a:ext cx="583077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Lire config</a:t>
            </a:r>
          </a:p>
        </p:txBody>
      </p:sp>
      <p:sp>
        <p:nvSpPr>
          <p:cNvPr id="14" name="Config valide?" descr="Valider"/>
          <p:cNvSpPr/>
          <p:nvPr/>
        </p:nvSpPr>
        <p:spPr>
          <a:xfrm>
            <a:off x="4336087" y="2002589"/>
            <a:ext cx="834403" cy="659732"/>
          </a:xfrm>
          <a:prstGeom prst="diamond">
            <a:avLst/>
          </a:prstGeom>
          <a:solidFill>
            <a:srgbClr val="FFE699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Config valide?</a:t>
            </a:r>
          </a:p>
        </p:txBody>
      </p:sp>
      <p:sp>
        <p:nvSpPr>
          <p:cNvPr id="15" name="Log erreur" descr="Erreur"/>
          <p:cNvSpPr/>
          <p:nvPr/>
        </p:nvSpPr>
        <p:spPr>
          <a:xfrm>
            <a:off x="4912881" y="5678237"/>
            <a:ext cx="537838" cy="235618"/>
          </a:xfrm>
          <a:prstGeom prst="rect">
            <a:avLst/>
          </a:prstGeom>
          <a:solidFill>
            <a:srgbClr val="C6E0B4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Log erreur</a:t>
            </a:r>
          </a:p>
        </p:txBody>
      </p:sp>
      <p:sp>
        <p:nvSpPr>
          <p:cNvPr id="16" name="Arreter" descr="Stop"/>
          <p:cNvSpPr/>
          <p:nvPr/>
        </p:nvSpPr>
        <p:spPr>
          <a:xfrm>
            <a:off x="4572334" y="6165182"/>
            <a:ext cx="424741" cy="235618"/>
          </a:xfrm>
          <a:prstGeom prst="roundRect">
            <a:avLst/>
          </a:prstGeom>
          <a:solidFill>
            <a:srgbClr val="C6E0B4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Arreter</a:t>
            </a:r>
          </a:p>
        </p:txBody>
      </p:sp>
      <p:sp>
        <p:nvSpPr>
          <p:cNvPr id="17" name="Connecter API" descr="Connect"/>
          <p:cNvSpPr/>
          <p:nvPr/>
        </p:nvSpPr>
        <p:spPr>
          <a:xfrm>
            <a:off x="3644940" y="2913647"/>
            <a:ext cx="696174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Connecter API</a:t>
            </a:r>
          </a:p>
        </p:txBody>
      </p:sp>
      <p:sp>
        <p:nvSpPr>
          <p:cNvPr id="18" name="Recuperer donnees" descr="Fetch"/>
          <p:cNvSpPr/>
          <p:nvPr/>
        </p:nvSpPr>
        <p:spPr>
          <a:xfrm>
            <a:off x="3735418" y="3400592"/>
            <a:ext cx="515219" cy="329866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Recuperer donnees</a:t>
            </a:r>
          </a:p>
        </p:txBody>
      </p:sp>
      <p:sp>
        <p:nvSpPr>
          <p:cNvPr id="19" name="Nettoyer" descr="Clean"/>
          <p:cNvSpPr/>
          <p:nvPr/>
        </p:nvSpPr>
        <p:spPr>
          <a:xfrm>
            <a:off x="3758037" y="3981784"/>
            <a:ext cx="469980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Nettoyer</a:t>
            </a:r>
          </a:p>
        </p:txBody>
      </p:sp>
      <p:sp>
        <p:nvSpPr>
          <p:cNvPr id="20" name="Donnees ok?" descr="Check"/>
          <p:cNvSpPr/>
          <p:nvPr/>
        </p:nvSpPr>
        <p:spPr>
          <a:xfrm>
            <a:off x="3409950" y="4468729"/>
            <a:ext cx="1166154" cy="471237"/>
          </a:xfrm>
          <a:prstGeom prst="diamond">
            <a:avLst/>
          </a:prstGeom>
          <a:solidFill>
            <a:srgbClr val="FFE699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Donnees ok?</a:t>
            </a:r>
          </a:p>
        </p:txBody>
      </p:sp>
      <p:sp>
        <p:nvSpPr>
          <p:cNvPr id="21" name="Retenter" descr="Retry"/>
          <p:cNvSpPr/>
          <p:nvPr/>
        </p:nvSpPr>
        <p:spPr>
          <a:xfrm>
            <a:off x="3426286" y="5191292"/>
            <a:ext cx="469980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Retenter</a:t>
            </a:r>
          </a:p>
        </p:txBody>
      </p:sp>
      <p:sp>
        <p:nvSpPr>
          <p:cNvPr id="22" name="Sauvegarder" descr="Save"/>
          <p:cNvSpPr/>
          <p:nvPr/>
        </p:nvSpPr>
        <p:spPr>
          <a:xfrm>
            <a:off x="4084761" y="5191292"/>
            <a:ext cx="605696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Sauvegarder</a:t>
            </a:r>
          </a:p>
        </p:txBody>
      </p:sp>
      <p:sp>
        <p:nvSpPr>
          <p:cNvPr id="23" name="Notifier user" descr="Notify"/>
          <p:cNvSpPr/>
          <p:nvPr/>
        </p:nvSpPr>
        <p:spPr>
          <a:xfrm>
            <a:off x="4050832" y="5678237"/>
            <a:ext cx="673555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Notifier user</a:t>
            </a:r>
          </a:p>
        </p:txBody>
      </p:sp>
      <p:cxnSp>
        <p:nvCxnSpPr>
          <p:cNvPr id="24" name="Start--Lire"/>
          <p:cNvCxnSpPr>
            <a:stCxn id="12" idx="2"/>
            <a:endCxn id="13" idx="0"/>
          </p:cNvCxnSpPr>
          <p:nvPr/>
        </p:nvCxnSpPr>
        <p:spPr>
          <a:xfrm>
            <a:off x="4753289" y="1264318"/>
            <a:ext cx="0" cy="251327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re--Valider"/>
          <p:cNvCxnSpPr>
            <a:stCxn id="13" idx="2"/>
            <a:endCxn id="14" idx="0"/>
          </p:cNvCxnSpPr>
          <p:nvPr/>
        </p:nvCxnSpPr>
        <p:spPr>
          <a:xfrm>
            <a:off x="4753289" y="1751263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alider--Erreur"/>
          <p:cNvCxnSpPr>
            <a:stCxn id="14" idx="2"/>
            <a:endCxn id="15" idx="0"/>
          </p:cNvCxnSpPr>
          <p:nvPr/>
        </p:nvCxnSpPr>
        <p:spPr>
          <a:xfrm>
            <a:off x="4753289" y="2662321"/>
            <a:ext cx="428512" cy="301591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4888126" y="4132580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8" name="Erreur--Stop"/>
          <p:cNvCxnSpPr>
            <a:stCxn id="15" idx="2"/>
            <a:endCxn id="16" idx="0"/>
          </p:cNvCxnSpPr>
          <p:nvPr/>
        </p:nvCxnSpPr>
        <p:spPr>
          <a:xfrm flipH="1">
            <a:off x="4784705" y="5913855"/>
            <a:ext cx="397096" cy="251327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alider--Connect"/>
          <p:cNvCxnSpPr>
            <a:stCxn id="14" idx="1"/>
            <a:endCxn id="17" idx="3"/>
          </p:cNvCxnSpPr>
          <p:nvPr/>
        </p:nvCxnSpPr>
        <p:spPr>
          <a:xfrm>
            <a:off x="4336087" y="2332455"/>
            <a:ext cx="5027" cy="699002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geLabel"/>
          <p:cNvSpPr txBox="1"/>
          <p:nvPr/>
        </p:nvSpPr>
        <p:spPr>
          <a:xfrm>
            <a:off x="4259182" y="2644257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31" name="Connect--Fetch"/>
          <p:cNvCxnSpPr>
            <a:stCxn id="17" idx="2"/>
            <a:endCxn id="18" idx="0"/>
          </p:cNvCxnSpPr>
          <p:nvPr/>
        </p:nvCxnSpPr>
        <p:spPr>
          <a:xfrm>
            <a:off x="3993027" y="3149266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etch--Clean"/>
          <p:cNvCxnSpPr>
            <a:stCxn id="18" idx="2"/>
            <a:endCxn id="19" idx="0"/>
          </p:cNvCxnSpPr>
          <p:nvPr/>
        </p:nvCxnSpPr>
        <p:spPr>
          <a:xfrm>
            <a:off x="3993027" y="3730458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lean--Check"/>
          <p:cNvCxnSpPr>
            <a:stCxn id="19" idx="2"/>
            <a:endCxn id="20" idx="0"/>
          </p:cNvCxnSpPr>
          <p:nvPr/>
        </p:nvCxnSpPr>
        <p:spPr>
          <a:xfrm>
            <a:off x="3993027" y="4217403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heck--Retry"/>
          <p:cNvCxnSpPr>
            <a:stCxn id="20" idx="2"/>
            <a:endCxn id="21" idx="0"/>
          </p:cNvCxnSpPr>
          <p:nvPr/>
        </p:nvCxnSpPr>
        <p:spPr>
          <a:xfrm flipH="1">
            <a:off x="3661276" y="4939966"/>
            <a:ext cx="331751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dgeLabel"/>
          <p:cNvSpPr txBox="1"/>
          <p:nvPr/>
        </p:nvSpPr>
        <p:spPr>
          <a:xfrm>
            <a:off x="3747733" y="5027930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36" name="Retry--Check"/>
          <p:cNvCxnSpPr>
            <a:stCxn id="21" idx="0"/>
            <a:endCxn id="20" idx="2"/>
          </p:cNvCxnSpPr>
          <p:nvPr/>
        </p:nvCxnSpPr>
        <p:spPr>
          <a:xfrm flipV="1">
            <a:off x="3661276" y="4939966"/>
            <a:ext cx="331751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heck--Save"/>
          <p:cNvCxnSpPr>
            <a:stCxn id="20" idx="2"/>
            <a:endCxn id="22" idx="0"/>
          </p:cNvCxnSpPr>
          <p:nvPr/>
        </p:nvCxnSpPr>
        <p:spPr>
          <a:xfrm>
            <a:off x="3993027" y="4939966"/>
            <a:ext cx="394582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dgeLabel"/>
          <p:cNvSpPr txBox="1"/>
          <p:nvPr/>
        </p:nvSpPr>
        <p:spPr>
          <a:xfrm>
            <a:off x="4110899" y="5027930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39" name="Save--Notify"/>
          <p:cNvCxnSpPr>
            <a:stCxn id="22" idx="2"/>
            <a:endCxn id="23" idx="0"/>
          </p:cNvCxnSpPr>
          <p:nvPr/>
        </p:nvCxnSpPr>
        <p:spPr>
          <a:xfrm>
            <a:off x="4387609" y="5426911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otify--Stop"/>
          <p:cNvCxnSpPr>
            <a:stCxn id="23" idx="2"/>
            <a:endCxn id="16" idx="0"/>
          </p:cNvCxnSpPr>
          <p:nvPr/>
        </p:nvCxnSpPr>
        <p:spPr>
          <a:xfrm>
            <a:off x="4387609" y="5913855"/>
            <a:ext cx="397096" cy="251327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mindmap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6604413" y="4098110"/>
            <a:ext cx="670127" cy="773368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2" name="Connector 2"/>
          <p:cNvCxnSpPr/>
          <p:nvPr/>
        </p:nvCxnSpPr>
        <p:spPr>
          <a:xfrm flipV="1">
            <a:off x="7274540" y="4674711"/>
            <a:ext cx="1293595" cy="196767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3" name="Connector 3"/>
          <p:cNvCxnSpPr/>
          <p:nvPr/>
        </p:nvCxnSpPr>
        <p:spPr>
          <a:xfrm>
            <a:off x="7274540" y="4871478"/>
            <a:ext cx="670127" cy="773368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4" name="Connector 4"/>
          <p:cNvCxnSpPr/>
          <p:nvPr/>
        </p:nvCxnSpPr>
        <p:spPr>
          <a:xfrm flipV="1">
            <a:off x="6895678" y="4871478"/>
            <a:ext cx="378862" cy="1252425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5" name="Connector 5"/>
          <p:cNvCxnSpPr/>
          <p:nvPr/>
        </p:nvCxnSpPr>
        <p:spPr>
          <a:xfrm flipV="1">
            <a:off x="5743547" y="4098110"/>
            <a:ext cx="860866" cy="553244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6" name="Connector 6"/>
          <p:cNvCxnSpPr/>
          <p:nvPr/>
        </p:nvCxnSpPr>
        <p:spPr>
          <a:xfrm>
            <a:off x="5743547" y="4651354"/>
            <a:ext cx="10667" cy="1308432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7" name="Connector 7"/>
          <p:cNvCxnSpPr/>
          <p:nvPr/>
        </p:nvCxnSpPr>
        <p:spPr>
          <a:xfrm flipV="1">
            <a:off x="4640690" y="4651354"/>
            <a:ext cx="1102857" cy="23357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8" name="Connector 8"/>
          <p:cNvCxnSpPr/>
          <p:nvPr/>
        </p:nvCxnSpPr>
        <p:spPr>
          <a:xfrm flipV="1">
            <a:off x="4021817" y="4674711"/>
            <a:ext cx="618873" cy="1083133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9" name="Connector 9"/>
          <p:cNvCxnSpPr/>
          <p:nvPr/>
        </p:nvCxnSpPr>
        <p:spPr>
          <a:xfrm>
            <a:off x="3534475" y="4098110"/>
            <a:ext cx="1106215" cy="576601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20" name="Connector 10"/>
          <p:cNvCxnSpPr/>
          <p:nvPr/>
        </p:nvCxnSpPr>
        <p:spPr>
          <a:xfrm>
            <a:off x="6179313" y="3167272"/>
            <a:ext cx="425100" cy="93083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1" name="Connector 11"/>
          <p:cNvCxnSpPr/>
          <p:nvPr/>
        </p:nvCxnSpPr>
        <p:spPr>
          <a:xfrm>
            <a:off x="5264158" y="2551374"/>
            <a:ext cx="915155" cy="61589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2" name="Connector 12"/>
          <p:cNvCxnSpPr/>
          <p:nvPr/>
        </p:nvCxnSpPr>
        <p:spPr>
          <a:xfrm>
            <a:off x="4021817" y="2438376"/>
            <a:ext cx="1242341" cy="11299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3" name="Connector 13"/>
          <p:cNvCxnSpPr/>
          <p:nvPr/>
        </p:nvCxnSpPr>
        <p:spPr>
          <a:xfrm flipV="1">
            <a:off x="5264158" y="1305596"/>
            <a:ext cx="64957" cy="124577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4" name="Connector 14"/>
          <p:cNvCxnSpPr/>
          <p:nvPr/>
        </p:nvCxnSpPr>
        <p:spPr>
          <a:xfrm flipV="1">
            <a:off x="6179313" y="2072316"/>
            <a:ext cx="716365" cy="1094956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5" name="Connector 15"/>
          <p:cNvCxnSpPr/>
          <p:nvPr/>
        </p:nvCxnSpPr>
        <p:spPr>
          <a:xfrm flipV="1">
            <a:off x="6604413" y="3544865"/>
            <a:ext cx="860865" cy="553245"/>
          </a:xfrm>
          <a:prstGeom prst="line">
            <a:avLst/>
          </a:prstGeom>
          <a:ln w="12039">
            <a:solidFill>
              <a:srgbClr val="FFC000"/>
            </a:solidFill>
          </a:ln>
        </p:spPr>
      </p:cxnSp>
      <p:cxnSp>
        <p:nvCxnSpPr>
          <p:cNvPr id="26" name="Connector 16"/>
          <p:cNvCxnSpPr/>
          <p:nvPr/>
        </p:nvCxnSpPr>
        <p:spPr>
          <a:xfrm flipV="1">
            <a:off x="7465278" y="2551374"/>
            <a:ext cx="479389" cy="993491"/>
          </a:xfrm>
          <a:prstGeom prst="line">
            <a:avLst/>
          </a:prstGeom>
          <a:ln w="12039">
            <a:solidFill>
              <a:srgbClr val="FFC000"/>
            </a:solidFill>
          </a:ln>
        </p:spPr>
      </p:cxnSp>
      <p:cxnSp>
        <p:nvCxnSpPr>
          <p:cNvPr id="27" name="Connector 17"/>
          <p:cNvCxnSpPr/>
          <p:nvPr/>
        </p:nvCxnSpPr>
        <p:spPr>
          <a:xfrm flipV="1">
            <a:off x="7465278" y="3521509"/>
            <a:ext cx="1102857" cy="23356"/>
          </a:xfrm>
          <a:prstGeom prst="line">
            <a:avLst/>
          </a:prstGeom>
          <a:ln w="12039">
            <a:solidFill>
              <a:srgbClr val="FFC000"/>
            </a:solidFill>
          </a:ln>
        </p:spPr>
      </p:cxnSp>
      <p:sp>
        <p:nvSpPr>
          <p:cNvPr id="28" name="Project Plan"/>
          <p:cNvSpPr/>
          <p:nvPr/>
        </p:nvSpPr>
        <p:spPr>
          <a:xfrm>
            <a:off x="6000297" y="3953642"/>
            <a:ext cx="1208231" cy="288935"/>
          </a:xfrm>
          <a:prstGeom prst="ellipse">
            <a:avLst/>
          </a:prstGeom>
          <a:solidFill>
            <a:srgbClr val="404040"/>
          </a:solidFill>
          <a:ln w="6019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FFFFF"/>
                </a:solidFill>
              </a:rPr>
              <a:t>Project Plan</a:t>
            </a:r>
          </a:p>
        </p:txBody>
      </p:sp>
      <p:sp>
        <p:nvSpPr>
          <p:cNvPr id="29" name="Research"/>
          <p:cNvSpPr/>
          <p:nvPr/>
        </p:nvSpPr>
        <p:spPr>
          <a:xfrm>
            <a:off x="6974469" y="4775166"/>
            <a:ext cx="600143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30" name="Market analysis"/>
          <p:cNvSpPr/>
          <p:nvPr/>
        </p:nvSpPr>
        <p:spPr>
          <a:xfrm>
            <a:off x="8168441" y="4578399"/>
            <a:ext cx="799388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Market analysis</a:t>
            </a:r>
          </a:p>
        </p:txBody>
      </p:sp>
      <p:sp>
        <p:nvSpPr>
          <p:cNvPr id="31" name="Competitor review"/>
          <p:cNvSpPr/>
          <p:nvPr/>
        </p:nvSpPr>
        <p:spPr>
          <a:xfrm>
            <a:off x="7505245" y="5548534"/>
            <a:ext cx="878845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Competitor review</a:t>
            </a:r>
          </a:p>
        </p:txBody>
      </p:sp>
      <p:sp>
        <p:nvSpPr>
          <p:cNvPr id="32" name="User interviews"/>
          <p:cNvSpPr/>
          <p:nvPr/>
        </p:nvSpPr>
        <p:spPr>
          <a:xfrm>
            <a:off x="6495984" y="6027592"/>
            <a:ext cx="799388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User interviews</a:t>
            </a:r>
          </a:p>
        </p:txBody>
      </p:sp>
      <p:sp>
        <p:nvSpPr>
          <p:cNvPr id="33" name="Design"/>
          <p:cNvSpPr/>
          <p:nvPr/>
        </p:nvSpPr>
        <p:spPr>
          <a:xfrm>
            <a:off x="5490428" y="4555043"/>
            <a:ext cx="506239" cy="192624"/>
          </a:xfrm>
          <a:prstGeom prst="round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34" name="Wireframes"/>
          <p:cNvSpPr/>
          <p:nvPr/>
        </p:nvSpPr>
        <p:spPr>
          <a:xfrm>
            <a:off x="5443909" y="5863474"/>
            <a:ext cx="620609" cy="192624"/>
          </a:xfrm>
          <a:prstGeom prst="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Wireframes</a:t>
            </a:r>
          </a:p>
        </p:txBody>
      </p:sp>
      <p:sp>
        <p:nvSpPr>
          <p:cNvPr id="35" name="Moodboard"/>
          <p:cNvSpPr/>
          <p:nvPr/>
        </p:nvSpPr>
        <p:spPr>
          <a:xfrm>
            <a:off x="4259205" y="4578399"/>
            <a:ext cx="762970" cy="192624"/>
          </a:xfrm>
          <a:prstGeom prst="cloud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Moodboard</a:t>
            </a:r>
          </a:p>
        </p:txBody>
      </p:sp>
      <p:sp>
        <p:nvSpPr>
          <p:cNvPr id="36" name="Colors"/>
          <p:cNvSpPr/>
          <p:nvPr/>
        </p:nvSpPr>
        <p:spPr>
          <a:xfrm>
            <a:off x="3790970" y="5661532"/>
            <a:ext cx="461695" cy="192624"/>
          </a:xfrm>
          <a:prstGeom prst="round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Colors</a:t>
            </a:r>
          </a:p>
        </p:txBody>
      </p:sp>
      <p:sp>
        <p:nvSpPr>
          <p:cNvPr id="37" name="Typography"/>
          <p:cNvSpPr/>
          <p:nvPr/>
        </p:nvSpPr>
        <p:spPr>
          <a:xfrm>
            <a:off x="3224171" y="4001798"/>
            <a:ext cx="620609" cy="192624"/>
          </a:xfrm>
          <a:prstGeom prst="round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Typography</a:t>
            </a:r>
          </a:p>
        </p:txBody>
      </p:sp>
      <p:sp>
        <p:nvSpPr>
          <p:cNvPr id="38" name="Engineering"/>
          <p:cNvSpPr/>
          <p:nvPr/>
        </p:nvSpPr>
        <p:spPr>
          <a:xfrm>
            <a:off x="5717062" y="3070960"/>
            <a:ext cx="924503" cy="192624"/>
          </a:xfrm>
          <a:prstGeom prst="hexagon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39" name="Backend"/>
          <p:cNvSpPr/>
          <p:nvPr/>
        </p:nvSpPr>
        <p:spPr>
          <a:xfrm>
            <a:off x="5013447" y="2455062"/>
            <a:ext cx="501423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40" name="API"/>
          <p:cNvSpPr/>
          <p:nvPr/>
        </p:nvSpPr>
        <p:spPr>
          <a:xfrm>
            <a:off x="3841232" y="2342065"/>
            <a:ext cx="361169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41" name="Database"/>
          <p:cNvSpPr/>
          <p:nvPr/>
        </p:nvSpPr>
        <p:spPr>
          <a:xfrm>
            <a:off x="5058539" y="1209285"/>
            <a:ext cx="541152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42" name="Frontend"/>
          <p:cNvSpPr/>
          <p:nvPr/>
        </p:nvSpPr>
        <p:spPr>
          <a:xfrm>
            <a:off x="6625102" y="1976005"/>
            <a:ext cx="541152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43" name="Launch"/>
          <p:cNvSpPr/>
          <p:nvPr/>
        </p:nvSpPr>
        <p:spPr>
          <a:xfrm>
            <a:off x="7212159" y="3448554"/>
            <a:ext cx="506239" cy="192624"/>
          </a:xfrm>
          <a:prstGeom prst="roundRect">
            <a:avLst/>
          </a:prstGeom>
          <a:solidFill>
            <a:srgbClr val="FFC000"/>
          </a:solidFill>
          <a:ln w="6019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44" name="Marketing"/>
          <p:cNvSpPr/>
          <p:nvPr/>
        </p:nvSpPr>
        <p:spPr>
          <a:xfrm>
            <a:off x="7490347" y="2455062"/>
            <a:ext cx="908641" cy="192624"/>
          </a:xfrm>
          <a:prstGeom prst="irregularSeal2">
            <a:avLst/>
          </a:prstGeom>
          <a:solidFill>
            <a:srgbClr val="FFC000"/>
          </a:solidFill>
          <a:ln w="6019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45" name="Support"/>
          <p:cNvSpPr/>
          <p:nvPr/>
        </p:nvSpPr>
        <p:spPr>
          <a:xfrm>
            <a:off x="8317424" y="3425197"/>
            <a:ext cx="501423" cy="192624"/>
          </a:xfrm>
          <a:prstGeom prst="roundRect">
            <a:avLst/>
          </a:prstGeom>
          <a:solidFill>
            <a:srgbClr val="FFC000"/>
          </a:solidFill>
          <a:ln w="6019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minimal</a:t>
            </a:r>
          </a:p>
        </p:txBody>
      </p:sp>
      <p:sp>
        <p:nvSpPr>
          <p:cNvPr id="12" name="A" descr="A"/>
          <p:cNvSpPr/>
          <p:nvPr/>
        </p:nvSpPr>
        <p:spPr>
          <a:xfrm>
            <a:off x="1690688" y="3268266"/>
            <a:ext cx="1666875" cy="1785938"/>
          </a:xfrm>
          <a:prstGeom prst="rect">
            <a:avLst/>
          </a:prstGeom>
          <a:solidFill>
            <a:srgbClr val="FFF9C4"/>
          </a:solidFill>
          <a:ln w="31750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28600" tIns="114300" rIns="228600" bIns="1143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3" name="B" descr="B"/>
          <p:cNvSpPr/>
          <p:nvPr/>
        </p:nvSpPr>
        <p:spPr>
          <a:xfrm>
            <a:off x="5262563" y="2345531"/>
            <a:ext cx="1666875" cy="1785938"/>
          </a:xfrm>
          <a:prstGeom prst="rect">
            <a:avLst/>
          </a:prstGeom>
          <a:solidFill>
            <a:srgbClr val="BBDEFB"/>
          </a:solidFill>
          <a:ln w="31750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28600" tIns="114300" rIns="228600" bIns="1143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4" name="C" descr="C"/>
          <p:cNvSpPr/>
          <p:nvPr/>
        </p:nvSpPr>
        <p:spPr>
          <a:xfrm>
            <a:off x="8834438" y="3268266"/>
            <a:ext cx="1666875" cy="1785938"/>
          </a:xfrm>
          <a:prstGeom prst="rect">
            <a:avLst/>
          </a:prstGeom>
          <a:solidFill>
            <a:srgbClr val="C8E6C9"/>
          </a:solidFill>
          <a:ln w="31750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28600" tIns="114300" rIns="228600" bIns="1143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000000"/>
                </a:solidFill>
              </a:rPr>
              <a:t>C</a:t>
            </a:r>
          </a:p>
        </p:txBody>
      </p:sp>
      <p:cxnSp>
        <p:nvCxnSpPr>
          <p:cNvPr id="15" name="A--B"/>
          <p:cNvCxnSpPr>
            <a:stCxn id="12" idx="3"/>
            <a:endCxn id="13" idx="1"/>
          </p:cNvCxnSpPr>
          <p:nvPr/>
        </p:nvCxnSpPr>
        <p:spPr>
          <a:xfrm flipV="1">
            <a:off x="3357563" y="3238501"/>
            <a:ext cx="1905000" cy="922733"/>
          </a:xfrm>
          <a:prstGeom prst="line">
            <a:avLst/>
          </a:prstGeom>
          <a:ln w="3175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B--C"/>
          <p:cNvCxnSpPr>
            <a:stCxn id="13" idx="3"/>
            <a:endCxn id="14" idx="1"/>
          </p:cNvCxnSpPr>
          <p:nvPr/>
        </p:nvCxnSpPr>
        <p:spPr>
          <a:xfrm>
            <a:off x="6929438" y="3238501"/>
            <a:ext cx="1905000" cy="922733"/>
          </a:xfrm>
          <a:prstGeom prst="line">
            <a:avLst/>
          </a:prstGeom>
          <a:ln w="3175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--A"/>
          <p:cNvCxnSpPr>
            <a:stCxn id="14" idx="1"/>
            <a:endCxn id="12" idx="3"/>
          </p:cNvCxnSpPr>
          <p:nvPr/>
        </p:nvCxnSpPr>
        <p:spPr>
          <a:xfrm flipH="1">
            <a:off x="3357563" y="4161234"/>
            <a:ext cx="5476875" cy="0"/>
          </a:xfrm>
          <a:prstGeom prst="line">
            <a:avLst/>
          </a:prstGeom>
          <a:ln w="3175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mixed</a:t>
            </a:r>
          </a:p>
        </p:txBody>
      </p:sp>
      <p:sp>
        <p:nvSpPr>
          <p:cNvPr id="17" name="Validation (container)"/>
          <p:cNvSpPr/>
          <p:nvPr/>
        </p:nvSpPr>
        <p:spPr>
          <a:xfrm>
            <a:off x="4461954" y="1028700"/>
            <a:ext cx="3268092" cy="4359517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18" name="Validation"/>
          <p:cNvSpPr/>
          <p:nvPr/>
        </p:nvSpPr>
        <p:spPr>
          <a:xfrm>
            <a:off x="4461954" y="1028700"/>
            <a:ext cx="3268092" cy="185511"/>
          </a:xfrm>
          <a:prstGeom prst="rect">
            <a:avLst/>
          </a:prstGeom>
          <a:noFill/>
          <a:ln w="0">
            <a:noFill/>
          </a:ln>
        </p:spPr>
        <p:txBody>
          <a:bodyPr lIns="74205" tIns="37102" rIns="74205" bIns="3710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12" name="Requete" descr="A"/>
          <p:cNvSpPr/>
          <p:nvPr/>
        </p:nvSpPr>
        <p:spPr>
          <a:xfrm>
            <a:off x="5573476" y="1523397"/>
            <a:ext cx="1045047" cy="579723"/>
          </a:xfrm>
          <a:prstGeom prst="rect">
            <a:avLst/>
          </a:prstGeom>
          <a:solidFill>
            <a:srgbClr val="D9E2F3"/>
          </a:solidFill>
          <a:ln w="1030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05" tIns="37102" rIns="74205" bIns="371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Requete</a:t>
            </a:r>
          </a:p>
        </p:txBody>
      </p:sp>
      <p:sp>
        <p:nvSpPr>
          <p:cNvPr id="13" name="OK?" descr="B"/>
          <p:cNvSpPr/>
          <p:nvPr/>
        </p:nvSpPr>
        <p:spPr>
          <a:xfrm>
            <a:off x="5477629" y="2721491"/>
            <a:ext cx="1236742" cy="1159446"/>
          </a:xfrm>
          <a:prstGeom prst="diamond">
            <a:avLst/>
          </a:prstGeom>
          <a:solidFill>
            <a:srgbClr val="D9E2F3"/>
          </a:solidFill>
          <a:ln w="1030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05" tIns="37102" rIns="74205" bIns="371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OK?</a:t>
            </a:r>
          </a:p>
        </p:txBody>
      </p:sp>
      <p:sp>
        <p:nvSpPr>
          <p:cNvPr id="14" name="Traiter" descr="C"/>
          <p:cNvSpPr/>
          <p:nvPr/>
        </p:nvSpPr>
        <p:spPr>
          <a:xfrm>
            <a:off x="4819063" y="4499308"/>
            <a:ext cx="1045047" cy="579723"/>
          </a:xfrm>
          <a:prstGeom prst="rect">
            <a:avLst/>
          </a:prstGeom>
          <a:solidFill>
            <a:srgbClr val="A9D18E"/>
          </a:solidFill>
          <a:ln w="1030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05" tIns="37102" rIns="74205" bIns="371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Traiter</a:t>
            </a:r>
          </a:p>
        </p:txBody>
      </p:sp>
      <p:sp>
        <p:nvSpPr>
          <p:cNvPr id="15" name="Rejeter" descr="D"/>
          <p:cNvSpPr/>
          <p:nvPr/>
        </p:nvSpPr>
        <p:spPr>
          <a:xfrm>
            <a:off x="6327889" y="4499308"/>
            <a:ext cx="1045047" cy="579723"/>
          </a:xfrm>
          <a:prstGeom prst="rect">
            <a:avLst/>
          </a:prstGeom>
          <a:solidFill>
            <a:srgbClr val="F4B183"/>
          </a:solidFill>
          <a:ln w="1030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05" tIns="37102" rIns="74205" bIns="371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Rejeter</a:t>
            </a:r>
          </a:p>
        </p:txBody>
      </p:sp>
      <p:sp>
        <p:nvSpPr>
          <p:cNvPr id="16" name="Reponse" descr="E"/>
          <p:cNvSpPr/>
          <p:nvPr/>
        </p:nvSpPr>
        <p:spPr>
          <a:xfrm>
            <a:off x="5573476" y="5821077"/>
            <a:ext cx="1045047" cy="579723"/>
          </a:xfrm>
          <a:prstGeom prst="roundRect">
            <a:avLst/>
          </a:prstGeom>
          <a:solidFill>
            <a:srgbClr val="D9E2F3"/>
          </a:solidFill>
          <a:ln w="1030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05" tIns="37102" rIns="74205" bIns="371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Reponse</a:t>
            </a:r>
          </a:p>
        </p:txBody>
      </p:sp>
      <p:cxnSp>
        <p:nvCxnSpPr>
          <p:cNvPr id="19" name="A--B"/>
          <p:cNvCxnSpPr>
            <a:stCxn id="12" idx="2"/>
            <a:endCxn id="13" idx="0"/>
          </p:cNvCxnSpPr>
          <p:nvPr/>
        </p:nvCxnSpPr>
        <p:spPr>
          <a:xfrm>
            <a:off x="6096000" y="2103120"/>
            <a:ext cx="0" cy="618371"/>
          </a:xfrm>
          <a:prstGeom prst="line">
            <a:avLst/>
          </a:prstGeom>
          <a:ln w="1030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B--C"/>
          <p:cNvCxnSpPr>
            <a:stCxn id="13" idx="2"/>
            <a:endCxn id="14" idx="0"/>
          </p:cNvCxnSpPr>
          <p:nvPr/>
        </p:nvCxnSpPr>
        <p:spPr>
          <a:xfrm flipH="1">
            <a:off x="5341587" y="3880937"/>
            <a:ext cx="754413" cy="618371"/>
          </a:xfrm>
          <a:prstGeom prst="line">
            <a:avLst/>
          </a:prstGeom>
          <a:ln w="1030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Label"/>
          <p:cNvSpPr txBox="1"/>
          <p:nvPr/>
        </p:nvSpPr>
        <p:spPr>
          <a:xfrm>
            <a:off x="5523388" y="4097367"/>
            <a:ext cx="390811" cy="185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0919" tIns="0" rIns="30919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2" name="B--D"/>
          <p:cNvCxnSpPr>
            <a:stCxn id="13" idx="2"/>
            <a:endCxn id="15" idx="0"/>
          </p:cNvCxnSpPr>
          <p:nvPr/>
        </p:nvCxnSpPr>
        <p:spPr>
          <a:xfrm>
            <a:off x="6096000" y="3880937"/>
            <a:ext cx="754413" cy="618371"/>
          </a:xfrm>
          <a:prstGeom prst="line">
            <a:avLst/>
          </a:prstGeom>
          <a:ln w="1030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Label"/>
          <p:cNvSpPr txBox="1"/>
          <p:nvPr/>
        </p:nvSpPr>
        <p:spPr>
          <a:xfrm>
            <a:off x="6277801" y="4097367"/>
            <a:ext cx="390811" cy="185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0919" tIns="0" rIns="30919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4" name="C--E"/>
          <p:cNvCxnSpPr>
            <a:stCxn id="14" idx="2"/>
            <a:endCxn id="16" idx="0"/>
          </p:cNvCxnSpPr>
          <p:nvPr/>
        </p:nvCxnSpPr>
        <p:spPr>
          <a:xfrm>
            <a:off x="5341587" y="5079032"/>
            <a:ext cx="754413" cy="742045"/>
          </a:xfrm>
          <a:prstGeom prst="line">
            <a:avLst/>
          </a:prstGeom>
          <a:ln w="1030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--E"/>
          <p:cNvCxnSpPr>
            <a:stCxn id="15" idx="2"/>
            <a:endCxn id="16" idx="0"/>
          </p:cNvCxnSpPr>
          <p:nvPr/>
        </p:nvCxnSpPr>
        <p:spPr>
          <a:xfrm flipH="1">
            <a:off x="6096000" y="5079032"/>
            <a:ext cx="754413" cy="742045"/>
          </a:xfrm>
          <a:prstGeom prst="line">
            <a:avLst/>
          </a:prstGeom>
          <a:ln w="1030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multiple-subgraphs</a:t>
            </a:r>
          </a:p>
        </p:txBody>
      </p:sp>
      <p:sp>
        <p:nvSpPr>
          <p:cNvPr id="20" name="Collecte des donnees (container)"/>
          <p:cNvSpPr/>
          <p:nvPr/>
        </p:nvSpPr>
        <p:spPr>
          <a:xfrm>
            <a:off x="457200" y="2544349"/>
            <a:ext cx="2492880" cy="2340803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1" name="Collecte des donnees"/>
          <p:cNvSpPr/>
          <p:nvPr/>
        </p:nvSpPr>
        <p:spPr>
          <a:xfrm>
            <a:off x="457200" y="2544349"/>
            <a:ext cx="2492880" cy="178915"/>
          </a:xfrm>
          <a:prstGeom prst="rect">
            <a:avLst/>
          </a:prstGeom>
          <a:noFill/>
          <a:ln w="0">
            <a:noFill/>
          </a:ln>
        </p:spPr>
        <p:txBody>
          <a:bodyPr lIns="71566" tIns="35783" rIns="71566" bIns="35783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Collecte des donnees</a:t>
            </a:r>
          </a:p>
        </p:txBody>
      </p:sp>
      <p:sp>
        <p:nvSpPr>
          <p:cNvPr id="22" name="Traitement (container)"/>
          <p:cNvSpPr/>
          <p:nvPr/>
        </p:nvSpPr>
        <p:spPr>
          <a:xfrm>
            <a:off x="3546463" y="2684126"/>
            <a:ext cx="4598112" cy="198670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3" name="Traitement"/>
          <p:cNvSpPr/>
          <p:nvPr/>
        </p:nvSpPr>
        <p:spPr>
          <a:xfrm>
            <a:off x="3546463" y="2684126"/>
            <a:ext cx="4598112" cy="178915"/>
          </a:xfrm>
          <a:prstGeom prst="rect">
            <a:avLst/>
          </a:prstGeom>
          <a:noFill/>
          <a:ln w="0">
            <a:noFill/>
          </a:ln>
        </p:spPr>
        <p:txBody>
          <a:bodyPr lIns="71566" tIns="35783" rIns="71566" bIns="35783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Traitement</a:t>
            </a:r>
          </a:p>
        </p:txBody>
      </p:sp>
      <p:sp>
        <p:nvSpPr>
          <p:cNvPr id="24" name="Livraison (container)"/>
          <p:cNvSpPr/>
          <p:nvPr/>
        </p:nvSpPr>
        <p:spPr>
          <a:xfrm>
            <a:off x="8740958" y="3047547"/>
            <a:ext cx="2993842" cy="1334407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5" name="Livraison"/>
          <p:cNvSpPr/>
          <p:nvPr/>
        </p:nvSpPr>
        <p:spPr>
          <a:xfrm>
            <a:off x="8740958" y="3047547"/>
            <a:ext cx="2993842" cy="178915"/>
          </a:xfrm>
          <a:prstGeom prst="rect">
            <a:avLst/>
          </a:prstGeom>
          <a:noFill/>
          <a:ln w="0">
            <a:noFill/>
          </a:ln>
        </p:spPr>
        <p:txBody>
          <a:bodyPr lIns="71566" tIns="35783" rIns="71566" bIns="35783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Livraison</a:t>
            </a:r>
          </a:p>
        </p:txBody>
      </p:sp>
      <p:sp>
        <p:nvSpPr>
          <p:cNvPr id="12" name="API" descr="A"/>
          <p:cNvSpPr/>
          <p:nvPr/>
        </p:nvSpPr>
        <p:spPr>
          <a:xfrm>
            <a:off x="755391" y="3524653"/>
            <a:ext cx="614274" cy="559109"/>
          </a:xfrm>
          <a:prstGeom prst="rect">
            <a:avLst/>
          </a:prstGeom>
          <a:solidFill>
            <a:srgbClr val="BBDEFB"/>
          </a:solidFill>
          <a:ln w="9940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566" tIns="35783" rIns="71566" bIns="357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API</a:t>
            </a:r>
          </a:p>
        </p:txBody>
      </p:sp>
      <p:sp>
        <p:nvSpPr>
          <p:cNvPr id="13" name="Base" descr="B"/>
          <p:cNvSpPr/>
          <p:nvPr/>
        </p:nvSpPr>
        <p:spPr>
          <a:xfrm>
            <a:off x="1966049" y="3021455"/>
            <a:ext cx="685840" cy="559109"/>
          </a:xfrm>
          <a:prstGeom prst="rect">
            <a:avLst/>
          </a:prstGeom>
          <a:solidFill>
            <a:srgbClr val="C8E6C9"/>
          </a:solidFill>
          <a:ln w="9940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566" tIns="35783" rIns="71566" bIns="357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Base</a:t>
            </a:r>
          </a:p>
        </p:txBody>
      </p:sp>
      <p:sp>
        <p:nvSpPr>
          <p:cNvPr id="14" name="Logs" descr="C"/>
          <p:cNvSpPr/>
          <p:nvPr/>
        </p:nvSpPr>
        <p:spPr>
          <a:xfrm>
            <a:off x="1966049" y="4027851"/>
            <a:ext cx="685840" cy="559109"/>
          </a:xfrm>
          <a:prstGeom prst="rect">
            <a:avLst/>
          </a:prstGeom>
          <a:solidFill>
            <a:srgbClr val="FFE0B2"/>
          </a:solidFill>
          <a:ln w="9940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566" tIns="35783" rIns="71566" bIns="357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Logs</a:t>
            </a:r>
          </a:p>
        </p:txBody>
      </p:sp>
      <p:sp>
        <p:nvSpPr>
          <p:cNvPr id="15" name="Propre" descr="D"/>
          <p:cNvSpPr/>
          <p:nvPr/>
        </p:nvSpPr>
        <p:spPr>
          <a:xfrm>
            <a:off x="3844655" y="3524653"/>
            <a:ext cx="900538" cy="559109"/>
          </a:xfrm>
          <a:prstGeom prst="rect">
            <a:avLst/>
          </a:prstGeom>
          <a:solidFill>
            <a:srgbClr val="E1BEE7"/>
          </a:solidFill>
          <a:ln w="9940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566" tIns="35783" rIns="71566" bIns="357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Propre</a:t>
            </a:r>
          </a:p>
        </p:txBody>
      </p:sp>
      <p:sp>
        <p:nvSpPr>
          <p:cNvPr id="16" name="Aggrege" descr="E"/>
          <p:cNvSpPr/>
          <p:nvPr/>
        </p:nvSpPr>
        <p:spPr>
          <a:xfrm>
            <a:off x="5341576" y="3524653"/>
            <a:ext cx="1007887" cy="559109"/>
          </a:xfrm>
          <a:prstGeom prst="rect">
            <a:avLst/>
          </a:prstGeom>
          <a:solidFill>
            <a:srgbClr val="FFCDD2"/>
          </a:solidFill>
          <a:ln w="9940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566" tIns="35783" rIns="71566" bIns="357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Aggrege</a:t>
            </a:r>
          </a:p>
        </p:txBody>
      </p:sp>
      <p:sp>
        <p:nvSpPr>
          <p:cNvPr id="17" name="Stocke" descr="F"/>
          <p:cNvSpPr/>
          <p:nvPr/>
        </p:nvSpPr>
        <p:spPr>
          <a:xfrm>
            <a:off x="6945846" y="3524653"/>
            <a:ext cx="900538" cy="559109"/>
          </a:xfrm>
          <a:prstGeom prst="rect">
            <a:avLst/>
          </a:prstGeom>
          <a:solidFill>
            <a:srgbClr val="FFF9C4"/>
          </a:solidFill>
          <a:ln w="9940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566" tIns="35783" rIns="71566" bIns="357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Stocke</a:t>
            </a:r>
          </a:p>
        </p:txBody>
      </p:sp>
      <p:sp>
        <p:nvSpPr>
          <p:cNvPr id="18" name="Rapport" descr="G"/>
          <p:cNvSpPr/>
          <p:nvPr/>
        </p:nvSpPr>
        <p:spPr>
          <a:xfrm>
            <a:off x="9039149" y="3524653"/>
            <a:ext cx="1007887" cy="559109"/>
          </a:xfrm>
          <a:prstGeom prst="rect">
            <a:avLst/>
          </a:prstGeom>
          <a:solidFill>
            <a:srgbClr val="BBDEFB"/>
          </a:solidFill>
          <a:ln w="9940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566" tIns="35783" rIns="71566" bIns="357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Rapport</a:t>
            </a:r>
          </a:p>
        </p:txBody>
      </p:sp>
      <p:sp>
        <p:nvSpPr>
          <p:cNvPr id="19" name="Email" descr="H"/>
          <p:cNvSpPr/>
          <p:nvPr/>
        </p:nvSpPr>
        <p:spPr>
          <a:xfrm>
            <a:off x="10643419" y="3524653"/>
            <a:ext cx="793189" cy="559109"/>
          </a:xfrm>
          <a:prstGeom prst="rect">
            <a:avLst/>
          </a:prstGeom>
          <a:solidFill>
            <a:srgbClr val="C8E6C9"/>
          </a:solidFill>
          <a:ln w="9940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566" tIns="35783" rIns="71566" bIns="357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Email</a:t>
            </a:r>
          </a:p>
        </p:txBody>
      </p:sp>
      <p:cxnSp>
        <p:nvCxnSpPr>
          <p:cNvPr id="26" name="A--B"/>
          <p:cNvCxnSpPr>
            <a:stCxn id="12" idx="3"/>
            <a:endCxn id="13" idx="1"/>
          </p:cNvCxnSpPr>
          <p:nvPr/>
        </p:nvCxnSpPr>
        <p:spPr>
          <a:xfrm flipV="1">
            <a:off x="1369666" y="3301010"/>
            <a:ext cx="596383" cy="503198"/>
          </a:xfrm>
          <a:prstGeom prst="line">
            <a:avLst/>
          </a:prstGeom>
          <a:ln w="99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--C"/>
          <p:cNvCxnSpPr>
            <a:stCxn id="12" idx="3"/>
            <a:endCxn id="14" idx="1"/>
          </p:cNvCxnSpPr>
          <p:nvPr/>
        </p:nvCxnSpPr>
        <p:spPr>
          <a:xfrm>
            <a:off x="1369666" y="3804208"/>
            <a:ext cx="596383" cy="503198"/>
          </a:xfrm>
          <a:prstGeom prst="line">
            <a:avLst/>
          </a:prstGeom>
          <a:ln w="99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--E"/>
          <p:cNvCxnSpPr>
            <a:stCxn id="15" idx="3"/>
            <a:endCxn id="16" idx="1"/>
          </p:cNvCxnSpPr>
          <p:nvPr/>
        </p:nvCxnSpPr>
        <p:spPr>
          <a:xfrm>
            <a:off x="4745193" y="3804208"/>
            <a:ext cx="596383" cy="0"/>
          </a:xfrm>
          <a:prstGeom prst="line">
            <a:avLst/>
          </a:prstGeom>
          <a:ln w="99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--F"/>
          <p:cNvCxnSpPr>
            <a:stCxn id="16" idx="3"/>
            <a:endCxn id="17" idx="1"/>
          </p:cNvCxnSpPr>
          <p:nvPr/>
        </p:nvCxnSpPr>
        <p:spPr>
          <a:xfrm>
            <a:off x="6349463" y="3804208"/>
            <a:ext cx="596383" cy="0"/>
          </a:xfrm>
          <a:prstGeom prst="line">
            <a:avLst/>
          </a:prstGeom>
          <a:ln w="99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--H"/>
          <p:cNvCxnSpPr>
            <a:stCxn id="18" idx="3"/>
            <a:endCxn id="19" idx="1"/>
          </p:cNvCxnSpPr>
          <p:nvPr/>
        </p:nvCxnSpPr>
        <p:spPr>
          <a:xfrm>
            <a:off x="10047036" y="3804208"/>
            <a:ext cx="596383" cy="0"/>
          </a:xfrm>
          <a:prstGeom prst="line">
            <a:avLst/>
          </a:prstGeom>
          <a:ln w="99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B--D"/>
          <p:cNvCxnSpPr>
            <a:stCxn id="13" idx="3"/>
            <a:endCxn id="15" idx="1"/>
          </p:cNvCxnSpPr>
          <p:nvPr/>
        </p:nvCxnSpPr>
        <p:spPr>
          <a:xfrm>
            <a:off x="2651889" y="3301010"/>
            <a:ext cx="1192766" cy="503198"/>
          </a:xfrm>
          <a:prstGeom prst="line">
            <a:avLst/>
          </a:prstGeom>
          <a:ln w="99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--D"/>
          <p:cNvCxnSpPr>
            <a:stCxn id="14" idx="3"/>
            <a:endCxn id="15" idx="1"/>
          </p:cNvCxnSpPr>
          <p:nvPr/>
        </p:nvCxnSpPr>
        <p:spPr>
          <a:xfrm flipV="1">
            <a:off x="2651889" y="3804208"/>
            <a:ext cx="1192766" cy="503198"/>
          </a:xfrm>
          <a:prstGeom prst="line">
            <a:avLst/>
          </a:prstGeom>
          <a:ln w="99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--G"/>
          <p:cNvCxnSpPr>
            <a:stCxn id="17" idx="3"/>
            <a:endCxn id="18" idx="1"/>
          </p:cNvCxnSpPr>
          <p:nvPr/>
        </p:nvCxnSpPr>
        <p:spPr>
          <a:xfrm>
            <a:off x="7846384" y="3804208"/>
            <a:ext cx="1192765" cy="0"/>
          </a:xfrm>
          <a:prstGeom prst="line">
            <a:avLst/>
          </a:prstGeom>
          <a:ln w="99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nested-3-levels</a:t>
            </a:r>
          </a:p>
        </p:txBody>
      </p:sp>
      <p:sp>
        <p:nvSpPr>
          <p:cNvPr id="19" name="Niveau 1 (container)"/>
          <p:cNvSpPr/>
          <p:nvPr/>
        </p:nvSpPr>
        <p:spPr>
          <a:xfrm>
            <a:off x="3472085" y="1028700"/>
            <a:ext cx="742170" cy="1441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0" name="Niveau 1"/>
          <p:cNvSpPr/>
          <p:nvPr/>
        </p:nvSpPr>
        <p:spPr>
          <a:xfrm>
            <a:off x="3472085" y="1028700"/>
            <a:ext cx="742170" cy="103559"/>
          </a:xfrm>
          <a:prstGeom prst="rect">
            <a:avLst/>
          </a:prstGeom>
          <a:noFill/>
          <a:ln w="0">
            <a:noFill/>
          </a:ln>
        </p:spPr>
        <p:txBody>
          <a:bodyPr lIns="41423" tIns="20712" rIns="41423" bIns="2071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Niveau 1</a:t>
            </a:r>
          </a:p>
        </p:txBody>
      </p:sp>
      <p:sp>
        <p:nvSpPr>
          <p:cNvPr id="21" name="Niveau 2 (container)"/>
          <p:cNvSpPr/>
          <p:nvPr/>
        </p:nvSpPr>
        <p:spPr>
          <a:xfrm>
            <a:off x="3409950" y="2815085"/>
            <a:ext cx="866440" cy="1441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2" name="Niveau 2"/>
          <p:cNvSpPr/>
          <p:nvPr/>
        </p:nvSpPr>
        <p:spPr>
          <a:xfrm>
            <a:off x="3409950" y="2815085"/>
            <a:ext cx="866440" cy="103559"/>
          </a:xfrm>
          <a:prstGeom prst="rect">
            <a:avLst/>
          </a:prstGeom>
          <a:noFill/>
          <a:ln w="0">
            <a:noFill/>
          </a:ln>
        </p:spPr>
        <p:txBody>
          <a:bodyPr lIns="41423" tIns="20712" rIns="41423" bIns="2071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Niveau 2</a:t>
            </a:r>
          </a:p>
        </p:txBody>
      </p:sp>
      <p:sp>
        <p:nvSpPr>
          <p:cNvPr id="23" name="Niveau 3 (container)"/>
          <p:cNvSpPr/>
          <p:nvPr/>
        </p:nvSpPr>
        <p:spPr>
          <a:xfrm>
            <a:off x="3472085" y="4601470"/>
            <a:ext cx="742170" cy="1441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4" name="Niveau 3"/>
          <p:cNvSpPr/>
          <p:nvPr/>
        </p:nvSpPr>
        <p:spPr>
          <a:xfrm>
            <a:off x="3472085" y="4601470"/>
            <a:ext cx="742170" cy="103559"/>
          </a:xfrm>
          <a:prstGeom prst="rect">
            <a:avLst/>
          </a:prstGeom>
          <a:noFill/>
          <a:ln w="0">
            <a:noFill/>
          </a:ln>
        </p:spPr>
        <p:txBody>
          <a:bodyPr lIns="41423" tIns="20712" rIns="41423" bIns="2071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Niveau 3</a:t>
            </a:r>
          </a:p>
        </p:txBody>
      </p:sp>
      <p:sp>
        <p:nvSpPr>
          <p:cNvPr id="12" name="Un" descr="A"/>
          <p:cNvSpPr/>
          <p:nvPr/>
        </p:nvSpPr>
        <p:spPr>
          <a:xfrm>
            <a:off x="3692147" y="1304856"/>
            <a:ext cx="302046" cy="323620"/>
          </a:xfrm>
          <a:prstGeom prst="rect">
            <a:avLst/>
          </a:prstGeom>
          <a:solidFill>
            <a:srgbClr val="C8E6C9"/>
          </a:solidFill>
          <a:ln w="5753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Un</a:t>
            </a:r>
          </a:p>
        </p:txBody>
      </p:sp>
      <p:sp>
        <p:nvSpPr>
          <p:cNvPr id="13" name="Deux" descr="B"/>
          <p:cNvSpPr/>
          <p:nvPr/>
        </p:nvSpPr>
        <p:spPr>
          <a:xfrm>
            <a:off x="3644683" y="1973672"/>
            <a:ext cx="396974" cy="323620"/>
          </a:xfrm>
          <a:prstGeom prst="rect">
            <a:avLst/>
          </a:prstGeom>
          <a:solidFill>
            <a:srgbClr val="FFE0B2"/>
          </a:solidFill>
          <a:ln w="5753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Deux</a:t>
            </a:r>
          </a:p>
        </p:txBody>
      </p:sp>
      <p:sp>
        <p:nvSpPr>
          <p:cNvPr id="14" name="Trois" descr="C"/>
          <p:cNvSpPr/>
          <p:nvPr/>
        </p:nvSpPr>
        <p:spPr>
          <a:xfrm>
            <a:off x="3613615" y="3091241"/>
            <a:ext cx="459110" cy="323620"/>
          </a:xfrm>
          <a:prstGeom prst="rect">
            <a:avLst/>
          </a:prstGeom>
          <a:solidFill>
            <a:srgbClr val="E1BEE7"/>
          </a:solidFill>
          <a:ln w="5753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Trois</a:t>
            </a:r>
          </a:p>
        </p:txBody>
      </p:sp>
      <p:sp>
        <p:nvSpPr>
          <p:cNvPr id="15" name="Quatre" descr="D"/>
          <p:cNvSpPr/>
          <p:nvPr/>
        </p:nvSpPr>
        <p:spPr>
          <a:xfrm>
            <a:off x="3582548" y="3760057"/>
            <a:ext cx="521245" cy="323620"/>
          </a:xfrm>
          <a:prstGeom prst="rect">
            <a:avLst/>
          </a:prstGeom>
          <a:solidFill>
            <a:srgbClr val="FFCDD2"/>
          </a:solidFill>
          <a:ln w="5753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Quatre</a:t>
            </a:r>
          </a:p>
        </p:txBody>
      </p:sp>
      <p:sp>
        <p:nvSpPr>
          <p:cNvPr id="16" name="Cinq" descr="E"/>
          <p:cNvSpPr/>
          <p:nvPr/>
        </p:nvSpPr>
        <p:spPr>
          <a:xfrm>
            <a:off x="3644683" y="4877626"/>
            <a:ext cx="396974" cy="323620"/>
          </a:xfrm>
          <a:prstGeom prst="rect">
            <a:avLst/>
          </a:prstGeom>
          <a:solidFill>
            <a:srgbClr val="FFF9C4"/>
          </a:solidFill>
          <a:ln w="5753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Cinq</a:t>
            </a:r>
          </a:p>
        </p:txBody>
      </p:sp>
      <p:sp>
        <p:nvSpPr>
          <p:cNvPr id="17" name="Six" descr="F"/>
          <p:cNvSpPr/>
          <p:nvPr/>
        </p:nvSpPr>
        <p:spPr>
          <a:xfrm>
            <a:off x="3675750" y="5546442"/>
            <a:ext cx="334839" cy="323620"/>
          </a:xfrm>
          <a:prstGeom prst="rect">
            <a:avLst/>
          </a:prstGeom>
          <a:solidFill>
            <a:srgbClr val="BBDEFB"/>
          </a:solidFill>
          <a:ln w="5753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Six</a:t>
            </a:r>
          </a:p>
        </p:txBody>
      </p:sp>
      <p:sp>
        <p:nvSpPr>
          <p:cNvPr id="18" name="Sept" descr="G"/>
          <p:cNvSpPr/>
          <p:nvPr/>
        </p:nvSpPr>
        <p:spPr>
          <a:xfrm>
            <a:off x="3644683" y="6077180"/>
            <a:ext cx="396974" cy="323620"/>
          </a:xfrm>
          <a:prstGeom prst="rect">
            <a:avLst/>
          </a:prstGeom>
          <a:solidFill>
            <a:srgbClr val="C8E6C9"/>
          </a:solidFill>
          <a:ln w="5753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Sept</a:t>
            </a:r>
          </a:p>
        </p:txBody>
      </p:sp>
      <p:cxnSp>
        <p:nvCxnSpPr>
          <p:cNvPr id="25" name="A--B"/>
          <p:cNvCxnSpPr>
            <a:stCxn id="12" idx="2"/>
            <a:endCxn id="13" idx="0"/>
          </p:cNvCxnSpPr>
          <p:nvPr/>
        </p:nvCxnSpPr>
        <p:spPr>
          <a:xfrm>
            <a:off x="3843170" y="1628477"/>
            <a:ext cx="0" cy="345195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--D"/>
          <p:cNvCxnSpPr>
            <a:stCxn id="14" idx="2"/>
            <a:endCxn id="15" idx="0"/>
          </p:cNvCxnSpPr>
          <p:nvPr/>
        </p:nvCxnSpPr>
        <p:spPr>
          <a:xfrm>
            <a:off x="3843170" y="3414862"/>
            <a:ext cx="0" cy="345195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--F"/>
          <p:cNvCxnSpPr>
            <a:stCxn id="16" idx="2"/>
            <a:endCxn id="17" idx="0"/>
          </p:cNvCxnSpPr>
          <p:nvPr/>
        </p:nvCxnSpPr>
        <p:spPr>
          <a:xfrm>
            <a:off x="3843170" y="5201247"/>
            <a:ext cx="0" cy="345195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--E"/>
          <p:cNvCxnSpPr>
            <a:stCxn id="15" idx="2"/>
            <a:endCxn id="16" idx="0"/>
          </p:cNvCxnSpPr>
          <p:nvPr/>
        </p:nvCxnSpPr>
        <p:spPr>
          <a:xfrm>
            <a:off x="3843170" y="4083677"/>
            <a:ext cx="0" cy="793949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B--C"/>
          <p:cNvCxnSpPr>
            <a:stCxn id="13" idx="2"/>
            <a:endCxn id="14" idx="0"/>
          </p:cNvCxnSpPr>
          <p:nvPr/>
        </p:nvCxnSpPr>
        <p:spPr>
          <a:xfrm>
            <a:off x="3843170" y="2297292"/>
            <a:ext cx="0" cy="793949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--G"/>
          <p:cNvCxnSpPr>
            <a:stCxn id="17" idx="2"/>
            <a:endCxn id="18" idx="0"/>
          </p:cNvCxnSpPr>
          <p:nvPr/>
        </p:nvCxnSpPr>
        <p:spPr>
          <a:xfrm>
            <a:off x="3843170" y="5870062"/>
            <a:ext cx="0" cy="207118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order-flow</a:t>
            </a:r>
          </a:p>
        </p:txBody>
      </p:sp>
      <p:sp>
        <p:nvSpPr>
          <p:cNvPr id="12" name="Commande recue" descr="A"/>
          <p:cNvSpPr/>
          <p:nvPr/>
        </p:nvSpPr>
        <p:spPr>
          <a:xfrm>
            <a:off x="3802997" y="1028700"/>
            <a:ext cx="508649" cy="357007"/>
          </a:xfrm>
          <a:prstGeom prst="rect">
            <a:avLst/>
          </a:prstGeom>
          <a:solidFill>
            <a:srgbClr val="FFE0B2"/>
          </a:solidFill>
          <a:ln w="4533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Commande recue</a:t>
            </a:r>
          </a:p>
        </p:txBody>
      </p:sp>
      <p:sp>
        <p:nvSpPr>
          <p:cNvPr id="13" name="Stock disponible?" descr="B"/>
          <p:cNvSpPr/>
          <p:nvPr/>
        </p:nvSpPr>
        <p:spPr>
          <a:xfrm>
            <a:off x="3409950" y="1657712"/>
            <a:ext cx="1294744" cy="714013"/>
          </a:xfrm>
          <a:prstGeom prst="diamond">
            <a:avLst/>
          </a:prstGeom>
          <a:solidFill>
            <a:srgbClr val="E1BEE7"/>
          </a:solidFill>
          <a:ln w="4533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Stock disponible?</a:t>
            </a:r>
          </a:p>
        </p:txBody>
      </p:sp>
      <p:sp>
        <p:nvSpPr>
          <p:cNvPr id="14" name="Reserver stock" descr="C"/>
          <p:cNvSpPr/>
          <p:nvPr/>
        </p:nvSpPr>
        <p:spPr>
          <a:xfrm>
            <a:off x="4320487" y="2643730"/>
            <a:ext cx="508649" cy="357007"/>
          </a:xfrm>
          <a:prstGeom prst="rect">
            <a:avLst/>
          </a:prstGeom>
          <a:solidFill>
            <a:srgbClr val="FFCDD2"/>
          </a:solidFill>
          <a:ln w="4533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Reserver stock</a:t>
            </a:r>
          </a:p>
        </p:txBody>
      </p:sp>
      <p:sp>
        <p:nvSpPr>
          <p:cNvPr id="15" name="Notifier rupture" descr="D"/>
          <p:cNvSpPr/>
          <p:nvPr/>
        </p:nvSpPr>
        <p:spPr>
          <a:xfrm>
            <a:off x="3505152" y="5516784"/>
            <a:ext cx="508649" cy="357007"/>
          </a:xfrm>
          <a:prstGeom prst="rect">
            <a:avLst/>
          </a:prstGeom>
          <a:solidFill>
            <a:srgbClr val="FFF9C4"/>
          </a:solidFill>
          <a:ln w="4533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Notifier rupture</a:t>
            </a:r>
          </a:p>
        </p:txBody>
      </p:sp>
      <p:sp>
        <p:nvSpPr>
          <p:cNvPr id="16" name="Preparer colis" descr="E"/>
          <p:cNvSpPr/>
          <p:nvPr/>
        </p:nvSpPr>
        <p:spPr>
          <a:xfrm>
            <a:off x="4320487" y="3272742"/>
            <a:ext cx="508649" cy="357007"/>
          </a:xfrm>
          <a:prstGeom prst="rect">
            <a:avLst/>
          </a:prstGeom>
          <a:solidFill>
            <a:srgbClr val="BBDEFB"/>
          </a:solidFill>
          <a:ln w="4533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Preparer colis</a:t>
            </a:r>
          </a:p>
        </p:txBody>
      </p:sp>
      <p:sp>
        <p:nvSpPr>
          <p:cNvPr id="17" name="Adresse valide?" descr="F"/>
          <p:cNvSpPr/>
          <p:nvPr/>
        </p:nvSpPr>
        <p:spPr>
          <a:xfrm>
            <a:off x="4115123" y="3901753"/>
            <a:ext cx="919377" cy="714013"/>
          </a:xfrm>
          <a:prstGeom prst="diamond">
            <a:avLst/>
          </a:prstGeom>
          <a:solidFill>
            <a:srgbClr val="C8E6C9"/>
          </a:solidFill>
          <a:ln w="4533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Adresse valide?</a:t>
            </a:r>
          </a:p>
        </p:txBody>
      </p:sp>
      <p:sp>
        <p:nvSpPr>
          <p:cNvPr id="18" name="Expedier" descr="G"/>
          <p:cNvSpPr/>
          <p:nvPr/>
        </p:nvSpPr>
        <p:spPr>
          <a:xfrm>
            <a:off x="4813496" y="4938773"/>
            <a:ext cx="508649" cy="255005"/>
          </a:xfrm>
          <a:prstGeom prst="rect">
            <a:avLst/>
          </a:prstGeom>
          <a:solidFill>
            <a:srgbClr val="FFE0B2"/>
          </a:solidFill>
          <a:ln w="4533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Expedier</a:t>
            </a:r>
          </a:p>
        </p:txBody>
      </p:sp>
      <p:sp>
        <p:nvSpPr>
          <p:cNvPr id="19" name="Corriger adresse" descr="H"/>
          <p:cNvSpPr/>
          <p:nvPr/>
        </p:nvSpPr>
        <p:spPr>
          <a:xfrm>
            <a:off x="4100843" y="4887772"/>
            <a:ext cx="508649" cy="357007"/>
          </a:xfrm>
          <a:prstGeom prst="rect">
            <a:avLst/>
          </a:prstGeom>
          <a:solidFill>
            <a:srgbClr val="E1BEE7"/>
          </a:solidFill>
          <a:ln w="4533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Corriger adresse</a:t>
            </a:r>
          </a:p>
        </p:txBody>
      </p:sp>
      <p:sp>
        <p:nvSpPr>
          <p:cNvPr id="20" name="Notifier client" descr="I"/>
          <p:cNvSpPr/>
          <p:nvPr/>
        </p:nvSpPr>
        <p:spPr>
          <a:xfrm>
            <a:off x="4813496" y="5516784"/>
            <a:ext cx="508649" cy="357007"/>
          </a:xfrm>
          <a:prstGeom prst="rect">
            <a:avLst/>
          </a:prstGeom>
          <a:solidFill>
            <a:srgbClr val="FFCDD2"/>
          </a:solidFill>
          <a:ln w="4533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Notifier client</a:t>
            </a:r>
          </a:p>
        </p:txBody>
      </p:sp>
      <p:sp>
        <p:nvSpPr>
          <p:cNvPr id="21" name="Fin" descr="J"/>
          <p:cNvSpPr/>
          <p:nvPr/>
        </p:nvSpPr>
        <p:spPr>
          <a:xfrm>
            <a:off x="4281726" y="6145795"/>
            <a:ext cx="263845" cy="255005"/>
          </a:xfrm>
          <a:prstGeom prst="rect">
            <a:avLst/>
          </a:prstGeom>
          <a:solidFill>
            <a:srgbClr val="FFF9C4"/>
          </a:solidFill>
          <a:ln w="4533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22" name="A--B"/>
          <p:cNvCxnSpPr>
            <a:stCxn id="12" idx="2"/>
            <a:endCxn id="13" idx="0"/>
          </p:cNvCxnSpPr>
          <p:nvPr/>
        </p:nvCxnSpPr>
        <p:spPr>
          <a:xfrm>
            <a:off x="4057322" y="1385707"/>
            <a:ext cx="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2"/>
            <a:endCxn id="14" idx="0"/>
          </p:cNvCxnSpPr>
          <p:nvPr/>
        </p:nvCxnSpPr>
        <p:spPr>
          <a:xfrm>
            <a:off x="4057322" y="2371725"/>
            <a:ext cx="51749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dgeLabel"/>
          <p:cNvSpPr txBox="1"/>
          <p:nvPr/>
        </p:nvSpPr>
        <p:spPr>
          <a:xfrm>
            <a:off x="4230113" y="2466927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5" name="B--D"/>
          <p:cNvCxnSpPr>
            <a:stCxn id="13" idx="2"/>
            <a:endCxn id="15" idx="0"/>
          </p:cNvCxnSpPr>
          <p:nvPr/>
        </p:nvCxnSpPr>
        <p:spPr>
          <a:xfrm flipH="1">
            <a:off x="3759477" y="2371725"/>
            <a:ext cx="297845" cy="3145059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dgeLabel"/>
          <p:cNvSpPr txBox="1"/>
          <p:nvPr/>
        </p:nvSpPr>
        <p:spPr>
          <a:xfrm>
            <a:off x="3822446" y="3903453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7" name="C--E"/>
          <p:cNvCxnSpPr>
            <a:stCxn id="14" idx="2"/>
            <a:endCxn id="16" idx="0"/>
          </p:cNvCxnSpPr>
          <p:nvPr/>
        </p:nvCxnSpPr>
        <p:spPr>
          <a:xfrm>
            <a:off x="4574812" y="3000737"/>
            <a:ext cx="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--F"/>
          <p:cNvCxnSpPr>
            <a:stCxn id="16" idx="2"/>
            <a:endCxn id="17" idx="0"/>
          </p:cNvCxnSpPr>
          <p:nvPr/>
        </p:nvCxnSpPr>
        <p:spPr>
          <a:xfrm>
            <a:off x="4574812" y="3629748"/>
            <a:ext cx="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--G"/>
          <p:cNvCxnSpPr>
            <a:stCxn id="17" idx="2"/>
            <a:endCxn id="18" idx="0"/>
          </p:cNvCxnSpPr>
          <p:nvPr/>
        </p:nvCxnSpPr>
        <p:spPr>
          <a:xfrm>
            <a:off x="4574812" y="4615767"/>
            <a:ext cx="493009" cy="323006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geLabel"/>
          <p:cNvSpPr txBox="1"/>
          <p:nvPr/>
        </p:nvSpPr>
        <p:spPr>
          <a:xfrm>
            <a:off x="4735363" y="4736469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31" name="F--H"/>
          <p:cNvCxnSpPr>
            <a:stCxn id="17" idx="2"/>
            <a:endCxn id="19" idx="0"/>
          </p:cNvCxnSpPr>
          <p:nvPr/>
        </p:nvCxnSpPr>
        <p:spPr>
          <a:xfrm flipH="1">
            <a:off x="4355168" y="4615767"/>
            <a:ext cx="219644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geLabel"/>
          <p:cNvSpPr txBox="1"/>
          <p:nvPr/>
        </p:nvSpPr>
        <p:spPr>
          <a:xfrm>
            <a:off x="4379036" y="4710968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33" name="H--F"/>
          <p:cNvCxnSpPr>
            <a:stCxn id="19" idx="0"/>
            <a:endCxn id="17" idx="2"/>
          </p:cNvCxnSpPr>
          <p:nvPr/>
        </p:nvCxnSpPr>
        <p:spPr>
          <a:xfrm flipV="1">
            <a:off x="4355168" y="4615767"/>
            <a:ext cx="219644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--I"/>
          <p:cNvCxnSpPr>
            <a:stCxn id="18" idx="2"/>
            <a:endCxn id="20" idx="0"/>
          </p:cNvCxnSpPr>
          <p:nvPr/>
        </p:nvCxnSpPr>
        <p:spPr>
          <a:xfrm>
            <a:off x="5067821" y="5193778"/>
            <a:ext cx="0" cy="323006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--J"/>
          <p:cNvCxnSpPr>
            <a:stCxn id="15" idx="3"/>
            <a:endCxn id="21" idx="1"/>
          </p:cNvCxnSpPr>
          <p:nvPr/>
        </p:nvCxnSpPr>
        <p:spPr>
          <a:xfrm>
            <a:off x="4013801" y="5695287"/>
            <a:ext cx="267925" cy="578011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I--J"/>
          <p:cNvCxnSpPr>
            <a:stCxn id="20" idx="1"/>
            <a:endCxn id="21" idx="3"/>
          </p:cNvCxnSpPr>
          <p:nvPr/>
        </p:nvCxnSpPr>
        <p:spPr>
          <a:xfrm flipH="1">
            <a:off x="4545571" y="5695287"/>
            <a:ext cx="267925" cy="578011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packet</a:t>
            </a:r>
          </a:p>
        </p:txBody>
      </p:sp>
      <p:sp>
        <p:nvSpPr>
          <p:cNvPr id="11" name="Box 1"/>
          <p:cNvSpPr/>
          <p:nvPr/>
        </p:nvSpPr>
        <p:spPr>
          <a:xfrm>
            <a:off x="3145128" y="1142195"/>
            <a:ext cx="5901744" cy="3783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0" dirty="0">
                <a:solidFill>
                  <a:srgbClr val="000000"/>
                </a:solidFill>
              </a:rPr>
              <a:t>TCP Packet</a:t>
            </a:r>
          </a:p>
        </p:txBody>
      </p:sp>
      <p:sp>
        <p:nvSpPr>
          <p:cNvPr id="12" name="Box 2"/>
          <p:cNvSpPr/>
          <p:nvPr/>
        </p:nvSpPr>
        <p:spPr>
          <a:xfrm>
            <a:off x="3372118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13" name="Box 3"/>
          <p:cNvSpPr/>
          <p:nvPr/>
        </p:nvSpPr>
        <p:spPr>
          <a:xfrm>
            <a:off x="3372118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15</a:t>
            </a:r>
          </a:p>
        </p:txBody>
      </p:sp>
      <p:sp>
        <p:nvSpPr>
          <p:cNvPr id="14" name="Box 4"/>
          <p:cNvSpPr/>
          <p:nvPr/>
        </p:nvSpPr>
        <p:spPr>
          <a:xfrm>
            <a:off x="3372118" y="1785334"/>
            <a:ext cx="2723882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Source Port</a:t>
            </a:r>
          </a:p>
        </p:txBody>
      </p:sp>
      <p:sp>
        <p:nvSpPr>
          <p:cNvPr id="15" name="Box 5"/>
          <p:cNvSpPr/>
          <p:nvPr/>
        </p:nvSpPr>
        <p:spPr>
          <a:xfrm>
            <a:off x="6096000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16</a:t>
            </a:r>
          </a:p>
        </p:txBody>
      </p:sp>
      <p:sp>
        <p:nvSpPr>
          <p:cNvPr id="16" name="Box 6"/>
          <p:cNvSpPr/>
          <p:nvPr/>
        </p:nvSpPr>
        <p:spPr>
          <a:xfrm>
            <a:off x="6096000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31</a:t>
            </a:r>
          </a:p>
        </p:txBody>
      </p:sp>
      <p:sp>
        <p:nvSpPr>
          <p:cNvPr id="17" name="Box 7"/>
          <p:cNvSpPr/>
          <p:nvPr/>
        </p:nvSpPr>
        <p:spPr>
          <a:xfrm>
            <a:off x="6096000" y="1785334"/>
            <a:ext cx="2723882" cy="340485"/>
          </a:xfrm>
          <a:prstGeom prst="rect">
            <a:avLst/>
          </a:prstGeom>
          <a:solidFill>
            <a:srgbClr val="FAD8C1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Destination Port</a:t>
            </a:r>
          </a:p>
        </p:txBody>
      </p:sp>
      <p:sp>
        <p:nvSpPr>
          <p:cNvPr id="18" name="Box 8"/>
          <p:cNvSpPr/>
          <p:nvPr/>
        </p:nvSpPr>
        <p:spPr>
          <a:xfrm>
            <a:off x="3372118" y="2201482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32</a:t>
            </a:r>
          </a:p>
        </p:txBody>
      </p:sp>
      <p:sp>
        <p:nvSpPr>
          <p:cNvPr id="19" name="Box 9"/>
          <p:cNvSpPr/>
          <p:nvPr/>
        </p:nvSpPr>
        <p:spPr>
          <a:xfrm>
            <a:off x="3372118" y="2201482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63</a:t>
            </a:r>
          </a:p>
        </p:txBody>
      </p:sp>
      <p:sp>
        <p:nvSpPr>
          <p:cNvPr id="20" name="Box 10"/>
          <p:cNvSpPr/>
          <p:nvPr/>
        </p:nvSpPr>
        <p:spPr>
          <a:xfrm>
            <a:off x="3372118" y="2352809"/>
            <a:ext cx="5447763" cy="340485"/>
          </a:xfrm>
          <a:prstGeom prst="rect">
            <a:avLst/>
          </a:prstGeom>
          <a:solidFill>
            <a:srgbClr val="D4E6C8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Sequence Number</a:t>
            </a:r>
          </a:p>
        </p:txBody>
      </p:sp>
      <p:sp>
        <p:nvSpPr>
          <p:cNvPr id="21" name="Box 11"/>
          <p:cNvSpPr/>
          <p:nvPr/>
        </p:nvSpPr>
        <p:spPr>
          <a:xfrm>
            <a:off x="3372118" y="2768958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64</a:t>
            </a:r>
          </a:p>
        </p:txBody>
      </p:sp>
      <p:sp>
        <p:nvSpPr>
          <p:cNvPr id="22" name="Box 12"/>
          <p:cNvSpPr/>
          <p:nvPr/>
        </p:nvSpPr>
        <p:spPr>
          <a:xfrm>
            <a:off x="3372118" y="2768958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95</a:t>
            </a:r>
          </a:p>
        </p:txBody>
      </p:sp>
      <p:sp>
        <p:nvSpPr>
          <p:cNvPr id="23" name="Box 13"/>
          <p:cNvSpPr/>
          <p:nvPr/>
        </p:nvSpPr>
        <p:spPr>
          <a:xfrm>
            <a:off x="3372118" y="2920285"/>
            <a:ext cx="5447763" cy="340485"/>
          </a:xfrm>
          <a:prstGeom prst="rect">
            <a:avLst/>
          </a:prstGeom>
          <a:solidFill>
            <a:srgbClr val="FFECB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Acknowledgment Number</a:t>
            </a:r>
          </a:p>
        </p:txBody>
      </p:sp>
      <p:sp>
        <p:nvSpPr>
          <p:cNvPr id="24" name="Box 14"/>
          <p:cNvSpPr/>
          <p:nvPr/>
        </p:nvSpPr>
        <p:spPr>
          <a:xfrm>
            <a:off x="3372118" y="3336433"/>
            <a:ext cx="680970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96</a:t>
            </a:r>
          </a:p>
        </p:txBody>
      </p:sp>
      <p:sp>
        <p:nvSpPr>
          <p:cNvPr id="25" name="Box 15"/>
          <p:cNvSpPr/>
          <p:nvPr/>
        </p:nvSpPr>
        <p:spPr>
          <a:xfrm>
            <a:off x="3372118" y="3336433"/>
            <a:ext cx="680970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99</a:t>
            </a:r>
          </a:p>
        </p:txBody>
      </p:sp>
      <p:sp>
        <p:nvSpPr>
          <p:cNvPr id="26" name="Box 16"/>
          <p:cNvSpPr/>
          <p:nvPr/>
        </p:nvSpPr>
        <p:spPr>
          <a:xfrm>
            <a:off x="3372118" y="3487760"/>
            <a:ext cx="680970" cy="340485"/>
          </a:xfrm>
          <a:prstGeom prst="rect">
            <a:avLst/>
          </a:prstGeom>
          <a:solidFill>
            <a:srgbClr val="D4C1E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Offset</a:t>
            </a:r>
          </a:p>
        </p:txBody>
      </p:sp>
      <p:sp>
        <p:nvSpPr>
          <p:cNvPr id="27" name="Box 17"/>
          <p:cNvSpPr/>
          <p:nvPr/>
        </p:nvSpPr>
        <p:spPr>
          <a:xfrm>
            <a:off x="4053089" y="3336433"/>
            <a:ext cx="1021456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100</a:t>
            </a:r>
          </a:p>
        </p:txBody>
      </p:sp>
      <p:sp>
        <p:nvSpPr>
          <p:cNvPr id="28" name="Box 18"/>
          <p:cNvSpPr/>
          <p:nvPr/>
        </p:nvSpPr>
        <p:spPr>
          <a:xfrm>
            <a:off x="4053089" y="3336433"/>
            <a:ext cx="1021456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105</a:t>
            </a:r>
          </a:p>
        </p:txBody>
      </p:sp>
      <p:sp>
        <p:nvSpPr>
          <p:cNvPr id="29" name="Box 19"/>
          <p:cNvSpPr/>
          <p:nvPr/>
        </p:nvSpPr>
        <p:spPr>
          <a:xfrm>
            <a:off x="4053089" y="3487760"/>
            <a:ext cx="1021456" cy="340485"/>
          </a:xfrm>
          <a:prstGeom prst="rect">
            <a:avLst/>
          </a:prstGeom>
          <a:solidFill>
            <a:srgbClr val="CEE1F2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Reserved</a:t>
            </a:r>
          </a:p>
        </p:txBody>
      </p:sp>
      <p:sp>
        <p:nvSpPr>
          <p:cNvPr id="30" name="Box 20"/>
          <p:cNvSpPr/>
          <p:nvPr/>
        </p:nvSpPr>
        <p:spPr>
          <a:xfrm>
            <a:off x="5074544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106</a:t>
            </a:r>
          </a:p>
        </p:txBody>
      </p:sp>
      <p:sp>
        <p:nvSpPr>
          <p:cNvPr id="31" name="Box 21"/>
          <p:cNvSpPr/>
          <p:nvPr/>
        </p:nvSpPr>
        <p:spPr>
          <a:xfrm>
            <a:off x="5074544" y="3487760"/>
            <a:ext cx="170243" cy="340485"/>
          </a:xfrm>
          <a:prstGeom prst="rect">
            <a:avLst/>
          </a:prstGeom>
          <a:solidFill>
            <a:srgbClr val="ECB3B3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URG</a:t>
            </a:r>
          </a:p>
        </p:txBody>
      </p:sp>
      <p:sp>
        <p:nvSpPr>
          <p:cNvPr id="32" name="Box 22"/>
          <p:cNvSpPr/>
          <p:nvPr/>
        </p:nvSpPr>
        <p:spPr>
          <a:xfrm>
            <a:off x="5244787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107</a:t>
            </a:r>
          </a:p>
        </p:txBody>
      </p:sp>
      <p:sp>
        <p:nvSpPr>
          <p:cNvPr id="33" name="Box 23"/>
          <p:cNvSpPr/>
          <p:nvPr/>
        </p:nvSpPr>
        <p:spPr>
          <a:xfrm>
            <a:off x="5244787" y="3487760"/>
            <a:ext cx="170243" cy="340485"/>
          </a:xfrm>
          <a:prstGeom prst="rect">
            <a:avLst/>
          </a:prstGeom>
          <a:solidFill>
            <a:srgbClr val="C0DCDC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ACK</a:t>
            </a:r>
          </a:p>
        </p:txBody>
      </p:sp>
      <p:sp>
        <p:nvSpPr>
          <p:cNvPr id="34" name="Box 24"/>
          <p:cNvSpPr/>
          <p:nvPr/>
        </p:nvSpPr>
        <p:spPr>
          <a:xfrm>
            <a:off x="5415029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108</a:t>
            </a:r>
          </a:p>
        </p:txBody>
      </p:sp>
      <p:sp>
        <p:nvSpPr>
          <p:cNvPr id="35" name="Box 25"/>
          <p:cNvSpPr/>
          <p:nvPr/>
        </p:nvSpPr>
        <p:spPr>
          <a:xfrm>
            <a:off x="5415029" y="3487760"/>
            <a:ext cx="170243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PSH</a:t>
            </a:r>
          </a:p>
        </p:txBody>
      </p:sp>
      <p:sp>
        <p:nvSpPr>
          <p:cNvPr id="36" name="Box 26"/>
          <p:cNvSpPr/>
          <p:nvPr/>
        </p:nvSpPr>
        <p:spPr>
          <a:xfrm>
            <a:off x="5585272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109</a:t>
            </a:r>
          </a:p>
        </p:txBody>
      </p:sp>
      <p:sp>
        <p:nvSpPr>
          <p:cNvPr id="37" name="Box 27"/>
          <p:cNvSpPr/>
          <p:nvPr/>
        </p:nvSpPr>
        <p:spPr>
          <a:xfrm>
            <a:off x="5585272" y="3487760"/>
            <a:ext cx="170243" cy="340485"/>
          </a:xfrm>
          <a:prstGeom prst="rect">
            <a:avLst/>
          </a:prstGeom>
          <a:solidFill>
            <a:srgbClr val="FAD8C1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RST</a:t>
            </a:r>
          </a:p>
        </p:txBody>
      </p:sp>
      <p:sp>
        <p:nvSpPr>
          <p:cNvPr id="38" name="Box 28"/>
          <p:cNvSpPr/>
          <p:nvPr/>
        </p:nvSpPr>
        <p:spPr>
          <a:xfrm>
            <a:off x="5755515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110</a:t>
            </a:r>
          </a:p>
        </p:txBody>
      </p:sp>
      <p:sp>
        <p:nvSpPr>
          <p:cNvPr id="39" name="Box 29"/>
          <p:cNvSpPr/>
          <p:nvPr/>
        </p:nvSpPr>
        <p:spPr>
          <a:xfrm>
            <a:off x="5755515" y="3487760"/>
            <a:ext cx="170243" cy="340485"/>
          </a:xfrm>
          <a:prstGeom prst="rect">
            <a:avLst/>
          </a:prstGeom>
          <a:solidFill>
            <a:srgbClr val="D4E6C8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SYN</a:t>
            </a:r>
          </a:p>
        </p:txBody>
      </p:sp>
      <p:sp>
        <p:nvSpPr>
          <p:cNvPr id="40" name="Box 30"/>
          <p:cNvSpPr/>
          <p:nvPr/>
        </p:nvSpPr>
        <p:spPr>
          <a:xfrm>
            <a:off x="5925757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111</a:t>
            </a:r>
          </a:p>
        </p:txBody>
      </p:sp>
      <p:sp>
        <p:nvSpPr>
          <p:cNvPr id="41" name="Box 31"/>
          <p:cNvSpPr/>
          <p:nvPr/>
        </p:nvSpPr>
        <p:spPr>
          <a:xfrm>
            <a:off x="5925757" y="3487760"/>
            <a:ext cx="170243" cy="340485"/>
          </a:xfrm>
          <a:prstGeom prst="rect">
            <a:avLst/>
          </a:prstGeom>
          <a:solidFill>
            <a:srgbClr val="FFECB3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FIN</a:t>
            </a:r>
          </a:p>
        </p:txBody>
      </p:sp>
      <p:sp>
        <p:nvSpPr>
          <p:cNvPr id="42" name="Box 32"/>
          <p:cNvSpPr/>
          <p:nvPr/>
        </p:nvSpPr>
        <p:spPr>
          <a:xfrm>
            <a:off x="6096000" y="3336433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112</a:t>
            </a:r>
          </a:p>
        </p:txBody>
      </p:sp>
      <p:sp>
        <p:nvSpPr>
          <p:cNvPr id="43" name="Box 33"/>
          <p:cNvSpPr/>
          <p:nvPr/>
        </p:nvSpPr>
        <p:spPr>
          <a:xfrm>
            <a:off x="6096000" y="3336433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127</a:t>
            </a:r>
          </a:p>
        </p:txBody>
      </p:sp>
      <p:sp>
        <p:nvSpPr>
          <p:cNvPr id="44" name="Box 34"/>
          <p:cNvSpPr/>
          <p:nvPr/>
        </p:nvSpPr>
        <p:spPr>
          <a:xfrm>
            <a:off x="6096000" y="3487760"/>
            <a:ext cx="2723882" cy="340485"/>
          </a:xfrm>
          <a:prstGeom prst="rect">
            <a:avLst/>
          </a:prstGeom>
          <a:solidFill>
            <a:srgbClr val="D4C1E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Window</a:t>
            </a:r>
          </a:p>
        </p:txBody>
      </p:sp>
      <p:sp>
        <p:nvSpPr>
          <p:cNvPr id="45" name="Box 35"/>
          <p:cNvSpPr/>
          <p:nvPr/>
        </p:nvSpPr>
        <p:spPr>
          <a:xfrm>
            <a:off x="3372118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128</a:t>
            </a:r>
          </a:p>
        </p:txBody>
      </p:sp>
      <p:sp>
        <p:nvSpPr>
          <p:cNvPr id="46" name="Box 36"/>
          <p:cNvSpPr/>
          <p:nvPr/>
        </p:nvSpPr>
        <p:spPr>
          <a:xfrm>
            <a:off x="3372118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143</a:t>
            </a:r>
          </a:p>
        </p:txBody>
      </p:sp>
      <p:sp>
        <p:nvSpPr>
          <p:cNvPr id="47" name="Box 37"/>
          <p:cNvSpPr/>
          <p:nvPr/>
        </p:nvSpPr>
        <p:spPr>
          <a:xfrm>
            <a:off x="3372118" y="4055235"/>
            <a:ext cx="2723882" cy="340485"/>
          </a:xfrm>
          <a:prstGeom prst="rect">
            <a:avLst/>
          </a:prstGeom>
          <a:solidFill>
            <a:srgbClr val="CEE1F2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Checksum</a:t>
            </a:r>
          </a:p>
        </p:txBody>
      </p:sp>
      <p:sp>
        <p:nvSpPr>
          <p:cNvPr id="48" name="Box 38"/>
          <p:cNvSpPr/>
          <p:nvPr/>
        </p:nvSpPr>
        <p:spPr>
          <a:xfrm>
            <a:off x="6096000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144</a:t>
            </a:r>
          </a:p>
        </p:txBody>
      </p:sp>
      <p:sp>
        <p:nvSpPr>
          <p:cNvPr id="49" name="Box 39"/>
          <p:cNvSpPr/>
          <p:nvPr/>
        </p:nvSpPr>
        <p:spPr>
          <a:xfrm>
            <a:off x="6096000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159</a:t>
            </a:r>
          </a:p>
        </p:txBody>
      </p:sp>
      <p:sp>
        <p:nvSpPr>
          <p:cNvPr id="50" name="Box 40"/>
          <p:cNvSpPr/>
          <p:nvPr/>
        </p:nvSpPr>
        <p:spPr>
          <a:xfrm>
            <a:off x="6096000" y="4055235"/>
            <a:ext cx="2723882" cy="340485"/>
          </a:xfrm>
          <a:prstGeom prst="rect">
            <a:avLst/>
          </a:prstGeom>
          <a:solidFill>
            <a:srgbClr val="ECB3B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Urgent Pointer</a:t>
            </a:r>
          </a:p>
        </p:txBody>
      </p:sp>
      <p:sp>
        <p:nvSpPr>
          <p:cNvPr id="51" name="Box 41"/>
          <p:cNvSpPr/>
          <p:nvPr/>
        </p:nvSpPr>
        <p:spPr>
          <a:xfrm>
            <a:off x="3372118" y="4471384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160</a:t>
            </a:r>
          </a:p>
        </p:txBody>
      </p:sp>
      <p:sp>
        <p:nvSpPr>
          <p:cNvPr id="52" name="Box 42"/>
          <p:cNvSpPr/>
          <p:nvPr/>
        </p:nvSpPr>
        <p:spPr>
          <a:xfrm>
            <a:off x="3372118" y="4471384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191</a:t>
            </a:r>
          </a:p>
        </p:txBody>
      </p:sp>
      <p:sp>
        <p:nvSpPr>
          <p:cNvPr id="53" name="Box 43"/>
          <p:cNvSpPr/>
          <p:nvPr/>
        </p:nvSpPr>
        <p:spPr>
          <a:xfrm>
            <a:off x="3372118" y="4622711"/>
            <a:ext cx="5447763" cy="340485"/>
          </a:xfrm>
          <a:prstGeom prst="rect">
            <a:avLst/>
          </a:prstGeom>
          <a:solidFill>
            <a:srgbClr val="C0DCDC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(Options and Padding)</a:t>
            </a:r>
          </a:p>
        </p:txBody>
      </p:sp>
      <p:sp>
        <p:nvSpPr>
          <p:cNvPr id="54" name="Box 44"/>
          <p:cNvSpPr/>
          <p:nvPr/>
        </p:nvSpPr>
        <p:spPr>
          <a:xfrm>
            <a:off x="3372118" y="5038859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192</a:t>
            </a:r>
          </a:p>
        </p:txBody>
      </p:sp>
      <p:sp>
        <p:nvSpPr>
          <p:cNvPr id="55" name="Box 45"/>
          <p:cNvSpPr/>
          <p:nvPr/>
        </p:nvSpPr>
        <p:spPr>
          <a:xfrm>
            <a:off x="3372118" y="5038859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223</a:t>
            </a:r>
          </a:p>
        </p:txBody>
      </p:sp>
      <p:sp>
        <p:nvSpPr>
          <p:cNvPr id="56" name="Box 46"/>
          <p:cNvSpPr/>
          <p:nvPr/>
        </p:nvSpPr>
        <p:spPr>
          <a:xfrm>
            <a:off x="3372118" y="5190186"/>
            <a:ext cx="5447763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Data (variable length)</a:t>
            </a:r>
          </a:p>
        </p:txBody>
      </p:sp>
      <p:sp>
        <p:nvSpPr>
          <p:cNvPr id="57" name="Box 47"/>
          <p:cNvSpPr/>
          <p:nvPr/>
        </p:nvSpPr>
        <p:spPr>
          <a:xfrm>
            <a:off x="3372118" y="5606335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224</a:t>
            </a:r>
          </a:p>
        </p:txBody>
      </p:sp>
      <p:sp>
        <p:nvSpPr>
          <p:cNvPr id="58" name="Box 48"/>
          <p:cNvSpPr/>
          <p:nvPr/>
        </p:nvSpPr>
        <p:spPr>
          <a:xfrm>
            <a:off x="3372118" y="5606335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255</a:t>
            </a:r>
          </a:p>
        </p:txBody>
      </p:sp>
      <p:sp>
        <p:nvSpPr>
          <p:cNvPr id="59" name="Box 49"/>
          <p:cNvSpPr/>
          <p:nvPr/>
        </p:nvSpPr>
        <p:spPr>
          <a:xfrm>
            <a:off x="3372118" y="5757661"/>
            <a:ext cx="5447763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Data (variable length)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pie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2300425" y="1028700"/>
            <a:ext cx="7591150" cy="7845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954" dirty="0">
                <a:solidFill>
                  <a:srgbClr val="000000"/>
                </a:solidFill>
              </a:rPr>
              <a:t>Key elements in Product X</a:t>
            </a:r>
          </a:p>
        </p:txBody>
      </p:sp>
      <p:sp>
        <p:nvSpPr>
          <p:cNvPr id="12" name="Slice 2"/>
          <p:cNvSpPr/>
          <p:nvPr/>
        </p:nvSpPr>
        <p:spPr>
          <a:xfrm>
            <a:off x="2699344" y="2012699"/>
            <a:ext cx="3989183" cy="3989183"/>
          </a:xfrm>
          <a:prstGeom prst="pie">
            <a:avLst>
              <a:gd name="adj1" fmla="val 16200000"/>
              <a:gd name="adj2" fmla="val 3190409"/>
            </a:avLst>
          </a:prstGeom>
          <a:solidFill>
            <a:srgbClr val="4472C4"/>
          </a:solidFill>
          <a:ln w="26595">
            <a:solidFill>
              <a:srgbClr val="FFFFFF"/>
            </a:solidFill>
          </a:ln>
        </p:spPr>
      </p:sp>
      <p:sp>
        <p:nvSpPr>
          <p:cNvPr id="14" name="Slice 4"/>
          <p:cNvSpPr/>
          <p:nvPr/>
        </p:nvSpPr>
        <p:spPr>
          <a:xfrm>
            <a:off x="2699344" y="2012699"/>
            <a:ext cx="3989183" cy="3989183"/>
          </a:xfrm>
          <a:prstGeom prst="pie">
            <a:avLst>
              <a:gd name="adj1" fmla="val 3190409"/>
              <a:gd name="adj2" fmla="val 13198556"/>
            </a:avLst>
          </a:prstGeom>
          <a:solidFill>
            <a:srgbClr val="ED7D31"/>
          </a:solidFill>
          <a:ln w="26595">
            <a:solidFill>
              <a:srgbClr val="FFFFFF"/>
            </a:solidFill>
          </a:ln>
        </p:spPr>
      </p:sp>
      <p:sp>
        <p:nvSpPr>
          <p:cNvPr id="16" name="Slice 6"/>
          <p:cNvSpPr/>
          <p:nvPr/>
        </p:nvSpPr>
        <p:spPr>
          <a:xfrm>
            <a:off x="2699344" y="2012699"/>
            <a:ext cx="3989183" cy="3989183"/>
          </a:xfrm>
          <a:prstGeom prst="pie">
            <a:avLst>
              <a:gd name="adj1" fmla="val 13198556"/>
              <a:gd name="adj2" fmla="val 15200185"/>
            </a:avLst>
          </a:prstGeom>
          <a:solidFill>
            <a:srgbClr val="A5A5A5"/>
          </a:solidFill>
          <a:ln w="26595">
            <a:solidFill>
              <a:srgbClr val="FFFFFF"/>
            </a:solidFill>
          </a:ln>
        </p:spPr>
      </p:sp>
      <p:sp>
        <p:nvSpPr>
          <p:cNvPr id="18" name="Slice 8"/>
          <p:cNvSpPr/>
          <p:nvPr/>
        </p:nvSpPr>
        <p:spPr>
          <a:xfrm>
            <a:off x="2699344" y="2012699"/>
            <a:ext cx="3989183" cy="3989183"/>
          </a:xfrm>
          <a:prstGeom prst="pie">
            <a:avLst>
              <a:gd name="adj1" fmla="val 15200185"/>
              <a:gd name="adj2" fmla="val 16200000"/>
            </a:avLst>
          </a:prstGeom>
          <a:solidFill>
            <a:srgbClr val="FFC000"/>
          </a:solidFill>
          <a:ln w="26595">
            <a:solidFill>
              <a:srgbClr val="FFFFFF"/>
            </a:solidFill>
          </a:ln>
        </p:spPr>
      </p:sp>
      <p:sp>
        <p:nvSpPr>
          <p:cNvPr id="13" name="Text 3"/>
          <p:cNvSpPr txBox="1"/>
          <p:nvPr/>
        </p:nvSpPr>
        <p:spPr>
          <a:xfrm>
            <a:off x="5780859" y="3415093"/>
            <a:ext cx="664864" cy="2393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87" dirty="0">
                <a:solidFill>
                  <a:srgbClr val="000000"/>
                </a:solidFill>
              </a:rPr>
              <a:t>40%</a:t>
            </a:r>
          </a:p>
        </p:txBody>
      </p:sp>
      <p:sp>
        <p:nvSpPr>
          <p:cNvPr id="15" name="Text 5"/>
          <p:cNvSpPr txBox="1"/>
          <p:nvPr/>
        </p:nvSpPr>
        <p:spPr>
          <a:xfrm>
            <a:off x="3275042" y="4915939"/>
            <a:ext cx="664864" cy="2393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87" dirty="0">
                <a:solidFill>
                  <a:srgbClr val="000000"/>
                </a:solidFill>
              </a:rPr>
              <a:t>46%</a:t>
            </a:r>
          </a:p>
        </p:txBody>
      </p:sp>
      <p:sp>
        <p:nvSpPr>
          <p:cNvPr id="17" name="Text 7"/>
          <p:cNvSpPr txBox="1"/>
          <p:nvPr/>
        </p:nvSpPr>
        <p:spPr>
          <a:xfrm>
            <a:off x="3539240" y="2637922"/>
            <a:ext cx="664864" cy="2393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87" dirty="0">
                <a:solidFill>
                  <a:srgbClr val="000000"/>
                </a:solidFill>
              </a:rPr>
              <a:t>9%</a:t>
            </a:r>
          </a:p>
        </p:txBody>
      </p:sp>
      <p:sp>
        <p:nvSpPr>
          <p:cNvPr id="19" name="Text 9"/>
          <p:cNvSpPr txBox="1"/>
          <p:nvPr/>
        </p:nvSpPr>
        <p:spPr>
          <a:xfrm>
            <a:off x="4144733" y="2407459"/>
            <a:ext cx="664864" cy="2393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87" dirty="0">
                <a:solidFill>
                  <a:srgbClr val="000000"/>
                </a:solidFill>
              </a:rPr>
              <a:t>5%</a:t>
            </a:r>
          </a:p>
        </p:txBody>
      </p:sp>
      <p:sp>
        <p:nvSpPr>
          <p:cNvPr id="20" name="Legend 10"/>
          <p:cNvSpPr/>
          <p:nvPr/>
        </p:nvSpPr>
        <p:spPr>
          <a:xfrm>
            <a:off x="7220418" y="3382318"/>
            <a:ext cx="212756" cy="212756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21" name="Text 11"/>
          <p:cNvSpPr txBox="1"/>
          <p:nvPr/>
        </p:nvSpPr>
        <p:spPr>
          <a:xfrm>
            <a:off x="7539552" y="3315832"/>
            <a:ext cx="1953104" cy="345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96" dirty="0">
                <a:solidFill>
                  <a:srgbClr val="000000"/>
                </a:solidFill>
              </a:rPr>
              <a:t>Calcium [42.96]</a:t>
            </a:r>
          </a:p>
        </p:txBody>
      </p:sp>
      <p:sp>
        <p:nvSpPr>
          <p:cNvPr id="22" name="Legend 12"/>
          <p:cNvSpPr/>
          <p:nvPr/>
        </p:nvSpPr>
        <p:spPr>
          <a:xfrm>
            <a:off x="7220418" y="3728047"/>
            <a:ext cx="212756" cy="2127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23" name="Text 13"/>
          <p:cNvSpPr txBox="1"/>
          <p:nvPr/>
        </p:nvSpPr>
        <p:spPr>
          <a:xfrm>
            <a:off x="7539552" y="3661561"/>
            <a:ext cx="1953104" cy="345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96" dirty="0">
                <a:solidFill>
                  <a:srgbClr val="000000"/>
                </a:solidFill>
              </a:rPr>
              <a:t>Potassium [50.05]</a:t>
            </a:r>
          </a:p>
        </p:txBody>
      </p:sp>
      <p:sp>
        <p:nvSpPr>
          <p:cNvPr id="24" name="Legend 14"/>
          <p:cNvSpPr/>
          <p:nvPr/>
        </p:nvSpPr>
        <p:spPr>
          <a:xfrm>
            <a:off x="7220418" y="4073776"/>
            <a:ext cx="212756" cy="212756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7539552" y="4007290"/>
            <a:ext cx="1953104" cy="345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96" dirty="0">
                <a:solidFill>
                  <a:srgbClr val="000000"/>
                </a:solidFill>
              </a:rPr>
              <a:t>Magnesium [10.01]</a:t>
            </a:r>
          </a:p>
        </p:txBody>
      </p:sp>
      <p:sp>
        <p:nvSpPr>
          <p:cNvPr id="26" name="Legend 16"/>
          <p:cNvSpPr/>
          <p:nvPr/>
        </p:nvSpPr>
        <p:spPr>
          <a:xfrm>
            <a:off x="7220418" y="4419506"/>
            <a:ext cx="212756" cy="212756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7" name="Text 17"/>
          <p:cNvSpPr txBox="1"/>
          <p:nvPr/>
        </p:nvSpPr>
        <p:spPr>
          <a:xfrm>
            <a:off x="7539552" y="4353019"/>
            <a:ext cx="1953104" cy="345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96" dirty="0">
                <a:solidFill>
                  <a:srgbClr val="000000"/>
                </a:solidFill>
              </a:rPr>
              <a:t>Iron [5]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quadrant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3147897" y="1028700"/>
            <a:ext cx="5896207" cy="411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400" dirty="0">
                <a:solidFill>
                  <a:srgbClr val="000000"/>
                </a:solidFill>
              </a:rPr>
              <a:t>Reach and engagement of campaigns</a:t>
            </a:r>
          </a:p>
        </p:txBody>
      </p:sp>
      <p:sp>
        <p:nvSpPr>
          <p:cNvPr id="12" name="Shape 2"/>
          <p:cNvSpPr/>
          <p:nvPr/>
        </p:nvSpPr>
        <p:spPr>
          <a:xfrm>
            <a:off x="6610749" y="1440499"/>
            <a:ext cx="2246174" cy="2246174"/>
          </a:xfrm>
          <a:prstGeom prst="rect">
            <a:avLst/>
          </a:prstGeom>
          <a:solidFill>
            <a:srgbClr val="D9E2F3"/>
          </a:solidFill>
          <a:ln w="9525">
            <a:solidFill>
              <a:srgbClr val="BFBFBF"/>
            </a:solidFill>
          </a:ln>
        </p:spPr>
      </p:sp>
      <p:sp>
        <p:nvSpPr>
          <p:cNvPr id="13" name="Text 3"/>
          <p:cNvSpPr txBox="1"/>
          <p:nvPr/>
        </p:nvSpPr>
        <p:spPr>
          <a:xfrm>
            <a:off x="6666903" y="1477935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We should expand</a:t>
            </a:r>
          </a:p>
        </p:txBody>
      </p:sp>
      <p:sp>
        <p:nvSpPr>
          <p:cNvPr id="14" name="Shape 4"/>
          <p:cNvSpPr/>
          <p:nvPr/>
        </p:nvSpPr>
        <p:spPr>
          <a:xfrm>
            <a:off x="4364575" y="1440499"/>
            <a:ext cx="2246174" cy="2246174"/>
          </a:xfrm>
          <a:prstGeom prst="rect">
            <a:avLst/>
          </a:prstGeom>
          <a:solidFill>
            <a:srgbClr val="FCE4D6"/>
          </a:solidFill>
          <a:ln w="9525">
            <a:solidFill>
              <a:srgbClr val="BFBFBF"/>
            </a:solidFill>
          </a:ln>
        </p:spPr>
      </p:sp>
      <p:sp>
        <p:nvSpPr>
          <p:cNvPr id="15" name="Text 5"/>
          <p:cNvSpPr txBox="1"/>
          <p:nvPr/>
        </p:nvSpPr>
        <p:spPr>
          <a:xfrm>
            <a:off x="4420729" y="1477935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Need to promote</a:t>
            </a:r>
          </a:p>
        </p:txBody>
      </p:sp>
      <p:sp>
        <p:nvSpPr>
          <p:cNvPr id="16" name="Shape 6"/>
          <p:cNvSpPr/>
          <p:nvPr/>
        </p:nvSpPr>
        <p:spPr>
          <a:xfrm>
            <a:off x="4364575" y="3686673"/>
            <a:ext cx="2246174" cy="2246174"/>
          </a:xfrm>
          <a:prstGeom prst="rect">
            <a:avLst/>
          </a:prstGeom>
          <a:solidFill>
            <a:srgbClr val="E2EFDA"/>
          </a:solidFill>
          <a:ln w="9525">
            <a:solidFill>
              <a:srgbClr val="BFBFBF"/>
            </a:solidFill>
          </a:ln>
        </p:spPr>
      </p:sp>
      <p:sp>
        <p:nvSpPr>
          <p:cNvPr id="17" name="Text 7"/>
          <p:cNvSpPr txBox="1"/>
          <p:nvPr/>
        </p:nvSpPr>
        <p:spPr>
          <a:xfrm>
            <a:off x="4420729" y="3724109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Re-evaluate</a:t>
            </a:r>
          </a:p>
        </p:txBody>
      </p:sp>
      <p:sp>
        <p:nvSpPr>
          <p:cNvPr id="18" name="Shape 8"/>
          <p:cNvSpPr/>
          <p:nvPr/>
        </p:nvSpPr>
        <p:spPr>
          <a:xfrm>
            <a:off x="6610749" y="3686673"/>
            <a:ext cx="2246174" cy="2246174"/>
          </a:xfrm>
          <a:prstGeom prst="rect">
            <a:avLst/>
          </a:prstGeom>
          <a:solidFill>
            <a:srgbClr val="FFF2CC"/>
          </a:solidFill>
          <a:ln w="9525">
            <a:solidFill>
              <a:srgbClr val="BFBFBF"/>
            </a:solidFill>
          </a:ln>
        </p:spPr>
      </p:sp>
      <p:sp>
        <p:nvSpPr>
          <p:cNvPr id="19" name="Text 9"/>
          <p:cNvSpPr txBox="1"/>
          <p:nvPr/>
        </p:nvSpPr>
        <p:spPr>
          <a:xfrm>
            <a:off x="6666903" y="3724109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May be improved</a:t>
            </a:r>
          </a:p>
        </p:txBody>
      </p:sp>
      <p:sp>
        <p:nvSpPr>
          <p:cNvPr id="20" name="Text 10"/>
          <p:cNvSpPr txBox="1"/>
          <p:nvPr/>
        </p:nvSpPr>
        <p:spPr>
          <a:xfrm>
            <a:off x="4364575" y="5989001"/>
            <a:ext cx="2246174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Low Reach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6610749" y="5989001"/>
            <a:ext cx="2246174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High Reach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3147897" y="5745666"/>
            <a:ext cx="1160523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Low Engagement</a:t>
            </a:r>
          </a:p>
        </p:txBody>
      </p:sp>
      <p:sp>
        <p:nvSpPr>
          <p:cNvPr id="23" name="Text 13"/>
          <p:cNvSpPr txBox="1"/>
          <p:nvPr/>
        </p:nvSpPr>
        <p:spPr>
          <a:xfrm>
            <a:off x="3147897" y="1440499"/>
            <a:ext cx="1160523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High Engagement</a:t>
            </a:r>
          </a:p>
        </p:txBody>
      </p:sp>
      <p:sp>
        <p:nvSpPr>
          <p:cNvPr id="24" name="Point 14"/>
          <p:cNvSpPr/>
          <p:nvPr/>
        </p:nvSpPr>
        <p:spPr>
          <a:xfrm>
            <a:off x="5665484" y="3190643"/>
            <a:ext cx="93591" cy="93591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0000"/>
            </a:solidFill>
          </a:ln>
        </p:spPr>
      </p:sp>
      <p:sp>
        <p:nvSpPr>
          <p:cNvPr id="25" name="Text 15"/>
          <p:cNvSpPr txBox="1"/>
          <p:nvPr/>
        </p:nvSpPr>
        <p:spPr>
          <a:xfrm>
            <a:off x="5787152" y="3153206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A</a:t>
            </a:r>
          </a:p>
        </p:txBody>
      </p:sp>
      <p:sp>
        <p:nvSpPr>
          <p:cNvPr id="26" name="Point 16"/>
          <p:cNvSpPr/>
          <p:nvPr/>
        </p:nvSpPr>
        <p:spPr>
          <a:xfrm>
            <a:off x="6339336" y="4852812"/>
            <a:ext cx="93591" cy="93591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0000"/>
            </a:solidFill>
          </a:ln>
        </p:spPr>
      </p:sp>
      <p:sp>
        <p:nvSpPr>
          <p:cNvPr id="27" name="Text 17"/>
          <p:cNvSpPr txBox="1"/>
          <p:nvPr/>
        </p:nvSpPr>
        <p:spPr>
          <a:xfrm>
            <a:off x="6461004" y="4815375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B</a:t>
            </a:r>
          </a:p>
        </p:txBody>
      </p:sp>
      <p:sp>
        <p:nvSpPr>
          <p:cNvPr id="28" name="Point 18"/>
          <p:cNvSpPr/>
          <p:nvPr/>
        </p:nvSpPr>
        <p:spPr>
          <a:xfrm>
            <a:off x="6878418" y="2786331"/>
            <a:ext cx="93591" cy="93591"/>
          </a:xfrm>
          <a:prstGeom prst="ellipse">
            <a:avLst/>
          </a:prstGeom>
          <a:solidFill>
            <a:srgbClr val="FF3300"/>
          </a:solidFill>
          <a:ln w="6350">
            <a:solidFill>
              <a:srgbClr val="000000"/>
            </a:solidFill>
          </a:ln>
        </p:spPr>
      </p:sp>
      <p:sp>
        <p:nvSpPr>
          <p:cNvPr id="29" name="Text 19"/>
          <p:cNvSpPr txBox="1"/>
          <p:nvPr/>
        </p:nvSpPr>
        <p:spPr>
          <a:xfrm>
            <a:off x="7000086" y="2748895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C</a:t>
            </a:r>
          </a:p>
        </p:txBody>
      </p:sp>
      <p:sp>
        <p:nvSpPr>
          <p:cNvPr id="30" name="Point 20"/>
          <p:cNvSpPr/>
          <p:nvPr/>
        </p:nvSpPr>
        <p:spPr>
          <a:xfrm>
            <a:off x="7821811" y="4358653"/>
            <a:ext cx="93591" cy="93591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0000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7943479" y="4321217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radar</a:t>
            </a:r>
          </a:p>
        </p:txBody>
      </p:sp>
      <p:sp>
        <p:nvSpPr>
          <p:cNvPr id="11" name="Box 1"/>
          <p:cNvSpPr/>
          <p:nvPr/>
        </p:nvSpPr>
        <p:spPr>
          <a:xfrm>
            <a:off x="2178844" y="1171142"/>
            <a:ext cx="6104659" cy="4069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75" dirty="0">
                <a:solidFill>
                  <a:srgbClr val="000000"/>
                </a:solidFill>
              </a:rPr>
              <a:t>Grades</a:t>
            </a:r>
          </a:p>
        </p:txBody>
      </p:sp>
      <p:sp>
        <p:nvSpPr>
          <p:cNvPr id="12" name="Shape 2"/>
          <p:cNvSpPr/>
          <p:nvPr/>
        </p:nvSpPr>
        <p:spPr>
          <a:xfrm>
            <a:off x="4812636" y="3577396"/>
            <a:ext cx="837074" cy="966571"/>
          </a:xfrm>
          <a:custGeom>
            <a:avLst/>
            <a:gdLst/>
            <a:ahLst/>
            <a:cxnLst/>
            <a:rect l="0" t="0" r="0" b="0"/>
            <a:pathLst>
              <a:path w="783644" h="904875">
                <a:moveTo>
                  <a:pt x="391822" y="0"/>
                </a:moveTo>
                <a:lnTo>
                  <a:pt x="783644" y="226218"/>
                </a:lnTo>
                <a:lnTo>
                  <a:pt x="783644" y="678656"/>
                </a:lnTo>
                <a:lnTo>
                  <a:pt x="391822" y="904875"/>
                </a:lnTo>
                <a:lnTo>
                  <a:pt x="0" y="678656"/>
                </a:lnTo>
                <a:lnTo>
                  <a:pt x="0" y="226218"/>
                </a:lnTo>
                <a:close/>
              </a:path>
            </a:pathLst>
          </a:custGeom>
          <a:noFill/>
          <a:ln w="10174">
            <a:solidFill>
              <a:srgbClr val="BFBFBF"/>
            </a:solidFill>
          </a:ln>
        </p:spPr>
      </p:sp>
      <p:sp>
        <p:nvSpPr>
          <p:cNvPr id="13" name="Shape 3"/>
          <p:cNvSpPr/>
          <p:nvPr/>
        </p:nvSpPr>
        <p:spPr>
          <a:xfrm>
            <a:off x="4394098" y="3094110"/>
            <a:ext cx="1674151" cy="1933142"/>
          </a:xfrm>
          <a:custGeom>
            <a:avLst/>
            <a:gdLst/>
            <a:ahLst/>
            <a:cxnLst/>
            <a:rect l="0" t="0" r="0" b="0"/>
            <a:pathLst>
              <a:path w="1567290" h="1809750">
                <a:moveTo>
                  <a:pt x="783645" y="0"/>
                </a:moveTo>
                <a:lnTo>
                  <a:pt x="1567290" y="452438"/>
                </a:lnTo>
                <a:lnTo>
                  <a:pt x="1567290" y="1357313"/>
                </a:lnTo>
                <a:lnTo>
                  <a:pt x="783645" y="1809750"/>
                </a:lnTo>
                <a:lnTo>
                  <a:pt x="0" y="1357313"/>
                </a:lnTo>
                <a:lnTo>
                  <a:pt x="0" y="452438"/>
                </a:lnTo>
                <a:close/>
              </a:path>
            </a:pathLst>
          </a:custGeom>
          <a:noFill/>
          <a:ln w="10174">
            <a:solidFill>
              <a:srgbClr val="BFBFBF"/>
            </a:solidFill>
          </a:ln>
        </p:spPr>
      </p:sp>
      <p:sp>
        <p:nvSpPr>
          <p:cNvPr id="14" name="Shape 4"/>
          <p:cNvSpPr/>
          <p:nvPr/>
        </p:nvSpPr>
        <p:spPr>
          <a:xfrm>
            <a:off x="3975561" y="2610825"/>
            <a:ext cx="2511225" cy="2899713"/>
          </a:xfrm>
          <a:custGeom>
            <a:avLst/>
            <a:gdLst/>
            <a:ahLst/>
            <a:cxnLst/>
            <a:rect l="0" t="0" r="0" b="0"/>
            <a:pathLst>
              <a:path w="2350934" h="2714625">
                <a:moveTo>
                  <a:pt x="1175467" y="0"/>
                </a:moveTo>
                <a:lnTo>
                  <a:pt x="2350934" y="678656"/>
                </a:lnTo>
                <a:lnTo>
                  <a:pt x="2350934" y="2035968"/>
                </a:lnTo>
                <a:lnTo>
                  <a:pt x="1175467" y="2714625"/>
                </a:lnTo>
                <a:lnTo>
                  <a:pt x="0" y="2035968"/>
                </a:lnTo>
                <a:lnTo>
                  <a:pt x="0" y="678656"/>
                </a:lnTo>
                <a:close/>
              </a:path>
            </a:pathLst>
          </a:custGeom>
          <a:noFill/>
          <a:ln w="10174">
            <a:solidFill>
              <a:srgbClr val="BFBFBF"/>
            </a:solidFill>
          </a:ln>
        </p:spPr>
      </p:sp>
      <p:sp>
        <p:nvSpPr>
          <p:cNvPr id="15" name="Shape 5"/>
          <p:cNvSpPr/>
          <p:nvPr/>
        </p:nvSpPr>
        <p:spPr>
          <a:xfrm>
            <a:off x="3557024" y="2127539"/>
            <a:ext cx="3348299" cy="3866284"/>
          </a:xfrm>
          <a:custGeom>
            <a:avLst/>
            <a:gdLst/>
            <a:ahLst/>
            <a:cxnLst/>
            <a:rect l="0" t="0" r="0" b="0"/>
            <a:pathLst>
              <a:path w="3134578" h="3619500">
                <a:moveTo>
                  <a:pt x="1567289" y="0"/>
                </a:moveTo>
                <a:lnTo>
                  <a:pt x="3134578" y="904875"/>
                </a:lnTo>
                <a:lnTo>
                  <a:pt x="3134578" y="2714625"/>
                </a:lnTo>
                <a:lnTo>
                  <a:pt x="1567289" y="3619500"/>
                </a:lnTo>
                <a:lnTo>
                  <a:pt x="0" y="2714625"/>
                </a:lnTo>
                <a:lnTo>
                  <a:pt x="0" y="904875"/>
                </a:lnTo>
                <a:close/>
              </a:path>
            </a:pathLst>
          </a:custGeom>
          <a:noFill/>
          <a:ln w="10174">
            <a:solidFill>
              <a:srgbClr val="BFBFBF"/>
            </a:solidFill>
          </a:ln>
        </p:spPr>
      </p:sp>
      <p:sp>
        <p:nvSpPr>
          <p:cNvPr id="16" name="Shape 6"/>
          <p:cNvSpPr/>
          <p:nvPr/>
        </p:nvSpPr>
        <p:spPr>
          <a:xfrm>
            <a:off x="5231173" y="2127539"/>
            <a:ext cx="1" cy="1933142"/>
          </a:xfrm>
          <a:custGeom>
            <a:avLst/>
            <a:gdLst/>
            <a:ahLst/>
            <a:cxnLst/>
            <a:rect l="0" t="0" r="0" b="0"/>
            <a:pathLst>
              <a:path w="1" h="1809750" fill="none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/>
          <a:ln w="10174">
            <a:solidFill>
              <a:srgbClr val="7F7F7F"/>
            </a:solidFill>
          </a:ln>
        </p:spPr>
      </p:sp>
      <p:sp>
        <p:nvSpPr>
          <p:cNvPr id="17" name="Box 7"/>
          <p:cNvSpPr/>
          <p:nvPr/>
        </p:nvSpPr>
        <p:spPr>
          <a:xfrm>
            <a:off x="5002249" y="1842655"/>
            <a:ext cx="457849" cy="203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5" dirty="0">
                <a:solidFill>
                  <a:srgbClr val="000000"/>
                </a:solidFill>
              </a:rPr>
              <a:t>Math</a:t>
            </a:r>
          </a:p>
        </p:txBody>
      </p:sp>
      <p:sp>
        <p:nvSpPr>
          <p:cNvPr id="18" name="Shape 8"/>
          <p:cNvSpPr/>
          <p:nvPr/>
        </p:nvSpPr>
        <p:spPr>
          <a:xfrm>
            <a:off x="5231173" y="3094110"/>
            <a:ext cx="1674150" cy="966571"/>
          </a:xfrm>
          <a:custGeom>
            <a:avLst/>
            <a:gdLst/>
            <a:ahLst/>
            <a:cxnLst/>
            <a:rect l="0" t="0" r="0" b="0"/>
            <a:pathLst>
              <a:path w="1567289" h="904875" fill="none">
                <a:moveTo>
                  <a:pt x="0" y="904875"/>
                </a:moveTo>
                <a:lnTo>
                  <a:pt x="1567289" y="0"/>
                </a:lnTo>
              </a:path>
            </a:pathLst>
          </a:custGeom>
          <a:noFill/>
          <a:ln w="10174">
            <a:solidFill>
              <a:srgbClr val="7F7F7F"/>
            </a:solidFill>
          </a:ln>
        </p:spPr>
      </p:sp>
      <p:sp>
        <p:nvSpPr>
          <p:cNvPr id="19" name="Box 9"/>
          <p:cNvSpPr/>
          <p:nvPr/>
        </p:nvSpPr>
        <p:spPr>
          <a:xfrm>
            <a:off x="6947091" y="2900795"/>
            <a:ext cx="691861" cy="203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5" dirty="0">
                <a:solidFill>
                  <a:srgbClr val="000000"/>
                </a:solidFill>
              </a:rPr>
              <a:t>Science</a:t>
            </a:r>
          </a:p>
        </p:txBody>
      </p:sp>
      <p:sp>
        <p:nvSpPr>
          <p:cNvPr id="20" name="Shape 10"/>
          <p:cNvSpPr/>
          <p:nvPr/>
        </p:nvSpPr>
        <p:spPr>
          <a:xfrm>
            <a:off x="5231173" y="4060681"/>
            <a:ext cx="1674150" cy="966571"/>
          </a:xfrm>
          <a:custGeom>
            <a:avLst/>
            <a:gdLst/>
            <a:ahLst/>
            <a:cxnLst/>
            <a:rect l="0" t="0" r="0" b="0"/>
            <a:pathLst>
              <a:path w="1567289" h="904875" fill="none">
                <a:moveTo>
                  <a:pt x="0" y="0"/>
                </a:moveTo>
                <a:lnTo>
                  <a:pt x="1567289" y="904875"/>
                </a:lnTo>
              </a:path>
            </a:pathLst>
          </a:custGeom>
          <a:noFill/>
          <a:ln w="10174">
            <a:solidFill>
              <a:srgbClr val="7F7F7F"/>
            </a:solidFill>
          </a:ln>
        </p:spPr>
      </p:sp>
      <p:sp>
        <p:nvSpPr>
          <p:cNvPr id="21" name="Box 11"/>
          <p:cNvSpPr/>
          <p:nvPr/>
        </p:nvSpPr>
        <p:spPr>
          <a:xfrm>
            <a:off x="6947091" y="5017077"/>
            <a:ext cx="691861" cy="203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5" dirty="0">
                <a:solidFill>
                  <a:srgbClr val="000000"/>
                </a:solidFill>
              </a:rPr>
              <a:t>English</a:t>
            </a:r>
          </a:p>
        </p:txBody>
      </p:sp>
      <p:sp>
        <p:nvSpPr>
          <p:cNvPr id="22" name="Shape 12"/>
          <p:cNvSpPr/>
          <p:nvPr/>
        </p:nvSpPr>
        <p:spPr>
          <a:xfrm>
            <a:off x="5231173" y="4060681"/>
            <a:ext cx="1" cy="1933142"/>
          </a:xfrm>
          <a:custGeom>
            <a:avLst/>
            <a:gdLst/>
            <a:ahLst/>
            <a:cxnLst/>
            <a:rect l="0" t="0" r="0" b="0"/>
            <a:pathLst>
              <a:path w="1" h="1809750" fill="none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0174">
            <a:solidFill>
              <a:srgbClr val="7F7F7F"/>
            </a:solidFill>
          </a:ln>
        </p:spPr>
      </p:sp>
      <p:sp>
        <p:nvSpPr>
          <p:cNvPr id="23" name="Box 13"/>
          <p:cNvSpPr/>
          <p:nvPr/>
        </p:nvSpPr>
        <p:spPr>
          <a:xfrm>
            <a:off x="4885243" y="6075218"/>
            <a:ext cx="691861" cy="203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5" dirty="0">
                <a:solidFill>
                  <a:srgbClr val="000000"/>
                </a:solidFill>
              </a:rPr>
              <a:t>History</a:t>
            </a:r>
          </a:p>
        </p:txBody>
      </p:sp>
      <p:sp>
        <p:nvSpPr>
          <p:cNvPr id="24" name="Shape 14"/>
          <p:cNvSpPr/>
          <p:nvPr/>
        </p:nvSpPr>
        <p:spPr>
          <a:xfrm>
            <a:off x="3557024" y="4060681"/>
            <a:ext cx="1674150" cy="966571"/>
          </a:xfrm>
          <a:custGeom>
            <a:avLst/>
            <a:gdLst/>
            <a:ahLst/>
            <a:cxnLst/>
            <a:rect l="0" t="0" r="0" b="0"/>
            <a:pathLst>
              <a:path w="1567289" h="904875" fill="none">
                <a:moveTo>
                  <a:pt x="1567289" y="0"/>
                </a:moveTo>
                <a:lnTo>
                  <a:pt x="0" y="904875"/>
                </a:lnTo>
              </a:path>
            </a:pathLst>
          </a:custGeom>
          <a:noFill/>
          <a:ln w="10174">
            <a:solidFill>
              <a:srgbClr val="7F7F7F"/>
            </a:solidFill>
          </a:ln>
        </p:spPr>
      </p:sp>
      <p:sp>
        <p:nvSpPr>
          <p:cNvPr id="25" name="Box 15"/>
          <p:cNvSpPr/>
          <p:nvPr/>
        </p:nvSpPr>
        <p:spPr>
          <a:xfrm>
            <a:off x="2671508" y="5017077"/>
            <a:ext cx="854652" cy="203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5" dirty="0">
                <a:solidFill>
                  <a:srgbClr val="000000"/>
                </a:solidFill>
              </a:rPr>
              <a:t>Geography</a:t>
            </a:r>
          </a:p>
        </p:txBody>
      </p:sp>
      <p:sp>
        <p:nvSpPr>
          <p:cNvPr id="26" name="Shape 16"/>
          <p:cNvSpPr/>
          <p:nvPr/>
        </p:nvSpPr>
        <p:spPr>
          <a:xfrm>
            <a:off x="3557024" y="3094110"/>
            <a:ext cx="1674150" cy="966571"/>
          </a:xfrm>
          <a:custGeom>
            <a:avLst/>
            <a:gdLst/>
            <a:ahLst/>
            <a:cxnLst/>
            <a:rect l="0" t="0" r="0" b="0"/>
            <a:pathLst>
              <a:path w="1567289" h="904875" fill="none">
                <a:moveTo>
                  <a:pt x="1567289" y="904875"/>
                </a:moveTo>
                <a:lnTo>
                  <a:pt x="0" y="0"/>
                </a:lnTo>
              </a:path>
            </a:pathLst>
          </a:custGeom>
          <a:noFill/>
          <a:ln w="10174">
            <a:solidFill>
              <a:srgbClr val="7F7F7F"/>
            </a:solidFill>
          </a:ln>
        </p:spPr>
      </p:sp>
      <p:sp>
        <p:nvSpPr>
          <p:cNvPr id="27" name="Box 17"/>
          <p:cNvSpPr/>
          <p:nvPr/>
        </p:nvSpPr>
        <p:spPr>
          <a:xfrm>
            <a:off x="3117674" y="2900795"/>
            <a:ext cx="376454" cy="203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5" dirty="0">
                <a:solidFill>
                  <a:srgbClr val="000000"/>
                </a:solidFill>
              </a:rPr>
              <a:t>Art</a:t>
            </a:r>
          </a:p>
        </p:txBody>
      </p:sp>
      <p:sp>
        <p:nvSpPr>
          <p:cNvPr id="28" name="Shape 18"/>
          <p:cNvSpPr/>
          <p:nvPr/>
        </p:nvSpPr>
        <p:spPr>
          <a:xfrm>
            <a:off x="3724438" y="2417510"/>
            <a:ext cx="3013471" cy="2996370"/>
          </a:xfrm>
          <a:custGeom>
            <a:avLst/>
            <a:gdLst/>
            <a:ahLst/>
            <a:cxnLst/>
            <a:rect l="0" t="0" r="0" b="0"/>
            <a:pathLst>
              <a:path w="2821122" h="2805112">
                <a:moveTo>
                  <a:pt x="1410561" y="0"/>
                </a:moveTo>
                <a:lnTo>
                  <a:pt x="2821122" y="723900"/>
                </a:lnTo>
                <a:lnTo>
                  <a:pt x="2664393" y="2262187"/>
                </a:lnTo>
                <a:lnTo>
                  <a:pt x="1410561" y="2805112"/>
                </a:lnTo>
                <a:lnTo>
                  <a:pt x="235094" y="2216943"/>
                </a:lnTo>
                <a:lnTo>
                  <a:pt x="0" y="723900"/>
                </a:lnTo>
                <a:close/>
              </a:path>
            </a:pathLst>
          </a:custGeom>
          <a:solidFill>
            <a:srgbClr val="4472C4">
              <a:alpha val="30000"/>
            </a:srgbClr>
          </a:solidFill>
          <a:ln w="30523">
            <a:solidFill>
              <a:srgbClr val="4472C4"/>
            </a:solidFill>
          </a:ln>
        </p:spPr>
      </p:sp>
      <p:sp>
        <p:nvSpPr>
          <p:cNvPr id="29" name="Shape 19"/>
          <p:cNvSpPr/>
          <p:nvPr/>
        </p:nvSpPr>
        <p:spPr>
          <a:xfrm>
            <a:off x="3724438" y="2707481"/>
            <a:ext cx="2929763" cy="2899713"/>
          </a:xfrm>
          <a:custGeom>
            <a:avLst/>
            <a:gdLst/>
            <a:ahLst/>
            <a:cxnLst/>
            <a:rect l="0" t="0" r="0" b="0"/>
            <a:pathLst>
              <a:path w="2742757" h="2714625">
                <a:moveTo>
                  <a:pt x="1410561" y="0"/>
                </a:moveTo>
                <a:lnTo>
                  <a:pt x="2586028" y="588169"/>
                </a:lnTo>
                <a:lnTo>
                  <a:pt x="2742757" y="2035969"/>
                </a:lnTo>
                <a:lnTo>
                  <a:pt x="1410561" y="2714625"/>
                </a:lnTo>
                <a:lnTo>
                  <a:pt x="0" y="2081213"/>
                </a:lnTo>
                <a:lnTo>
                  <a:pt x="78365" y="497681"/>
                </a:lnTo>
                <a:close/>
              </a:path>
            </a:pathLst>
          </a:custGeom>
          <a:solidFill>
            <a:srgbClr val="ED7D31">
              <a:alpha val="30000"/>
            </a:srgbClr>
          </a:solidFill>
          <a:ln w="30523">
            <a:solidFill>
              <a:srgbClr val="ED7D31"/>
            </a:solidFill>
          </a:ln>
        </p:spPr>
      </p:sp>
      <p:sp>
        <p:nvSpPr>
          <p:cNvPr id="30" name="Box 20"/>
          <p:cNvSpPr/>
          <p:nvPr/>
        </p:nvSpPr>
        <p:spPr>
          <a:xfrm>
            <a:off x="8385247" y="2168236"/>
            <a:ext cx="142442" cy="142442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1" name="Box 21"/>
          <p:cNvSpPr/>
          <p:nvPr/>
        </p:nvSpPr>
        <p:spPr>
          <a:xfrm>
            <a:off x="8588736" y="2127539"/>
            <a:ext cx="1322676" cy="223838"/>
          </a:xfrm>
          <a:prstGeom prst="rect">
            <a:avLst/>
          </a:prstGeom>
          <a:noFill/>
          <a:ln>
            <a:noFill/>
          </a:ln>
        </p:spPr>
        <p:txBody>
          <a:bodyPr wrap="none" lIns="20349" tIns="0" rIns="2034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75" dirty="0">
                <a:solidFill>
                  <a:srgbClr val="000000"/>
                </a:solidFill>
              </a:rPr>
              <a:t>Alice</a:t>
            </a:r>
          </a:p>
        </p:txBody>
      </p:sp>
      <p:sp>
        <p:nvSpPr>
          <p:cNvPr id="32" name="Box 22"/>
          <p:cNvSpPr/>
          <p:nvPr/>
        </p:nvSpPr>
        <p:spPr>
          <a:xfrm>
            <a:off x="8385247" y="2432772"/>
            <a:ext cx="142442" cy="142442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33" name="Box 23"/>
          <p:cNvSpPr/>
          <p:nvPr/>
        </p:nvSpPr>
        <p:spPr>
          <a:xfrm>
            <a:off x="8588736" y="2392074"/>
            <a:ext cx="1322676" cy="223838"/>
          </a:xfrm>
          <a:prstGeom prst="rect">
            <a:avLst/>
          </a:prstGeom>
          <a:noFill/>
          <a:ln>
            <a:noFill/>
          </a:ln>
        </p:spPr>
        <p:txBody>
          <a:bodyPr wrap="none" lIns="20349" tIns="0" rIns="2034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75" dirty="0">
                <a:solidFill>
                  <a:srgbClr val="000000"/>
                </a:solidFill>
              </a:rPr>
              <a:t>Bob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requirement-diagram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6096000" y="2034782"/>
            <a:ext cx="1" cy="664394"/>
          </a:xfrm>
          <a:prstGeom prst="line">
            <a:avLst/>
          </a:prstGeom>
          <a:ln w="9491">
            <a:solidFill>
              <a:srgbClr val="2F5496"/>
            </a:solidFill>
            <a:prstDash val="dash"/>
            <a:tailEnd type="triangle" w="sm" len="sm"/>
          </a:ln>
        </p:spPr>
      </p:cxnSp>
      <p:sp>
        <p:nvSpPr>
          <p:cNvPr id="12" name="Text 2"/>
          <p:cNvSpPr txBox="1"/>
          <p:nvPr/>
        </p:nvSpPr>
        <p:spPr>
          <a:xfrm>
            <a:off x="5788481" y="2272066"/>
            <a:ext cx="615039" cy="1898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«satisfies»</a:t>
            </a:r>
          </a:p>
        </p:txBody>
      </p:sp>
      <p:cxnSp>
        <p:nvCxnSpPr>
          <p:cNvPr id="13" name="Connector 3"/>
          <p:cNvCxnSpPr/>
          <p:nvPr/>
        </p:nvCxnSpPr>
        <p:spPr>
          <a:xfrm>
            <a:off x="6162440" y="4103895"/>
            <a:ext cx="1" cy="664394"/>
          </a:xfrm>
          <a:prstGeom prst="line">
            <a:avLst/>
          </a:prstGeom>
          <a:ln w="9491">
            <a:solidFill>
              <a:srgbClr val="2F5496"/>
            </a:solidFill>
            <a:prstDash val="dash"/>
            <a:tailEnd type="triangle" w="sm" len="sm"/>
          </a:ln>
        </p:spPr>
      </p:cxnSp>
      <p:sp>
        <p:nvSpPr>
          <p:cNvPr id="14" name="Text 4"/>
          <p:cNvSpPr txBox="1"/>
          <p:nvPr/>
        </p:nvSpPr>
        <p:spPr>
          <a:xfrm>
            <a:off x="5923258" y="4265248"/>
            <a:ext cx="478364" cy="1898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«traces»</a:t>
            </a:r>
          </a:p>
        </p:txBody>
      </p:sp>
      <p:cxnSp>
        <p:nvCxnSpPr>
          <p:cNvPr id="15" name="Connector 5"/>
          <p:cNvCxnSpPr/>
          <p:nvPr/>
        </p:nvCxnSpPr>
        <p:spPr>
          <a:xfrm flipV="1">
            <a:off x="6029561" y="4103895"/>
            <a:ext cx="1" cy="664394"/>
          </a:xfrm>
          <a:prstGeom prst="line">
            <a:avLst/>
          </a:prstGeom>
          <a:ln w="9491">
            <a:solidFill>
              <a:srgbClr val="2F5496"/>
            </a:solidFill>
            <a:prstDash val="dash"/>
            <a:tailEnd type="triangle" w="sm" len="sm"/>
          </a:ln>
        </p:spPr>
      </p:cxnSp>
      <p:sp>
        <p:nvSpPr>
          <p:cNvPr id="16" name="Text 6"/>
          <p:cNvSpPr txBox="1"/>
          <p:nvPr/>
        </p:nvSpPr>
        <p:spPr>
          <a:xfrm>
            <a:off x="5767600" y="4417109"/>
            <a:ext cx="523922" cy="1898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«derives»</a:t>
            </a:r>
          </a:p>
        </p:txBody>
      </p:sp>
      <p:sp>
        <p:nvSpPr>
          <p:cNvPr id="17" name="test_req"/>
          <p:cNvSpPr/>
          <p:nvPr/>
        </p:nvSpPr>
        <p:spPr>
          <a:xfrm>
            <a:off x="5474317" y="2699176"/>
            <a:ext cx="1243366" cy="1404719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18" name="test_req title"/>
          <p:cNvSpPr/>
          <p:nvPr/>
        </p:nvSpPr>
        <p:spPr>
          <a:xfrm>
            <a:off x="5474317" y="2699176"/>
            <a:ext cx="1243366" cy="303723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19" name="Divider"/>
          <p:cNvSpPr/>
          <p:nvPr/>
        </p:nvSpPr>
        <p:spPr>
          <a:xfrm>
            <a:off x="5474317" y="2998153"/>
            <a:ext cx="1243366" cy="9491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0" name="Text 10"/>
          <p:cNvSpPr txBox="1"/>
          <p:nvPr/>
        </p:nvSpPr>
        <p:spPr>
          <a:xfrm>
            <a:off x="5474317" y="2699176"/>
            <a:ext cx="1243366" cy="3037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0" dirty="0">
                <a:solidFill>
                  <a:srgbClr val="000000"/>
                </a:solidFill>
              </a:rPr>
              <a:t>test_req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5569230" y="3002899"/>
            <a:ext cx="1053540" cy="1100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«requirement»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id: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text: the test text.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risk: high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verifyMethod: test</a:t>
            </a:r>
          </a:p>
        </p:txBody>
      </p:sp>
      <p:sp>
        <p:nvSpPr>
          <p:cNvPr id="22" name="test_req2"/>
          <p:cNvSpPr/>
          <p:nvPr/>
        </p:nvSpPr>
        <p:spPr>
          <a:xfrm>
            <a:off x="5289236" y="4768289"/>
            <a:ext cx="1613528" cy="1404719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23" name="test_req2 title"/>
          <p:cNvSpPr/>
          <p:nvPr/>
        </p:nvSpPr>
        <p:spPr>
          <a:xfrm>
            <a:off x="5289236" y="4768289"/>
            <a:ext cx="1613528" cy="303723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4" name="Divider"/>
          <p:cNvSpPr/>
          <p:nvPr/>
        </p:nvSpPr>
        <p:spPr>
          <a:xfrm>
            <a:off x="5289236" y="5067266"/>
            <a:ext cx="1613528" cy="9491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5289236" y="4768289"/>
            <a:ext cx="1613528" cy="3037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0" dirty="0">
                <a:solidFill>
                  <a:srgbClr val="000000"/>
                </a:solidFill>
              </a:rPr>
              <a:t>test_req2</a:t>
            </a:r>
          </a:p>
        </p:txBody>
      </p:sp>
      <p:sp>
        <p:nvSpPr>
          <p:cNvPr id="26" name="Text 16"/>
          <p:cNvSpPr txBox="1"/>
          <p:nvPr/>
        </p:nvSpPr>
        <p:spPr>
          <a:xfrm>
            <a:off x="5384149" y="5072012"/>
            <a:ext cx="1423702" cy="1100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«functionalRequirement»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id: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text: the second test text.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risk: low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verifyMethod: inspection</a:t>
            </a:r>
          </a:p>
        </p:txBody>
      </p:sp>
      <p:sp>
        <p:nvSpPr>
          <p:cNvPr id="27" name="test_entity"/>
          <p:cNvSpPr/>
          <p:nvPr/>
        </p:nvSpPr>
        <p:spPr>
          <a:xfrm>
            <a:off x="5517978" y="1256492"/>
            <a:ext cx="1156046" cy="778290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28" name="test_entity title"/>
          <p:cNvSpPr/>
          <p:nvPr/>
        </p:nvSpPr>
        <p:spPr>
          <a:xfrm>
            <a:off x="5517978" y="1256492"/>
            <a:ext cx="1156046" cy="303723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9" name="Divider"/>
          <p:cNvSpPr/>
          <p:nvPr/>
        </p:nvSpPr>
        <p:spPr>
          <a:xfrm>
            <a:off x="5517978" y="1555469"/>
            <a:ext cx="1156046" cy="9491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0" name="Text 20"/>
          <p:cNvSpPr txBox="1"/>
          <p:nvPr/>
        </p:nvSpPr>
        <p:spPr>
          <a:xfrm>
            <a:off x="5517978" y="1256492"/>
            <a:ext cx="1156046" cy="3037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0" dirty="0">
                <a:solidFill>
                  <a:srgbClr val="000000"/>
                </a:solidFill>
              </a:rPr>
              <a:t>test_entity</a:t>
            </a:r>
          </a:p>
        </p:txBody>
      </p:sp>
      <p:sp>
        <p:nvSpPr>
          <p:cNvPr id="31" name="Text 21"/>
          <p:cNvSpPr txBox="1"/>
          <p:nvPr/>
        </p:nvSpPr>
        <p:spPr>
          <a:xfrm>
            <a:off x="5612891" y="1560215"/>
            <a:ext cx="966220" cy="4745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«element»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type: simulation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rich-text</a:t>
            </a:r>
          </a:p>
        </p:txBody>
      </p:sp>
      <p:sp>
        <p:nvSpPr>
          <p:cNvPr id="12" name="Ligne1 Ligne2" descr="A"/>
          <p:cNvSpPr/>
          <p:nvPr/>
        </p:nvSpPr>
        <p:spPr>
          <a:xfrm>
            <a:off x="5523990" y="1028700"/>
            <a:ext cx="1144020" cy="998355"/>
          </a:xfrm>
          <a:prstGeom prst="rect">
            <a:avLst/>
          </a:prstGeom>
          <a:solidFill>
            <a:srgbClr val="E1BEE7"/>
          </a:solidFill>
          <a:ln w="1267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</a:rPr>
              <a:t>Ligne1</a:t>
            </a:r>
            <a:br/>
            <a:r>
              <a:rPr lang="en-US" sz="1200" dirty="0">
                <a:solidFill>
                  <a:srgbClr val="000000"/>
                </a:solidFill>
              </a:rPr>
              <a:t>Ligne2</a:t>
            </a:r>
          </a:p>
        </p:txBody>
      </p:sp>
      <p:sp>
        <p:nvSpPr>
          <p:cNvPr id="13" name="gras et italique et normal" descr="B"/>
          <p:cNvSpPr/>
          <p:nvPr/>
        </p:nvSpPr>
        <p:spPr>
          <a:xfrm>
            <a:off x="5225054" y="2787706"/>
            <a:ext cx="1741892" cy="1283599"/>
          </a:xfrm>
          <a:prstGeom prst="rect">
            <a:avLst/>
          </a:prstGeom>
          <a:solidFill>
            <a:srgbClr val="FFCDD2"/>
          </a:solidFill>
          <a:ln w="1267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00" dirty="0">
                <a:solidFill>
                  <a:srgbClr val="000000"/>
                </a:solidFill>
              </a:rPr>
              <a:t>gras</a:t>
            </a:r>
            <a:r>
              <a:rPr lang="en-US" sz="1200" dirty="0">
                <a:solidFill>
                  <a:srgbClr val="000000"/>
                </a:solidFill>
              </a:rPr>
              <a:t> et </a:t>
            </a:r>
            <a:r>
              <a:rPr lang="en-US" i="1" sz="1200" dirty="0">
                <a:solidFill>
                  <a:srgbClr val="000000"/>
                </a:solidFill>
              </a:rPr>
              <a:t>italique</a:t>
            </a:r>
            <a:r>
              <a:rPr lang="en-US" sz="1200" dirty="0">
                <a:solidFill>
                  <a:srgbClr val="000000"/>
                </a:solidFill>
              </a:rPr>
              <a:t> et normal</a:t>
            </a:r>
          </a:p>
        </p:txBody>
      </p:sp>
      <p:sp>
        <p:nvSpPr>
          <p:cNvPr id="14" name="Pas de **markup** ici, texte classique" descr="C"/>
          <p:cNvSpPr/>
          <p:nvPr/>
        </p:nvSpPr>
        <p:spPr>
          <a:xfrm>
            <a:off x="5259283" y="4831957"/>
            <a:ext cx="1673433" cy="1568843"/>
          </a:xfrm>
          <a:prstGeom prst="rect">
            <a:avLst/>
          </a:prstGeom>
          <a:solidFill>
            <a:srgbClr val="FFF9C4"/>
          </a:solidFill>
          <a:ln w="1267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</a:rPr>
              <a:t>Pas de **markup** ici, texte classique</a:t>
            </a:r>
          </a:p>
        </p:txBody>
      </p:sp>
      <p:cxnSp>
        <p:nvCxnSpPr>
          <p:cNvPr id="15" name="A--B"/>
          <p:cNvCxnSpPr>
            <a:stCxn id="12" idx="2"/>
            <a:endCxn id="13" idx="0"/>
          </p:cNvCxnSpPr>
          <p:nvPr/>
        </p:nvCxnSpPr>
        <p:spPr>
          <a:xfrm>
            <a:off x="6096000" y="2027055"/>
            <a:ext cx="0" cy="760651"/>
          </a:xfrm>
          <a:prstGeom prst="line">
            <a:avLst/>
          </a:prstGeom>
          <a:ln w="126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geLabel"/>
          <p:cNvSpPr txBox="1"/>
          <p:nvPr/>
        </p:nvSpPr>
        <p:spPr>
          <a:xfrm>
            <a:off x="5846506" y="2293283"/>
            <a:ext cx="498987" cy="2281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8033" tIns="0" rIns="3803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17" name="B--C"/>
          <p:cNvCxnSpPr>
            <a:stCxn id="13" idx="2"/>
            <a:endCxn id="14" idx="0"/>
          </p:cNvCxnSpPr>
          <p:nvPr/>
        </p:nvCxnSpPr>
        <p:spPr>
          <a:xfrm>
            <a:off x="6096000" y="4071305"/>
            <a:ext cx="0" cy="760652"/>
          </a:xfrm>
          <a:prstGeom prst="line">
            <a:avLst/>
          </a:prstGeom>
          <a:ln w="126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rl-direction</a:t>
            </a:r>
          </a:p>
        </p:txBody>
      </p:sp>
      <p:sp>
        <p:nvSpPr>
          <p:cNvPr id="12" name="Entree" descr="A"/>
          <p:cNvSpPr/>
          <p:nvPr/>
        </p:nvSpPr>
        <p:spPr>
          <a:xfrm>
            <a:off x="10270554" y="3260204"/>
            <a:ext cx="1464246" cy="909093"/>
          </a:xfrm>
          <a:prstGeom prst="rect">
            <a:avLst/>
          </a:prstGeom>
          <a:solidFill>
            <a:srgbClr val="FFCDD2"/>
          </a:solidFill>
          <a:ln w="16162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364" tIns="58182" rIns="116364" bIns="581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27" dirty="0">
                <a:solidFill>
                  <a:srgbClr val="000000"/>
                </a:solidFill>
              </a:rPr>
              <a:t>Entree</a:t>
            </a:r>
          </a:p>
        </p:txBody>
      </p:sp>
      <p:sp>
        <p:nvSpPr>
          <p:cNvPr id="13" name="Traitement" descr="B"/>
          <p:cNvSpPr/>
          <p:nvPr/>
        </p:nvSpPr>
        <p:spPr>
          <a:xfrm>
            <a:off x="7138426" y="3260204"/>
            <a:ext cx="2162429" cy="909093"/>
          </a:xfrm>
          <a:prstGeom prst="rect">
            <a:avLst/>
          </a:prstGeom>
          <a:solidFill>
            <a:srgbClr val="FFF9C4"/>
          </a:solidFill>
          <a:ln w="16162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364" tIns="58182" rIns="116364" bIns="581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27" dirty="0">
                <a:solidFill>
                  <a:srgbClr val="000000"/>
                </a:solidFill>
              </a:rPr>
              <a:t>Traitement</a:t>
            </a:r>
          </a:p>
        </p:txBody>
      </p:sp>
      <p:sp>
        <p:nvSpPr>
          <p:cNvPr id="14" name="Valide?" descr="C"/>
          <p:cNvSpPr/>
          <p:nvPr/>
        </p:nvSpPr>
        <p:spPr>
          <a:xfrm>
            <a:off x="2891145" y="2805657"/>
            <a:ext cx="3277583" cy="1818186"/>
          </a:xfrm>
          <a:prstGeom prst="diamond">
            <a:avLst/>
          </a:prstGeom>
          <a:solidFill>
            <a:srgbClr val="BBDEFB"/>
          </a:solidFill>
          <a:ln w="16162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364" tIns="58182" rIns="116364" bIns="581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27" dirty="0">
                <a:solidFill>
                  <a:srgbClr val="000000"/>
                </a:solidFill>
              </a:rPr>
              <a:t>Valide?</a:t>
            </a:r>
          </a:p>
        </p:txBody>
      </p:sp>
      <p:sp>
        <p:nvSpPr>
          <p:cNvPr id="15" name="Sortie" descr="D"/>
          <p:cNvSpPr/>
          <p:nvPr/>
        </p:nvSpPr>
        <p:spPr>
          <a:xfrm>
            <a:off x="457200" y="2442020"/>
            <a:ext cx="1464246" cy="909093"/>
          </a:xfrm>
          <a:prstGeom prst="rect">
            <a:avLst/>
          </a:prstGeom>
          <a:solidFill>
            <a:srgbClr val="C8E6C9"/>
          </a:solidFill>
          <a:ln w="16162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364" tIns="58182" rIns="116364" bIns="581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27" dirty="0">
                <a:solidFill>
                  <a:srgbClr val="000000"/>
                </a:solidFill>
              </a:rPr>
              <a:t>Sortie</a:t>
            </a:r>
          </a:p>
        </p:txBody>
      </p:sp>
      <p:sp>
        <p:nvSpPr>
          <p:cNvPr id="16" name="Erreur" descr="E"/>
          <p:cNvSpPr/>
          <p:nvPr/>
        </p:nvSpPr>
        <p:spPr>
          <a:xfrm>
            <a:off x="457200" y="4078387"/>
            <a:ext cx="1464246" cy="909093"/>
          </a:xfrm>
          <a:prstGeom prst="rect">
            <a:avLst/>
          </a:prstGeom>
          <a:solidFill>
            <a:srgbClr val="FFE0B2"/>
          </a:solidFill>
          <a:ln w="16162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364" tIns="58182" rIns="116364" bIns="581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27" dirty="0">
                <a:solidFill>
                  <a:srgbClr val="000000"/>
                </a:solidFill>
              </a:rPr>
              <a:t>Erreur</a:t>
            </a:r>
          </a:p>
        </p:txBody>
      </p:sp>
      <p:cxnSp>
        <p:nvCxnSpPr>
          <p:cNvPr id="17" name="A--B"/>
          <p:cNvCxnSpPr>
            <a:stCxn id="12" idx="1"/>
            <a:endCxn id="13" idx="3"/>
          </p:cNvCxnSpPr>
          <p:nvPr/>
        </p:nvCxnSpPr>
        <p:spPr>
          <a:xfrm flipH="1">
            <a:off x="9300855" y="3714750"/>
            <a:ext cx="969699" cy="0"/>
          </a:xfrm>
          <a:prstGeom prst="line">
            <a:avLst/>
          </a:prstGeom>
          <a:ln w="1616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C"/>
          <p:cNvCxnSpPr>
            <a:stCxn id="13" idx="1"/>
            <a:endCxn id="14" idx="3"/>
          </p:cNvCxnSpPr>
          <p:nvPr/>
        </p:nvCxnSpPr>
        <p:spPr>
          <a:xfrm flipH="1">
            <a:off x="6168727" y="3714750"/>
            <a:ext cx="969699" cy="0"/>
          </a:xfrm>
          <a:prstGeom prst="line">
            <a:avLst/>
          </a:prstGeom>
          <a:ln w="1616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--D"/>
          <p:cNvCxnSpPr>
            <a:stCxn id="14" idx="1"/>
            <a:endCxn id="15" idx="3"/>
          </p:cNvCxnSpPr>
          <p:nvPr/>
        </p:nvCxnSpPr>
        <p:spPr>
          <a:xfrm flipH="1" flipV="1">
            <a:off x="1921446" y="2896567"/>
            <a:ext cx="969699" cy="818183"/>
          </a:xfrm>
          <a:prstGeom prst="line">
            <a:avLst/>
          </a:prstGeom>
          <a:ln w="1616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Label"/>
          <p:cNvSpPr txBox="1"/>
          <p:nvPr/>
        </p:nvSpPr>
        <p:spPr>
          <a:xfrm>
            <a:off x="2099870" y="3160203"/>
            <a:ext cx="612850" cy="290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8485" tIns="0" rIns="48485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8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1" name="C--E"/>
          <p:cNvCxnSpPr>
            <a:stCxn id="14" idx="1"/>
            <a:endCxn id="16" idx="3"/>
          </p:cNvCxnSpPr>
          <p:nvPr/>
        </p:nvCxnSpPr>
        <p:spPr>
          <a:xfrm flipH="1">
            <a:off x="1921446" y="3714750"/>
            <a:ext cx="969699" cy="818184"/>
          </a:xfrm>
          <a:prstGeom prst="line">
            <a:avLst/>
          </a:prstGeom>
          <a:ln w="1616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geLabel"/>
          <p:cNvSpPr txBox="1"/>
          <p:nvPr/>
        </p:nvSpPr>
        <p:spPr>
          <a:xfrm>
            <a:off x="2099870" y="3978387"/>
            <a:ext cx="612850" cy="290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8485" tIns="0" rIns="48485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8" dirty="0">
                <a:solidFill>
                  <a:srgbClr val="000000"/>
                </a:solidFill>
              </a:rPr>
              <a:t>non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sankey</a:t>
            </a:r>
          </a:p>
        </p:txBody>
      </p:sp>
      <p:sp>
        <p:nvSpPr>
          <p:cNvPr id="11" name="Shape 1"/>
          <p:cNvSpPr/>
          <p:nvPr/>
        </p:nvSpPr>
        <p:spPr>
          <a:xfrm>
            <a:off x="4469448" y="1327150"/>
            <a:ext cx="3253105" cy="186512"/>
          </a:xfrm>
          <a:custGeom>
            <a:avLst/>
            <a:gdLst/>
            <a:ahLst/>
            <a:cxnLst/>
            <a:rect l="0" t="0" r="0" b="0"/>
            <a:pathLst>
              <a:path w="2076450" h="119050">
                <a:moveTo>
                  <a:pt x="0" y="115207"/>
                </a:moveTo>
                <a:lnTo>
                  <a:pt x="183007" y="113914"/>
                </a:lnTo>
                <a:lnTo>
                  <a:pt x="344723" y="110257"/>
                </a:lnTo>
                <a:lnTo>
                  <a:pt x="488189" y="104575"/>
                </a:lnTo>
                <a:lnTo>
                  <a:pt x="616446" y="97206"/>
                </a:lnTo>
                <a:lnTo>
                  <a:pt x="732537" y="88487"/>
                </a:lnTo>
                <a:lnTo>
                  <a:pt x="839502" y="78755"/>
                </a:lnTo>
                <a:lnTo>
                  <a:pt x="940384" y="68348"/>
                </a:lnTo>
                <a:lnTo>
                  <a:pt x="1038225" y="57604"/>
                </a:lnTo>
                <a:lnTo>
                  <a:pt x="1136066" y="46859"/>
                </a:lnTo>
                <a:lnTo>
                  <a:pt x="1236948" y="36452"/>
                </a:lnTo>
                <a:lnTo>
                  <a:pt x="1343913" y="26720"/>
                </a:lnTo>
                <a:lnTo>
                  <a:pt x="1460004" y="18001"/>
                </a:lnTo>
                <a:lnTo>
                  <a:pt x="1588261" y="10632"/>
                </a:lnTo>
                <a:lnTo>
                  <a:pt x="1731727" y="4950"/>
                </a:lnTo>
                <a:lnTo>
                  <a:pt x="1893443" y="1294"/>
                </a:lnTo>
                <a:lnTo>
                  <a:pt x="2076450" y="0"/>
                </a:lnTo>
                <a:lnTo>
                  <a:pt x="2076450" y="3843"/>
                </a:lnTo>
                <a:lnTo>
                  <a:pt x="1893443" y="5136"/>
                </a:lnTo>
                <a:lnTo>
                  <a:pt x="1731727" y="8793"/>
                </a:lnTo>
                <a:lnTo>
                  <a:pt x="1588261" y="14475"/>
                </a:lnTo>
                <a:lnTo>
                  <a:pt x="1460004" y="21844"/>
                </a:lnTo>
                <a:lnTo>
                  <a:pt x="1343913" y="30563"/>
                </a:lnTo>
                <a:lnTo>
                  <a:pt x="1236948" y="40295"/>
                </a:lnTo>
                <a:lnTo>
                  <a:pt x="1136066" y="50702"/>
                </a:lnTo>
                <a:lnTo>
                  <a:pt x="1038225" y="61446"/>
                </a:lnTo>
                <a:lnTo>
                  <a:pt x="940384" y="72191"/>
                </a:lnTo>
                <a:lnTo>
                  <a:pt x="839502" y="82598"/>
                </a:lnTo>
                <a:lnTo>
                  <a:pt x="732537" y="92330"/>
                </a:lnTo>
                <a:lnTo>
                  <a:pt x="616446" y="101049"/>
                </a:lnTo>
                <a:lnTo>
                  <a:pt x="488189" y="108418"/>
                </a:lnTo>
                <a:lnTo>
                  <a:pt x="344723" y="114100"/>
                </a:lnTo>
                <a:lnTo>
                  <a:pt x="183007" y="117756"/>
                </a:lnTo>
                <a:lnTo>
                  <a:pt x="0" y="119050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4974">
            <a:solidFill>
              <a:srgbClr val="ED7D31"/>
            </a:solidFill>
          </a:ln>
        </p:spPr>
      </p:sp>
      <p:sp>
        <p:nvSpPr>
          <p:cNvPr id="12" name="Shape 2"/>
          <p:cNvSpPr/>
          <p:nvPr/>
        </p:nvSpPr>
        <p:spPr>
          <a:xfrm>
            <a:off x="1007428" y="1507641"/>
            <a:ext cx="3253105" cy="2553635"/>
          </a:xfrm>
          <a:custGeom>
            <a:avLst/>
            <a:gdLst/>
            <a:ahLst/>
            <a:cxnLst/>
            <a:rect l="0" t="0" r="0" b="0"/>
            <a:pathLst>
              <a:path w="2076450" h="1629980">
                <a:moveTo>
                  <a:pt x="0" y="827154"/>
                </a:moveTo>
                <a:lnTo>
                  <a:pt x="183007" y="817864"/>
                </a:lnTo>
                <a:lnTo>
                  <a:pt x="344723" y="791612"/>
                </a:lnTo>
                <a:lnTo>
                  <a:pt x="488189" y="750820"/>
                </a:lnTo>
                <a:lnTo>
                  <a:pt x="616446" y="697911"/>
                </a:lnTo>
                <a:lnTo>
                  <a:pt x="732537" y="635309"/>
                </a:lnTo>
                <a:lnTo>
                  <a:pt x="839502" y="565437"/>
                </a:lnTo>
                <a:lnTo>
                  <a:pt x="940384" y="490719"/>
                </a:lnTo>
                <a:lnTo>
                  <a:pt x="1038225" y="413577"/>
                </a:lnTo>
                <a:lnTo>
                  <a:pt x="1136066" y="336435"/>
                </a:lnTo>
                <a:lnTo>
                  <a:pt x="1236948" y="261717"/>
                </a:lnTo>
                <a:lnTo>
                  <a:pt x="1343913" y="191845"/>
                </a:lnTo>
                <a:lnTo>
                  <a:pt x="1460004" y="129243"/>
                </a:lnTo>
                <a:lnTo>
                  <a:pt x="1588261" y="76334"/>
                </a:lnTo>
                <a:lnTo>
                  <a:pt x="1731727" y="35542"/>
                </a:lnTo>
                <a:lnTo>
                  <a:pt x="1893443" y="9290"/>
                </a:lnTo>
                <a:lnTo>
                  <a:pt x="2076450" y="0"/>
                </a:lnTo>
                <a:lnTo>
                  <a:pt x="2076450" y="802827"/>
                </a:lnTo>
                <a:lnTo>
                  <a:pt x="1893443" y="812116"/>
                </a:lnTo>
                <a:lnTo>
                  <a:pt x="1731727" y="838368"/>
                </a:lnTo>
                <a:lnTo>
                  <a:pt x="1588261" y="879161"/>
                </a:lnTo>
                <a:lnTo>
                  <a:pt x="1460004" y="932069"/>
                </a:lnTo>
                <a:lnTo>
                  <a:pt x="1343913" y="994671"/>
                </a:lnTo>
                <a:lnTo>
                  <a:pt x="1236948" y="1064543"/>
                </a:lnTo>
                <a:lnTo>
                  <a:pt x="1136066" y="1139261"/>
                </a:lnTo>
                <a:lnTo>
                  <a:pt x="1038225" y="1216403"/>
                </a:lnTo>
                <a:lnTo>
                  <a:pt x="940384" y="1293545"/>
                </a:lnTo>
                <a:lnTo>
                  <a:pt x="839502" y="1368263"/>
                </a:lnTo>
                <a:lnTo>
                  <a:pt x="732537" y="1438135"/>
                </a:lnTo>
                <a:lnTo>
                  <a:pt x="616446" y="1500737"/>
                </a:lnTo>
                <a:lnTo>
                  <a:pt x="488189" y="1553646"/>
                </a:lnTo>
                <a:lnTo>
                  <a:pt x="344723" y="1594438"/>
                </a:lnTo>
                <a:lnTo>
                  <a:pt x="183007" y="1620690"/>
                </a:lnTo>
                <a:lnTo>
                  <a:pt x="0" y="1629980"/>
                </a:lnTo>
                <a:close/>
              </a:path>
            </a:pathLst>
          </a:custGeom>
          <a:solidFill>
            <a:srgbClr val="4472C4">
              <a:alpha val="45000"/>
            </a:srgbClr>
          </a:solidFill>
          <a:ln w="4974">
            <a:solidFill>
              <a:srgbClr val="4472C4"/>
            </a:solidFill>
          </a:ln>
        </p:spPr>
      </p:sp>
      <p:sp>
        <p:nvSpPr>
          <p:cNvPr id="13" name="Shape 3"/>
          <p:cNvSpPr/>
          <p:nvPr/>
        </p:nvSpPr>
        <p:spPr>
          <a:xfrm>
            <a:off x="4469448" y="1513662"/>
            <a:ext cx="3253105" cy="552206"/>
          </a:xfrm>
          <a:custGeom>
            <a:avLst/>
            <a:gdLst/>
            <a:ahLst/>
            <a:cxnLst/>
            <a:rect l="0" t="0" r="0" b="0"/>
            <a:pathLst>
              <a:path w="2076450" h="352472">
                <a:moveTo>
                  <a:pt x="0" y="0"/>
                </a:moveTo>
                <a:lnTo>
                  <a:pt x="183007" y="2017"/>
                </a:lnTo>
                <a:lnTo>
                  <a:pt x="344723" y="7716"/>
                </a:lnTo>
                <a:lnTo>
                  <a:pt x="488189" y="16572"/>
                </a:lnTo>
                <a:lnTo>
                  <a:pt x="616446" y="28058"/>
                </a:lnTo>
                <a:lnTo>
                  <a:pt x="732537" y="41649"/>
                </a:lnTo>
                <a:lnTo>
                  <a:pt x="839502" y="56818"/>
                </a:lnTo>
                <a:lnTo>
                  <a:pt x="940384" y="73039"/>
                </a:lnTo>
                <a:lnTo>
                  <a:pt x="1038225" y="89787"/>
                </a:lnTo>
                <a:lnTo>
                  <a:pt x="1136066" y="106534"/>
                </a:lnTo>
                <a:lnTo>
                  <a:pt x="1236948" y="122755"/>
                </a:lnTo>
                <a:lnTo>
                  <a:pt x="1343913" y="137924"/>
                </a:lnTo>
                <a:lnTo>
                  <a:pt x="1460004" y="151515"/>
                </a:lnTo>
                <a:lnTo>
                  <a:pt x="1588261" y="163001"/>
                </a:lnTo>
                <a:lnTo>
                  <a:pt x="1731727" y="171857"/>
                </a:lnTo>
                <a:lnTo>
                  <a:pt x="1893443" y="177556"/>
                </a:lnTo>
                <a:lnTo>
                  <a:pt x="2076450" y="179573"/>
                </a:lnTo>
                <a:lnTo>
                  <a:pt x="2076450" y="352472"/>
                </a:lnTo>
                <a:lnTo>
                  <a:pt x="1893443" y="350455"/>
                </a:lnTo>
                <a:lnTo>
                  <a:pt x="1731727" y="344756"/>
                </a:lnTo>
                <a:lnTo>
                  <a:pt x="1588261" y="335900"/>
                </a:lnTo>
                <a:lnTo>
                  <a:pt x="1460004" y="324414"/>
                </a:lnTo>
                <a:lnTo>
                  <a:pt x="1343913" y="310823"/>
                </a:lnTo>
                <a:lnTo>
                  <a:pt x="1236948" y="295654"/>
                </a:lnTo>
                <a:lnTo>
                  <a:pt x="1136066" y="279433"/>
                </a:lnTo>
                <a:lnTo>
                  <a:pt x="1038225" y="262686"/>
                </a:lnTo>
                <a:lnTo>
                  <a:pt x="940384" y="245938"/>
                </a:lnTo>
                <a:lnTo>
                  <a:pt x="839502" y="229717"/>
                </a:lnTo>
                <a:lnTo>
                  <a:pt x="732537" y="214548"/>
                </a:lnTo>
                <a:lnTo>
                  <a:pt x="616446" y="200957"/>
                </a:lnTo>
                <a:lnTo>
                  <a:pt x="488189" y="189471"/>
                </a:lnTo>
                <a:lnTo>
                  <a:pt x="344723" y="180615"/>
                </a:lnTo>
                <a:lnTo>
                  <a:pt x="183007" y="174916"/>
                </a:lnTo>
                <a:lnTo>
                  <a:pt x="0" y="172899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4974">
            <a:solidFill>
              <a:srgbClr val="ED7D31"/>
            </a:solidFill>
          </a:ln>
        </p:spPr>
      </p:sp>
      <p:sp>
        <p:nvSpPr>
          <p:cNvPr id="14" name="Shape 4"/>
          <p:cNvSpPr/>
          <p:nvPr/>
        </p:nvSpPr>
        <p:spPr>
          <a:xfrm>
            <a:off x="4469448" y="2065868"/>
            <a:ext cx="3253105" cy="3855991"/>
          </a:xfrm>
          <a:custGeom>
            <a:avLst/>
            <a:gdLst/>
            <a:ahLst/>
            <a:cxnLst/>
            <a:rect l="0" t="0" r="0" b="0"/>
            <a:pathLst>
              <a:path w="2076450" h="2461271">
                <a:moveTo>
                  <a:pt x="0" y="1974853"/>
                </a:moveTo>
                <a:lnTo>
                  <a:pt x="183007" y="1952675"/>
                </a:lnTo>
                <a:lnTo>
                  <a:pt x="344723" y="1889996"/>
                </a:lnTo>
                <a:lnTo>
                  <a:pt x="488189" y="1792603"/>
                </a:lnTo>
                <a:lnTo>
                  <a:pt x="616446" y="1666282"/>
                </a:lnTo>
                <a:lnTo>
                  <a:pt x="732537" y="1516818"/>
                </a:lnTo>
                <a:lnTo>
                  <a:pt x="839502" y="1349997"/>
                </a:lnTo>
                <a:lnTo>
                  <a:pt x="940384" y="1171605"/>
                </a:lnTo>
                <a:lnTo>
                  <a:pt x="1038225" y="987427"/>
                </a:lnTo>
                <a:lnTo>
                  <a:pt x="1136066" y="803248"/>
                </a:lnTo>
                <a:lnTo>
                  <a:pt x="1236948" y="624856"/>
                </a:lnTo>
                <a:lnTo>
                  <a:pt x="1343913" y="458035"/>
                </a:lnTo>
                <a:lnTo>
                  <a:pt x="1460004" y="308571"/>
                </a:lnTo>
                <a:lnTo>
                  <a:pt x="1588261" y="182250"/>
                </a:lnTo>
                <a:lnTo>
                  <a:pt x="1731727" y="84857"/>
                </a:lnTo>
                <a:lnTo>
                  <a:pt x="1893443" y="22179"/>
                </a:lnTo>
                <a:lnTo>
                  <a:pt x="2076450" y="0"/>
                </a:lnTo>
                <a:lnTo>
                  <a:pt x="2076450" y="486418"/>
                </a:lnTo>
                <a:lnTo>
                  <a:pt x="1893443" y="508596"/>
                </a:lnTo>
                <a:lnTo>
                  <a:pt x="1731727" y="571275"/>
                </a:lnTo>
                <a:lnTo>
                  <a:pt x="1588261" y="668667"/>
                </a:lnTo>
                <a:lnTo>
                  <a:pt x="1460004" y="794988"/>
                </a:lnTo>
                <a:lnTo>
                  <a:pt x="1343913" y="944452"/>
                </a:lnTo>
                <a:lnTo>
                  <a:pt x="1236948" y="1111273"/>
                </a:lnTo>
                <a:lnTo>
                  <a:pt x="1136066" y="1289666"/>
                </a:lnTo>
                <a:lnTo>
                  <a:pt x="1038225" y="1473844"/>
                </a:lnTo>
                <a:lnTo>
                  <a:pt x="940384" y="1658022"/>
                </a:lnTo>
                <a:lnTo>
                  <a:pt x="839502" y="1836415"/>
                </a:lnTo>
                <a:lnTo>
                  <a:pt x="732537" y="2003236"/>
                </a:lnTo>
                <a:lnTo>
                  <a:pt x="616446" y="2152700"/>
                </a:lnTo>
                <a:lnTo>
                  <a:pt x="488189" y="2279021"/>
                </a:lnTo>
                <a:lnTo>
                  <a:pt x="344723" y="2376414"/>
                </a:lnTo>
                <a:lnTo>
                  <a:pt x="183007" y="2439092"/>
                </a:lnTo>
                <a:lnTo>
                  <a:pt x="0" y="2461271"/>
                </a:lnTo>
                <a:close/>
              </a:path>
            </a:pathLst>
          </a:custGeom>
          <a:solidFill>
            <a:srgbClr val="2E8B8B">
              <a:alpha val="45000"/>
            </a:srgbClr>
          </a:solidFill>
          <a:ln w="4974">
            <a:solidFill>
              <a:srgbClr val="2E8B8B"/>
            </a:solidFill>
          </a:ln>
        </p:spPr>
      </p:sp>
      <p:sp>
        <p:nvSpPr>
          <p:cNvPr id="15" name="Shape 5"/>
          <p:cNvSpPr/>
          <p:nvPr/>
        </p:nvSpPr>
        <p:spPr>
          <a:xfrm>
            <a:off x="4469448" y="1784537"/>
            <a:ext cx="6715125" cy="1143187"/>
          </a:xfrm>
          <a:custGeom>
            <a:avLst/>
            <a:gdLst/>
            <a:ahLst/>
            <a:cxnLst/>
            <a:rect l="0" t="0" r="0" b="0"/>
            <a:pathLst>
              <a:path w="4286250" h="729694">
                <a:moveTo>
                  <a:pt x="0" y="0"/>
                </a:moveTo>
                <a:lnTo>
                  <a:pt x="377768" y="7472"/>
                </a:lnTo>
                <a:lnTo>
                  <a:pt x="711584" y="28588"/>
                </a:lnTo>
                <a:lnTo>
                  <a:pt x="1007729" y="61400"/>
                </a:lnTo>
                <a:lnTo>
                  <a:pt x="1272480" y="103958"/>
                </a:lnTo>
                <a:lnTo>
                  <a:pt x="1512117" y="154312"/>
                </a:lnTo>
                <a:lnTo>
                  <a:pt x="1732917" y="210514"/>
                </a:lnTo>
                <a:lnTo>
                  <a:pt x="1941161" y="270615"/>
                </a:lnTo>
                <a:lnTo>
                  <a:pt x="2143125" y="332664"/>
                </a:lnTo>
                <a:lnTo>
                  <a:pt x="2345089" y="394714"/>
                </a:lnTo>
                <a:lnTo>
                  <a:pt x="2553333" y="454814"/>
                </a:lnTo>
                <a:lnTo>
                  <a:pt x="2774133" y="511016"/>
                </a:lnTo>
                <a:lnTo>
                  <a:pt x="3013770" y="561371"/>
                </a:lnTo>
                <a:lnTo>
                  <a:pt x="3278521" y="603928"/>
                </a:lnTo>
                <a:lnTo>
                  <a:pt x="3574666" y="636740"/>
                </a:lnTo>
                <a:lnTo>
                  <a:pt x="3908482" y="657856"/>
                </a:lnTo>
                <a:lnTo>
                  <a:pt x="4286250" y="665328"/>
                </a:lnTo>
                <a:lnTo>
                  <a:pt x="4286250" y="729694"/>
                </a:lnTo>
                <a:lnTo>
                  <a:pt x="3908482" y="722222"/>
                </a:lnTo>
                <a:lnTo>
                  <a:pt x="3574666" y="701106"/>
                </a:lnTo>
                <a:lnTo>
                  <a:pt x="3278521" y="668294"/>
                </a:lnTo>
                <a:lnTo>
                  <a:pt x="3013770" y="625736"/>
                </a:lnTo>
                <a:lnTo>
                  <a:pt x="2774133" y="575382"/>
                </a:lnTo>
                <a:lnTo>
                  <a:pt x="2553333" y="519180"/>
                </a:lnTo>
                <a:lnTo>
                  <a:pt x="2345089" y="459079"/>
                </a:lnTo>
                <a:lnTo>
                  <a:pt x="2143125" y="397030"/>
                </a:lnTo>
                <a:lnTo>
                  <a:pt x="1941161" y="334980"/>
                </a:lnTo>
                <a:lnTo>
                  <a:pt x="1732917" y="274880"/>
                </a:lnTo>
                <a:lnTo>
                  <a:pt x="1512117" y="218678"/>
                </a:lnTo>
                <a:lnTo>
                  <a:pt x="1272480" y="168323"/>
                </a:lnTo>
                <a:lnTo>
                  <a:pt x="1007729" y="125766"/>
                </a:lnTo>
                <a:lnTo>
                  <a:pt x="711584" y="92954"/>
                </a:lnTo>
                <a:lnTo>
                  <a:pt x="377768" y="71838"/>
                </a:lnTo>
                <a:lnTo>
                  <a:pt x="0" y="64366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4974">
            <a:solidFill>
              <a:srgbClr val="ED7D31"/>
            </a:solidFill>
          </a:ln>
        </p:spPr>
      </p:sp>
      <p:sp>
        <p:nvSpPr>
          <p:cNvPr id="16" name="Shape 6"/>
          <p:cNvSpPr/>
          <p:nvPr/>
        </p:nvSpPr>
        <p:spPr>
          <a:xfrm>
            <a:off x="4469448" y="1885377"/>
            <a:ext cx="3253105" cy="4216973"/>
          </a:xfrm>
          <a:custGeom>
            <a:avLst/>
            <a:gdLst/>
            <a:ahLst/>
            <a:cxnLst/>
            <a:rect l="0" t="0" r="0" b="0"/>
            <a:pathLst>
              <a:path w="2076450" h="2691685">
                <a:moveTo>
                  <a:pt x="0" y="0"/>
                </a:moveTo>
                <a:lnTo>
                  <a:pt x="183007" y="9965"/>
                </a:lnTo>
                <a:lnTo>
                  <a:pt x="344723" y="38129"/>
                </a:lnTo>
                <a:lnTo>
                  <a:pt x="488189" y="81891"/>
                </a:lnTo>
                <a:lnTo>
                  <a:pt x="616446" y="138652"/>
                </a:lnTo>
                <a:lnTo>
                  <a:pt x="732537" y="205812"/>
                </a:lnTo>
                <a:lnTo>
                  <a:pt x="839502" y="280771"/>
                </a:lnTo>
                <a:lnTo>
                  <a:pt x="940384" y="360929"/>
                </a:lnTo>
                <a:lnTo>
                  <a:pt x="1038225" y="443687"/>
                </a:lnTo>
                <a:lnTo>
                  <a:pt x="1136066" y="526445"/>
                </a:lnTo>
                <a:lnTo>
                  <a:pt x="1236948" y="606604"/>
                </a:lnTo>
                <a:lnTo>
                  <a:pt x="1343913" y="681563"/>
                </a:lnTo>
                <a:lnTo>
                  <a:pt x="1460004" y="748722"/>
                </a:lnTo>
                <a:lnTo>
                  <a:pt x="1588261" y="805483"/>
                </a:lnTo>
                <a:lnTo>
                  <a:pt x="1731727" y="849245"/>
                </a:lnTo>
                <a:lnTo>
                  <a:pt x="1893443" y="877409"/>
                </a:lnTo>
                <a:lnTo>
                  <a:pt x="2076450" y="887375"/>
                </a:lnTo>
                <a:lnTo>
                  <a:pt x="2076450" y="2691685"/>
                </a:lnTo>
                <a:lnTo>
                  <a:pt x="1893443" y="2681719"/>
                </a:lnTo>
                <a:lnTo>
                  <a:pt x="1731727" y="2653556"/>
                </a:lnTo>
                <a:lnTo>
                  <a:pt x="1588261" y="2609793"/>
                </a:lnTo>
                <a:lnTo>
                  <a:pt x="1460004" y="2553033"/>
                </a:lnTo>
                <a:lnTo>
                  <a:pt x="1343913" y="2485873"/>
                </a:lnTo>
                <a:lnTo>
                  <a:pt x="1236948" y="2410914"/>
                </a:lnTo>
                <a:lnTo>
                  <a:pt x="1136066" y="2330756"/>
                </a:lnTo>
                <a:lnTo>
                  <a:pt x="1038225" y="2247998"/>
                </a:lnTo>
                <a:lnTo>
                  <a:pt x="940384" y="2165239"/>
                </a:lnTo>
                <a:lnTo>
                  <a:pt x="839502" y="2085081"/>
                </a:lnTo>
                <a:lnTo>
                  <a:pt x="732537" y="2010122"/>
                </a:lnTo>
                <a:lnTo>
                  <a:pt x="616446" y="1942962"/>
                </a:lnTo>
                <a:lnTo>
                  <a:pt x="488189" y="1886202"/>
                </a:lnTo>
                <a:lnTo>
                  <a:pt x="344723" y="1842439"/>
                </a:lnTo>
                <a:lnTo>
                  <a:pt x="183007" y="1814276"/>
                </a:lnTo>
                <a:lnTo>
                  <a:pt x="0" y="1804310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4974">
            <a:solidFill>
              <a:srgbClr val="ED7D31"/>
            </a:solidFill>
          </a:ln>
        </p:spPr>
      </p:sp>
      <p:sp>
        <p:nvSpPr>
          <p:cNvPr id="17" name="Shape 7"/>
          <p:cNvSpPr/>
          <p:nvPr/>
        </p:nvSpPr>
        <p:spPr>
          <a:xfrm>
            <a:off x="7931468" y="3275598"/>
            <a:ext cx="3253105" cy="1327018"/>
          </a:xfrm>
          <a:custGeom>
            <a:avLst/>
            <a:gdLst/>
            <a:ahLst/>
            <a:cxnLst/>
            <a:rect l="0" t="0" r="0" b="0"/>
            <a:pathLst>
              <a:path w="2076450" h="847033">
                <a:moveTo>
                  <a:pt x="0" y="0"/>
                </a:moveTo>
                <a:lnTo>
                  <a:pt x="183007" y="3766"/>
                </a:lnTo>
                <a:lnTo>
                  <a:pt x="344723" y="14408"/>
                </a:lnTo>
                <a:lnTo>
                  <a:pt x="488189" y="30945"/>
                </a:lnTo>
                <a:lnTo>
                  <a:pt x="616446" y="52394"/>
                </a:lnTo>
                <a:lnTo>
                  <a:pt x="732537" y="77773"/>
                </a:lnTo>
                <a:lnTo>
                  <a:pt x="839502" y="106099"/>
                </a:lnTo>
                <a:lnTo>
                  <a:pt x="940384" y="136390"/>
                </a:lnTo>
                <a:lnTo>
                  <a:pt x="1038225" y="167663"/>
                </a:lnTo>
                <a:lnTo>
                  <a:pt x="1136066" y="198936"/>
                </a:lnTo>
                <a:lnTo>
                  <a:pt x="1236948" y="229227"/>
                </a:lnTo>
                <a:lnTo>
                  <a:pt x="1343913" y="257552"/>
                </a:lnTo>
                <a:lnTo>
                  <a:pt x="1460004" y="282931"/>
                </a:lnTo>
                <a:lnTo>
                  <a:pt x="1588261" y="304380"/>
                </a:lnTo>
                <a:lnTo>
                  <a:pt x="1731727" y="320917"/>
                </a:lnTo>
                <a:lnTo>
                  <a:pt x="1893443" y="331560"/>
                </a:lnTo>
                <a:lnTo>
                  <a:pt x="2076450" y="335326"/>
                </a:lnTo>
                <a:lnTo>
                  <a:pt x="2076450" y="847033"/>
                </a:lnTo>
                <a:lnTo>
                  <a:pt x="1893443" y="843267"/>
                </a:lnTo>
                <a:lnTo>
                  <a:pt x="1731727" y="832624"/>
                </a:lnTo>
                <a:lnTo>
                  <a:pt x="1588261" y="816087"/>
                </a:lnTo>
                <a:lnTo>
                  <a:pt x="1460004" y="794638"/>
                </a:lnTo>
                <a:lnTo>
                  <a:pt x="1343913" y="769259"/>
                </a:lnTo>
                <a:lnTo>
                  <a:pt x="1236948" y="740933"/>
                </a:lnTo>
                <a:lnTo>
                  <a:pt x="1136066" y="710643"/>
                </a:lnTo>
                <a:lnTo>
                  <a:pt x="1038225" y="679370"/>
                </a:lnTo>
                <a:lnTo>
                  <a:pt x="940384" y="648096"/>
                </a:lnTo>
                <a:lnTo>
                  <a:pt x="839502" y="617806"/>
                </a:lnTo>
                <a:lnTo>
                  <a:pt x="732537" y="589480"/>
                </a:lnTo>
                <a:lnTo>
                  <a:pt x="616446" y="564101"/>
                </a:lnTo>
                <a:lnTo>
                  <a:pt x="488189" y="542652"/>
                </a:lnTo>
                <a:lnTo>
                  <a:pt x="344723" y="526115"/>
                </a:lnTo>
                <a:lnTo>
                  <a:pt x="183007" y="515472"/>
                </a:lnTo>
                <a:lnTo>
                  <a:pt x="0" y="511706"/>
                </a:lnTo>
                <a:close/>
              </a:path>
            </a:pathLst>
          </a:custGeom>
          <a:solidFill>
            <a:srgbClr val="7030A0">
              <a:alpha val="45000"/>
            </a:srgbClr>
          </a:solidFill>
          <a:ln w="4974">
            <a:solidFill>
              <a:srgbClr val="7030A0"/>
            </a:solidFill>
          </a:ln>
        </p:spPr>
      </p:sp>
      <p:sp>
        <p:nvSpPr>
          <p:cNvPr id="18" name="Shape 8"/>
          <p:cNvSpPr/>
          <p:nvPr/>
        </p:nvSpPr>
        <p:spPr>
          <a:xfrm>
            <a:off x="7931468" y="1794993"/>
            <a:ext cx="3253105" cy="2005949"/>
          </a:xfrm>
          <a:custGeom>
            <a:avLst/>
            <a:gdLst/>
            <a:ahLst/>
            <a:cxnLst/>
            <a:rect l="0" t="0" r="0" b="0"/>
            <a:pathLst>
              <a:path w="2076450" h="1280393">
                <a:moveTo>
                  <a:pt x="0" y="0"/>
                </a:moveTo>
                <a:lnTo>
                  <a:pt x="183007" y="11474"/>
                </a:lnTo>
                <a:lnTo>
                  <a:pt x="344723" y="43899"/>
                </a:lnTo>
                <a:lnTo>
                  <a:pt x="488189" y="94283"/>
                </a:lnTo>
                <a:lnTo>
                  <a:pt x="616446" y="159632"/>
                </a:lnTo>
                <a:lnTo>
                  <a:pt x="732537" y="236953"/>
                </a:lnTo>
                <a:lnTo>
                  <a:pt x="839502" y="323254"/>
                </a:lnTo>
                <a:lnTo>
                  <a:pt x="940384" y="415541"/>
                </a:lnTo>
                <a:lnTo>
                  <a:pt x="1038225" y="510822"/>
                </a:lnTo>
                <a:lnTo>
                  <a:pt x="1136066" y="606102"/>
                </a:lnTo>
                <a:lnTo>
                  <a:pt x="1236948" y="698389"/>
                </a:lnTo>
                <a:lnTo>
                  <a:pt x="1343913" y="784690"/>
                </a:lnTo>
                <a:lnTo>
                  <a:pt x="1460004" y="862011"/>
                </a:lnTo>
                <a:lnTo>
                  <a:pt x="1588261" y="927361"/>
                </a:lnTo>
                <a:lnTo>
                  <a:pt x="1731727" y="977744"/>
                </a:lnTo>
                <a:lnTo>
                  <a:pt x="1893443" y="1010170"/>
                </a:lnTo>
                <a:lnTo>
                  <a:pt x="2076450" y="1021643"/>
                </a:lnTo>
                <a:lnTo>
                  <a:pt x="2076450" y="1280393"/>
                </a:lnTo>
                <a:lnTo>
                  <a:pt x="1893443" y="1268919"/>
                </a:lnTo>
                <a:lnTo>
                  <a:pt x="1731727" y="1236494"/>
                </a:lnTo>
                <a:lnTo>
                  <a:pt x="1588261" y="1186110"/>
                </a:lnTo>
                <a:lnTo>
                  <a:pt x="1460004" y="1120761"/>
                </a:lnTo>
                <a:lnTo>
                  <a:pt x="1343913" y="1043440"/>
                </a:lnTo>
                <a:lnTo>
                  <a:pt x="1236948" y="957139"/>
                </a:lnTo>
                <a:lnTo>
                  <a:pt x="1136066" y="864852"/>
                </a:lnTo>
                <a:lnTo>
                  <a:pt x="1038225" y="769571"/>
                </a:lnTo>
                <a:lnTo>
                  <a:pt x="940384" y="674291"/>
                </a:lnTo>
                <a:lnTo>
                  <a:pt x="839502" y="582004"/>
                </a:lnTo>
                <a:lnTo>
                  <a:pt x="732537" y="495703"/>
                </a:lnTo>
                <a:lnTo>
                  <a:pt x="616446" y="418382"/>
                </a:lnTo>
                <a:lnTo>
                  <a:pt x="488189" y="353032"/>
                </a:lnTo>
                <a:lnTo>
                  <a:pt x="344723" y="302649"/>
                </a:lnTo>
                <a:lnTo>
                  <a:pt x="183007" y="270224"/>
                </a:lnTo>
                <a:lnTo>
                  <a:pt x="0" y="258750"/>
                </a:lnTo>
                <a:close/>
              </a:path>
            </a:pathLst>
          </a:custGeom>
          <a:solidFill>
            <a:srgbClr val="FFC000">
              <a:alpha val="45000"/>
            </a:srgbClr>
          </a:solidFill>
          <a:ln w="4974">
            <a:solidFill>
              <a:srgbClr val="FFC000"/>
            </a:solidFill>
          </a:ln>
        </p:spPr>
      </p:sp>
      <p:sp>
        <p:nvSpPr>
          <p:cNvPr id="19" name="Shape 9"/>
          <p:cNvSpPr/>
          <p:nvPr/>
        </p:nvSpPr>
        <p:spPr>
          <a:xfrm>
            <a:off x="7931468" y="1327150"/>
            <a:ext cx="3253105" cy="2068417"/>
          </a:xfrm>
          <a:custGeom>
            <a:avLst/>
            <a:gdLst/>
            <a:ahLst/>
            <a:cxnLst/>
            <a:rect l="0" t="0" r="0" b="0"/>
            <a:pathLst>
              <a:path w="2076450" h="1320266">
                <a:moveTo>
                  <a:pt x="0" y="0"/>
                </a:moveTo>
                <a:lnTo>
                  <a:pt x="183007" y="14683"/>
                </a:lnTo>
                <a:lnTo>
                  <a:pt x="344723" y="56177"/>
                </a:lnTo>
                <a:lnTo>
                  <a:pt x="488189" y="120653"/>
                </a:lnTo>
                <a:lnTo>
                  <a:pt x="616446" y="204280"/>
                </a:lnTo>
                <a:lnTo>
                  <a:pt x="732537" y="303228"/>
                </a:lnTo>
                <a:lnTo>
                  <a:pt x="839502" y="413667"/>
                </a:lnTo>
                <a:lnTo>
                  <a:pt x="940384" y="531767"/>
                </a:lnTo>
                <a:lnTo>
                  <a:pt x="1038225" y="653696"/>
                </a:lnTo>
                <a:lnTo>
                  <a:pt x="1136066" y="775626"/>
                </a:lnTo>
                <a:lnTo>
                  <a:pt x="1236948" y="893726"/>
                </a:lnTo>
                <a:lnTo>
                  <a:pt x="1343913" y="1004165"/>
                </a:lnTo>
                <a:lnTo>
                  <a:pt x="1460004" y="1103113"/>
                </a:lnTo>
                <a:lnTo>
                  <a:pt x="1588261" y="1186740"/>
                </a:lnTo>
                <a:lnTo>
                  <a:pt x="1731727" y="1251216"/>
                </a:lnTo>
                <a:lnTo>
                  <a:pt x="1893443" y="1292710"/>
                </a:lnTo>
                <a:lnTo>
                  <a:pt x="2076450" y="1307393"/>
                </a:lnTo>
                <a:lnTo>
                  <a:pt x="2076450" y="1320266"/>
                </a:lnTo>
                <a:lnTo>
                  <a:pt x="1893443" y="1305583"/>
                </a:lnTo>
                <a:lnTo>
                  <a:pt x="1731727" y="1264089"/>
                </a:lnTo>
                <a:lnTo>
                  <a:pt x="1588261" y="1199613"/>
                </a:lnTo>
                <a:lnTo>
                  <a:pt x="1460004" y="1115986"/>
                </a:lnTo>
                <a:lnTo>
                  <a:pt x="1343913" y="1017038"/>
                </a:lnTo>
                <a:lnTo>
                  <a:pt x="1236948" y="906599"/>
                </a:lnTo>
                <a:lnTo>
                  <a:pt x="1136066" y="788499"/>
                </a:lnTo>
                <a:lnTo>
                  <a:pt x="1038225" y="666570"/>
                </a:lnTo>
                <a:lnTo>
                  <a:pt x="940384" y="544640"/>
                </a:lnTo>
                <a:lnTo>
                  <a:pt x="839502" y="426540"/>
                </a:lnTo>
                <a:lnTo>
                  <a:pt x="732537" y="316101"/>
                </a:lnTo>
                <a:lnTo>
                  <a:pt x="616446" y="217153"/>
                </a:lnTo>
                <a:lnTo>
                  <a:pt x="488189" y="133526"/>
                </a:lnTo>
                <a:lnTo>
                  <a:pt x="344723" y="69050"/>
                </a:lnTo>
                <a:lnTo>
                  <a:pt x="183007" y="27556"/>
                </a:lnTo>
                <a:lnTo>
                  <a:pt x="0" y="12873"/>
                </a:lnTo>
                <a:close/>
              </a:path>
            </a:pathLst>
          </a:custGeom>
          <a:solidFill>
            <a:srgbClr val="70AD47">
              <a:alpha val="45000"/>
            </a:srgbClr>
          </a:solidFill>
          <a:ln w="4974">
            <a:solidFill>
              <a:srgbClr val="70AD47"/>
            </a:solidFill>
          </a:ln>
        </p:spPr>
      </p:sp>
      <p:sp>
        <p:nvSpPr>
          <p:cNvPr id="20" name="Shape 10"/>
          <p:cNvSpPr/>
          <p:nvPr/>
        </p:nvSpPr>
        <p:spPr>
          <a:xfrm>
            <a:off x="1007428" y="4508951"/>
            <a:ext cx="3253105" cy="767888"/>
          </a:xfrm>
          <a:custGeom>
            <a:avLst/>
            <a:gdLst/>
            <a:ahLst/>
            <a:cxnLst/>
            <a:rect l="0" t="0" r="0" b="0"/>
            <a:pathLst>
              <a:path w="2076450" h="490141">
                <a:moveTo>
                  <a:pt x="0" y="0"/>
                </a:moveTo>
                <a:lnTo>
                  <a:pt x="183007" y="4665"/>
                </a:lnTo>
                <a:lnTo>
                  <a:pt x="344723" y="17851"/>
                </a:lnTo>
                <a:lnTo>
                  <a:pt x="488189" y="38338"/>
                </a:lnTo>
                <a:lnTo>
                  <a:pt x="616446" y="64912"/>
                </a:lnTo>
                <a:lnTo>
                  <a:pt x="732537" y="96354"/>
                </a:lnTo>
                <a:lnTo>
                  <a:pt x="839502" y="131447"/>
                </a:lnTo>
                <a:lnTo>
                  <a:pt x="940384" y="168974"/>
                </a:lnTo>
                <a:lnTo>
                  <a:pt x="1038225" y="207719"/>
                </a:lnTo>
                <a:lnTo>
                  <a:pt x="1136066" y="246463"/>
                </a:lnTo>
                <a:lnTo>
                  <a:pt x="1236948" y="283991"/>
                </a:lnTo>
                <a:lnTo>
                  <a:pt x="1343913" y="319084"/>
                </a:lnTo>
                <a:lnTo>
                  <a:pt x="1460004" y="350526"/>
                </a:lnTo>
                <a:lnTo>
                  <a:pt x="1588261" y="377099"/>
                </a:lnTo>
                <a:lnTo>
                  <a:pt x="1731727" y="397587"/>
                </a:lnTo>
                <a:lnTo>
                  <a:pt x="1893443" y="410772"/>
                </a:lnTo>
                <a:lnTo>
                  <a:pt x="2076450" y="415438"/>
                </a:lnTo>
                <a:lnTo>
                  <a:pt x="2076450" y="490141"/>
                </a:lnTo>
                <a:lnTo>
                  <a:pt x="1893443" y="485475"/>
                </a:lnTo>
                <a:lnTo>
                  <a:pt x="1731727" y="472290"/>
                </a:lnTo>
                <a:lnTo>
                  <a:pt x="1588261" y="451802"/>
                </a:lnTo>
                <a:lnTo>
                  <a:pt x="1460004" y="425229"/>
                </a:lnTo>
                <a:lnTo>
                  <a:pt x="1343913" y="393787"/>
                </a:lnTo>
                <a:lnTo>
                  <a:pt x="1236948" y="358693"/>
                </a:lnTo>
                <a:lnTo>
                  <a:pt x="1136066" y="321166"/>
                </a:lnTo>
                <a:lnTo>
                  <a:pt x="1038225" y="282422"/>
                </a:lnTo>
                <a:lnTo>
                  <a:pt x="940384" y="243677"/>
                </a:lnTo>
                <a:lnTo>
                  <a:pt x="839502" y="206150"/>
                </a:lnTo>
                <a:lnTo>
                  <a:pt x="732537" y="171057"/>
                </a:lnTo>
                <a:lnTo>
                  <a:pt x="616446" y="139615"/>
                </a:lnTo>
                <a:lnTo>
                  <a:pt x="488189" y="113041"/>
                </a:lnTo>
                <a:lnTo>
                  <a:pt x="344723" y="92553"/>
                </a:lnTo>
                <a:lnTo>
                  <a:pt x="183007" y="79368"/>
                </a:lnTo>
                <a:lnTo>
                  <a:pt x="0" y="74702"/>
                </a:lnTo>
                <a:close/>
              </a:path>
            </a:pathLst>
          </a:custGeom>
          <a:solidFill>
            <a:srgbClr val="C00000">
              <a:alpha val="45000"/>
            </a:srgbClr>
          </a:solidFill>
          <a:ln w="4974">
            <a:solidFill>
              <a:srgbClr val="C00000"/>
            </a:solidFill>
          </a:ln>
        </p:spPr>
      </p:sp>
      <p:sp>
        <p:nvSpPr>
          <p:cNvPr id="21" name="Box 11"/>
          <p:cNvSpPr/>
          <p:nvPr/>
        </p:nvSpPr>
        <p:spPr>
          <a:xfrm>
            <a:off x="798513" y="2803516"/>
            <a:ext cx="208915" cy="1257761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22" name="Box 12"/>
          <p:cNvSpPr/>
          <p:nvPr/>
        </p:nvSpPr>
        <p:spPr>
          <a:xfrm>
            <a:off x="4260533" y="1507641"/>
            <a:ext cx="208915" cy="3204488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23" name="Box 13"/>
          <p:cNvSpPr/>
          <p:nvPr/>
        </p:nvSpPr>
        <p:spPr>
          <a:xfrm>
            <a:off x="7722553" y="1327150"/>
            <a:ext cx="208915" cy="20168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  <p:sp>
        <p:nvSpPr>
          <p:cNvPr id="24" name="Box 14"/>
          <p:cNvSpPr/>
          <p:nvPr/>
        </p:nvSpPr>
        <p:spPr>
          <a:xfrm>
            <a:off x="7722553" y="1794993"/>
            <a:ext cx="208915" cy="1032930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5" name="Box 15"/>
          <p:cNvSpPr/>
          <p:nvPr/>
        </p:nvSpPr>
        <p:spPr>
          <a:xfrm>
            <a:off x="7722553" y="3275598"/>
            <a:ext cx="208915" cy="2826752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6" name="Box 16"/>
          <p:cNvSpPr/>
          <p:nvPr/>
        </p:nvSpPr>
        <p:spPr>
          <a:xfrm>
            <a:off x="11184573" y="2826884"/>
            <a:ext cx="208915" cy="10084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798513" y="4508951"/>
            <a:ext cx="208915" cy="11703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8" name="Box 18"/>
          <p:cNvSpPr/>
          <p:nvPr/>
        </p:nvSpPr>
        <p:spPr>
          <a:xfrm>
            <a:off x="4260533" y="5159804"/>
            <a:ext cx="208915" cy="762055"/>
          </a:xfrm>
          <a:prstGeom prst="rect">
            <a:avLst/>
          </a:prstGeom>
          <a:solidFill>
            <a:srgbClr val="2E8B8B"/>
          </a:solidFill>
          <a:ln>
            <a:noFill/>
          </a:ln>
        </p:spPr>
      </p:sp>
      <p:sp>
        <p:nvSpPr>
          <p:cNvPr id="29" name="Box 19"/>
          <p:cNvSpPr/>
          <p:nvPr/>
        </p:nvSpPr>
        <p:spPr>
          <a:xfrm>
            <a:off x="11184573" y="3375399"/>
            <a:ext cx="208915" cy="1227217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0" name="Box 20"/>
          <p:cNvSpPr/>
          <p:nvPr/>
        </p:nvSpPr>
        <p:spPr>
          <a:xfrm>
            <a:off x="1067118" y="3208558"/>
            <a:ext cx="2298065" cy="447675"/>
          </a:xfrm>
          <a:prstGeom prst="rect">
            <a:avLst/>
          </a:prstGeom>
          <a:noFill/>
          <a:ln>
            <a:noFill/>
          </a:ln>
        </p:spPr>
        <p:txBody>
          <a:bodyPr wrap="none" lIns="29845" tIns="0" rIns="29845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Agricultural 'waste'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124.73</a:t>
            </a:r>
          </a:p>
        </p:txBody>
      </p:sp>
      <p:sp>
        <p:nvSpPr>
          <p:cNvPr id="31" name="Box 21"/>
          <p:cNvSpPr/>
          <p:nvPr/>
        </p:nvSpPr>
        <p:spPr>
          <a:xfrm>
            <a:off x="4529138" y="2886048"/>
            <a:ext cx="1701165" cy="447675"/>
          </a:xfrm>
          <a:prstGeom prst="rect">
            <a:avLst/>
          </a:prstGeom>
          <a:noFill/>
          <a:ln>
            <a:noFill/>
          </a:ln>
        </p:spPr>
        <p:txBody>
          <a:bodyPr wrap="none" lIns="29845" tIns="0" rIns="29845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Bio-conversion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317.78</a:t>
            </a:r>
          </a:p>
        </p:txBody>
      </p:sp>
      <p:sp>
        <p:nvSpPr>
          <p:cNvPr id="32" name="Box 22"/>
          <p:cNvSpPr/>
          <p:nvPr/>
        </p:nvSpPr>
        <p:spPr>
          <a:xfrm>
            <a:off x="6812280" y="1113397"/>
            <a:ext cx="850583" cy="447675"/>
          </a:xfrm>
          <a:prstGeom prst="rect">
            <a:avLst/>
          </a:prstGeom>
          <a:noFill/>
          <a:ln>
            <a:noFill/>
          </a:ln>
        </p:spPr>
        <p:txBody>
          <a:bodyPr wrap="none" lIns="29845" tIns="0" rIns="29845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Liquid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3" name="Box 23"/>
          <p:cNvSpPr/>
          <p:nvPr/>
        </p:nvSpPr>
        <p:spPr>
          <a:xfrm>
            <a:off x="6857048" y="2087619"/>
            <a:ext cx="805815" cy="447675"/>
          </a:xfrm>
          <a:prstGeom prst="rect">
            <a:avLst/>
          </a:prstGeom>
          <a:noFill/>
          <a:ln>
            <a:noFill/>
          </a:ln>
        </p:spPr>
        <p:txBody>
          <a:bodyPr wrap="none" lIns="29845" tIns="0" rIns="29845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Solid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102.43</a:t>
            </a:r>
          </a:p>
        </p:txBody>
      </p:sp>
      <p:sp>
        <p:nvSpPr>
          <p:cNvPr id="34" name="Box 24"/>
          <p:cNvSpPr/>
          <p:nvPr/>
        </p:nvSpPr>
        <p:spPr>
          <a:xfrm>
            <a:off x="6857048" y="4465136"/>
            <a:ext cx="805815" cy="447675"/>
          </a:xfrm>
          <a:prstGeom prst="rect">
            <a:avLst/>
          </a:prstGeom>
          <a:noFill/>
          <a:ln>
            <a:noFill/>
          </a:ln>
        </p:spPr>
        <p:txBody>
          <a:bodyPr wrap="none" lIns="29845" tIns="0" rIns="29845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Gas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280.32</a:t>
            </a:r>
          </a:p>
        </p:txBody>
      </p:sp>
      <p:sp>
        <p:nvSpPr>
          <p:cNvPr id="35" name="Box 25"/>
          <p:cNvSpPr/>
          <p:nvPr/>
        </p:nvSpPr>
        <p:spPr>
          <a:xfrm>
            <a:off x="10274300" y="2653467"/>
            <a:ext cx="850583" cy="447675"/>
          </a:xfrm>
          <a:prstGeom prst="rect">
            <a:avLst/>
          </a:prstGeom>
          <a:noFill/>
          <a:ln>
            <a:noFill/>
          </a:ln>
        </p:spPr>
        <p:txBody>
          <a:bodyPr wrap="none" lIns="29845" tIns="0" rIns="29845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Losses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36" name="Box 26"/>
          <p:cNvSpPr/>
          <p:nvPr/>
        </p:nvSpPr>
        <p:spPr>
          <a:xfrm>
            <a:off x="1067118" y="4343630"/>
            <a:ext cx="1432560" cy="447675"/>
          </a:xfrm>
          <a:prstGeom prst="rect">
            <a:avLst/>
          </a:prstGeom>
          <a:noFill/>
          <a:ln>
            <a:noFill/>
          </a:ln>
        </p:spPr>
        <p:txBody>
          <a:bodyPr wrap="none" lIns="29845" tIns="0" rIns="29845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Coal imports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11.61</a:t>
            </a:r>
          </a:p>
        </p:txBody>
      </p:sp>
      <p:sp>
        <p:nvSpPr>
          <p:cNvPr id="37" name="Box 27"/>
          <p:cNvSpPr/>
          <p:nvPr/>
        </p:nvSpPr>
        <p:spPr>
          <a:xfrm>
            <a:off x="4529138" y="5316994"/>
            <a:ext cx="716280" cy="447675"/>
          </a:xfrm>
          <a:prstGeom prst="rect">
            <a:avLst/>
          </a:prstGeom>
          <a:noFill/>
          <a:ln>
            <a:noFill/>
          </a:ln>
        </p:spPr>
        <p:txBody>
          <a:bodyPr wrap="none" lIns="29845" tIns="0" rIns="29845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Coal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75.57</a:t>
            </a:r>
          </a:p>
        </p:txBody>
      </p:sp>
      <p:sp>
        <p:nvSpPr>
          <p:cNvPr id="38" name="Box 28"/>
          <p:cNvSpPr/>
          <p:nvPr/>
        </p:nvSpPr>
        <p:spPr>
          <a:xfrm>
            <a:off x="10169843" y="3765170"/>
            <a:ext cx="955040" cy="447675"/>
          </a:xfrm>
          <a:prstGeom prst="rect">
            <a:avLst/>
          </a:prstGeom>
          <a:noFill/>
          <a:ln>
            <a:noFill/>
          </a:ln>
        </p:spPr>
        <p:txBody>
          <a:bodyPr wrap="none" lIns="29845" tIns="0" rIns="29845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Heating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410" dirty="0">
                <a:solidFill>
                  <a:srgbClr val="000000"/>
                </a:solidFill>
              </a:rPr>
              <a:t>121.7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self-loop</a:t>
            </a:r>
          </a:p>
        </p:txBody>
      </p:sp>
      <p:sp>
        <p:nvSpPr>
          <p:cNvPr id="12" name="Depart" descr="A"/>
          <p:cNvSpPr/>
          <p:nvPr/>
        </p:nvSpPr>
        <p:spPr>
          <a:xfrm>
            <a:off x="4939254" y="1028700"/>
            <a:ext cx="1685584" cy="1046513"/>
          </a:xfrm>
          <a:prstGeom prst="rect">
            <a:avLst/>
          </a:prstGeom>
          <a:solidFill>
            <a:srgbClr val="FFF9C4"/>
          </a:solidFill>
          <a:ln w="18605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Depart</a:t>
            </a:r>
          </a:p>
        </p:txBody>
      </p:sp>
      <p:sp>
        <p:nvSpPr>
          <p:cNvPr id="13" name="En cours" descr="B"/>
          <p:cNvSpPr/>
          <p:nvPr/>
        </p:nvSpPr>
        <p:spPr>
          <a:xfrm>
            <a:off x="4788556" y="3191494"/>
            <a:ext cx="1986979" cy="1046513"/>
          </a:xfrm>
          <a:prstGeom prst="rect">
            <a:avLst/>
          </a:prstGeom>
          <a:solidFill>
            <a:srgbClr val="BBDEFB"/>
          </a:solidFill>
          <a:ln w="18605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En cours</a:t>
            </a:r>
          </a:p>
        </p:txBody>
      </p:sp>
      <p:sp>
        <p:nvSpPr>
          <p:cNvPr id="14" name="Fin" descr="C"/>
          <p:cNvSpPr/>
          <p:nvPr/>
        </p:nvSpPr>
        <p:spPr>
          <a:xfrm>
            <a:off x="5240650" y="5354287"/>
            <a:ext cx="1082792" cy="1046513"/>
          </a:xfrm>
          <a:prstGeom prst="rect">
            <a:avLst/>
          </a:prstGeom>
          <a:solidFill>
            <a:srgbClr val="C8E6C9"/>
          </a:solidFill>
          <a:ln w="18605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5" name="A--B"/>
          <p:cNvCxnSpPr>
            <a:stCxn id="12" idx="2"/>
            <a:endCxn id="13" idx="0"/>
          </p:cNvCxnSpPr>
          <p:nvPr/>
        </p:nvCxnSpPr>
        <p:spPr>
          <a:xfrm>
            <a:off x="5782046" y="2075213"/>
            <a:ext cx="0" cy="1116281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--B"/>
          <p:cNvSpPr/>
          <p:nvPr/>
        </p:nvSpPr>
        <p:spPr>
          <a:xfrm>
            <a:off x="6775536" y="3191494"/>
            <a:ext cx="627908" cy="1046513"/>
          </a:xfrm>
          <a:custGeom>
            <a:avLst/>
            <a:gdLst/>
            <a:ahLst/>
            <a:cxnLst/>
            <a:rect l="0" t="0" r="0" b="0"/>
            <a:pathLst>
              <a:path w="428625" h="714375">
                <a:moveTo>
                  <a:pt x="0" y="105886"/>
                </a:moveTo>
                <a:lnTo>
                  <a:pt x="285750" y="0"/>
                </a:lnTo>
                <a:lnTo>
                  <a:pt x="357187" y="0"/>
                </a:lnTo>
                <a:lnTo>
                  <a:pt x="428625" y="357188"/>
                </a:lnTo>
                <a:lnTo>
                  <a:pt x="357187" y="714375"/>
                </a:lnTo>
                <a:lnTo>
                  <a:pt x="285750" y="714375"/>
                </a:lnTo>
                <a:lnTo>
                  <a:pt x="0" y="608489"/>
                </a:lnTo>
              </a:path>
            </a:pathLst>
          </a:cu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EdgeLabel"/>
          <p:cNvSpPr txBox="1"/>
          <p:nvPr/>
        </p:nvSpPr>
        <p:spPr>
          <a:xfrm>
            <a:off x="6889955" y="3547309"/>
            <a:ext cx="1026978" cy="33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55814" tIns="0" rIns="55814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2" dirty="0">
                <a:solidFill>
                  <a:srgbClr val="000000"/>
                </a:solidFill>
              </a:rPr>
              <a:t>retry</a:t>
            </a:r>
          </a:p>
        </p:txBody>
      </p:sp>
      <p:cxnSp>
        <p:nvCxnSpPr>
          <p:cNvPr id="18" name="B--C"/>
          <p:cNvCxnSpPr>
            <a:stCxn id="13" idx="2"/>
            <a:endCxn id="14" idx="0"/>
          </p:cNvCxnSpPr>
          <p:nvPr/>
        </p:nvCxnSpPr>
        <p:spPr>
          <a:xfrm>
            <a:off x="5782046" y="4238006"/>
            <a:ext cx="0" cy="1116281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deck-C.md</dc:title>
  <dc:creator>md2nativedocx</dc:creator>
  <cp:lastModifiedBy>md2nativedocx</cp:lastModifiedBy>
  <dcterms:created xsi:type="dcterms:W3CDTF">2026-10-05T12:02:48Z</dcterms:created>
  <dcterms:modified xsi:type="dcterms:W3CDTF">2026-10-05T12:02:48Z</dcterms:modified>
</cp:coreProperties>
</file>