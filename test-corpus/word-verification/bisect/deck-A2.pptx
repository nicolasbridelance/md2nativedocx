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c4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2347449" y="1028700"/>
            <a:ext cx="7497103" cy="197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50" dirty="0">
                <a:solidFill>
                  <a:srgbClr val="000000"/>
                </a:solidFill>
              </a:rPr>
              <a:t>Container diagram for Internet Banking System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4981173" y="2726377"/>
            <a:ext cx="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4771871" y="2871726"/>
            <a:ext cx="41860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4" name="Connector 4"/>
          <p:cNvCxnSpPr/>
          <p:nvPr/>
        </p:nvCxnSpPr>
        <p:spPr>
          <a:xfrm flipH="1">
            <a:off x="4033048" y="2726377"/>
            <a:ext cx="800319" cy="1290699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4223905" y="3313587"/>
            <a:ext cx="41860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[HTTPS]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5288548" y="2726377"/>
            <a:ext cx="1664323" cy="1290699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6027686" y="3313587"/>
            <a:ext cx="186047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</a:t>
            </a:r>
          </a:p>
        </p:txBody>
      </p:sp>
      <p:cxnSp>
        <p:nvCxnSpPr>
          <p:cNvPr id="18" name="Connector 8"/>
          <p:cNvCxnSpPr/>
          <p:nvPr/>
        </p:nvCxnSpPr>
        <p:spPr>
          <a:xfrm flipH="1">
            <a:off x="4180855" y="3610099"/>
            <a:ext cx="504705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4284370" y="3755448"/>
            <a:ext cx="297675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Delivers</a:t>
            </a:r>
          </a:p>
        </p:txBody>
      </p:sp>
      <p:cxnSp>
        <p:nvCxnSpPr>
          <p:cNvPr id="20" name="Connector 10"/>
          <p:cNvCxnSpPr/>
          <p:nvPr/>
        </p:nvCxnSpPr>
        <p:spPr>
          <a:xfrm>
            <a:off x="4795605" y="4493821"/>
            <a:ext cx="1554278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1" name="Text 11"/>
          <p:cNvSpPr txBox="1"/>
          <p:nvPr/>
        </p:nvSpPr>
        <p:spPr>
          <a:xfrm>
            <a:off x="5193674" y="4639170"/>
            <a:ext cx="758141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2" name="Connector 12"/>
          <p:cNvCxnSpPr/>
          <p:nvPr/>
        </p:nvCxnSpPr>
        <p:spPr>
          <a:xfrm>
            <a:off x="7260246" y="4493821"/>
            <a:ext cx="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3" name="Text 13"/>
          <p:cNvSpPr txBox="1"/>
          <p:nvPr/>
        </p:nvSpPr>
        <p:spPr>
          <a:xfrm>
            <a:off x="6881176" y="4639170"/>
            <a:ext cx="758141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[async, JSON/HTTPS]</a:t>
            </a:r>
          </a:p>
        </p:txBody>
      </p:sp>
      <p:cxnSp>
        <p:nvCxnSpPr>
          <p:cNvPr id="24" name="Connector 14"/>
          <p:cNvCxnSpPr/>
          <p:nvPr/>
        </p:nvCxnSpPr>
        <p:spPr>
          <a:xfrm flipH="1">
            <a:off x="5636258" y="5377543"/>
            <a:ext cx="1024136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5" name="Text 15"/>
          <p:cNvSpPr txBox="1"/>
          <p:nvPr/>
        </p:nvSpPr>
        <p:spPr>
          <a:xfrm>
            <a:off x="5627395" y="5522892"/>
            <a:ext cx="1041862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Reads from and writes to [sync, JDBC]</a:t>
            </a:r>
          </a:p>
        </p:txBody>
      </p:sp>
      <p:cxnSp>
        <p:nvCxnSpPr>
          <p:cNvPr id="26" name="Connector 16"/>
          <p:cNvCxnSpPr/>
          <p:nvPr/>
        </p:nvCxnSpPr>
        <p:spPr>
          <a:xfrm flipH="1">
            <a:off x="5691194" y="1837534"/>
            <a:ext cx="1227482" cy="412098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7" name="Text 17"/>
          <p:cNvSpPr txBox="1"/>
          <p:nvPr/>
        </p:nvSpPr>
        <p:spPr>
          <a:xfrm>
            <a:off x="6058423" y="1985443"/>
            <a:ext cx="493024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Sends e-mails to</a:t>
            </a:r>
          </a:p>
        </p:txBody>
      </p:sp>
      <p:cxnSp>
        <p:nvCxnSpPr>
          <p:cNvPr id="28" name="Connector 18"/>
          <p:cNvCxnSpPr/>
          <p:nvPr/>
        </p:nvCxnSpPr>
        <p:spPr>
          <a:xfrm flipV="1">
            <a:off x="7284064" y="1842655"/>
            <a:ext cx="305563" cy="3058143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29" name="Text 19"/>
          <p:cNvSpPr txBox="1"/>
          <p:nvPr/>
        </p:nvSpPr>
        <p:spPr>
          <a:xfrm>
            <a:off x="6971728" y="3313587"/>
            <a:ext cx="930234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Sends e-mails using [sync, SMTP]</a:t>
            </a:r>
          </a:p>
        </p:txBody>
      </p:sp>
      <p:cxnSp>
        <p:nvCxnSpPr>
          <p:cNvPr id="30" name="Connector 20"/>
          <p:cNvCxnSpPr/>
          <p:nvPr/>
        </p:nvCxnSpPr>
        <p:spPr>
          <a:xfrm>
            <a:off x="7515085" y="5377543"/>
            <a:ext cx="435091" cy="406977"/>
          </a:xfrm>
          <a:prstGeom prst="line">
            <a:avLst/>
          </a:prstGeom>
          <a:ln w="581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31" name="Text 21"/>
          <p:cNvSpPr txBox="1"/>
          <p:nvPr/>
        </p:nvSpPr>
        <p:spPr>
          <a:xfrm>
            <a:off x="7300072" y="5522892"/>
            <a:ext cx="865117" cy="116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Uses [sync/async, XML/HTTPS]</a:t>
            </a:r>
          </a:p>
        </p:txBody>
      </p:sp>
      <p:sp>
        <p:nvSpPr>
          <p:cNvPr id="32" name="E-Mail System"/>
          <p:cNvSpPr/>
          <p:nvPr/>
        </p:nvSpPr>
        <p:spPr>
          <a:xfrm>
            <a:off x="6918676" y="1365910"/>
            <a:ext cx="1389537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3" name="E-Mail System title"/>
          <p:cNvSpPr/>
          <p:nvPr/>
        </p:nvSpPr>
        <p:spPr>
          <a:xfrm>
            <a:off x="6918676" y="1365910"/>
            <a:ext cx="1389537" cy="18604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4" name="Divider"/>
          <p:cNvSpPr/>
          <p:nvPr/>
        </p:nvSpPr>
        <p:spPr>
          <a:xfrm>
            <a:off x="6918676" y="1549050"/>
            <a:ext cx="1389537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5" name="Text 25"/>
          <p:cNvSpPr txBox="1"/>
          <p:nvPr/>
        </p:nvSpPr>
        <p:spPr>
          <a:xfrm>
            <a:off x="6918676" y="1365910"/>
            <a:ext cx="1389537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E-Mail System</a:t>
            </a:r>
          </a:p>
        </p:txBody>
      </p:sp>
      <p:sp>
        <p:nvSpPr>
          <p:cNvPr id="36" name="Text 26"/>
          <p:cNvSpPr txBox="1"/>
          <p:nvPr/>
        </p:nvSpPr>
        <p:spPr>
          <a:xfrm>
            <a:off x="6976816" y="1551957"/>
            <a:ext cx="1273257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The internal Microsoft Exchange system</a:t>
            </a:r>
          </a:p>
        </p:txBody>
      </p:sp>
      <p:sp>
        <p:nvSpPr>
          <p:cNvPr id="37" name="Customer"/>
          <p:cNvSpPr/>
          <p:nvPr/>
        </p:nvSpPr>
        <p:spPr>
          <a:xfrm>
            <a:off x="4100358" y="2249632"/>
            <a:ext cx="1761630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38" name="Customer title"/>
          <p:cNvSpPr/>
          <p:nvPr/>
        </p:nvSpPr>
        <p:spPr>
          <a:xfrm>
            <a:off x="4100358" y="2249632"/>
            <a:ext cx="1761630" cy="186047"/>
          </a:xfrm>
          <a:prstGeom prst="rect">
            <a:avLst/>
          </a:prstGeom>
          <a:solidFill>
            <a:srgbClr val="FFE699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4100358" y="2432772"/>
            <a:ext cx="1761630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4100358" y="2249632"/>
            <a:ext cx="1761630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Customer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4158498" y="2435679"/>
            <a:ext cx="1645350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[Person]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A customer of the bank, with personal bank accounts</a:t>
            </a:r>
          </a:p>
        </p:txBody>
      </p:sp>
      <p:sp>
        <p:nvSpPr>
          <p:cNvPr id="42" name="Single-Page App"/>
          <p:cNvSpPr/>
          <p:nvPr/>
        </p:nvSpPr>
        <p:spPr>
          <a:xfrm>
            <a:off x="2486984" y="4017076"/>
            <a:ext cx="2796515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3" name="Single-Page App title"/>
          <p:cNvSpPr/>
          <p:nvPr/>
        </p:nvSpPr>
        <p:spPr>
          <a:xfrm>
            <a:off x="2486984" y="4017076"/>
            <a:ext cx="2796515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4" name="Divider"/>
          <p:cNvSpPr/>
          <p:nvPr/>
        </p:nvSpPr>
        <p:spPr>
          <a:xfrm>
            <a:off x="2486984" y="4200216"/>
            <a:ext cx="2796515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5" name="Text 35"/>
          <p:cNvSpPr txBox="1"/>
          <p:nvPr/>
        </p:nvSpPr>
        <p:spPr>
          <a:xfrm>
            <a:off x="2486984" y="4017076"/>
            <a:ext cx="2796515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Single-Page App</a:t>
            </a:r>
          </a:p>
        </p:txBody>
      </p:sp>
      <p:sp>
        <p:nvSpPr>
          <p:cNvPr id="46" name="Text 36"/>
          <p:cNvSpPr txBox="1"/>
          <p:nvPr/>
        </p:nvSpPr>
        <p:spPr>
          <a:xfrm>
            <a:off x="2545124" y="4203123"/>
            <a:ext cx="2680235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[Container: JavaScript, Angular]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all the Internet banking functionality to customers via their web browser</a:t>
            </a:r>
          </a:p>
        </p:txBody>
      </p:sp>
      <p:sp>
        <p:nvSpPr>
          <p:cNvPr id="47" name="Mobile App"/>
          <p:cNvSpPr/>
          <p:nvPr/>
        </p:nvSpPr>
        <p:spPr>
          <a:xfrm>
            <a:off x="5574197" y="4017076"/>
            <a:ext cx="3372097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48" name="Mobile App title"/>
          <p:cNvSpPr/>
          <p:nvPr/>
        </p:nvSpPr>
        <p:spPr>
          <a:xfrm>
            <a:off x="5574197" y="4017076"/>
            <a:ext cx="3372097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49" name="Divider"/>
          <p:cNvSpPr/>
          <p:nvPr/>
        </p:nvSpPr>
        <p:spPr>
          <a:xfrm>
            <a:off x="5574197" y="4200216"/>
            <a:ext cx="3372097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0" name="Text 40"/>
          <p:cNvSpPr txBox="1"/>
          <p:nvPr/>
        </p:nvSpPr>
        <p:spPr>
          <a:xfrm>
            <a:off x="5574197" y="4017076"/>
            <a:ext cx="3372097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Mobile App</a:t>
            </a:r>
          </a:p>
        </p:txBody>
      </p:sp>
      <p:sp>
        <p:nvSpPr>
          <p:cNvPr id="51" name="Text 41"/>
          <p:cNvSpPr txBox="1"/>
          <p:nvPr/>
        </p:nvSpPr>
        <p:spPr>
          <a:xfrm>
            <a:off x="5632337" y="4203123"/>
            <a:ext cx="3255817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External: C#, Xamarin]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a limited subset of the Internet banking functionality to customers via their mobile device</a:t>
            </a:r>
          </a:p>
        </p:txBody>
      </p:sp>
      <p:sp>
        <p:nvSpPr>
          <p:cNvPr id="52" name="Web Application"/>
          <p:cNvSpPr/>
          <p:nvPr/>
        </p:nvSpPr>
        <p:spPr>
          <a:xfrm>
            <a:off x="4001521" y="3133354"/>
            <a:ext cx="1959305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3" name="Web Application title"/>
          <p:cNvSpPr/>
          <p:nvPr/>
        </p:nvSpPr>
        <p:spPr>
          <a:xfrm>
            <a:off x="4001521" y="3133354"/>
            <a:ext cx="1959305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4" name="Divider"/>
          <p:cNvSpPr/>
          <p:nvPr/>
        </p:nvSpPr>
        <p:spPr>
          <a:xfrm>
            <a:off x="4001521" y="3316494"/>
            <a:ext cx="1959305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55" name="Text 45"/>
          <p:cNvSpPr txBox="1"/>
          <p:nvPr/>
        </p:nvSpPr>
        <p:spPr>
          <a:xfrm>
            <a:off x="4001521" y="3133354"/>
            <a:ext cx="1959305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Web Application</a:t>
            </a:r>
          </a:p>
        </p:txBody>
      </p:sp>
      <p:sp>
        <p:nvSpPr>
          <p:cNvPr id="56" name="Text 46"/>
          <p:cNvSpPr txBox="1"/>
          <p:nvPr/>
        </p:nvSpPr>
        <p:spPr>
          <a:xfrm>
            <a:off x="4059661" y="3319401"/>
            <a:ext cx="1843025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[Container: Java, Spring MVC]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Delivers the static content and the Internet banking SPA</a:t>
            </a:r>
          </a:p>
        </p:txBody>
      </p:sp>
      <p:sp>
        <p:nvSpPr>
          <p:cNvPr id="57" name="Database"/>
          <p:cNvSpPr/>
          <p:nvPr/>
        </p:nvSpPr>
        <p:spPr>
          <a:xfrm>
            <a:off x="3658497" y="5784520"/>
            <a:ext cx="2755818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58" name="Database title"/>
          <p:cNvSpPr/>
          <p:nvPr/>
        </p:nvSpPr>
        <p:spPr>
          <a:xfrm>
            <a:off x="3658497" y="5784520"/>
            <a:ext cx="2755818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59" name="Divider"/>
          <p:cNvSpPr/>
          <p:nvPr/>
        </p:nvSpPr>
        <p:spPr>
          <a:xfrm>
            <a:off x="3658497" y="5967660"/>
            <a:ext cx="2755818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0" name="Text 50"/>
          <p:cNvSpPr txBox="1"/>
          <p:nvPr/>
        </p:nvSpPr>
        <p:spPr>
          <a:xfrm>
            <a:off x="3658497" y="5784520"/>
            <a:ext cx="2755818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Database</a:t>
            </a:r>
          </a:p>
        </p:txBody>
      </p:sp>
      <p:sp>
        <p:nvSpPr>
          <p:cNvPr id="61" name="Text 51"/>
          <p:cNvSpPr txBox="1"/>
          <p:nvPr/>
        </p:nvSpPr>
        <p:spPr>
          <a:xfrm>
            <a:off x="3716637" y="5970567"/>
            <a:ext cx="2639538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Database: SQL Database]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Stores user registration information, hashed auth credentials, access logs, etc.</a:t>
            </a:r>
          </a:p>
        </p:txBody>
      </p:sp>
      <p:sp>
        <p:nvSpPr>
          <p:cNvPr id="62" name="API Application"/>
          <p:cNvSpPr/>
          <p:nvPr/>
        </p:nvSpPr>
        <p:spPr>
          <a:xfrm>
            <a:off x="6268966" y="4900798"/>
            <a:ext cx="1982561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3" name="API Application title"/>
          <p:cNvSpPr/>
          <p:nvPr/>
        </p:nvSpPr>
        <p:spPr>
          <a:xfrm>
            <a:off x="6268966" y="4900798"/>
            <a:ext cx="1982561" cy="186047"/>
          </a:xfrm>
          <a:prstGeom prst="rect">
            <a:avLst/>
          </a:prstGeom>
          <a:solidFill>
            <a:srgbClr val="C6E0B4"/>
          </a:solidFill>
          <a:ln>
            <a:noFill/>
          </a:ln>
        </p:spPr>
      </p:sp>
      <p:sp>
        <p:nvSpPr>
          <p:cNvPr id="64" name="Divider"/>
          <p:cNvSpPr/>
          <p:nvPr/>
        </p:nvSpPr>
        <p:spPr>
          <a:xfrm>
            <a:off x="6268966" y="5083938"/>
            <a:ext cx="1982561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65" name="Text 55"/>
          <p:cNvSpPr txBox="1"/>
          <p:nvPr/>
        </p:nvSpPr>
        <p:spPr>
          <a:xfrm>
            <a:off x="6268966" y="4900798"/>
            <a:ext cx="1982561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API Application</a:t>
            </a:r>
          </a:p>
        </p:txBody>
      </p:sp>
      <p:sp>
        <p:nvSpPr>
          <p:cNvPr id="66" name="Text 56"/>
          <p:cNvSpPr txBox="1"/>
          <p:nvPr/>
        </p:nvSpPr>
        <p:spPr>
          <a:xfrm>
            <a:off x="6327106" y="5086845"/>
            <a:ext cx="1866281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[Container, External, Database: Java, Docker Container]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Provides Internet banking functionality via API</a:t>
            </a:r>
          </a:p>
        </p:txBody>
      </p:sp>
      <p:sp>
        <p:nvSpPr>
          <p:cNvPr id="67" name="Mainframe Banking System"/>
          <p:cNvSpPr/>
          <p:nvPr/>
        </p:nvSpPr>
        <p:spPr>
          <a:xfrm>
            <a:off x="6705013" y="5784520"/>
            <a:ext cx="3000004" cy="476745"/>
          </a:xfrm>
          <a:prstGeom prst="rect">
            <a:avLst/>
          </a:prstGeom>
          <a:solidFill>
            <a:srgbClr val="FFFFFF"/>
          </a:solidFill>
          <a:ln w="9525">
            <a:solidFill>
              <a:srgbClr val="2F5496"/>
            </a:solidFill>
          </a:ln>
        </p:spPr>
      </p:sp>
      <p:sp>
        <p:nvSpPr>
          <p:cNvPr id="68" name="Mainframe Banking System title"/>
          <p:cNvSpPr/>
          <p:nvPr/>
        </p:nvSpPr>
        <p:spPr>
          <a:xfrm>
            <a:off x="6705013" y="5784520"/>
            <a:ext cx="3000004" cy="18604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69" name="Divider"/>
          <p:cNvSpPr/>
          <p:nvPr/>
        </p:nvSpPr>
        <p:spPr>
          <a:xfrm>
            <a:off x="6705013" y="5967660"/>
            <a:ext cx="3000004" cy="581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70" name="Text 60"/>
          <p:cNvSpPr txBox="1"/>
          <p:nvPr/>
        </p:nvSpPr>
        <p:spPr>
          <a:xfrm>
            <a:off x="6705013" y="5784520"/>
            <a:ext cx="3000004" cy="18604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650" dirty="0">
                <a:solidFill>
                  <a:srgbClr val="000000"/>
                </a:solidFill>
              </a:rPr>
              <a:t>Mainframe Banking System</a:t>
            </a:r>
          </a:p>
        </p:txBody>
      </p:sp>
      <p:sp>
        <p:nvSpPr>
          <p:cNvPr id="71" name="Text 61"/>
          <p:cNvSpPr txBox="1"/>
          <p:nvPr/>
        </p:nvSpPr>
        <p:spPr>
          <a:xfrm>
            <a:off x="6763153" y="5970567"/>
            <a:ext cx="2883724" cy="290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[System, External]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50" dirty="0">
                <a:solidFill>
                  <a:srgbClr val="000000"/>
                </a:solidFill>
              </a:rPr>
              <a:t>Stores all of the core banking information about customers, accounts, transactions,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class-diagram</a:t>
            </a:r>
          </a:p>
        </p:txBody>
      </p:sp>
      <p:cxnSp>
        <p:nvCxnSpPr>
          <p:cNvPr id="11" name="Connector 1"/>
          <p:cNvCxnSpPr/>
          <p:nvPr/>
        </p:nvCxnSpPr>
        <p:spPr>
          <a:xfrm flipV="1">
            <a:off x="7348440" y="2363361"/>
            <a:ext cx="1102777" cy="384114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2" name="Connector 2"/>
          <p:cNvCxnSpPr/>
          <p:nvPr/>
        </p:nvCxnSpPr>
        <p:spPr>
          <a:xfrm>
            <a:off x="7348440" y="3405955"/>
            <a:ext cx="1150039" cy="400576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triangle" w="lg" len="lg"/>
          </a:ln>
        </p:spPr>
      </p:cxnSp>
      <p:cxnSp>
        <p:nvCxnSpPr>
          <p:cNvPr id="13" name="Connector 3"/>
          <p:cNvCxnSpPr/>
          <p:nvPr/>
        </p:nvCxnSpPr>
        <p:spPr>
          <a:xfrm flipV="1">
            <a:off x="4355188" y="3426094"/>
            <a:ext cx="1102777" cy="407608"/>
          </a:xfrm>
          <a:prstGeom prst="line">
            <a:avLst/>
          </a:prstGeom>
          <a:ln w="15754">
            <a:solidFill>
              <a:srgbClr val="2F5496"/>
            </a:solidFill>
            <a:prstDash val="solid"/>
            <a:tailEnd type="triangle" w="sm" len="sm"/>
          </a:ln>
        </p:spPr>
      </p:cxnSp>
      <p:sp>
        <p:nvSpPr>
          <p:cNvPr id="14" name="Text 4"/>
          <p:cNvSpPr txBox="1"/>
          <p:nvPr/>
        </p:nvSpPr>
        <p:spPr>
          <a:xfrm>
            <a:off x="4660814" y="3472358"/>
            <a:ext cx="491524" cy="31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23" dirty="0">
                <a:solidFill>
                  <a:srgbClr val="000000"/>
                </a:solidFill>
              </a:rPr>
              <a:t>owns</a:t>
            </a:r>
          </a:p>
        </p:txBody>
      </p:sp>
      <p:cxnSp>
        <p:nvCxnSpPr>
          <p:cNvPr id="15" name="Connector 5"/>
          <p:cNvCxnSpPr/>
          <p:nvPr/>
        </p:nvCxnSpPr>
        <p:spPr>
          <a:xfrm>
            <a:off x="4355188" y="4619805"/>
            <a:ext cx="1244563" cy="460016"/>
          </a:xfrm>
          <a:prstGeom prst="line">
            <a:avLst/>
          </a:prstGeom>
          <a:ln w="15754">
            <a:solidFill>
              <a:srgbClr val="2F5496"/>
            </a:solidFill>
            <a:prstDash val="solid"/>
            <a:headEnd type="diamond" w="lg" len="lg"/>
          </a:ln>
        </p:spPr>
      </p:cxnSp>
      <p:sp>
        <p:nvSpPr>
          <p:cNvPr id="16" name="Text 6"/>
          <p:cNvSpPr txBox="1"/>
          <p:nvPr/>
        </p:nvSpPr>
        <p:spPr>
          <a:xfrm>
            <a:off x="4769516" y="4692274"/>
            <a:ext cx="415905" cy="3150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323" dirty="0">
                <a:solidFill>
                  <a:srgbClr val="000000"/>
                </a:solidFill>
              </a:rPr>
              <a:t>has</a:t>
            </a:r>
          </a:p>
        </p:txBody>
      </p:sp>
      <p:sp>
        <p:nvSpPr>
          <p:cNvPr id="17" name="Animal"/>
          <p:cNvSpPr/>
          <p:nvPr/>
        </p:nvSpPr>
        <p:spPr>
          <a:xfrm>
            <a:off x="5457965" y="2210247"/>
            <a:ext cx="1890475" cy="1732935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18" name="Animal title"/>
          <p:cNvSpPr/>
          <p:nvPr/>
        </p:nvSpPr>
        <p:spPr>
          <a:xfrm>
            <a:off x="5457965" y="2210247"/>
            <a:ext cx="1890475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19" name="Divider"/>
          <p:cNvSpPr/>
          <p:nvPr/>
        </p:nvSpPr>
        <p:spPr>
          <a:xfrm>
            <a:off x="5457965" y="2706496"/>
            <a:ext cx="1890475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0" name="Divider"/>
          <p:cNvSpPr/>
          <p:nvPr/>
        </p:nvSpPr>
        <p:spPr>
          <a:xfrm>
            <a:off x="5457965" y="3494194"/>
            <a:ext cx="1890475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1" name="Text 11"/>
          <p:cNvSpPr txBox="1"/>
          <p:nvPr/>
        </p:nvSpPr>
        <p:spPr>
          <a:xfrm>
            <a:off x="5457965" y="2210247"/>
            <a:ext cx="1890475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Animal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5615504" y="2714374"/>
            <a:ext cx="1575396" cy="787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+int age</a:t>
            </a:r>
          </a:p>
        </p:txBody>
      </p:sp>
      <p:sp>
        <p:nvSpPr>
          <p:cNvPr id="23" name="Text 13"/>
          <p:cNvSpPr txBox="1"/>
          <p:nvPr/>
        </p:nvSpPr>
        <p:spPr>
          <a:xfrm>
            <a:off x="5615504" y="3502072"/>
            <a:ext cx="1575396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+makeSound() void</a:t>
            </a:r>
          </a:p>
        </p:txBody>
      </p:sp>
      <p:sp>
        <p:nvSpPr>
          <p:cNvPr id="24" name="Dog"/>
          <p:cNvSpPr/>
          <p:nvPr/>
        </p:nvSpPr>
        <p:spPr>
          <a:xfrm>
            <a:off x="8451217" y="1406795"/>
            <a:ext cx="1512380" cy="138634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25" name="Dog title"/>
          <p:cNvSpPr/>
          <p:nvPr/>
        </p:nvSpPr>
        <p:spPr>
          <a:xfrm>
            <a:off x="8451217" y="1406795"/>
            <a:ext cx="1512380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26" name="Divider"/>
          <p:cNvSpPr/>
          <p:nvPr/>
        </p:nvSpPr>
        <p:spPr>
          <a:xfrm>
            <a:off x="8451217" y="1903044"/>
            <a:ext cx="1512380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7" name="Divider"/>
          <p:cNvSpPr/>
          <p:nvPr/>
        </p:nvSpPr>
        <p:spPr>
          <a:xfrm>
            <a:off x="8451217" y="2344155"/>
            <a:ext cx="1512380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28" name="Text 18"/>
          <p:cNvSpPr txBox="1"/>
          <p:nvPr/>
        </p:nvSpPr>
        <p:spPr>
          <a:xfrm>
            <a:off x="8451217" y="1406795"/>
            <a:ext cx="1512380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Dog</a:t>
            </a:r>
          </a:p>
        </p:txBody>
      </p:sp>
      <p:sp>
        <p:nvSpPr>
          <p:cNvPr id="29" name="Text 19"/>
          <p:cNvSpPr txBox="1"/>
          <p:nvPr/>
        </p:nvSpPr>
        <p:spPr>
          <a:xfrm>
            <a:off x="8608756" y="1910922"/>
            <a:ext cx="1197301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breed</a:t>
            </a:r>
          </a:p>
        </p:txBody>
      </p:sp>
      <p:sp>
        <p:nvSpPr>
          <p:cNvPr id="30" name="Text 20"/>
          <p:cNvSpPr txBox="1"/>
          <p:nvPr/>
        </p:nvSpPr>
        <p:spPr>
          <a:xfrm>
            <a:off x="8608756" y="2352033"/>
            <a:ext cx="1197301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1" name="Cat"/>
          <p:cNvSpPr/>
          <p:nvPr/>
        </p:nvSpPr>
        <p:spPr>
          <a:xfrm>
            <a:off x="8498479" y="3580841"/>
            <a:ext cx="1417856" cy="94523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32" name="Cat title"/>
          <p:cNvSpPr/>
          <p:nvPr/>
        </p:nvSpPr>
        <p:spPr>
          <a:xfrm>
            <a:off x="8498479" y="3580841"/>
            <a:ext cx="1417856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3" name="Divider"/>
          <p:cNvSpPr/>
          <p:nvPr/>
        </p:nvSpPr>
        <p:spPr>
          <a:xfrm>
            <a:off x="8498479" y="4077090"/>
            <a:ext cx="1417856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4" name="Text 24"/>
          <p:cNvSpPr txBox="1"/>
          <p:nvPr/>
        </p:nvSpPr>
        <p:spPr>
          <a:xfrm>
            <a:off x="8498479" y="3580841"/>
            <a:ext cx="1417856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Cat</a:t>
            </a:r>
          </a:p>
        </p:txBody>
      </p:sp>
      <p:sp>
        <p:nvSpPr>
          <p:cNvPr id="35" name="Text 25"/>
          <p:cNvSpPr txBox="1"/>
          <p:nvPr/>
        </p:nvSpPr>
        <p:spPr>
          <a:xfrm>
            <a:off x="8656018" y="4084968"/>
            <a:ext cx="1102777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+bark() void</a:t>
            </a:r>
          </a:p>
        </p:txBody>
      </p:sp>
      <p:sp>
        <p:nvSpPr>
          <p:cNvPr id="36" name="Owner"/>
          <p:cNvSpPr/>
          <p:nvPr/>
        </p:nvSpPr>
        <p:spPr>
          <a:xfrm>
            <a:off x="2228403" y="3533579"/>
            <a:ext cx="2126784" cy="1386348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37" name="Owner title"/>
          <p:cNvSpPr/>
          <p:nvPr/>
        </p:nvSpPr>
        <p:spPr>
          <a:xfrm>
            <a:off x="2228403" y="3533579"/>
            <a:ext cx="2126784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38" name="Divider"/>
          <p:cNvSpPr/>
          <p:nvPr/>
        </p:nvSpPr>
        <p:spPr>
          <a:xfrm>
            <a:off x="2228403" y="4029828"/>
            <a:ext cx="212678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39" name="Divider"/>
          <p:cNvSpPr/>
          <p:nvPr/>
        </p:nvSpPr>
        <p:spPr>
          <a:xfrm>
            <a:off x="2228403" y="4470939"/>
            <a:ext cx="212678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0" name="Text 30"/>
          <p:cNvSpPr txBox="1"/>
          <p:nvPr/>
        </p:nvSpPr>
        <p:spPr>
          <a:xfrm>
            <a:off x="2228403" y="3533579"/>
            <a:ext cx="2126784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Owner</a:t>
            </a:r>
          </a:p>
        </p:txBody>
      </p:sp>
      <p:sp>
        <p:nvSpPr>
          <p:cNvPr id="41" name="Text 31"/>
          <p:cNvSpPr txBox="1"/>
          <p:nvPr/>
        </p:nvSpPr>
        <p:spPr>
          <a:xfrm>
            <a:off x="2385943" y="4037706"/>
            <a:ext cx="1811705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name</a:t>
            </a:r>
          </a:p>
        </p:txBody>
      </p:sp>
      <p:sp>
        <p:nvSpPr>
          <p:cNvPr id="42" name="Text 32"/>
          <p:cNvSpPr txBox="1"/>
          <p:nvPr/>
        </p:nvSpPr>
        <p:spPr>
          <a:xfrm>
            <a:off x="2385943" y="4478817"/>
            <a:ext cx="1811705" cy="441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+feed(Animal a) void</a:t>
            </a:r>
          </a:p>
        </p:txBody>
      </p:sp>
      <p:sp>
        <p:nvSpPr>
          <p:cNvPr id="43" name="Address"/>
          <p:cNvSpPr/>
          <p:nvPr/>
        </p:nvSpPr>
        <p:spPr>
          <a:xfrm>
            <a:off x="5599750" y="4730880"/>
            <a:ext cx="1606904" cy="1291825"/>
          </a:xfrm>
          <a:prstGeom prst="rect">
            <a:avLst/>
          </a:prstGeom>
          <a:solidFill>
            <a:srgbClr val="FFFFFF"/>
          </a:solidFill>
          <a:ln w="15754">
            <a:solidFill>
              <a:srgbClr val="2F5496"/>
            </a:solidFill>
          </a:ln>
        </p:spPr>
      </p:sp>
      <p:sp>
        <p:nvSpPr>
          <p:cNvPr id="44" name="Address title"/>
          <p:cNvSpPr/>
          <p:nvPr/>
        </p:nvSpPr>
        <p:spPr>
          <a:xfrm>
            <a:off x="5599750" y="4730880"/>
            <a:ext cx="1606904" cy="504127"/>
          </a:xfrm>
          <a:prstGeom prst="rect">
            <a:avLst/>
          </a:prstGeom>
          <a:solidFill>
            <a:srgbClr val="D9E2F3"/>
          </a:solidFill>
          <a:ln>
            <a:noFill/>
          </a:ln>
        </p:spPr>
      </p:sp>
      <p:sp>
        <p:nvSpPr>
          <p:cNvPr id="45" name="Divider"/>
          <p:cNvSpPr/>
          <p:nvPr/>
        </p:nvSpPr>
        <p:spPr>
          <a:xfrm>
            <a:off x="5599750" y="5227129"/>
            <a:ext cx="1606904" cy="15754"/>
          </a:xfrm>
          <a:prstGeom prst="rect">
            <a:avLst/>
          </a:prstGeom>
          <a:solidFill>
            <a:srgbClr val="2F5496"/>
          </a:solidFill>
          <a:ln>
            <a:noFill/>
          </a:ln>
        </p:spPr>
      </p:sp>
      <p:sp>
        <p:nvSpPr>
          <p:cNvPr id="46" name="Text 36"/>
          <p:cNvSpPr txBox="1"/>
          <p:nvPr/>
        </p:nvSpPr>
        <p:spPr>
          <a:xfrm>
            <a:off x="5599750" y="4730880"/>
            <a:ext cx="1606904" cy="504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819" dirty="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47" name="Text 37"/>
          <p:cNvSpPr txBox="1"/>
          <p:nvPr/>
        </p:nvSpPr>
        <p:spPr>
          <a:xfrm>
            <a:off x="5757290" y="5235007"/>
            <a:ext cx="1291825" cy="7876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street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89" dirty="0">
                <a:solidFill>
                  <a:srgbClr val="000000"/>
                </a:solidFill>
              </a:rPr>
              <a:t>+String 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colors</a:t>
            </a:r>
          </a:p>
        </p:txBody>
      </p:sp>
      <p:sp>
        <p:nvSpPr>
          <p:cNvPr id="12" name="Fond clair" descr="A"/>
          <p:cNvSpPr/>
          <p:nvPr/>
        </p:nvSpPr>
        <p:spPr>
          <a:xfrm>
            <a:off x="3482587" y="1028700"/>
            <a:ext cx="863571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Fond clair</a:t>
            </a:r>
          </a:p>
        </p:txBody>
      </p:sp>
      <p:sp>
        <p:nvSpPr>
          <p:cNvPr id="13" name="Fond sombre" descr="B"/>
          <p:cNvSpPr/>
          <p:nvPr/>
        </p:nvSpPr>
        <p:spPr>
          <a:xfrm>
            <a:off x="3446268" y="1810555"/>
            <a:ext cx="936208" cy="378317"/>
          </a:xfrm>
          <a:prstGeom prst="rect">
            <a:avLst/>
          </a:prstGeom>
          <a:solidFill>
            <a:srgbClr val="1F3864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FFFFFF"/>
                </a:solidFill>
              </a:rPr>
              <a:t>Fond sombre</a:t>
            </a:r>
          </a:p>
        </p:txBody>
      </p:sp>
      <p:sp>
        <p:nvSpPr>
          <p:cNvPr id="14" name="Alerte" descr="C"/>
          <p:cNvSpPr/>
          <p:nvPr/>
        </p:nvSpPr>
        <p:spPr>
          <a:xfrm>
            <a:off x="3609701" y="2592410"/>
            <a:ext cx="609342" cy="378317"/>
          </a:xfrm>
          <a:prstGeom prst="rect">
            <a:avLst/>
          </a:prstGeom>
          <a:solidFill>
            <a:srgbClr val="FFD9D9"/>
          </a:solidFill>
          <a:ln w="6726" cap="flat" cmpd="sng" algn="ctr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Alerte</a:t>
            </a:r>
          </a:p>
        </p:txBody>
      </p:sp>
      <p:sp>
        <p:nvSpPr>
          <p:cNvPr id="15" name="Style direct" descr="D"/>
          <p:cNvSpPr/>
          <p:nvPr/>
        </p:nvSpPr>
        <p:spPr>
          <a:xfrm>
            <a:off x="3409950" y="3374265"/>
            <a:ext cx="1008845" cy="378317"/>
          </a:xfrm>
          <a:prstGeom prst="rect">
            <a:avLst/>
          </a:prstGeom>
          <a:solidFill>
            <a:srgbClr val="FFDD00"/>
          </a:solidFill>
          <a:ln w="6726" cap="flat" cmpd="sng" algn="ctr">
            <a:solidFill>
              <a:srgbClr val="33333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Style direct</a:t>
            </a:r>
          </a:p>
        </p:txBody>
      </p:sp>
      <p:sp>
        <p:nvSpPr>
          <p:cNvPr id="16" name="Lien vert" descr="E"/>
          <p:cNvSpPr/>
          <p:nvPr/>
        </p:nvSpPr>
        <p:spPr>
          <a:xfrm>
            <a:off x="3518905" y="4156120"/>
            <a:ext cx="790935" cy="378317"/>
          </a:xfrm>
          <a:prstGeom prst="rect">
            <a:avLst/>
          </a:prstGeom>
          <a:solidFill>
            <a:srgbClr val="D9E2F3"/>
          </a:solidFill>
          <a:ln w="6726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Lien vert</a:t>
            </a:r>
          </a:p>
        </p:txBody>
      </p:sp>
      <p:sp>
        <p:nvSpPr>
          <p:cNvPr id="17" name="Classe partagee" descr="F"/>
          <p:cNvSpPr/>
          <p:nvPr/>
        </p:nvSpPr>
        <p:spPr>
          <a:xfrm>
            <a:off x="3543118" y="4937975"/>
            <a:ext cx="742510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Classe partagee</a:t>
            </a:r>
          </a:p>
        </p:txBody>
      </p:sp>
      <p:sp>
        <p:nvSpPr>
          <p:cNvPr id="18" name="Autre classe partagee" descr="G"/>
          <p:cNvSpPr/>
          <p:nvPr/>
        </p:nvSpPr>
        <p:spPr>
          <a:xfrm>
            <a:off x="3409950" y="5871156"/>
            <a:ext cx="1008845" cy="529644"/>
          </a:xfrm>
          <a:prstGeom prst="rect">
            <a:avLst/>
          </a:prstGeom>
          <a:solidFill>
            <a:srgbClr val="CCE5FF"/>
          </a:solidFill>
          <a:ln w="6726" cap="flat" cmpd="sng" algn="ctr">
            <a:solidFill>
              <a:srgbClr val="0000C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8425" tIns="24212" rIns="48425" bIns="2421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50" dirty="0">
                <a:solidFill>
                  <a:srgbClr val="000000"/>
                </a:solidFill>
              </a:rPr>
              <a:t>Autre classe partagee</a:t>
            </a:r>
          </a:p>
        </p:txBody>
      </p:sp>
      <p:cxnSp>
        <p:nvCxnSpPr>
          <p:cNvPr id="19" name="A--B"/>
          <p:cNvCxnSpPr>
            <a:stCxn id="12" idx="2"/>
            <a:endCxn id="13" idx="0"/>
          </p:cNvCxnSpPr>
          <p:nvPr/>
        </p:nvCxnSpPr>
        <p:spPr>
          <a:xfrm>
            <a:off x="3914373" y="140701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B--C"/>
          <p:cNvCxnSpPr>
            <a:stCxn id="13" idx="2"/>
            <a:endCxn id="14" idx="0"/>
          </p:cNvCxnSpPr>
          <p:nvPr/>
        </p:nvCxnSpPr>
        <p:spPr>
          <a:xfrm>
            <a:off x="3914373" y="2188872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--D"/>
          <p:cNvCxnSpPr>
            <a:stCxn id="14" idx="2"/>
            <a:endCxn id="15" idx="0"/>
          </p:cNvCxnSpPr>
          <p:nvPr/>
        </p:nvCxnSpPr>
        <p:spPr>
          <a:xfrm>
            <a:off x="3914373" y="297072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--E"/>
          <p:cNvCxnSpPr>
            <a:stCxn id="15" idx="2"/>
            <a:endCxn id="16" idx="0"/>
          </p:cNvCxnSpPr>
          <p:nvPr/>
        </p:nvCxnSpPr>
        <p:spPr>
          <a:xfrm>
            <a:off x="3914373" y="3752582"/>
            <a:ext cx="0" cy="403538"/>
          </a:xfrm>
          <a:prstGeom prst="line">
            <a:avLst/>
          </a:prstGeom>
          <a:ln w="15133" cap="flat" cmpd="sng" algn="ctr">
            <a:solidFill>
              <a:srgbClr val="00AA00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--F"/>
          <p:cNvCxnSpPr>
            <a:stCxn id="16" idx="2"/>
            <a:endCxn id="17" idx="0"/>
          </p:cNvCxnSpPr>
          <p:nvPr/>
        </p:nvCxnSpPr>
        <p:spPr>
          <a:xfrm>
            <a:off x="3914373" y="4534437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--G"/>
          <p:cNvCxnSpPr>
            <a:stCxn id="17" idx="2"/>
            <a:endCxn id="18" idx="0"/>
          </p:cNvCxnSpPr>
          <p:nvPr/>
        </p:nvCxnSpPr>
        <p:spPr>
          <a:xfrm>
            <a:off x="3914373" y="5467618"/>
            <a:ext cx="0" cy="403538"/>
          </a:xfrm>
          <a:prstGeom prst="line">
            <a:avLst/>
          </a:prstGeom>
          <a:ln w="6726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crossing-stress-15node</a:t>
            </a:r>
          </a:p>
        </p:txBody>
      </p:sp>
      <p:sp>
        <p:nvSpPr>
          <p:cNvPr id="12" name="Start" descr="Start"/>
          <p:cNvSpPr/>
          <p:nvPr/>
        </p:nvSpPr>
        <p:spPr>
          <a:xfrm>
            <a:off x="4022862" y="1028700"/>
            <a:ext cx="436329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13" name="Gate 1" descr="Gate1"/>
          <p:cNvSpPr/>
          <p:nvPr/>
        </p:nvSpPr>
        <p:spPr>
          <a:xfrm>
            <a:off x="3777139" y="1664330"/>
            <a:ext cx="927774" cy="615126"/>
          </a:xfrm>
          <a:prstGeom prst="diamond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1</a:t>
            </a:r>
          </a:p>
        </p:txBody>
      </p:sp>
      <p:sp>
        <p:nvSpPr>
          <p:cNvPr id="14" name="N1" descr="N1"/>
          <p:cNvSpPr/>
          <p:nvPr/>
        </p:nvSpPr>
        <p:spPr>
          <a:xfrm>
            <a:off x="3486882" y="2607523"/>
            <a:ext cx="287059" cy="307563"/>
          </a:xfrm>
          <a:prstGeom prst="rect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N1</a:t>
            </a:r>
          </a:p>
        </p:txBody>
      </p:sp>
      <p:sp>
        <p:nvSpPr>
          <p:cNvPr id="15" name="N2" descr="N2"/>
          <p:cNvSpPr/>
          <p:nvPr/>
        </p:nvSpPr>
        <p:spPr>
          <a:xfrm>
            <a:off x="4097497" y="2607523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N2</a:t>
            </a:r>
          </a:p>
        </p:txBody>
      </p:sp>
      <p:sp>
        <p:nvSpPr>
          <p:cNvPr id="16" name="N3" descr="N3"/>
          <p:cNvSpPr/>
          <p:nvPr/>
        </p:nvSpPr>
        <p:spPr>
          <a:xfrm>
            <a:off x="4849099" y="2607523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N3</a:t>
            </a:r>
          </a:p>
        </p:txBody>
      </p:sp>
      <p:sp>
        <p:nvSpPr>
          <p:cNvPr id="17" name="Merge 1" descr="Merge1"/>
          <p:cNvSpPr/>
          <p:nvPr/>
        </p:nvSpPr>
        <p:spPr>
          <a:xfrm>
            <a:off x="3409950" y="3243153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1</a:t>
            </a:r>
          </a:p>
        </p:txBody>
      </p:sp>
      <p:sp>
        <p:nvSpPr>
          <p:cNvPr id="18" name="N4" descr="N4"/>
          <p:cNvSpPr/>
          <p:nvPr/>
        </p:nvSpPr>
        <p:spPr>
          <a:xfrm>
            <a:off x="4351257" y="3243153"/>
            <a:ext cx="287059" cy="307563"/>
          </a:xfrm>
          <a:prstGeom prst="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N4</a:t>
            </a:r>
          </a:p>
        </p:txBody>
      </p:sp>
      <p:sp>
        <p:nvSpPr>
          <p:cNvPr id="19" name="Skip target" descr="Skip"/>
          <p:cNvSpPr/>
          <p:nvPr/>
        </p:nvSpPr>
        <p:spPr>
          <a:xfrm>
            <a:off x="4653079" y="4821977"/>
            <a:ext cx="761116" cy="307563"/>
          </a:xfrm>
          <a:prstGeom prst="rect">
            <a:avLst/>
          </a:prstGeom>
          <a:solidFill>
            <a:srgbClr val="E1BEE7"/>
          </a:solidFill>
          <a:ln w="5468" cap="flat" cmpd="sng" algn="ctr">
            <a:solidFill>
              <a:srgbClr val="6A1B9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Skip target</a:t>
            </a:r>
          </a:p>
        </p:txBody>
      </p:sp>
      <p:sp>
        <p:nvSpPr>
          <p:cNvPr id="20" name="Gate 2" descr="Gate2"/>
          <p:cNvSpPr/>
          <p:nvPr/>
        </p:nvSpPr>
        <p:spPr>
          <a:xfrm>
            <a:off x="3533057" y="3878784"/>
            <a:ext cx="927774" cy="615126"/>
          </a:xfrm>
          <a:prstGeom prst="diamond">
            <a:avLst/>
          </a:prstGeom>
          <a:solidFill>
            <a:srgbClr val="FFCDD2"/>
          </a:solidFill>
          <a:ln w="5468" cap="flat" cmpd="sng" algn="ctr">
            <a:solidFill>
              <a:srgbClr val="C6282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Gate 2</a:t>
            </a:r>
          </a:p>
        </p:txBody>
      </p:sp>
      <p:sp>
        <p:nvSpPr>
          <p:cNvPr id="21" name="N5" descr="N5"/>
          <p:cNvSpPr/>
          <p:nvPr/>
        </p:nvSpPr>
        <p:spPr>
          <a:xfrm>
            <a:off x="3586860" y="4821977"/>
            <a:ext cx="287059" cy="307563"/>
          </a:xfrm>
          <a:prstGeom prst="rect">
            <a:avLst/>
          </a:prstGeom>
          <a:solidFill>
            <a:srgbClr val="FFF9C4"/>
          </a:solidFill>
          <a:ln w="5468" cap="flat" cmpd="sng" algn="ctr">
            <a:solidFill>
              <a:srgbClr val="F9A82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N5</a:t>
            </a:r>
          </a:p>
        </p:txBody>
      </p:sp>
      <p:sp>
        <p:nvSpPr>
          <p:cNvPr id="22" name="N6" descr="N6"/>
          <p:cNvSpPr/>
          <p:nvPr/>
        </p:nvSpPr>
        <p:spPr>
          <a:xfrm>
            <a:off x="4119969" y="4821977"/>
            <a:ext cx="287059" cy="307563"/>
          </a:xfrm>
          <a:prstGeom prst="rect">
            <a:avLst/>
          </a:prstGeom>
          <a:solidFill>
            <a:srgbClr val="BBDEFB"/>
          </a:solidFill>
          <a:ln w="5468" cap="flat" cmpd="sng" algn="ctr">
            <a:solidFill>
              <a:srgbClr val="1565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N6</a:t>
            </a:r>
          </a:p>
        </p:txBody>
      </p:sp>
      <p:sp>
        <p:nvSpPr>
          <p:cNvPr id="23" name="Merge 2" descr="Merge2"/>
          <p:cNvSpPr/>
          <p:nvPr/>
        </p:nvSpPr>
        <p:spPr>
          <a:xfrm>
            <a:off x="4002029" y="5457607"/>
            <a:ext cx="522939" cy="307563"/>
          </a:xfrm>
          <a:prstGeom prst="rect">
            <a:avLst/>
          </a:prstGeom>
          <a:solidFill>
            <a:srgbClr val="C8E6C9"/>
          </a:solidFill>
          <a:ln w="5468" cap="flat" cmpd="sng" algn="ctr">
            <a:solidFill>
              <a:srgbClr val="2E7D3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Merge 2</a:t>
            </a:r>
          </a:p>
        </p:txBody>
      </p:sp>
      <p:sp>
        <p:nvSpPr>
          <p:cNvPr id="24" name="End" descr="End"/>
          <p:cNvSpPr/>
          <p:nvPr/>
        </p:nvSpPr>
        <p:spPr>
          <a:xfrm>
            <a:off x="4104386" y="6093237"/>
            <a:ext cx="318225" cy="307563"/>
          </a:xfrm>
          <a:prstGeom prst="roundRect">
            <a:avLst/>
          </a:prstGeom>
          <a:solidFill>
            <a:srgbClr val="FFE0B2"/>
          </a:solidFill>
          <a:ln w="5468" cap="flat" cmpd="sng" algn="ctr">
            <a:solidFill>
              <a:srgbClr val="E651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368" tIns="19684" rIns="39368" bIns="19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500" dirty="0">
                <a:solidFill>
                  <a:srgbClr val="000000"/>
                </a:solidFill>
              </a:rPr>
              <a:t>End</a:t>
            </a:r>
          </a:p>
        </p:txBody>
      </p:sp>
      <p:cxnSp>
        <p:nvCxnSpPr>
          <p:cNvPr id="25" name="Start--Gate1"/>
          <p:cNvCxnSpPr>
            <a:stCxn id="12" idx="2"/>
            <a:endCxn id="13" idx="0"/>
          </p:cNvCxnSpPr>
          <p:nvPr/>
        </p:nvCxnSpPr>
        <p:spPr>
          <a:xfrm>
            <a:off x="4241026" y="1336263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ate1--N1"/>
          <p:cNvCxnSpPr>
            <a:stCxn id="13" idx="2"/>
            <a:endCxn id="14" idx="0"/>
          </p:cNvCxnSpPr>
          <p:nvPr/>
        </p:nvCxnSpPr>
        <p:spPr>
          <a:xfrm flipH="1">
            <a:off x="3630411" y="2279456"/>
            <a:ext cx="61061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3845500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a</a:t>
            </a:r>
          </a:p>
        </p:txBody>
      </p:sp>
      <p:cxnSp>
        <p:nvCxnSpPr>
          <p:cNvPr id="28" name="Gate1--N2"/>
          <p:cNvCxnSpPr>
            <a:stCxn id="13" idx="2"/>
            <a:endCxn id="15" idx="0"/>
          </p:cNvCxnSpPr>
          <p:nvPr/>
        </p:nvCxnSpPr>
        <p:spPr>
          <a:xfrm>
            <a:off x="4241026" y="2279456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dgeLabel"/>
          <p:cNvSpPr txBox="1"/>
          <p:nvPr/>
        </p:nvSpPr>
        <p:spPr>
          <a:xfrm>
            <a:off x="4150808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b</a:t>
            </a:r>
          </a:p>
        </p:txBody>
      </p:sp>
      <p:cxnSp>
        <p:nvCxnSpPr>
          <p:cNvPr id="30" name="Gate1--N3"/>
          <p:cNvCxnSpPr>
            <a:stCxn id="13" idx="2"/>
            <a:endCxn id="16" idx="0"/>
          </p:cNvCxnSpPr>
          <p:nvPr/>
        </p:nvCxnSpPr>
        <p:spPr>
          <a:xfrm>
            <a:off x="4241026" y="2279456"/>
            <a:ext cx="75160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Label"/>
          <p:cNvSpPr txBox="1"/>
          <p:nvPr/>
        </p:nvSpPr>
        <p:spPr>
          <a:xfrm>
            <a:off x="4526609" y="2394280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c</a:t>
            </a:r>
          </a:p>
        </p:txBody>
      </p:sp>
      <p:cxnSp>
        <p:nvCxnSpPr>
          <p:cNvPr id="32" name="N1--Merge1"/>
          <p:cNvCxnSpPr>
            <a:stCxn id="14" idx="2"/>
            <a:endCxn id="17" idx="0"/>
          </p:cNvCxnSpPr>
          <p:nvPr/>
        </p:nvCxnSpPr>
        <p:spPr>
          <a:xfrm>
            <a:off x="3630411" y="2915086"/>
            <a:ext cx="410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2--Merge1"/>
          <p:cNvCxnSpPr>
            <a:stCxn id="15" idx="2"/>
            <a:endCxn id="17" idx="0"/>
          </p:cNvCxnSpPr>
          <p:nvPr/>
        </p:nvCxnSpPr>
        <p:spPr>
          <a:xfrm flipH="1">
            <a:off x="3671420" y="2915086"/>
            <a:ext cx="569606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2--N4"/>
          <p:cNvCxnSpPr>
            <a:stCxn id="15" idx="2"/>
            <a:endCxn id="18" idx="0"/>
          </p:cNvCxnSpPr>
          <p:nvPr/>
        </p:nvCxnSpPr>
        <p:spPr>
          <a:xfrm>
            <a:off x="4241026" y="2915086"/>
            <a:ext cx="25376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3--N4"/>
          <p:cNvCxnSpPr>
            <a:stCxn id="16" idx="2"/>
            <a:endCxn id="18" idx="0"/>
          </p:cNvCxnSpPr>
          <p:nvPr/>
        </p:nvCxnSpPr>
        <p:spPr>
          <a:xfrm flipH="1">
            <a:off x="4494786" y="2915086"/>
            <a:ext cx="497842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3--Skip"/>
          <p:cNvCxnSpPr>
            <a:stCxn id="16" idx="2"/>
            <a:endCxn id="19" idx="0"/>
          </p:cNvCxnSpPr>
          <p:nvPr/>
        </p:nvCxnSpPr>
        <p:spPr>
          <a:xfrm>
            <a:off x="4992628" y="2915086"/>
            <a:ext cx="41008" cy="1906891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Merge1--Gate2"/>
          <p:cNvCxnSpPr>
            <a:stCxn id="17" idx="2"/>
            <a:endCxn id="20" idx="0"/>
          </p:cNvCxnSpPr>
          <p:nvPr/>
        </p:nvCxnSpPr>
        <p:spPr>
          <a:xfrm>
            <a:off x="3671420" y="3550716"/>
            <a:ext cx="325524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4--Gate2"/>
          <p:cNvCxnSpPr>
            <a:stCxn id="18" idx="2"/>
            <a:endCxn id="20" idx="0"/>
          </p:cNvCxnSpPr>
          <p:nvPr/>
        </p:nvCxnSpPr>
        <p:spPr>
          <a:xfrm flipH="1">
            <a:off x="3996944" y="3550716"/>
            <a:ext cx="497842" cy="328068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ate2--N5"/>
          <p:cNvCxnSpPr>
            <a:stCxn id="20" idx="2"/>
            <a:endCxn id="21" idx="0"/>
          </p:cNvCxnSpPr>
          <p:nvPr/>
        </p:nvCxnSpPr>
        <p:spPr>
          <a:xfrm flipH="1">
            <a:off x="3730390" y="4493910"/>
            <a:ext cx="266554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dgeLabel"/>
          <p:cNvSpPr txBox="1"/>
          <p:nvPr/>
        </p:nvSpPr>
        <p:spPr>
          <a:xfrm>
            <a:off x="3773448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x</a:t>
            </a:r>
          </a:p>
        </p:txBody>
      </p:sp>
      <p:cxnSp>
        <p:nvCxnSpPr>
          <p:cNvPr id="41" name="Gate2--N6"/>
          <p:cNvCxnSpPr>
            <a:stCxn id="20" idx="2"/>
            <a:endCxn id="22" idx="0"/>
          </p:cNvCxnSpPr>
          <p:nvPr/>
        </p:nvCxnSpPr>
        <p:spPr>
          <a:xfrm>
            <a:off x="3996944" y="4493910"/>
            <a:ext cx="266555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dgeLabel"/>
          <p:cNvSpPr txBox="1"/>
          <p:nvPr/>
        </p:nvSpPr>
        <p:spPr>
          <a:xfrm>
            <a:off x="4040003" y="4608733"/>
            <a:ext cx="180437" cy="98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6403" tIns="0" rIns="16403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50" dirty="0">
                <a:solidFill>
                  <a:srgbClr val="000000"/>
                </a:solidFill>
              </a:rPr>
              <a:t>y</a:t>
            </a:r>
          </a:p>
        </p:txBody>
      </p:sp>
      <p:cxnSp>
        <p:nvCxnSpPr>
          <p:cNvPr id="43" name="N5--Merge2"/>
          <p:cNvCxnSpPr>
            <a:stCxn id="21" idx="2"/>
            <a:endCxn id="23" idx="0"/>
          </p:cNvCxnSpPr>
          <p:nvPr/>
        </p:nvCxnSpPr>
        <p:spPr>
          <a:xfrm>
            <a:off x="3730390" y="5129540"/>
            <a:ext cx="533109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6--Merge2"/>
          <p:cNvCxnSpPr>
            <a:stCxn id="22" idx="2"/>
            <a:endCxn id="23" idx="0"/>
          </p:cNvCxnSpPr>
          <p:nvPr/>
        </p:nvCxnSpPr>
        <p:spPr>
          <a:xfrm>
            <a:off x="4263499" y="512954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kip--Merge2"/>
          <p:cNvCxnSpPr>
            <a:stCxn id="19" idx="1"/>
            <a:endCxn id="23" idx="3"/>
          </p:cNvCxnSpPr>
          <p:nvPr/>
        </p:nvCxnSpPr>
        <p:spPr>
          <a:xfrm flipH="1">
            <a:off x="4524968" y="4975758"/>
            <a:ext cx="128111" cy="635630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Merge2--End"/>
          <p:cNvCxnSpPr>
            <a:stCxn id="23" idx="2"/>
            <a:endCxn id="24" idx="0"/>
          </p:cNvCxnSpPr>
          <p:nvPr/>
        </p:nvCxnSpPr>
        <p:spPr>
          <a:xfrm>
            <a:off x="4263499" y="5765170"/>
            <a:ext cx="0" cy="328067"/>
          </a:xfrm>
          <a:prstGeom prst="line">
            <a:avLst/>
          </a:prstGeom>
          <a:ln w="5468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deck-A2.md</dc:title>
  <dc:creator>md2nativedocx</dc:creator>
  <cp:lastModifiedBy>md2nativedocx</cp:lastModifiedBy>
  <dcterms:created xsi:type="dcterms:W3CDTF">2026-10-05T12:04:15Z</dcterms:created>
  <dcterms:modified xsi:type="dcterms:W3CDTF">2026-10-05T12:04:15Z</dcterms:modified>
</cp:coreProperties>
</file>