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crossing-stress-bipartite</a:t>
            </a:r>
          </a:p>
        </p:txBody>
      </p:sp>
      <p:sp>
        <p:nvSpPr>
          <p:cNvPr id="12" name="A1" descr="A1"/>
          <p:cNvSpPr/>
          <p:nvPr/>
        </p:nvSpPr>
        <p:spPr>
          <a:xfrm>
            <a:off x="5135137" y="1028700"/>
            <a:ext cx="611459" cy="655134"/>
          </a:xfrm>
          <a:prstGeom prst="rect">
            <a:avLst/>
          </a:prstGeom>
          <a:solidFill>
            <a:srgbClr val="E1BEE7"/>
          </a:solidFill>
          <a:ln w="1164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A1</a:t>
            </a:r>
          </a:p>
        </p:txBody>
      </p:sp>
      <p:sp>
        <p:nvSpPr>
          <p:cNvPr id="13" name="B1" descr="B1"/>
          <p:cNvSpPr/>
          <p:nvPr/>
        </p:nvSpPr>
        <p:spPr>
          <a:xfrm>
            <a:off x="6445405" y="1618321"/>
            <a:ext cx="611459" cy="655134"/>
          </a:xfrm>
          <a:prstGeom prst="rect">
            <a:avLst/>
          </a:prstGeom>
          <a:solidFill>
            <a:srgbClr val="FFCDD2"/>
          </a:solidFill>
          <a:ln w="1164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B1</a:t>
            </a:r>
          </a:p>
        </p:txBody>
      </p:sp>
      <p:sp>
        <p:nvSpPr>
          <p:cNvPr id="14" name="B2" descr="B2"/>
          <p:cNvSpPr/>
          <p:nvPr/>
        </p:nvSpPr>
        <p:spPr>
          <a:xfrm>
            <a:off x="6445405" y="2797562"/>
            <a:ext cx="611459" cy="655134"/>
          </a:xfrm>
          <a:prstGeom prst="rect">
            <a:avLst/>
          </a:prstGeom>
          <a:solidFill>
            <a:srgbClr val="FFF9C4"/>
          </a:solidFill>
          <a:ln w="11647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B2</a:t>
            </a:r>
          </a:p>
        </p:txBody>
      </p:sp>
      <p:sp>
        <p:nvSpPr>
          <p:cNvPr id="15" name="B3" descr="B3"/>
          <p:cNvSpPr/>
          <p:nvPr/>
        </p:nvSpPr>
        <p:spPr>
          <a:xfrm>
            <a:off x="6445405" y="3976804"/>
            <a:ext cx="611459" cy="655134"/>
          </a:xfrm>
          <a:prstGeom prst="rect">
            <a:avLst/>
          </a:prstGeom>
          <a:solidFill>
            <a:srgbClr val="BBDEFB"/>
          </a:solidFill>
          <a:ln w="11647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B3</a:t>
            </a:r>
          </a:p>
        </p:txBody>
      </p:sp>
      <p:sp>
        <p:nvSpPr>
          <p:cNvPr id="16" name="A2" descr="A2"/>
          <p:cNvSpPr/>
          <p:nvPr/>
        </p:nvSpPr>
        <p:spPr>
          <a:xfrm>
            <a:off x="5135137" y="2382644"/>
            <a:ext cx="611459" cy="655134"/>
          </a:xfrm>
          <a:prstGeom prst="rect">
            <a:avLst/>
          </a:prstGeom>
          <a:solidFill>
            <a:srgbClr val="C8E6C9"/>
          </a:solidFill>
          <a:ln w="1164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A2</a:t>
            </a:r>
          </a:p>
        </p:txBody>
      </p:sp>
      <p:sp>
        <p:nvSpPr>
          <p:cNvPr id="17" name="B4" descr="B4"/>
          <p:cNvSpPr/>
          <p:nvPr/>
        </p:nvSpPr>
        <p:spPr>
          <a:xfrm>
            <a:off x="6445405" y="5156045"/>
            <a:ext cx="611459" cy="655134"/>
          </a:xfrm>
          <a:prstGeom prst="rect">
            <a:avLst/>
          </a:prstGeom>
          <a:solidFill>
            <a:srgbClr val="FFE0B2"/>
          </a:solidFill>
          <a:ln w="1164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B4</a:t>
            </a:r>
          </a:p>
        </p:txBody>
      </p:sp>
      <p:sp>
        <p:nvSpPr>
          <p:cNvPr id="18" name="A3" descr="A3"/>
          <p:cNvSpPr/>
          <p:nvPr/>
        </p:nvSpPr>
        <p:spPr>
          <a:xfrm>
            <a:off x="5135137" y="5745666"/>
            <a:ext cx="611459" cy="655134"/>
          </a:xfrm>
          <a:prstGeom prst="rect">
            <a:avLst/>
          </a:prstGeom>
          <a:solidFill>
            <a:srgbClr val="E1BEE7"/>
          </a:solidFill>
          <a:ln w="1164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A3</a:t>
            </a:r>
          </a:p>
        </p:txBody>
      </p:sp>
      <p:sp>
        <p:nvSpPr>
          <p:cNvPr id="19" name="A4" descr="A4"/>
          <p:cNvSpPr/>
          <p:nvPr/>
        </p:nvSpPr>
        <p:spPr>
          <a:xfrm>
            <a:off x="5135137" y="4391722"/>
            <a:ext cx="611459" cy="655134"/>
          </a:xfrm>
          <a:prstGeom prst="rect">
            <a:avLst/>
          </a:prstGeom>
          <a:solidFill>
            <a:srgbClr val="FFCDD2"/>
          </a:solidFill>
          <a:ln w="1164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A4</a:t>
            </a:r>
          </a:p>
        </p:txBody>
      </p:sp>
      <p:cxnSp>
        <p:nvCxnSpPr>
          <p:cNvPr id="20" name="A1--B1"/>
          <p:cNvCxnSpPr>
            <a:stCxn id="12" idx="3"/>
            <a:endCxn id="13" idx="1"/>
          </p:cNvCxnSpPr>
          <p:nvPr/>
        </p:nvCxnSpPr>
        <p:spPr>
          <a:xfrm>
            <a:off x="5746596" y="1356267"/>
            <a:ext cx="698809" cy="589621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1--B2"/>
          <p:cNvCxnSpPr>
            <a:stCxn id="12" idx="2"/>
            <a:endCxn id="14" idx="0"/>
          </p:cNvCxnSpPr>
          <p:nvPr/>
        </p:nvCxnSpPr>
        <p:spPr>
          <a:xfrm>
            <a:off x="5440866" y="1683834"/>
            <a:ext cx="1310269" cy="111372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1--B3"/>
          <p:cNvCxnSpPr>
            <a:stCxn id="12" idx="2"/>
            <a:endCxn id="15" idx="0"/>
          </p:cNvCxnSpPr>
          <p:nvPr/>
        </p:nvCxnSpPr>
        <p:spPr>
          <a:xfrm>
            <a:off x="5440866" y="1683834"/>
            <a:ext cx="1310269" cy="2292970"/>
          </a:xfrm>
          <a:custGeom>
            <a:avLst/>
            <a:gdLst/>
            <a:ahLst/>
            <a:cxnLst/>
            <a:rect l="0" t="0" r="0" b="0"/>
            <a:pathLst>
              <a:path w="1310269" h="2292970">
                <a:moveTo>
                  <a:pt x="0" y="0"/>
                </a:moveTo>
                <a:lnTo>
                  <a:pt x="655134" y="87351"/>
                </a:lnTo>
                <a:lnTo>
                  <a:pt x="1310269" y="2292970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2--B1"/>
          <p:cNvCxnSpPr>
            <a:stCxn id="16" idx="3"/>
            <a:endCxn id="13" idx="1"/>
          </p:cNvCxnSpPr>
          <p:nvPr/>
        </p:nvCxnSpPr>
        <p:spPr>
          <a:xfrm flipV="1">
            <a:off x="5746596" y="1945888"/>
            <a:ext cx="698809" cy="764323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2--B2"/>
          <p:cNvCxnSpPr>
            <a:stCxn id="16" idx="3"/>
            <a:endCxn id="14" idx="1"/>
          </p:cNvCxnSpPr>
          <p:nvPr/>
        </p:nvCxnSpPr>
        <p:spPr>
          <a:xfrm>
            <a:off x="5746596" y="2710211"/>
            <a:ext cx="698809" cy="41491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2--B4"/>
          <p:cNvCxnSpPr>
            <a:stCxn id="16" idx="2"/>
            <a:endCxn id="17" idx="0"/>
          </p:cNvCxnSpPr>
          <p:nvPr/>
        </p:nvCxnSpPr>
        <p:spPr>
          <a:xfrm>
            <a:off x="5440866" y="3037778"/>
            <a:ext cx="1310269" cy="2118267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3--B2"/>
          <p:cNvCxnSpPr>
            <a:stCxn id="18" idx="0"/>
            <a:endCxn id="14" idx="2"/>
          </p:cNvCxnSpPr>
          <p:nvPr/>
        </p:nvCxnSpPr>
        <p:spPr>
          <a:xfrm>
            <a:off x="5440866" y="3452696"/>
            <a:ext cx="1310269" cy="2292970"/>
          </a:xfrm>
          <a:custGeom>
            <a:avLst/>
            <a:gdLst/>
            <a:ahLst/>
            <a:cxnLst/>
            <a:rect l="0" t="0" r="0" b="0"/>
            <a:pathLst>
              <a:path w="1310269" h="2292970">
                <a:moveTo>
                  <a:pt x="0" y="2292970"/>
                </a:moveTo>
                <a:lnTo>
                  <a:pt x="655134" y="2205619"/>
                </a:lnTo>
                <a:lnTo>
                  <a:pt x="1310269" y="0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3--B3"/>
          <p:cNvCxnSpPr>
            <a:stCxn id="18" idx="0"/>
            <a:endCxn id="15" idx="2"/>
          </p:cNvCxnSpPr>
          <p:nvPr/>
        </p:nvCxnSpPr>
        <p:spPr>
          <a:xfrm flipV="1">
            <a:off x="5440866" y="4631938"/>
            <a:ext cx="1310269" cy="111372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3--B4"/>
          <p:cNvCxnSpPr>
            <a:stCxn id="18" idx="3"/>
            <a:endCxn id="17" idx="1"/>
          </p:cNvCxnSpPr>
          <p:nvPr/>
        </p:nvCxnSpPr>
        <p:spPr>
          <a:xfrm flipV="1">
            <a:off x="5746596" y="5483612"/>
            <a:ext cx="698809" cy="589621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4--B1"/>
          <p:cNvCxnSpPr>
            <a:stCxn id="19" idx="0"/>
            <a:endCxn id="13" idx="2"/>
          </p:cNvCxnSpPr>
          <p:nvPr/>
        </p:nvCxnSpPr>
        <p:spPr>
          <a:xfrm flipV="1">
            <a:off x="5440866" y="2273455"/>
            <a:ext cx="1310269" cy="2118267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4--B3"/>
          <p:cNvCxnSpPr>
            <a:stCxn id="19" idx="3"/>
            <a:endCxn id="15" idx="1"/>
          </p:cNvCxnSpPr>
          <p:nvPr/>
        </p:nvCxnSpPr>
        <p:spPr>
          <a:xfrm flipV="1">
            <a:off x="5746596" y="4304371"/>
            <a:ext cx="698809" cy="41491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4--B4"/>
          <p:cNvCxnSpPr>
            <a:stCxn id="19" idx="3"/>
            <a:endCxn id="17" idx="1"/>
          </p:cNvCxnSpPr>
          <p:nvPr/>
        </p:nvCxnSpPr>
        <p:spPr>
          <a:xfrm>
            <a:off x="5746596" y="4719289"/>
            <a:ext cx="698809" cy="764323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cycle</a:t>
            </a:r>
          </a:p>
        </p:txBody>
      </p:sp>
      <p:sp>
        <p:nvSpPr>
          <p:cNvPr id="12" name="Etat A" descr="A"/>
          <p:cNvSpPr/>
          <p:nvPr/>
        </p:nvSpPr>
        <p:spPr>
          <a:xfrm>
            <a:off x="5750793" y="1028700"/>
            <a:ext cx="1154007" cy="746125"/>
          </a:xfrm>
          <a:prstGeom prst="rect">
            <a:avLst/>
          </a:prstGeom>
          <a:solidFill>
            <a:srgbClr val="FFCDD2"/>
          </a:solidFill>
          <a:ln w="1326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Etat A</a:t>
            </a:r>
          </a:p>
        </p:txBody>
      </p:sp>
      <p:sp>
        <p:nvSpPr>
          <p:cNvPr id="13" name="Etat B" descr="B"/>
          <p:cNvSpPr/>
          <p:nvPr/>
        </p:nvSpPr>
        <p:spPr>
          <a:xfrm>
            <a:off x="5263325" y="2570692"/>
            <a:ext cx="1154007" cy="746125"/>
          </a:xfrm>
          <a:prstGeom prst="rect">
            <a:avLst/>
          </a:prstGeom>
          <a:solidFill>
            <a:srgbClr val="FFF9C4"/>
          </a:solidFill>
          <a:ln w="1326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Etat B</a:t>
            </a:r>
          </a:p>
        </p:txBody>
      </p:sp>
      <p:sp>
        <p:nvSpPr>
          <p:cNvPr id="14" name="Etat C" descr="C"/>
          <p:cNvSpPr/>
          <p:nvPr/>
        </p:nvSpPr>
        <p:spPr>
          <a:xfrm>
            <a:off x="5750793" y="4112683"/>
            <a:ext cx="1154007" cy="746125"/>
          </a:xfrm>
          <a:prstGeom prst="rect">
            <a:avLst/>
          </a:prstGeom>
          <a:solidFill>
            <a:srgbClr val="BBDEFB"/>
          </a:solidFill>
          <a:ln w="1326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Etat C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5726917" y="5654675"/>
            <a:ext cx="1201759" cy="746125"/>
          </a:xfrm>
          <a:prstGeom prst="rect">
            <a:avLst/>
          </a:prstGeom>
          <a:solidFill>
            <a:srgbClr val="C8E6C9"/>
          </a:solidFill>
          <a:ln w="1326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Sortie</a:t>
            </a:r>
          </a:p>
        </p:txBody>
      </p:sp>
      <p:cxnSp>
        <p:nvCxnSpPr>
          <p:cNvPr id="16" name="A--B"/>
          <p:cNvCxnSpPr>
            <a:stCxn id="12" idx="2"/>
            <a:endCxn id="13" idx="0"/>
          </p:cNvCxnSpPr>
          <p:nvPr/>
        </p:nvCxnSpPr>
        <p:spPr>
          <a:xfrm flipH="1">
            <a:off x="5840328" y="1774825"/>
            <a:ext cx="487468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B--C"/>
          <p:cNvCxnSpPr>
            <a:stCxn id="13" idx="2"/>
            <a:endCxn id="14" idx="0"/>
          </p:cNvCxnSpPr>
          <p:nvPr/>
        </p:nvCxnSpPr>
        <p:spPr>
          <a:xfrm>
            <a:off x="5840328" y="3316817"/>
            <a:ext cx="487468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--A"/>
          <p:cNvCxnSpPr>
            <a:stCxn id="14" idx="0"/>
            <a:endCxn id="12" idx="2"/>
          </p:cNvCxnSpPr>
          <p:nvPr/>
        </p:nvCxnSpPr>
        <p:spPr>
          <a:xfrm>
            <a:off x="6327796" y="1774825"/>
            <a:ext cx="487468" cy="2337858"/>
          </a:xfrm>
          <a:custGeom>
            <a:avLst/>
            <a:gdLst/>
            <a:ahLst/>
            <a:cxnLst/>
            <a:rect l="0" t="0" r="0" b="0"/>
            <a:pathLst>
              <a:path w="466725" h="2238375">
                <a:moveTo>
                  <a:pt x="0" y="2238375"/>
                </a:moveTo>
                <a:lnTo>
                  <a:pt x="466725" y="1857375"/>
                </a:lnTo>
                <a:lnTo>
                  <a:pt x="466725" y="1119188"/>
                </a:lnTo>
                <a:lnTo>
                  <a:pt x="466725" y="381000"/>
                </a:lnTo>
                <a:lnTo>
                  <a:pt x="0" y="0"/>
                </a:lnTo>
              </a:path>
            </a:pathLst>
          </a:cu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--D"/>
          <p:cNvCxnSpPr>
            <a:stCxn id="14" idx="2"/>
            <a:endCxn id="15" idx="0"/>
          </p:cNvCxnSpPr>
          <p:nvPr/>
        </p:nvCxnSpPr>
        <p:spPr>
          <a:xfrm>
            <a:off x="6327796" y="4858808"/>
            <a:ext cx="0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cynefin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3379770" y="1028700"/>
            <a:ext cx="5432461" cy="34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79" dirty="0">
                <a:solidFill>
                  <a:srgbClr val="000000"/>
                </a:solidFill>
              </a:rPr>
              <a:t>Strategy Categorization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6096000" y="2577957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5609091" y="2487416"/>
            <a:ext cx="973819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Pattern identified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7303213" y="3785171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5" name="Text 5"/>
          <p:cNvSpPr txBox="1"/>
          <p:nvPr/>
        </p:nvSpPr>
        <p:spPr>
          <a:xfrm>
            <a:off x="6731799" y="3694630"/>
            <a:ext cx="1142829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Best practice codified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6096000" y="4992384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7" name="Text 7"/>
          <p:cNvSpPr txBox="1"/>
          <p:nvPr/>
        </p:nvSpPr>
        <p:spPr>
          <a:xfrm>
            <a:off x="5766028" y="4901843"/>
            <a:ext cx="659943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Complacency</a:t>
            </a:r>
          </a:p>
        </p:txBody>
      </p:sp>
      <p:cxnSp>
        <p:nvCxnSpPr>
          <p:cNvPr id="18" name="Connector 8"/>
          <p:cNvCxnSpPr/>
          <p:nvPr/>
        </p:nvCxnSpPr>
        <p:spPr>
          <a:xfrm>
            <a:off x="4888787" y="3785171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9" name="Text 9"/>
          <p:cNvSpPr txBox="1"/>
          <p:nvPr/>
        </p:nvSpPr>
        <p:spPr>
          <a:xfrm>
            <a:off x="4582959" y="3694630"/>
            <a:ext cx="611655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Stabilized</a:t>
            </a:r>
          </a:p>
        </p:txBody>
      </p:sp>
      <p:sp>
        <p:nvSpPr>
          <p:cNvPr id="20" name="Complex"/>
          <p:cNvSpPr/>
          <p:nvPr/>
        </p:nvSpPr>
        <p:spPr>
          <a:xfrm>
            <a:off x="3681573" y="1370744"/>
            <a:ext cx="2414427" cy="2414427"/>
          </a:xfrm>
          <a:prstGeom prst="rect">
            <a:avLst/>
          </a:prstGeom>
          <a:solidFill>
            <a:srgbClr val="FFF2CC"/>
          </a:solidFill>
          <a:ln w="10060">
            <a:solidFill>
              <a:srgbClr val="BFBFBF"/>
            </a:solidFill>
          </a:ln>
        </p:spPr>
      </p:sp>
      <p:sp>
        <p:nvSpPr>
          <p:cNvPr id="21" name="Text 11"/>
          <p:cNvSpPr txBox="1"/>
          <p:nvPr/>
        </p:nvSpPr>
        <p:spPr>
          <a:xfrm>
            <a:off x="3741934" y="1410984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Complex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3741934" y="1612187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Probe → Sense → Respond — emergent practices</a:t>
            </a:r>
          </a:p>
        </p:txBody>
      </p:sp>
      <p:sp>
        <p:nvSpPr>
          <p:cNvPr id="23" name="Item Market research"/>
          <p:cNvSpPr/>
          <p:nvPr/>
        </p:nvSpPr>
        <p:spPr>
          <a:xfrm>
            <a:off x="3741934" y="1833509"/>
            <a:ext cx="828953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24" name="Text 14"/>
          <p:cNvSpPr txBox="1"/>
          <p:nvPr/>
        </p:nvSpPr>
        <p:spPr>
          <a:xfrm>
            <a:off x="3741934" y="1833509"/>
            <a:ext cx="828953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Market research</a:t>
            </a:r>
          </a:p>
        </p:txBody>
      </p:sp>
      <p:sp>
        <p:nvSpPr>
          <p:cNvPr id="25" name="Complicated"/>
          <p:cNvSpPr/>
          <p:nvPr/>
        </p:nvSpPr>
        <p:spPr>
          <a:xfrm>
            <a:off x="6096000" y="1370744"/>
            <a:ext cx="2414427" cy="2414427"/>
          </a:xfrm>
          <a:prstGeom prst="rect">
            <a:avLst/>
          </a:prstGeom>
          <a:solidFill>
            <a:srgbClr val="D9E2F3"/>
          </a:solidFill>
          <a:ln w="10060">
            <a:solidFill>
              <a:srgbClr val="BFBFBF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6156361" y="1410984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Complicated</a:t>
            </a:r>
          </a:p>
        </p:txBody>
      </p:sp>
      <p:sp>
        <p:nvSpPr>
          <p:cNvPr id="27" name="Text 17"/>
          <p:cNvSpPr txBox="1"/>
          <p:nvPr/>
        </p:nvSpPr>
        <p:spPr>
          <a:xfrm>
            <a:off x="6156361" y="1612187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Sense → Analyse → Respond — good practices</a:t>
            </a:r>
          </a:p>
        </p:txBody>
      </p:sp>
      <p:sp>
        <p:nvSpPr>
          <p:cNvPr id="28" name="Item Competitive analysis"/>
          <p:cNvSpPr/>
          <p:nvPr/>
        </p:nvSpPr>
        <p:spPr>
          <a:xfrm>
            <a:off x="6156361" y="1833509"/>
            <a:ext cx="1070396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29" name="Text 19"/>
          <p:cNvSpPr txBox="1"/>
          <p:nvPr/>
        </p:nvSpPr>
        <p:spPr>
          <a:xfrm>
            <a:off x="6156361" y="1833509"/>
            <a:ext cx="107039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Competitive analysis</a:t>
            </a:r>
          </a:p>
        </p:txBody>
      </p:sp>
      <p:sp>
        <p:nvSpPr>
          <p:cNvPr id="30" name="Chaotic"/>
          <p:cNvSpPr/>
          <p:nvPr/>
        </p:nvSpPr>
        <p:spPr>
          <a:xfrm>
            <a:off x="3681573" y="3785171"/>
            <a:ext cx="2414427" cy="2414427"/>
          </a:xfrm>
          <a:prstGeom prst="rect">
            <a:avLst/>
          </a:prstGeom>
          <a:solidFill>
            <a:srgbClr val="F8CBAD"/>
          </a:solidFill>
          <a:ln w="10060">
            <a:solidFill>
              <a:srgbClr val="BFBFBF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3741934" y="3825411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Chaotic</a:t>
            </a:r>
          </a:p>
        </p:txBody>
      </p:sp>
      <p:sp>
        <p:nvSpPr>
          <p:cNvPr id="32" name="Text 22"/>
          <p:cNvSpPr txBox="1"/>
          <p:nvPr/>
        </p:nvSpPr>
        <p:spPr>
          <a:xfrm>
            <a:off x="3741934" y="4026613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Act → Sense → Respond — novel practices</a:t>
            </a:r>
          </a:p>
        </p:txBody>
      </p:sp>
      <p:sp>
        <p:nvSpPr>
          <p:cNvPr id="33" name="Item Crisis management"/>
          <p:cNvSpPr/>
          <p:nvPr/>
        </p:nvSpPr>
        <p:spPr>
          <a:xfrm>
            <a:off x="3741934" y="4247936"/>
            <a:ext cx="925530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34" name="Text 24"/>
          <p:cNvSpPr txBox="1"/>
          <p:nvPr/>
        </p:nvSpPr>
        <p:spPr>
          <a:xfrm>
            <a:off x="3741934" y="4247936"/>
            <a:ext cx="925530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Crisis management</a:t>
            </a:r>
          </a:p>
        </p:txBody>
      </p:sp>
      <p:sp>
        <p:nvSpPr>
          <p:cNvPr id="35" name="Clear"/>
          <p:cNvSpPr/>
          <p:nvPr/>
        </p:nvSpPr>
        <p:spPr>
          <a:xfrm>
            <a:off x="6096000" y="3785171"/>
            <a:ext cx="2414427" cy="2414427"/>
          </a:xfrm>
          <a:prstGeom prst="rect">
            <a:avLst/>
          </a:prstGeom>
          <a:solidFill>
            <a:srgbClr val="E2EFDA"/>
          </a:solidFill>
          <a:ln w="10060">
            <a:solidFill>
              <a:srgbClr val="BFBFBF"/>
            </a:solidFill>
          </a:ln>
        </p:spPr>
      </p:sp>
      <p:sp>
        <p:nvSpPr>
          <p:cNvPr id="36" name="Text 26"/>
          <p:cNvSpPr txBox="1"/>
          <p:nvPr/>
        </p:nvSpPr>
        <p:spPr>
          <a:xfrm>
            <a:off x="6156361" y="3825411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Clear</a:t>
            </a:r>
          </a:p>
        </p:txBody>
      </p:sp>
      <p:sp>
        <p:nvSpPr>
          <p:cNvPr id="37" name="Text 27"/>
          <p:cNvSpPr txBox="1"/>
          <p:nvPr/>
        </p:nvSpPr>
        <p:spPr>
          <a:xfrm>
            <a:off x="6156361" y="4026613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Sense → Categorise → Respond — best practices</a:t>
            </a:r>
          </a:p>
        </p:txBody>
      </p:sp>
      <p:sp>
        <p:nvSpPr>
          <p:cNvPr id="38" name="Item Standard pricing"/>
          <p:cNvSpPr/>
          <p:nvPr/>
        </p:nvSpPr>
        <p:spPr>
          <a:xfrm>
            <a:off x="6156361" y="4247936"/>
            <a:ext cx="877242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39" name="Text 29"/>
          <p:cNvSpPr txBox="1"/>
          <p:nvPr/>
        </p:nvSpPr>
        <p:spPr>
          <a:xfrm>
            <a:off x="6156361" y="4247936"/>
            <a:ext cx="877242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Standard pricing</a:t>
            </a:r>
          </a:p>
        </p:txBody>
      </p:sp>
      <p:sp>
        <p:nvSpPr>
          <p:cNvPr id="40" name="Shape 30"/>
          <p:cNvSpPr/>
          <p:nvPr/>
        </p:nvSpPr>
        <p:spPr>
          <a:xfrm>
            <a:off x="5411912" y="3101083"/>
            <a:ext cx="1368175" cy="1368175"/>
          </a:xfrm>
          <a:prstGeom prst="ellipse">
            <a:avLst/>
          </a:prstGeom>
          <a:solidFill>
            <a:srgbClr val="D9D9D9"/>
          </a:solidFill>
          <a:ln w="10060">
            <a:solidFill>
              <a:srgbClr val="BFBFBF"/>
            </a:solidFill>
          </a:ln>
        </p:spPr>
      </p:sp>
      <p:sp>
        <p:nvSpPr>
          <p:cNvPr id="41" name="Text 31"/>
          <p:cNvSpPr txBox="1"/>
          <p:nvPr/>
        </p:nvSpPr>
        <p:spPr>
          <a:xfrm>
            <a:off x="5452153" y="3141324"/>
            <a:ext cx="1287694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45" dirty="0">
                <a:solidFill>
                  <a:srgbClr val="404040"/>
                </a:solidFill>
              </a:rPr>
              <a:t>Confusion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12" name="Debut" descr="A"/>
          <p:cNvSpPr/>
          <p:nvPr/>
        </p:nvSpPr>
        <p:spPr>
          <a:xfrm>
            <a:off x="5612948" y="1028700"/>
            <a:ext cx="929417" cy="655134"/>
          </a:xfrm>
          <a:prstGeom prst="rect">
            <a:avLst/>
          </a:prstGeom>
          <a:solidFill>
            <a:srgbClr val="FFF9C4"/>
          </a:solidFill>
          <a:ln w="11647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Choix" descr="B"/>
          <p:cNvSpPr/>
          <p:nvPr/>
        </p:nvSpPr>
        <p:spPr>
          <a:xfrm>
            <a:off x="5148240" y="2382644"/>
            <a:ext cx="1858834" cy="1310268"/>
          </a:xfrm>
          <a:prstGeom prst="diamond">
            <a:avLst/>
          </a:prstGeom>
          <a:solidFill>
            <a:srgbClr val="BBDEFB"/>
          </a:solidFill>
          <a:ln w="11647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Choix</a:t>
            </a:r>
          </a:p>
        </p:txBody>
      </p:sp>
      <p:sp>
        <p:nvSpPr>
          <p:cNvPr id="14" name="Action" descr="C"/>
          <p:cNvSpPr/>
          <p:nvPr/>
        </p:nvSpPr>
        <p:spPr>
          <a:xfrm>
            <a:off x="5988559" y="4391722"/>
            <a:ext cx="1055203" cy="655134"/>
          </a:xfrm>
          <a:prstGeom prst="rect">
            <a:avLst/>
          </a:prstGeom>
          <a:solidFill>
            <a:srgbClr val="C8E6C9"/>
          </a:solidFill>
          <a:ln w="1164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Action</a:t>
            </a:r>
          </a:p>
        </p:txBody>
      </p:sp>
      <p:sp>
        <p:nvSpPr>
          <p:cNvPr id="15" name="Fin" descr="D"/>
          <p:cNvSpPr/>
          <p:nvPr/>
        </p:nvSpPr>
        <p:spPr>
          <a:xfrm>
            <a:off x="5738734" y="5745666"/>
            <a:ext cx="677845" cy="655134"/>
          </a:xfrm>
          <a:prstGeom prst="rect">
            <a:avLst/>
          </a:prstGeom>
          <a:solidFill>
            <a:srgbClr val="FFE0B2"/>
          </a:solidFill>
          <a:ln w="1164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6" name="A--B"/>
          <p:cNvCxnSpPr>
            <a:stCxn id="12" idx="2"/>
            <a:endCxn id="13" idx="0"/>
          </p:cNvCxnSpPr>
          <p:nvPr/>
        </p:nvCxnSpPr>
        <p:spPr>
          <a:xfrm>
            <a:off x="6077657" y="1683834"/>
            <a:ext cx="0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B--C"/>
          <p:cNvCxnSpPr>
            <a:stCxn id="13" idx="2"/>
            <a:endCxn id="14" idx="0"/>
          </p:cNvCxnSpPr>
          <p:nvPr/>
        </p:nvCxnSpPr>
        <p:spPr>
          <a:xfrm>
            <a:off x="6077657" y="3692912"/>
            <a:ext cx="438503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geLabel"/>
          <p:cNvSpPr txBox="1"/>
          <p:nvPr/>
        </p:nvSpPr>
        <p:spPr>
          <a:xfrm>
            <a:off x="6076085" y="3937496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19" name="B--D"/>
          <p:cNvCxnSpPr>
            <a:stCxn id="13" idx="2"/>
            <a:endCxn id="15" idx="0"/>
          </p:cNvCxnSpPr>
          <p:nvPr/>
        </p:nvCxnSpPr>
        <p:spPr>
          <a:xfrm>
            <a:off x="5639154" y="3692912"/>
            <a:ext cx="438503" cy="2052754"/>
          </a:xfrm>
          <a:custGeom>
            <a:avLst/>
            <a:gdLst/>
            <a:ahLst/>
            <a:cxnLst/>
            <a:rect l="0" t="0" r="0" b="0"/>
            <a:pathLst>
              <a:path w="438503" h="2052754">
                <a:moveTo>
                  <a:pt x="438503" y="0"/>
                </a:moveTo>
                <a:lnTo>
                  <a:pt x="0" y="349405"/>
                </a:lnTo>
                <a:lnTo>
                  <a:pt x="0" y="1026377"/>
                </a:lnTo>
                <a:lnTo>
                  <a:pt x="0" y="1703349"/>
                </a:lnTo>
                <a:lnTo>
                  <a:pt x="438503" y="2052754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Label"/>
          <p:cNvSpPr txBox="1"/>
          <p:nvPr/>
        </p:nvSpPr>
        <p:spPr>
          <a:xfrm>
            <a:off x="5418330" y="4614468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1" name="C--D"/>
          <p:cNvCxnSpPr>
            <a:stCxn id="14" idx="2"/>
            <a:endCxn id="15" idx="0"/>
          </p:cNvCxnSpPr>
          <p:nvPr/>
        </p:nvCxnSpPr>
        <p:spPr>
          <a:xfrm flipH="1">
            <a:off x="6077657" y="5046856"/>
            <a:ext cx="438503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deck-A3.md</dc:title>
  <dc:creator>md2nativedocx</dc:creator>
  <cp:lastModifiedBy>md2nativedocx</cp:lastModifiedBy>
  <dcterms:created xsi:type="dcterms:W3CDTF">2026-10-05T12:04:16Z</dcterms:created>
  <dcterms:modified xsi:type="dcterms:W3CDTF">2026-10-05T12:04:16Z</dcterms:modified>
</cp:coreProperties>
</file>