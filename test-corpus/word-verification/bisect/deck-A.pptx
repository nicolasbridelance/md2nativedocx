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architecture-diagram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663691" y="1870412"/>
            <a:ext cx="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6130510" y="3281516"/>
            <a:ext cx="40568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3" name="Connector 3"/>
          <p:cNvCxnSpPr/>
          <p:nvPr/>
        </p:nvCxnSpPr>
        <p:spPr>
          <a:xfrm>
            <a:off x="6791190" y="3281516"/>
            <a:ext cx="492614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7324373" y="4506949"/>
            <a:ext cx="1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sp>
        <p:nvSpPr>
          <p:cNvPr id="15" name="Public API"/>
          <p:cNvSpPr/>
          <p:nvPr/>
        </p:nvSpPr>
        <p:spPr>
          <a:xfrm>
            <a:off x="4401591" y="1325775"/>
            <a:ext cx="1177159" cy="544637"/>
          </a:xfrm>
          <a:prstGeom prst="cloud">
            <a:avLst/>
          </a:prstGeom>
          <a:solidFill>
            <a:srgbClr val="FCE4D6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Public API</a:t>
            </a:r>
          </a:p>
        </p:txBody>
      </p:sp>
      <p:sp>
        <p:nvSpPr>
          <p:cNvPr id="16" name="My Database"/>
          <p:cNvSpPr/>
          <p:nvPr/>
        </p:nvSpPr>
        <p:spPr>
          <a:xfrm>
            <a:off x="5387198" y="4147984"/>
            <a:ext cx="1231621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My Database</a:t>
            </a:r>
          </a:p>
        </p:txBody>
      </p:sp>
      <p:sp>
        <p:nvSpPr>
          <p:cNvPr id="17" name="Server"/>
          <p:cNvSpPr/>
          <p:nvPr/>
        </p:nvSpPr>
        <p:spPr>
          <a:xfrm>
            <a:off x="6230457" y="2736879"/>
            <a:ext cx="866468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18" name="Storage"/>
          <p:cNvSpPr/>
          <p:nvPr/>
        </p:nvSpPr>
        <p:spPr>
          <a:xfrm>
            <a:off x="6858336" y="5559088"/>
            <a:ext cx="932072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9" name="Gateway"/>
          <p:cNvSpPr/>
          <p:nvPr/>
        </p:nvSpPr>
        <p:spPr>
          <a:xfrm>
            <a:off x="6197656" y="1325775"/>
            <a:ext cx="932072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Gateway</a:t>
            </a:r>
          </a:p>
        </p:txBody>
      </p:sp>
      <p:sp>
        <p:nvSpPr>
          <p:cNvPr id="20" name="j1"/>
          <p:cNvSpPr/>
          <p:nvPr/>
        </p:nvSpPr>
        <p:spPr>
          <a:xfrm>
            <a:off x="7237726" y="4333656"/>
            <a:ext cx="173294" cy="173294"/>
          </a:xfrm>
          <a:prstGeom prst="ellipse">
            <a:avLst/>
          </a:prstGeom>
          <a:solidFill>
            <a:srgbClr val="2F549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bidirectional</a:t>
            </a:r>
          </a:p>
        </p:txBody>
      </p:sp>
      <p:sp>
        <p:nvSpPr>
          <p:cNvPr id="12" name="Client" descr="A"/>
          <p:cNvSpPr/>
          <p:nvPr/>
        </p:nvSpPr>
        <p:spPr>
          <a:xfrm>
            <a:off x="457200" y="3065319"/>
            <a:ext cx="2092036" cy="1298864"/>
          </a:xfrm>
          <a:prstGeom prst="rect">
            <a:avLst/>
          </a:prstGeom>
          <a:solidFill>
            <a:srgbClr val="BBDEFB"/>
          </a:solidFill>
          <a:ln w="23091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3" name="Cache" descr="B"/>
          <p:cNvSpPr/>
          <p:nvPr/>
        </p:nvSpPr>
        <p:spPr>
          <a:xfrm>
            <a:off x="4059382" y="1896341"/>
            <a:ext cx="1842655" cy="1298864"/>
          </a:xfrm>
          <a:prstGeom prst="rect">
            <a:avLst/>
          </a:prstGeom>
          <a:solidFill>
            <a:srgbClr val="C8E6C9"/>
          </a:solidFill>
          <a:ln w="23091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Cache</a:t>
            </a:r>
          </a:p>
        </p:txBody>
      </p:sp>
      <p:sp>
        <p:nvSpPr>
          <p:cNvPr id="14" name="Base" descr="C"/>
          <p:cNvSpPr/>
          <p:nvPr/>
        </p:nvSpPr>
        <p:spPr>
          <a:xfrm>
            <a:off x="7412182" y="1896341"/>
            <a:ext cx="1593273" cy="1298864"/>
          </a:xfrm>
          <a:prstGeom prst="rect">
            <a:avLst/>
          </a:prstGeom>
          <a:solidFill>
            <a:srgbClr val="FFE0B2"/>
          </a:solidFill>
          <a:ln w="23091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Base</a:t>
            </a:r>
          </a:p>
        </p:txBody>
      </p:sp>
      <p:sp>
        <p:nvSpPr>
          <p:cNvPr id="15" name="Log" descr="D"/>
          <p:cNvSpPr/>
          <p:nvPr/>
        </p:nvSpPr>
        <p:spPr>
          <a:xfrm>
            <a:off x="10390909" y="1896341"/>
            <a:ext cx="1343891" cy="1298864"/>
          </a:xfrm>
          <a:prstGeom prst="rect">
            <a:avLst/>
          </a:prstGeom>
          <a:solidFill>
            <a:srgbClr val="E1BEE7"/>
          </a:solidFill>
          <a:ln w="23091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Log</a:t>
            </a:r>
          </a:p>
        </p:txBody>
      </p:sp>
      <p:sp>
        <p:nvSpPr>
          <p:cNvPr id="16" name="Direct" descr="E"/>
          <p:cNvSpPr/>
          <p:nvPr/>
        </p:nvSpPr>
        <p:spPr>
          <a:xfrm>
            <a:off x="3934691" y="4234295"/>
            <a:ext cx="2092036" cy="1298864"/>
          </a:xfrm>
          <a:prstGeom prst="rect">
            <a:avLst/>
          </a:prstGeom>
          <a:solidFill>
            <a:srgbClr val="FFCDD2"/>
          </a:solidFill>
          <a:ln w="23091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66255" tIns="83127" rIns="166255" bIns="831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182" dirty="0">
                <a:solidFill>
                  <a:srgbClr val="000000"/>
                </a:solidFill>
              </a:rPr>
              <a:t>Direct</a:t>
            </a:r>
          </a:p>
        </p:txBody>
      </p:sp>
      <p:cxnSp>
        <p:nvCxnSpPr>
          <p:cNvPr id="17" name="A--B"/>
          <p:cNvCxnSpPr>
            <a:stCxn id="12" idx="3"/>
            <a:endCxn id="13" idx="1"/>
          </p:cNvCxnSpPr>
          <p:nvPr/>
        </p:nvCxnSpPr>
        <p:spPr>
          <a:xfrm flipV="1">
            <a:off x="2549236" y="2545774"/>
            <a:ext cx="1510145" cy="1168976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A"/>
          <p:cNvCxnSpPr>
            <a:stCxn id="13" idx="1"/>
            <a:endCxn id="12" idx="3"/>
          </p:cNvCxnSpPr>
          <p:nvPr/>
        </p:nvCxnSpPr>
        <p:spPr>
          <a:xfrm flipH="1">
            <a:off x="2549236" y="2545774"/>
            <a:ext cx="1510145" cy="1168976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B--C"/>
          <p:cNvCxnSpPr>
            <a:stCxn id="13" idx="3"/>
            <a:endCxn id="14" idx="1"/>
          </p:cNvCxnSpPr>
          <p:nvPr/>
        </p:nvCxnSpPr>
        <p:spPr>
          <a:xfrm>
            <a:off x="5902036" y="2545774"/>
            <a:ext cx="151014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--B"/>
          <p:cNvCxnSpPr>
            <a:stCxn id="14" idx="1"/>
            <a:endCxn id="13" idx="3"/>
          </p:cNvCxnSpPr>
          <p:nvPr/>
        </p:nvCxnSpPr>
        <p:spPr>
          <a:xfrm flipH="1">
            <a:off x="5902036" y="2545774"/>
            <a:ext cx="151014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3"/>
            <a:endCxn id="15" idx="1"/>
          </p:cNvCxnSpPr>
          <p:nvPr/>
        </p:nvCxnSpPr>
        <p:spPr>
          <a:xfrm>
            <a:off x="9005455" y="2545774"/>
            <a:ext cx="1385455" cy="0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B"/>
          <p:cNvCxnSpPr>
            <a:stCxn id="15" idx="1"/>
            <a:endCxn id="13" idx="3"/>
          </p:cNvCxnSpPr>
          <p:nvPr/>
        </p:nvCxnSpPr>
        <p:spPr>
          <a:xfrm>
            <a:off x="5902036" y="2545774"/>
            <a:ext cx="4488873" cy="1342158"/>
          </a:xfrm>
          <a:custGeom>
            <a:avLst/>
            <a:gdLst/>
            <a:ahLst/>
            <a:cxnLst/>
            <a:rect l="0" t="0" r="0" b="0"/>
            <a:pathLst>
              <a:path w="2468880" h="738187">
                <a:moveTo>
                  <a:pt x="2468880" y="0"/>
                </a:moveTo>
                <a:lnTo>
                  <a:pt x="2087880" y="738187"/>
                </a:lnTo>
                <a:lnTo>
                  <a:pt x="1268730" y="738187"/>
                </a:lnTo>
                <a:lnTo>
                  <a:pt x="449580" y="738187"/>
                </a:lnTo>
                <a:lnTo>
                  <a:pt x="0" y="0"/>
                </a:lnTo>
              </a:path>
            </a:pathLst>
          </a:cu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--E"/>
          <p:cNvCxnSpPr>
            <a:stCxn id="12" idx="3"/>
            <a:endCxn id="16" idx="1"/>
          </p:cNvCxnSpPr>
          <p:nvPr/>
        </p:nvCxnSpPr>
        <p:spPr>
          <a:xfrm>
            <a:off x="2549236" y="3714750"/>
            <a:ext cx="1385455" cy="1168978"/>
          </a:xfrm>
          <a:prstGeom prst="line">
            <a:avLst/>
          </a:prstGeom>
          <a:ln w="23091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block</a:t>
            </a:r>
          </a:p>
        </p:txBody>
      </p:sp>
      <p:sp>
        <p:nvSpPr>
          <p:cNvPr id="11" name="Block doc"/>
          <p:cNvSpPr/>
          <p:nvPr/>
        </p:nvSpPr>
        <p:spPr>
          <a:xfrm>
            <a:off x="2322739" y="1455057"/>
            <a:ext cx="2344964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2" name="Box 2"/>
          <p:cNvSpPr/>
          <p:nvPr/>
        </p:nvSpPr>
        <p:spPr>
          <a:xfrm>
            <a:off x="2322739" y="1455057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Document</a:t>
            </a:r>
          </a:p>
        </p:txBody>
      </p:sp>
      <p:sp>
        <p:nvSpPr>
          <p:cNvPr id="13" name="Block db"/>
          <p:cNvSpPr/>
          <p:nvPr/>
        </p:nvSpPr>
        <p:spPr>
          <a:xfrm>
            <a:off x="7524296" y="1455057"/>
            <a:ext cx="2344964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4" name="Box 4"/>
          <p:cNvSpPr/>
          <p:nvPr/>
        </p:nvSpPr>
        <p:spPr>
          <a:xfrm>
            <a:off x="7524296" y="1455057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15" name="Group pipeline"/>
          <p:cNvSpPr/>
          <p:nvPr/>
        </p:nvSpPr>
        <p:spPr>
          <a:xfrm>
            <a:off x="2322739" y="2904671"/>
            <a:ext cx="7546521" cy="1620157"/>
          </a:xfrm>
          <a:prstGeom prst="roundRect">
            <a:avLst/>
          </a:prstGeom>
          <a:solidFill>
            <a:srgbClr val="F5F5F5"/>
          </a:solidFill>
          <a:ln w="21318">
            <a:solidFill>
              <a:srgbClr val="BFBFBF"/>
            </a:solidFill>
          </a:ln>
        </p:spPr>
      </p:sp>
      <p:sp>
        <p:nvSpPr>
          <p:cNvPr id="16" name="Block parse"/>
          <p:cNvSpPr/>
          <p:nvPr/>
        </p:nvSpPr>
        <p:spPr>
          <a:xfrm>
            <a:off x="2535918" y="3117850"/>
            <a:ext cx="2202845" cy="1193800"/>
          </a:xfrm>
          <a:prstGeom prst="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7" name="Box 7"/>
          <p:cNvSpPr/>
          <p:nvPr/>
        </p:nvSpPr>
        <p:spPr>
          <a:xfrm>
            <a:off x="2535918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8" name="Block layout"/>
          <p:cNvSpPr/>
          <p:nvPr/>
        </p:nvSpPr>
        <p:spPr>
          <a:xfrm>
            <a:off x="4994577" y="3117850"/>
            <a:ext cx="2202845" cy="1193800"/>
          </a:xfrm>
          <a:prstGeom prst="round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19" name="Box 9"/>
          <p:cNvSpPr/>
          <p:nvPr/>
        </p:nvSpPr>
        <p:spPr>
          <a:xfrm>
            <a:off x="4994577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Layout</a:t>
            </a:r>
          </a:p>
        </p:txBody>
      </p:sp>
      <p:sp>
        <p:nvSpPr>
          <p:cNvPr id="20" name="Block emit"/>
          <p:cNvSpPr/>
          <p:nvPr/>
        </p:nvSpPr>
        <p:spPr>
          <a:xfrm>
            <a:off x="7453237" y="3117850"/>
            <a:ext cx="2202845" cy="1193800"/>
          </a:xfrm>
          <a:prstGeom prst="roundRect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21" name="Box 11"/>
          <p:cNvSpPr/>
          <p:nvPr/>
        </p:nvSpPr>
        <p:spPr>
          <a:xfrm>
            <a:off x="7453237" y="3117850"/>
            <a:ext cx="2202845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Emit</a:t>
            </a:r>
          </a:p>
        </p:txBody>
      </p:sp>
      <p:sp>
        <p:nvSpPr>
          <p:cNvPr id="22" name="Block a"/>
          <p:cNvSpPr/>
          <p:nvPr/>
        </p:nvSpPr>
        <p:spPr>
          <a:xfrm>
            <a:off x="2322739" y="4780643"/>
            <a:ext cx="2344964" cy="1193800"/>
          </a:xfrm>
          <a:prstGeom prst="rect">
            <a:avLst/>
          </a:prstGeom>
          <a:solidFill>
            <a:srgbClr val="FDE68A"/>
          </a:solidFill>
          <a:ln w="21318">
            <a:solidFill>
              <a:srgbClr val="B45309"/>
            </a:solidFill>
          </a:ln>
        </p:spPr>
      </p:sp>
      <p:sp>
        <p:nvSpPr>
          <p:cNvPr id="23" name="Box 13"/>
          <p:cNvSpPr/>
          <p:nvPr/>
        </p:nvSpPr>
        <p:spPr>
          <a:xfrm>
            <a:off x="2322739" y="4780643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24" name="Shape 14"/>
          <p:cNvSpPr/>
          <p:nvPr/>
        </p:nvSpPr>
        <p:spPr>
          <a:xfrm>
            <a:off x="7524296" y="4780643"/>
            <a:ext cx="2344964" cy="1193800"/>
          </a:xfrm>
          <a:prstGeom prst="ellipse">
            <a:avLst/>
          </a:prstGeom>
          <a:solidFill>
            <a:srgbClr val="DAE8FC"/>
          </a:solidFill>
          <a:ln w="21318">
            <a:solidFill>
              <a:srgbClr val="6C8EBF"/>
            </a:solidFill>
          </a:ln>
        </p:spPr>
      </p:sp>
      <p:sp>
        <p:nvSpPr>
          <p:cNvPr id="25" name="Box 15"/>
          <p:cNvSpPr/>
          <p:nvPr/>
        </p:nvSpPr>
        <p:spPr>
          <a:xfrm>
            <a:off x="7524296" y="4780643"/>
            <a:ext cx="2344964" cy="1193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462" dirty="0">
                <a:solidFill>
                  <a:srgbClr val="000000"/>
                </a:solidFill>
              </a:rPr>
              <a:t>Out</a:t>
            </a:r>
          </a:p>
        </p:txBody>
      </p:sp>
      <p:cxnSp>
        <p:nvCxnSpPr>
          <p:cNvPr id="26" name="Connector 16"/>
          <p:cNvCxnSpPr/>
          <p:nvPr/>
        </p:nvCxnSpPr>
        <p:spPr>
          <a:xfrm>
            <a:off x="3546239" y="2648857"/>
            <a:ext cx="40084" cy="468993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7" name="Connector 17"/>
          <p:cNvCxnSpPr/>
          <p:nvPr/>
        </p:nvCxnSpPr>
        <p:spPr>
          <a:xfrm flipV="1">
            <a:off x="8605677" y="2648857"/>
            <a:ext cx="40084" cy="468993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cxnSp>
        <p:nvCxnSpPr>
          <p:cNvPr id="28" name="Connector 18"/>
          <p:cNvCxnSpPr/>
          <p:nvPr/>
        </p:nvCxnSpPr>
        <p:spPr>
          <a:xfrm>
            <a:off x="4667704" y="5377543"/>
            <a:ext cx="2856593" cy="2"/>
          </a:xfrm>
          <a:prstGeom prst="line">
            <a:avLst/>
          </a:prstGeom>
          <a:ln w="28424">
            <a:solidFill>
              <a:srgbClr val="404040"/>
            </a:solidFill>
            <a:prstDash val="solid"/>
            <a:tailEnd type="triangle" w="sm" len="sm"/>
          </a:ln>
        </p:spPr>
      </p:cxnSp>
      <p:sp>
        <p:nvSpPr>
          <p:cNvPr id="29" name="Box 19"/>
          <p:cNvSpPr/>
          <p:nvPr/>
        </p:nvSpPr>
        <p:spPr>
          <a:xfrm>
            <a:off x="5680303" y="5185682"/>
            <a:ext cx="831396" cy="3837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14" dirty="0">
                <a:solidFill>
                  <a:srgbClr val="000000"/>
                </a:solidFill>
              </a:rPr>
              <a:t>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bt-direction</a:t>
            </a:r>
          </a:p>
        </p:txBody>
      </p:sp>
      <p:sp>
        <p:nvSpPr>
          <p:cNvPr id="12" name="Entree" descr="A"/>
          <p:cNvSpPr/>
          <p:nvPr/>
        </p:nvSpPr>
        <p:spPr>
          <a:xfrm>
            <a:off x="5568399" y="5745666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Entree</a:t>
            </a:r>
          </a:p>
        </p:txBody>
      </p:sp>
      <p:sp>
        <p:nvSpPr>
          <p:cNvPr id="13" name="Traitement" descr="B"/>
          <p:cNvSpPr/>
          <p:nvPr/>
        </p:nvSpPr>
        <p:spPr>
          <a:xfrm>
            <a:off x="5316828" y="4391722"/>
            <a:ext cx="1558346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Traitement</a:t>
            </a:r>
          </a:p>
        </p:txBody>
      </p:sp>
      <p:sp>
        <p:nvSpPr>
          <p:cNvPr id="14" name="Valide?" descr="C"/>
          <p:cNvSpPr/>
          <p:nvPr/>
        </p:nvSpPr>
        <p:spPr>
          <a:xfrm>
            <a:off x="4915012" y="2382644"/>
            <a:ext cx="2361977" cy="1310268"/>
          </a:xfrm>
          <a:prstGeom prst="diamond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Valide?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4778744" y="1028700"/>
            <a:ext cx="1055203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Sortie</a:t>
            </a:r>
          </a:p>
        </p:txBody>
      </p:sp>
      <p:sp>
        <p:nvSpPr>
          <p:cNvPr id="16" name="Erreur" descr="E"/>
          <p:cNvSpPr/>
          <p:nvPr/>
        </p:nvSpPr>
        <p:spPr>
          <a:xfrm>
            <a:off x="6358054" y="1028700"/>
            <a:ext cx="1055203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Erreur</a:t>
            </a:r>
          </a:p>
        </p:txBody>
      </p:sp>
      <p:cxnSp>
        <p:nvCxnSpPr>
          <p:cNvPr id="17" name="A--B"/>
          <p:cNvCxnSpPr>
            <a:stCxn id="12" idx="0"/>
            <a:endCxn id="13" idx="2"/>
          </p:cNvCxnSpPr>
          <p:nvPr/>
        </p:nvCxnSpPr>
        <p:spPr>
          <a:xfrm flipV="1">
            <a:off x="6096000" y="5046856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--C"/>
          <p:cNvCxnSpPr>
            <a:stCxn id="13" idx="0"/>
            <a:endCxn id="14" idx="2"/>
          </p:cNvCxnSpPr>
          <p:nvPr/>
        </p:nvCxnSpPr>
        <p:spPr>
          <a:xfrm flipV="1">
            <a:off x="6096000" y="3692912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0"/>
            <a:endCxn id="15" idx="2"/>
          </p:cNvCxnSpPr>
          <p:nvPr/>
        </p:nvCxnSpPr>
        <p:spPr>
          <a:xfrm flipH="1" flipV="1">
            <a:off x="5306345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5480349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1" name="C--E"/>
          <p:cNvCxnSpPr>
            <a:stCxn id="14" idx="0"/>
            <a:endCxn id="16" idx="2"/>
          </p:cNvCxnSpPr>
          <p:nvPr/>
        </p:nvCxnSpPr>
        <p:spPr>
          <a:xfrm flipV="1">
            <a:off x="6096000" y="1683834"/>
            <a:ext cx="789655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dgeLabel"/>
          <p:cNvSpPr txBox="1"/>
          <p:nvPr/>
        </p:nvSpPr>
        <p:spPr>
          <a:xfrm>
            <a:off x="6270004" y="192841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c4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2347449" y="1028700"/>
            <a:ext cx="7497103" cy="19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000000"/>
                </a:solidFill>
              </a:rPr>
              <a:t>Container diagram for Internet Banking System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4981173" y="2726377"/>
            <a:ext cx="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4771871" y="2871726"/>
            <a:ext cx="41860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4033048" y="2726377"/>
            <a:ext cx="800319" cy="1290699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4223905" y="3313587"/>
            <a:ext cx="41860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5288548" y="2726377"/>
            <a:ext cx="1664323" cy="1290699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6027686" y="3313587"/>
            <a:ext cx="186047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</a:t>
            </a:r>
          </a:p>
        </p:txBody>
      </p:sp>
      <p:cxnSp>
        <p:nvCxnSpPr>
          <p:cNvPr id="18" name="Connector 8"/>
          <p:cNvCxnSpPr/>
          <p:nvPr/>
        </p:nvCxnSpPr>
        <p:spPr>
          <a:xfrm flipH="1">
            <a:off x="4180855" y="3610099"/>
            <a:ext cx="504705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4284370" y="3755448"/>
            <a:ext cx="29767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Delivers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4795605" y="4493821"/>
            <a:ext cx="1554278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1" name="Text 11"/>
          <p:cNvSpPr txBox="1"/>
          <p:nvPr/>
        </p:nvSpPr>
        <p:spPr>
          <a:xfrm>
            <a:off x="5193674" y="4639170"/>
            <a:ext cx="758141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7260246" y="4493821"/>
            <a:ext cx="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3" name="Text 13"/>
          <p:cNvSpPr txBox="1"/>
          <p:nvPr/>
        </p:nvSpPr>
        <p:spPr>
          <a:xfrm>
            <a:off x="6881176" y="4639170"/>
            <a:ext cx="758141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5636258" y="5377543"/>
            <a:ext cx="1024136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5" name="Text 15"/>
          <p:cNvSpPr txBox="1"/>
          <p:nvPr/>
        </p:nvSpPr>
        <p:spPr>
          <a:xfrm>
            <a:off x="5627395" y="5522892"/>
            <a:ext cx="1041862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Reads from and writes to [sync, JDBC]</a:t>
            </a:r>
          </a:p>
        </p:txBody>
      </p:sp>
      <p:cxnSp>
        <p:nvCxnSpPr>
          <p:cNvPr id="26" name="Connector 16"/>
          <p:cNvCxnSpPr/>
          <p:nvPr/>
        </p:nvCxnSpPr>
        <p:spPr>
          <a:xfrm flipH="1">
            <a:off x="5691194" y="1837534"/>
            <a:ext cx="1227482" cy="412098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7" name="Text 17"/>
          <p:cNvSpPr txBox="1"/>
          <p:nvPr/>
        </p:nvSpPr>
        <p:spPr>
          <a:xfrm>
            <a:off x="6058423" y="1985443"/>
            <a:ext cx="493024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Sends e-mails to</a:t>
            </a:r>
          </a:p>
        </p:txBody>
      </p:sp>
      <p:cxnSp>
        <p:nvCxnSpPr>
          <p:cNvPr id="28" name="Connector 18"/>
          <p:cNvCxnSpPr/>
          <p:nvPr/>
        </p:nvCxnSpPr>
        <p:spPr>
          <a:xfrm flipV="1">
            <a:off x="7284064" y="1842655"/>
            <a:ext cx="305563" cy="3058143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9" name="Text 19"/>
          <p:cNvSpPr txBox="1"/>
          <p:nvPr/>
        </p:nvSpPr>
        <p:spPr>
          <a:xfrm>
            <a:off x="6971728" y="3313587"/>
            <a:ext cx="930234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Sends e-mails using [sync, SMTP]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7515085" y="5377543"/>
            <a:ext cx="43509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31" name="Text 21"/>
          <p:cNvSpPr txBox="1"/>
          <p:nvPr/>
        </p:nvSpPr>
        <p:spPr>
          <a:xfrm>
            <a:off x="7300072" y="5522892"/>
            <a:ext cx="865117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[sync/async, XML/HTTPS]</a:t>
            </a:r>
          </a:p>
        </p:txBody>
      </p:sp>
      <p:sp>
        <p:nvSpPr>
          <p:cNvPr id="32" name="E-Mail System"/>
          <p:cNvSpPr/>
          <p:nvPr/>
        </p:nvSpPr>
        <p:spPr>
          <a:xfrm>
            <a:off x="6918676" y="1365910"/>
            <a:ext cx="1389537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3" name="E-Mail System title"/>
          <p:cNvSpPr/>
          <p:nvPr/>
        </p:nvSpPr>
        <p:spPr>
          <a:xfrm>
            <a:off x="6918676" y="1365910"/>
            <a:ext cx="1389537" cy="18604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4" name="Divider"/>
          <p:cNvSpPr/>
          <p:nvPr/>
        </p:nvSpPr>
        <p:spPr>
          <a:xfrm>
            <a:off x="6918676" y="1549050"/>
            <a:ext cx="1389537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5" name="Text 25"/>
          <p:cNvSpPr txBox="1"/>
          <p:nvPr/>
        </p:nvSpPr>
        <p:spPr>
          <a:xfrm>
            <a:off x="6918676" y="1365910"/>
            <a:ext cx="1389537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E-Mail System</a:t>
            </a:r>
          </a:p>
        </p:txBody>
      </p:sp>
      <p:sp>
        <p:nvSpPr>
          <p:cNvPr id="36" name="Text 26"/>
          <p:cNvSpPr txBox="1"/>
          <p:nvPr/>
        </p:nvSpPr>
        <p:spPr>
          <a:xfrm>
            <a:off x="6976816" y="1551957"/>
            <a:ext cx="1273257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The internal Microsoft Exchange system</a:t>
            </a:r>
          </a:p>
        </p:txBody>
      </p:sp>
      <p:sp>
        <p:nvSpPr>
          <p:cNvPr id="37" name="Customer"/>
          <p:cNvSpPr/>
          <p:nvPr/>
        </p:nvSpPr>
        <p:spPr>
          <a:xfrm>
            <a:off x="4100358" y="2249632"/>
            <a:ext cx="1761630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8" name="Customer title"/>
          <p:cNvSpPr/>
          <p:nvPr/>
        </p:nvSpPr>
        <p:spPr>
          <a:xfrm>
            <a:off x="4100358" y="2249632"/>
            <a:ext cx="1761630" cy="186047"/>
          </a:xfrm>
          <a:prstGeom prst="rect">
            <a:avLst/>
          </a:prstGeom>
          <a:solidFill>
            <a:srgbClr val="FFE699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4100358" y="2432772"/>
            <a:ext cx="1761630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4100358" y="2249632"/>
            <a:ext cx="1761630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4158498" y="2435679"/>
            <a:ext cx="1645350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[Person]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A customer of the bank, with personal bank accounts</a:t>
            </a:r>
          </a:p>
        </p:txBody>
      </p:sp>
      <p:sp>
        <p:nvSpPr>
          <p:cNvPr id="42" name="Single-Page App"/>
          <p:cNvSpPr/>
          <p:nvPr/>
        </p:nvSpPr>
        <p:spPr>
          <a:xfrm>
            <a:off x="2486984" y="4017076"/>
            <a:ext cx="2796515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3" name="Single-Page App title"/>
          <p:cNvSpPr/>
          <p:nvPr/>
        </p:nvSpPr>
        <p:spPr>
          <a:xfrm>
            <a:off x="2486984" y="4017076"/>
            <a:ext cx="2796515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4" name="Divider"/>
          <p:cNvSpPr/>
          <p:nvPr/>
        </p:nvSpPr>
        <p:spPr>
          <a:xfrm>
            <a:off x="2486984" y="4200216"/>
            <a:ext cx="2796515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5" name="Text 35"/>
          <p:cNvSpPr txBox="1"/>
          <p:nvPr/>
        </p:nvSpPr>
        <p:spPr>
          <a:xfrm>
            <a:off x="2486984" y="4017076"/>
            <a:ext cx="2796515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Single-Page App</a:t>
            </a:r>
          </a:p>
        </p:txBody>
      </p:sp>
      <p:sp>
        <p:nvSpPr>
          <p:cNvPr id="46" name="Text 36"/>
          <p:cNvSpPr txBox="1"/>
          <p:nvPr/>
        </p:nvSpPr>
        <p:spPr>
          <a:xfrm>
            <a:off x="2545124" y="4203123"/>
            <a:ext cx="2680235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[Container: JavaScript, Angular]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all the Internet banking functionality to customers via their web browser</a:t>
            </a:r>
          </a:p>
        </p:txBody>
      </p:sp>
      <p:sp>
        <p:nvSpPr>
          <p:cNvPr id="47" name="Mobile App"/>
          <p:cNvSpPr/>
          <p:nvPr/>
        </p:nvSpPr>
        <p:spPr>
          <a:xfrm>
            <a:off x="5574197" y="4017076"/>
            <a:ext cx="3372097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8" name="Mobile App title"/>
          <p:cNvSpPr/>
          <p:nvPr/>
        </p:nvSpPr>
        <p:spPr>
          <a:xfrm>
            <a:off x="5574197" y="4017076"/>
            <a:ext cx="3372097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9" name="Divider"/>
          <p:cNvSpPr/>
          <p:nvPr/>
        </p:nvSpPr>
        <p:spPr>
          <a:xfrm>
            <a:off x="5574197" y="4200216"/>
            <a:ext cx="3372097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0" name="Text 40"/>
          <p:cNvSpPr txBox="1"/>
          <p:nvPr/>
        </p:nvSpPr>
        <p:spPr>
          <a:xfrm>
            <a:off x="5574197" y="4017076"/>
            <a:ext cx="3372097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Mobile App</a:t>
            </a:r>
          </a:p>
        </p:txBody>
      </p:sp>
      <p:sp>
        <p:nvSpPr>
          <p:cNvPr id="51" name="Text 41"/>
          <p:cNvSpPr txBox="1"/>
          <p:nvPr/>
        </p:nvSpPr>
        <p:spPr>
          <a:xfrm>
            <a:off x="5632337" y="4203123"/>
            <a:ext cx="3255817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External: C#, Xamarin]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a limited subset of the Internet banking functionality to customers via their mobile device</a:t>
            </a:r>
          </a:p>
        </p:txBody>
      </p:sp>
      <p:sp>
        <p:nvSpPr>
          <p:cNvPr id="52" name="Web Application"/>
          <p:cNvSpPr/>
          <p:nvPr/>
        </p:nvSpPr>
        <p:spPr>
          <a:xfrm>
            <a:off x="4001521" y="3133354"/>
            <a:ext cx="1959305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3" name="Web Application title"/>
          <p:cNvSpPr/>
          <p:nvPr/>
        </p:nvSpPr>
        <p:spPr>
          <a:xfrm>
            <a:off x="4001521" y="3133354"/>
            <a:ext cx="1959305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4" name="Divider"/>
          <p:cNvSpPr/>
          <p:nvPr/>
        </p:nvSpPr>
        <p:spPr>
          <a:xfrm>
            <a:off x="4001521" y="3316494"/>
            <a:ext cx="1959305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5" name="Text 45"/>
          <p:cNvSpPr txBox="1"/>
          <p:nvPr/>
        </p:nvSpPr>
        <p:spPr>
          <a:xfrm>
            <a:off x="4001521" y="3133354"/>
            <a:ext cx="1959305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Web Application</a:t>
            </a:r>
          </a:p>
        </p:txBody>
      </p:sp>
      <p:sp>
        <p:nvSpPr>
          <p:cNvPr id="56" name="Text 46"/>
          <p:cNvSpPr txBox="1"/>
          <p:nvPr/>
        </p:nvSpPr>
        <p:spPr>
          <a:xfrm>
            <a:off x="4059661" y="3319401"/>
            <a:ext cx="1843025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[Container: Java, Spring MVC]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Delivers the static content and the Internet banking SPA</a:t>
            </a:r>
          </a:p>
        </p:txBody>
      </p:sp>
      <p:sp>
        <p:nvSpPr>
          <p:cNvPr id="57" name="Database"/>
          <p:cNvSpPr/>
          <p:nvPr/>
        </p:nvSpPr>
        <p:spPr>
          <a:xfrm>
            <a:off x="3658497" y="5784520"/>
            <a:ext cx="2755818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8" name="Database title"/>
          <p:cNvSpPr/>
          <p:nvPr/>
        </p:nvSpPr>
        <p:spPr>
          <a:xfrm>
            <a:off x="3658497" y="5784520"/>
            <a:ext cx="2755818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9" name="Divider"/>
          <p:cNvSpPr/>
          <p:nvPr/>
        </p:nvSpPr>
        <p:spPr>
          <a:xfrm>
            <a:off x="3658497" y="5967660"/>
            <a:ext cx="2755818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0" name="Text 50"/>
          <p:cNvSpPr txBox="1"/>
          <p:nvPr/>
        </p:nvSpPr>
        <p:spPr>
          <a:xfrm>
            <a:off x="3658497" y="5784520"/>
            <a:ext cx="2755818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61" name="Text 51"/>
          <p:cNvSpPr txBox="1"/>
          <p:nvPr/>
        </p:nvSpPr>
        <p:spPr>
          <a:xfrm>
            <a:off x="3716637" y="5970567"/>
            <a:ext cx="2639538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Database: SQL Database]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Stores user registration information, hashed auth credentials, access logs, etc.</a:t>
            </a:r>
          </a:p>
        </p:txBody>
      </p:sp>
      <p:sp>
        <p:nvSpPr>
          <p:cNvPr id="62" name="API Application"/>
          <p:cNvSpPr/>
          <p:nvPr/>
        </p:nvSpPr>
        <p:spPr>
          <a:xfrm>
            <a:off x="6268966" y="4900798"/>
            <a:ext cx="1982561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3" name="API Application title"/>
          <p:cNvSpPr/>
          <p:nvPr/>
        </p:nvSpPr>
        <p:spPr>
          <a:xfrm>
            <a:off x="6268966" y="4900798"/>
            <a:ext cx="1982561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64" name="Divider"/>
          <p:cNvSpPr/>
          <p:nvPr/>
        </p:nvSpPr>
        <p:spPr>
          <a:xfrm>
            <a:off x="6268966" y="5083938"/>
            <a:ext cx="1982561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5" name="Text 55"/>
          <p:cNvSpPr txBox="1"/>
          <p:nvPr/>
        </p:nvSpPr>
        <p:spPr>
          <a:xfrm>
            <a:off x="6268966" y="4900798"/>
            <a:ext cx="1982561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API Application</a:t>
            </a:r>
          </a:p>
        </p:txBody>
      </p:sp>
      <p:sp>
        <p:nvSpPr>
          <p:cNvPr id="66" name="Text 56"/>
          <p:cNvSpPr txBox="1"/>
          <p:nvPr/>
        </p:nvSpPr>
        <p:spPr>
          <a:xfrm>
            <a:off x="6327106" y="5086845"/>
            <a:ext cx="1866281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External, Database: Java, Docker Container]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Internet banking functionality via API</a:t>
            </a:r>
          </a:p>
        </p:txBody>
      </p:sp>
      <p:sp>
        <p:nvSpPr>
          <p:cNvPr id="67" name="Mainframe Banking System"/>
          <p:cNvSpPr/>
          <p:nvPr/>
        </p:nvSpPr>
        <p:spPr>
          <a:xfrm>
            <a:off x="6705013" y="5784520"/>
            <a:ext cx="3000004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8" name="Mainframe Banking System title"/>
          <p:cNvSpPr/>
          <p:nvPr/>
        </p:nvSpPr>
        <p:spPr>
          <a:xfrm>
            <a:off x="6705013" y="5784520"/>
            <a:ext cx="3000004" cy="18604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69" name="Divider"/>
          <p:cNvSpPr/>
          <p:nvPr/>
        </p:nvSpPr>
        <p:spPr>
          <a:xfrm>
            <a:off x="6705013" y="5967660"/>
            <a:ext cx="3000004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70" name="Text 60"/>
          <p:cNvSpPr txBox="1"/>
          <p:nvPr/>
        </p:nvSpPr>
        <p:spPr>
          <a:xfrm>
            <a:off x="6705013" y="5784520"/>
            <a:ext cx="3000004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Mainframe Banking System</a:t>
            </a:r>
          </a:p>
        </p:txBody>
      </p:sp>
      <p:sp>
        <p:nvSpPr>
          <p:cNvPr id="71" name="Text 61"/>
          <p:cNvSpPr txBox="1"/>
          <p:nvPr/>
        </p:nvSpPr>
        <p:spPr>
          <a:xfrm>
            <a:off x="6763153" y="5970567"/>
            <a:ext cx="2883724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Stores all of the core banking information about customers, accounts, transactions,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class-diagram</a:t>
            </a:r>
          </a:p>
        </p:txBody>
      </p:sp>
      <p:cxnSp>
        <p:nvCxnSpPr>
          <p:cNvPr id="11" name="Connector 1"/>
          <p:cNvCxnSpPr/>
          <p:nvPr/>
        </p:nvCxnSpPr>
        <p:spPr>
          <a:xfrm flipV="1">
            <a:off x="7348440" y="2363361"/>
            <a:ext cx="1102777" cy="384114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2" name="Connector 2"/>
          <p:cNvCxnSpPr/>
          <p:nvPr/>
        </p:nvCxnSpPr>
        <p:spPr>
          <a:xfrm>
            <a:off x="7348440" y="3405955"/>
            <a:ext cx="1150039" cy="400576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3" name="Connector 3"/>
          <p:cNvCxnSpPr/>
          <p:nvPr/>
        </p:nvCxnSpPr>
        <p:spPr>
          <a:xfrm flipV="1">
            <a:off x="4355188" y="3426094"/>
            <a:ext cx="1102777" cy="407608"/>
          </a:xfrm>
          <a:prstGeom prst="line">
            <a:avLst/>
          </a:prstGeom>
          <a:ln w="1575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4660814" y="3472358"/>
            <a:ext cx="491524" cy="31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23" dirty="0">
                <a:solidFill>
                  <a:srgbClr val="000000"/>
                </a:solidFill>
              </a:rPr>
              <a:t>owns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4355188" y="4619805"/>
            <a:ext cx="1244563" cy="460016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diamond" w="lg" len="lg"/>
          </a:ln>
        </p:spPr>
      </p:cxnSp>
      <p:sp>
        <p:nvSpPr>
          <p:cNvPr id="16" name="Text 6"/>
          <p:cNvSpPr txBox="1"/>
          <p:nvPr/>
        </p:nvSpPr>
        <p:spPr>
          <a:xfrm>
            <a:off x="4769516" y="4692274"/>
            <a:ext cx="415905" cy="31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23" dirty="0">
                <a:solidFill>
                  <a:srgbClr val="000000"/>
                </a:solidFill>
              </a:rPr>
              <a:t>has</a:t>
            </a:r>
          </a:p>
        </p:txBody>
      </p:sp>
      <p:sp>
        <p:nvSpPr>
          <p:cNvPr id="17" name="Animal"/>
          <p:cNvSpPr/>
          <p:nvPr/>
        </p:nvSpPr>
        <p:spPr>
          <a:xfrm>
            <a:off x="5457965" y="2210247"/>
            <a:ext cx="1890475" cy="1732935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18" name="Animal title"/>
          <p:cNvSpPr/>
          <p:nvPr/>
        </p:nvSpPr>
        <p:spPr>
          <a:xfrm>
            <a:off x="5457965" y="2210247"/>
            <a:ext cx="1890475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5457965" y="2706496"/>
            <a:ext cx="1890475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Divider"/>
          <p:cNvSpPr/>
          <p:nvPr/>
        </p:nvSpPr>
        <p:spPr>
          <a:xfrm>
            <a:off x="5457965" y="3494194"/>
            <a:ext cx="1890475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5457965" y="2210247"/>
            <a:ext cx="1890475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Animal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5615504" y="2714374"/>
            <a:ext cx="1575396" cy="787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+int age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5615504" y="3502072"/>
            <a:ext cx="1575396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+makeSound() void</a:t>
            </a:r>
          </a:p>
        </p:txBody>
      </p:sp>
      <p:sp>
        <p:nvSpPr>
          <p:cNvPr id="24" name="Dog"/>
          <p:cNvSpPr/>
          <p:nvPr/>
        </p:nvSpPr>
        <p:spPr>
          <a:xfrm>
            <a:off x="8451217" y="1406795"/>
            <a:ext cx="1512380" cy="138634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25" name="Dog title"/>
          <p:cNvSpPr/>
          <p:nvPr/>
        </p:nvSpPr>
        <p:spPr>
          <a:xfrm>
            <a:off x="8451217" y="1406795"/>
            <a:ext cx="1512380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6" name="Divider"/>
          <p:cNvSpPr/>
          <p:nvPr/>
        </p:nvSpPr>
        <p:spPr>
          <a:xfrm>
            <a:off x="8451217" y="1903044"/>
            <a:ext cx="1512380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7" name="Divider"/>
          <p:cNvSpPr/>
          <p:nvPr/>
        </p:nvSpPr>
        <p:spPr>
          <a:xfrm>
            <a:off x="8451217" y="2344155"/>
            <a:ext cx="1512380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8" name="Text 18"/>
          <p:cNvSpPr txBox="1"/>
          <p:nvPr/>
        </p:nvSpPr>
        <p:spPr>
          <a:xfrm>
            <a:off x="8451217" y="1406795"/>
            <a:ext cx="1512380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Dog</a:t>
            </a:r>
          </a:p>
        </p:txBody>
      </p:sp>
      <p:sp>
        <p:nvSpPr>
          <p:cNvPr id="29" name="Text 19"/>
          <p:cNvSpPr txBox="1"/>
          <p:nvPr/>
        </p:nvSpPr>
        <p:spPr>
          <a:xfrm>
            <a:off x="8608756" y="1910922"/>
            <a:ext cx="1197301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breed</a:t>
            </a:r>
          </a:p>
        </p:txBody>
      </p:sp>
      <p:sp>
        <p:nvSpPr>
          <p:cNvPr id="30" name="Text 20"/>
          <p:cNvSpPr txBox="1"/>
          <p:nvPr/>
        </p:nvSpPr>
        <p:spPr>
          <a:xfrm>
            <a:off x="8608756" y="2352033"/>
            <a:ext cx="1197301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1" name="Cat"/>
          <p:cNvSpPr/>
          <p:nvPr/>
        </p:nvSpPr>
        <p:spPr>
          <a:xfrm>
            <a:off x="8498479" y="3580841"/>
            <a:ext cx="1417856" cy="94523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32" name="Cat title"/>
          <p:cNvSpPr/>
          <p:nvPr/>
        </p:nvSpPr>
        <p:spPr>
          <a:xfrm>
            <a:off x="8498479" y="3580841"/>
            <a:ext cx="1417856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3" name="Divider"/>
          <p:cNvSpPr/>
          <p:nvPr/>
        </p:nvSpPr>
        <p:spPr>
          <a:xfrm>
            <a:off x="8498479" y="4077090"/>
            <a:ext cx="1417856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4" name="Text 24"/>
          <p:cNvSpPr txBox="1"/>
          <p:nvPr/>
        </p:nvSpPr>
        <p:spPr>
          <a:xfrm>
            <a:off x="8498479" y="3580841"/>
            <a:ext cx="1417856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35" name="Text 25"/>
          <p:cNvSpPr txBox="1"/>
          <p:nvPr/>
        </p:nvSpPr>
        <p:spPr>
          <a:xfrm>
            <a:off x="8656018" y="4084968"/>
            <a:ext cx="1102777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6" name="Owner"/>
          <p:cNvSpPr/>
          <p:nvPr/>
        </p:nvSpPr>
        <p:spPr>
          <a:xfrm>
            <a:off x="2228403" y="3533579"/>
            <a:ext cx="2126784" cy="138634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37" name="Owner title"/>
          <p:cNvSpPr/>
          <p:nvPr/>
        </p:nvSpPr>
        <p:spPr>
          <a:xfrm>
            <a:off x="2228403" y="3533579"/>
            <a:ext cx="2126784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8" name="Divider"/>
          <p:cNvSpPr/>
          <p:nvPr/>
        </p:nvSpPr>
        <p:spPr>
          <a:xfrm>
            <a:off x="2228403" y="4029828"/>
            <a:ext cx="212678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2228403" y="4470939"/>
            <a:ext cx="212678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2228403" y="3533579"/>
            <a:ext cx="2126784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Owner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2385943" y="4037706"/>
            <a:ext cx="1811705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name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2385943" y="4478817"/>
            <a:ext cx="1811705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+feed(Animal a) void</a:t>
            </a:r>
          </a:p>
        </p:txBody>
      </p:sp>
      <p:sp>
        <p:nvSpPr>
          <p:cNvPr id="43" name="Address"/>
          <p:cNvSpPr/>
          <p:nvPr/>
        </p:nvSpPr>
        <p:spPr>
          <a:xfrm>
            <a:off x="5599750" y="4730880"/>
            <a:ext cx="1606904" cy="1291825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44" name="Address title"/>
          <p:cNvSpPr/>
          <p:nvPr/>
        </p:nvSpPr>
        <p:spPr>
          <a:xfrm>
            <a:off x="5599750" y="4730880"/>
            <a:ext cx="1606904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45" name="Divider"/>
          <p:cNvSpPr/>
          <p:nvPr/>
        </p:nvSpPr>
        <p:spPr>
          <a:xfrm>
            <a:off x="5599750" y="5227129"/>
            <a:ext cx="160690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6" name="Text 36"/>
          <p:cNvSpPr txBox="1"/>
          <p:nvPr/>
        </p:nvSpPr>
        <p:spPr>
          <a:xfrm>
            <a:off x="5599750" y="4730880"/>
            <a:ext cx="1606904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47" name="Text 37"/>
          <p:cNvSpPr txBox="1"/>
          <p:nvPr/>
        </p:nvSpPr>
        <p:spPr>
          <a:xfrm>
            <a:off x="5757290" y="5235007"/>
            <a:ext cx="1291825" cy="787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street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colors</a:t>
            </a:r>
          </a:p>
        </p:txBody>
      </p:sp>
      <p:sp>
        <p:nvSpPr>
          <p:cNvPr id="12" name="Fond clair" descr="A"/>
          <p:cNvSpPr/>
          <p:nvPr/>
        </p:nvSpPr>
        <p:spPr>
          <a:xfrm>
            <a:off x="3482587" y="1028700"/>
            <a:ext cx="863571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Fond clair</a:t>
            </a:r>
          </a:p>
        </p:txBody>
      </p:sp>
      <p:sp>
        <p:nvSpPr>
          <p:cNvPr id="13" name="Fond sombre" descr="B"/>
          <p:cNvSpPr/>
          <p:nvPr/>
        </p:nvSpPr>
        <p:spPr>
          <a:xfrm>
            <a:off x="3446268" y="1810555"/>
            <a:ext cx="936208" cy="378317"/>
          </a:xfrm>
          <a:prstGeom prst="rect">
            <a:avLst/>
          </a:prstGeom>
          <a:solidFill>
            <a:srgbClr val="1F3864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FFFFFF"/>
                </a:solidFill>
              </a:rPr>
              <a:t>Fond sombre</a:t>
            </a:r>
          </a:p>
        </p:txBody>
      </p:sp>
      <p:sp>
        <p:nvSpPr>
          <p:cNvPr id="14" name="Alerte" descr="C"/>
          <p:cNvSpPr/>
          <p:nvPr/>
        </p:nvSpPr>
        <p:spPr>
          <a:xfrm>
            <a:off x="3609701" y="2592410"/>
            <a:ext cx="609342" cy="378317"/>
          </a:xfrm>
          <a:prstGeom prst="rect">
            <a:avLst/>
          </a:prstGeom>
          <a:solidFill>
            <a:srgbClr val="FFD9D9"/>
          </a:solidFill>
          <a:ln w="6726" cap="flat" cmpd="sng" algn="ctr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Alerte</a:t>
            </a:r>
          </a:p>
        </p:txBody>
      </p:sp>
      <p:sp>
        <p:nvSpPr>
          <p:cNvPr id="15" name="Style direct" descr="D"/>
          <p:cNvSpPr/>
          <p:nvPr/>
        </p:nvSpPr>
        <p:spPr>
          <a:xfrm>
            <a:off x="3409950" y="3374265"/>
            <a:ext cx="1008845" cy="378317"/>
          </a:xfrm>
          <a:prstGeom prst="rect">
            <a:avLst/>
          </a:prstGeom>
          <a:solidFill>
            <a:srgbClr val="FFDD00"/>
          </a:solidFill>
          <a:ln w="6726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Style direct</a:t>
            </a:r>
          </a:p>
        </p:txBody>
      </p:sp>
      <p:sp>
        <p:nvSpPr>
          <p:cNvPr id="16" name="Lien vert" descr="E"/>
          <p:cNvSpPr/>
          <p:nvPr/>
        </p:nvSpPr>
        <p:spPr>
          <a:xfrm>
            <a:off x="3518905" y="4156120"/>
            <a:ext cx="790935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Lien vert</a:t>
            </a:r>
          </a:p>
        </p:txBody>
      </p:sp>
      <p:sp>
        <p:nvSpPr>
          <p:cNvPr id="17" name="Classe partagee" descr="F"/>
          <p:cNvSpPr/>
          <p:nvPr/>
        </p:nvSpPr>
        <p:spPr>
          <a:xfrm>
            <a:off x="3543118" y="4937975"/>
            <a:ext cx="742510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Classe partagee</a:t>
            </a:r>
          </a:p>
        </p:txBody>
      </p:sp>
      <p:sp>
        <p:nvSpPr>
          <p:cNvPr id="18" name="Autre classe partagee" descr="G"/>
          <p:cNvSpPr/>
          <p:nvPr/>
        </p:nvSpPr>
        <p:spPr>
          <a:xfrm>
            <a:off x="3409950" y="5871156"/>
            <a:ext cx="1008845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Autre classe partagee</a:t>
            </a:r>
          </a:p>
        </p:txBody>
      </p:sp>
      <p:cxnSp>
        <p:nvCxnSpPr>
          <p:cNvPr id="19" name="A--B"/>
          <p:cNvCxnSpPr>
            <a:stCxn id="12" idx="2"/>
            <a:endCxn id="13" idx="0"/>
          </p:cNvCxnSpPr>
          <p:nvPr/>
        </p:nvCxnSpPr>
        <p:spPr>
          <a:xfrm>
            <a:off x="3914373" y="140701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C"/>
          <p:cNvCxnSpPr>
            <a:stCxn id="13" idx="2"/>
            <a:endCxn id="14" idx="0"/>
          </p:cNvCxnSpPr>
          <p:nvPr/>
        </p:nvCxnSpPr>
        <p:spPr>
          <a:xfrm>
            <a:off x="3914373" y="2188872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>
            <a:off x="3914373" y="297072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E"/>
          <p:cNvCxnSpPr>
            <a:stCxn id="15" idx="2"/>
            <a:endCxn id="16" idx="0"/>
          </p:cNvCxnSpPr>
          <p:nvPr/>
        </p:nvCxnSpPr>
        <p:spPr>
          <a:xfrm>
            <a:off x="3914373" y="3752582"/>
            <a:ext cx="0" cy="403538"/>
          </a:xfrm>
          <a:prstGeom prst="line">
            <a:avLst/>
          </a:prstGeom>
          <a:ln w="15133" cap="flat" cmpd="sng" algn="ctr">
            <a:solidFill>
              <a:srgbClr val="00AA00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--F"/>
          <p:cNvCxnSpPr>
            <a:stCxn id="16" idx="2"/>
            <a:endCxn id="17" idx="0"/>
          </p:cNvCxnSpPr>
          <p:nvPr/>
        </p:nvCxnSpPr>
        <p:spPr>
          <a:xfrm>
            <a:off x="3914373" y="453443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--G"/>
          <p:cNvCxnSpPr>
            <a:stCxn id="17" idx="2"/>
            <a:endCxn id="18" idx="0"/>
          </p:cNvCxnSpPr>
          <p:nvPr/>
        </p:nvCxnSpPr>
        <p:spPr>
          <a:xfrm>
            <a:off x="3914373" y="5467618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crossing-stress-15node</a:t>
            </a:r>
          </a:p>
        </p:txBody>
      </p:sp>
      <p:sp>
        <p:nvSpPr>
          <p:cNvPr id="12" name="Start" descr="Start"/>
          <p:cNvSpPr/>
          <p:nvPr/>
        </p:nvSpPr>
        <p:spPr>
          <a:xfrm>
            <a:off x="4022862" y="1028700"/>
            <a:ext cx="436329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13" name="Gate 1" descr="Gate1"/>
          <p:cNvSpPr/>
          <p:nvPr/>
        </p:nvSpPr>
        <p:spPr>
          <a:xfrm>
            <a:off x="3777139" y="1664330"/>
            <a:ext cx="927774" cy="615126"/>
          </a:xfrm>
          <a:prstGeom prst="diamond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1</a:t>
            </a:r>
          </a:p>
        </p:txBody>
      </p:sp>
      <p:sp>
        <p:nvSpPr>
          <p:cNvPr id="14" name="N1" descr="N1"/>
          <p:cNvSpPr/>
          <p:nvPr/>
        </p:nvSpPr>
        <p:spPr>
          <a:xfrm>
            <a:off x="3486882" y="2607523"/>
            <a:ext cx="287059" cy="307563"/>
          </a:xfrm>
          <a:prstGeom prst="rect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N1</a:t>
            </a:r>
          </a:p>
        </p:txBody>
      </p:sp>
      <p:sp>
        <p:nvSpPr>
          <p:cNvPr id="15" name="N2" descr="N2"/>
          <p:cNvSpPr/>
          <p:nvPr/>
        </p:nvSpPr>
        <p:spPr>
          <a:xfrm>
            <a:off x="4097497" y="2607523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N2</a:t>
            </a:r>
          </a:p>
        </p:txBody>
      </p:sp>
      <p:sp>
        <p:nvSpPr>
          <p:cNvPr id="16" name="N3" descr="N3"/>
          <p:cNvSpPr/>
          <p:nvPr/>
        </p:nvSpPr>
        <p:spPr>
          <a:xfrm>
            <a:off x="4849099" y="2607523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N3</a:t>
            </a:r>
          </a:p>
        </p:txBody>
      </p:sp>
      <p:sp>
        <p:nvSpPr>
          <p:cNvPr id="17" name="Merge 1" descr="Merge1"/>
          <p:cNvSpPr/>
          <p:nvPr/>
        </p:nvSpPr>
        <p:spPr>
          <a:xfrm>
            <a:off x="3409950" y="3243153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1</a:t>
            </a:r>
          </a:p>
        </p:txBody>
      </p:sp>
      <p:sp>
        <p:nvSpPr>
          <p:cNvPr id="18" name="N4" descr="N4"/>
          <p:cNvSpPr/>
          <p:nvPr/>
        </p:nvSpPr>
        <p:spPr>
          <a:xfrm>
            <a:off x="4351257" y="3243153"/>
            <a:ext cx="287059" cy="307563"/>
          </a:xfrm>
          <a:prstGeom prst="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N4</a:t>
            </a:r>
          </a:p>
        </p:txBody>
      </p:sp>
      <p:sp>
        <p:nvSpPr>
          <p:cNvPr id="19" name="Skip target" descr="Skip"/>
          <p:cNvSpPr/>
          <p:nvPr/>
        </p:nvSpPr>
        <p:spPr>
          <a:xfrm>
            <a:off x="4653079" y="4821977"/>
            <a:ext cx="761116" cy="307563"/>
          </a:xfrm>
          <a:prstGeom prst="rect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Skip target</a:t>
            </a:r>
          </a:p>
        </p:txBody>
      </p:sp>
      <p:sp>
        <p:nvSpPr>
          <p:cNvPr id="20" name="Gate 2" descr="Gate2"/>
          <p:cNvSpPr/>
          <p:nvPr/>
        </p:nvSpPr>
        <p:spPr>
          <a:xfrm>
            <a:off x="3533057" y="3878784"/>
            <a:ext cx="927774" cy="615126"/>
          </a:xfrm>
          <a:prstGeom prst="diamond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2</a:t>
            </a:r>
          </a:p>
        </p:txBody>
      </p:sp>
      <p:sp>
        <p:nvSpPr>
          <p:cNvPr id="21" name="N5" descr="N5"/>
          <p:cNvSpPr/>
          <p:nvPr/>
        </p:nvSpPr>
        <p:spPr>
          <a:xfrm>
            <a:off x="3586860" y="4821977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N5</a:t>
            </a:r>
          </a:p>
        </p:txBody>
      </p:sp>
      <p:sp>
        <p:nvSpPr>
          <p:cNvPr id="22" name="N6" descr="N6"/>
          <p:cNvSpPr/>
          <p:nvPr/>
        </p:nvSpPr>
        <p:spPr>
          <a:xfrm>
            <a:off x="4119969" y="4821977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N6</a:t>
            </a:r>
          </a:p>
        </p:txBody>
      </p:sp>
      <p:sp>
        <p:nvSpPr>
          <p:cNvPr id="23" name="Merge 2" descr="Merge2"/>
          <p:cNvSpPr/>
          <p:nvPr/>
        </p:nvSpPr>
        <p:spPr>
          <a:xfrm>
            <a:off x="4002029" y="5457607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2</a:t>
            </a:r>
          </a:p>
        </p:txBody>
      </p:sp>
      <p:sp>
        <p:nvSpPr>
          <p:cNvPr id="24" name="End" descr="End"/>
          <p:cNvSpPr/>
          <p:nvPr/>
        </p:nvSpPr>
        <p:spPr>
          <a:xfrm>
            <a:off x="4104386" y="6093237"/>
            <a:ext cx="318225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End</a:t>
            </a:r>
          </a:p>
        </p:txBody>
      </p:sp>
      <p:cxnSp>
        <p:nvCxnSpPr>
          <p:cNvPr id="25" name="Start--Gate1"/>
          <p:cNvCxnSpPr>
            <a:stCxn id="12" idx="2"/>
            <a:endCxn id="13" idx="0"/>
          </p:cNvCxnSpPr>
          <p:nvPr/>
        </p:nvCxnSpPr>
        <p:spPr>
          <a:xfrm>
            <a:off x="4241026" y="1336263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ate1--N1"/>
          <p:cNvCxnSpPr>
            <a:stCxn id="13" idx="2"/>
            <a:endCxn id="14" idx="0"/>
          </p:cNvCxnSpPr>
          <p:nvPr/>
        </p:nvCxnSpPr>
        <p:spPr>
          <a:xfrm flipH="1">
            <a:off x="3630411" y="2279456"/>
            <a:ext cx="61061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3845500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a</a:t>
            </a:r>
          </a:p>
        </p:txBody>
      </p:sp>
      <p:cxnSp>
        <p:nvCxnSpPr>
          <p:cNvPr id="28" name="Gate1--N2"/>
          <p:cNvCxnSpPr>
            <a:stCxn id="13" idx="2"/>
            <a:endCxn id="15" idx="0"/>
          </p:cNvCxnSpPr>
          <p:nvPr/>
        </p:nvCxnSpPr>
        <p:spPr>
          <a:xfrm>
            <a:off x="4241026" y="2279456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4150808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b</a:t>
            </a:r>
          </a:p>
        </p:txBody>
      </p:sp>
      <p:cxnSp>
        <p:nvCxnSpPr>
          <p:cNvPr id="30" name="Gate1--N3"/>
          <p:cNvCxnSpPr>
            <a:stCxn id="13" idx="2"/>
            <a:endCxn id="16" idx="0"/>
          </p:cNvCxnSpPr>
          <p:nvPr/>
        </p:nvCxnSpPr>
        <p:spPr>
          <a:xfrm>
            <a:off x="4241026" y="2279456"/>
            <a:ext cx="75160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4526609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32" name="N1--Merge1"/>
          <p:cNvCxnSpPr>
            <a:stCxn id="14" idx="2"/>
            <a:endCxn id="17" idx="0"/>
          </p:cNvCxnSpPr>
          <p:nvPr/>
        </p:nvCxnSpPr>
        <p:spPr>
          <a:xfrm>
            <a:off x="3630411" y="2915086"/>
            <a:ext cx="410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2--Merge1"/>
          <p:cNvCxnSpPr>
            <a:stCxn id="15" idx="2"/>
            <a:endCxn id="17" idx="0"/>
          </p:cNvCxnSpPr>
          <p:nvPr/>
        </p:nvCxnSpPr>
        <p:spPr>
          <a:xfrm flipH="1">
            <a:off x="3671420" y="2915086"/>
            <a:ext cx="569606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2--N4"/>
          <p:cNvCxnSpPr>
            <a:stCxn id="15" idx="2"/>
            <a:endCxn id="18" idx="0"/>
          </p:cNvCxnSpPr>
          <p:nvPr/>
        </p:nvCxnSpPr>
        <p:spPr>
          <a:xfrm>
            <a:off x="4241026" y="2915086"/>
            <a:ext cx="25376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3--N4"/>
          <p:cNvCxnSpPr>
            <a:stCxn id="16" idx="2"/>
            <a:endCxn id="18" idx="0"/>
          </p:cNvCxnSpPr>
          <p:nvPr/>
        </p:nvCxnSpPr>
        <p:spPr>
          <a:xfrm flipH="1">
            <a:off x="4494786" y="2915086"/>
            <a:ext cx="49784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3--Skip"/>
          <p:cNvCxnSpPr>
            <a:stCxn id="16" idx="2"/>
            <a:endCxn id="19" idx="0"/>
          </p:cNvCxnSpPr>
          <p:nvPr/>
        </p:nvCxnSpPr>
        <p:spPr>
          <a:xfrm>
            <a:off x="4992628" y="2915086"/>
            <a:ext cx="41008" cy="1906891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Merge1--Gate2"/>
          <p:cNvCxnSpPr>
            <a:stCxn id="17" idx="2"/>
            <a:endCxn id="20" idx="0"/>
          </p:cNvCxnSpPr>
          <p:nvPr/>
        </p:nvCxnSpPr>
        <p:spPr>
          <a:xfrm>
            <a:off x="3671420" y="3550716"/>
            <a:ext cx="325524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4--Gate2"/>
          <p:cNvCxnSpPr>
            <a:stCxn id="18" idx="2"/>
            <a:endCxn id="20" idx="0"/>
          </p:cNvCxnSpPr>
          <p:nvPr/>
        </p:nvCxnSpPr>
        <p:spPr>
          <a:xfrm flipH="1">
            <a:off x="3996944" y="3550716"/>
            <a:ext cx="497842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ate2--N5"/>
          <p:cNvCxnSpPr>
            <a:stCxn id="20" idx="2"/>
            <a:endCxn id="21" idx="0"/>
          </p:cNvCxnSpPr>
          <p:nvPr/>
        </p:nvCxnSpPr>
        <p:spPr>
          <a:xfrm flipH="1">
            <a:off x="3730390" y="4493910"/>
            <a:ext cx="266554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dgeLabel"/>
          <p:cNvSpPr txBox="1"/>
          <p:nvPr/>
        </p:nvSpPr>
        <p:spPr>
          <a:xfrm>
            <a:off x="3773448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x</a:t>
            </a:r>
          </a:p>
        </p:txBody>
      </p:sp>
      <p:cxnSp>
        <p:nvCxnSpPr>
          <p:cNvPr id="41" name="Gate2--N6"/>
          <p:cNvCxnSpPr>
            <a:stCxn id="20" idx="2"/>
            <a:endCxn id="22" idx="0"/>
          </p:cNvCxnSpPr>
          <p:nvPr/>
        </p:nvCxnSpPr>
        <p:spPr>
          <a:xfrm>
            <a:off x="3996944" y="4493910"/>
            <a:ext cx="26655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geLabel"/>
          <p:cNvSpPr txBox="1"/>
          <p:nvPr/>
        </p:nvSpPr>
        <p:spPr>
          <a:xfrm>
            <a:off x="4040003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y</a:t>
            </a:r>
          </a:p>
        </p:txBody>
      </p:sp>
      <p:cxnSp>
        <p:nvCxnSpPr>
          <p:cNvPr id="43" name="N5--Merge2"/>
          <p:cNvCxnSpPr>
            <a:stCxn id="21" idx="2"/>
            <a:endCxn id="23" idx="0"/>
          </p:cNvCxnSpPr>
          <p:nvPr/>
        </p:nvCxnSpPr>
        <p:spPr>
          <a:xfrm>
            <a:off x="3730390" y="5129540"/>
            <a:ext cx="5331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6--Merge2"/>
          <p:cNvCxnSpPr>
            <a:stCxn id="22" idx="2"/>
            <a:endCxn id="23" idx="0"/>
          </p:cNvCxnSpPr>
          <p:nvPr/>
        </p:nvCxnSpPr>
        <p:spPr>
          <a:xfrm>
            <a:off x="4263499" y="512954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kip--Merge2"/>
          <p:cNvCxnSpPr>
            <a:stCxn id="19" idx="1"/>
            <a:endCxn id="23" idx="3"/>
          </p:cNvCxnSpPr>
          <p:nvPr/>
        </p:nvCxnSpPr>
        <p:spPr>
          <a:xfrm flipH="1">
            <a:off x="4524968" y="4975758"/>
            <a:ext cx="128111" cy="635630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Merge2--End"/>
          <p:cNvCxnSpPr>
            <a:stCxn id="23" idx="2"/>
            <a:endCxn id="24" idx="0"/>
          </p:cNvCxnSpPr>
          <p:nvPr/>
        </p:nvCxnSpPr>
        <p:spPr>
          <a:xfrm>
            <a:off x="4263499" y="576517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crossing-stress-bipartite</a:t>
            </a:r>
          </a:p>
        </p:txBody>
      </p:sp>
      <p:sp>
        <p:nvSpPr>
          <p:cNvPr id="12" name="A1" descr="A1"/>
          <p:cNvSpPr/>
          <p:nvPr/>
        </p:nvSpPr>
        <p:spPr>
          <a:xfrm>
            <a:off x="5135137" y="1028700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3" name="B1" descr="B1"/>
          <p:cNvSpPr/>
          <p:nvPr/>
        </p:nvSpPr>
        <p:spPr>
          <a:xfrm>
            <a:off x="6445405" y="1618321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4" name="B2" descr="B2"/>
          <p:cNvSpPr/>
          <p:nvPr/>
        </p:nvSpPr>
        <p:spPr>
          <a:xfrm>
            <a:off x="6445405" y="2797562"/>
            <a:ext cx="611459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B2</a:t>
            </a:r>
          </a:p>
        </p:txBody>
      </p:sp>
      <p:sp>
        <p:nvSpPr>
          <p:cNvPr id="15" name="B3" descr="B3"/>
          <p:cNvSpPr/>
          <p:nvPr/>
        </p:nvSpPr>
        <p:spPr>
          <a:xfrm>
            <a:off x="6445405" y="3976804"/>
            <a:ext cx="611459" cy="655134"/>
          </a:xfrm>
          <a:prstGeom prst="rect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B3</a:t>
            </a:r>
          </a:p>
        </p:txBody>
      </p:sp>
      <p:sp>
        <p:nvSpPr>
          <p:cNvPr id="16" name="A2" descr="A2"/>
          <p:cNvSpPr/>
          <p:nvPr/>
        </p:nvSpPr>
        <p:spPr>
          <a:xfrm>
            <a:off x="5135137" y="2382644"/>
            <a:ext cx="611459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7" name="B4" descr="B4"/>
          <p:cNvSpPr/>
          <p:nvPr/>
        </p:nvSpPr>
        <p:spPr>
          <a:xfrm>
            <a:off x="6445405" y="5156045"/>
            <a:ext cx="611459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B4</a:t>
            </a:r>
          </a:p>
        </p:txBody>
      </p:sp>
      <p:sp>
        <p:nvSpPr>
          <p:cNvPr id="18" name="A3" descr="A3"/>
          <p:cNvSpPr/>
          <p:nvPr/>
        </p:nvSpPr>
        <p:spPr>
          <a:xfrm>
            <a:off x="5135137" y="5745666"/>
            <a:ext cx="611459" cy="655134"/>
          </a:xfrm>
          <a:prstGeom prst="rect">
            <a:avLst/>
          </a:prstGeom>
          <a:solidFill>
            <a:srgbClr val="E1BEE7"/>
          </a:solidFill>
          <a:ln w="11647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A3</a:t>
            </a:r>
          </a:p>
        </p:txBody>
      </p:sp>
      <p:sp>
        <p:nvSpPr>
          <p:cNvPr id="19" name="A4" descr="A4"/>
          <p:cNvSpPr/>
          <p:nvPr/>
        </p:nvSpPr>
        <p:spPr>
          <a:xfrm>
            <a:off x="5135137" y="4391722"/>
            <a:ext cx="611459" cy="655134"/>
          </a:xfrm>
          <a:prstGeom prst="rect">
            <a:avLst/>
          </a:prstGeom>
          <a:solidFill>
            <a:srgbClr val="FFCDD2"/>
          </a:solidFill>
          <a:ln w="11647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A4</a:t>
            </a:r>
          </a:p>
        </p:txBody>
      </p:sp>
      <p:cxnSp>
        <p:nvCxnSpPr>
          <p:cNvPr id="20" name="A1--B1"/>
          <p:cNvCxnSpPr>
            <a:stCxn id="12" idx="3"/>
            <a:endCxn id="13" idx="1"/>
          </p:cNvCxnSpPr>
          <p:nvPr/>
        </p:nvCxnSpPr>
        <p:spPr>
          <a:xfrm>
            <a:off x="5746596" y="1356267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1--B2"/>
          <p:cNvCxnSpPr>
            <a:stCxn id="12" idx="2"/>
            <a:endCxn id="14" idx="0"/>
          </p:cNvCxnSpPr>
          <p:nvPr/>
        </p:nvCxnSpPr>
        <p:spPr>
          <a:xfrm>
            <a:off x="5440866" y="1683834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1--B3"/>
          <p:cNvCxnSpPr>
            <a:stCxn id="12" idx="2"/>
            <a:endCxn id="15" idx="0"/>
          </p:cNvCxnSpPr>
          <p:nvPr/>
        </p:nvCxnSpPr>
        <p:spPr>
          <a:xfrm>
            <a:off x="5440866" y="1683834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0"/>
                </a:moveTo>
                <a:lnTo>
                  <a:pt x="655134" y="87351"/>
                </a:lnTo>
                <a:lnTo>
                  <a:pt x="1310269" y="229297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2--B1"/>
          <p:cNvCxnSpPr>
            <a:stCxn id="16" idx="3"/>
            <a:endCxn id="13" idx="1"/>
          </p:cNvCxnSpPr>
          <p:nvPr/>
        </p:nvCxnSpPr>
        <p:spPr>
          <a:xfrm flipV="1">
            <a:off x="5746596" y="1945888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2--B2"/>
          <p:cNvCxnSpPr>
            <a:stCxn id="16" idx="3"/>
            <a:endCxn id="14" idx="1"/>
          </p:cNvCxnSpPr>
          <p:nvPr/>
        </p:nvCxnSpPr>
        <p:spPr>
          <a:xfrm>
            <a:off x="5746596" y="271021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2--B4"/>
          <p:cNvCxnSpPr>
            <a:stCxn id="16" idx="2"/>
            <a:endCxn id="17" idx="0"/>
          </p:cNvCxnSpPr>
          <p:nvPr/>
        </p:nvCxnSpPr>
        <p:spPr>
          <a:xfrm>
            <a:off x="5440866" y="3037778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3--B2"/>
          <p:cNvCxnSpPr>
            <a:stCxn id="18" idx="0"/>
            <a:endCxn id="14" idx="2"/>
          </p:cNvCxnSpPr>
          <p:nvPr/>
        </p:nvCxnSpPr>
        <p:spPr>
          <a:xfrm>
            <a:off x="5440866" y="3452696"/>
            <a:ext cx="1310269" cy="2292970"/>
          </a:xfrm>
          <a:custGeom>
            <a:avLst/>
            <a:gdLst/>
            <a:ahLst/>
            <a:cxnLst/>
            <a:rect l="0" t="0" r="0" b="0"/>
            <a:pathLst>
              <a:path w="1310269" h="2292970">
                <a:moveTo>
                  <a:pt x="0" y="2292970"/>
                </a:moveTo>
                <a:lnTo>
                  <a:pt x="655134" y="2205619"/>
                </a:lnTo>
                <a:lnTo>
                  <a:pt x="1310269" y="0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3--B3"/>
          <p:cNvCxnSpPr>
            <a:stCxn id="18" idx="0"/>
            <a:endCxn id="15" idx="2"/>
          </p:cNvCxnSpPr>
          <p:nvPr/>
        </p:nvCxnSpPr>
        <p:spPr>
          <a:xfrm flipV="1">
            <a:off x="5440866" y="4631938"/>
            <a:ext cx="1310269" cy="111372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3--B4"/>
          <p:cNvCxnSpPr>
            <a:stCxn id="18" idx="3"/>
            <a:endCxn id="17" idx="1"/>
          </p:cNvCxnSpPr>
          <p:nvPr/>
        </p:nvCxnSpPr>
        <p:spPr>
          <a:xfrm flipV="1">
            <a:off x="5746596" y="5483612"/>
            <a:ext cx="698809" cy="589621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4--B1"/>
          <p:cNvCxnSpPr>
            <a:stCxn id="19" idx="0"/>
            <a:endCxn id="13" idx="2"/>
          </p:cNvCxnSpPr>
          <p:nvPr/>
        </p:nvCxnSpPr>
        <p:spPr>
          <a:xfrm flipV="1">
            <a:off x="5440866" y="2273455"/>
            <a:ext cx="1310269" cy="2118267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4--B3"/>
          <p:cNvCxnSpPr>
            <a:stCxn id="19" idx="3"/>
            <a:endCxn id="15" idx="1"/>
          </p:cNvCxnSpPr>
          <p:nvPr/>
        </p:nvCxnSpPr>
        <p:spPr>
          <a:xfrm flipV="1">
            <a:off x="5746596" y="4304371"/>
            <a:ext cx="698809" cy="414918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4--B4"/>
          <p:cNvCxnSpPr>
            <a:stCxn id="19" idx="3"/>
            <a:endCxn id="17" idx="1"/>
          </p:cNvCxnSpPr>
          <p:nvPr/>
        </p:nvCxnSpPr>
        <p:spPr>
          <a:xfrm>
            <a:off x="5746596" y="4719289"/>
            <a:ext cx="698809" cy="764323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cycle</a:t>
            </a:r>
          </a:p>
        </p:txBody>
      </p:sp>
      <p:sp>
        <p:nvSpPr>
          <p:cNvPr id="12" name="Etat A" descr="A"/>
          <p:cNvSpPr/>
          <p:nvPr/>
        </p:nvSpPr>
        <p:spPr>
          <a:xfrm>
            <a:off x="5750793" y="1028700"/>
            <a:ext cx="1154007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A</a:t>
            </a:r>
          </a:p>
        </p:txBody>
      </p:sp>
      <p:sp>
        <p:nvSpPr>
          <p:cNvPr id="13" name="Etat B" descr="B"/>
          <p:cNvSpPr/>
          <p:nvPr/>
        </p:nvSpPr>
        <p:spPr>
          <a:xfrm>
            <a:off x="5263325" y="2570692"/>
            <a:ext cx="1154007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B</a:t>
            </a:r>
          </a:p>
        </p:txBody>
      </p:sp>
      <p:sp>
        <p:nvSpPr>
          <p:cNvPr id="14" name="Etat C" descr="C"/>
          <p:cNvSpPr/>
          <p:nvPr/>
        </p:nvSpPr>
        <p:spPr>
          <a:xfrm>
            <a:off x="5750793" y="4112683"/>
            <a:ext cx="1154007" cy="746125"/>
          </a:xfrm>
          <a:prstGeom prst="rect">
            <a:avLst/>
          </a:prstGeom>
          <a:solidFill>
            <a:srgbClr val="BBDEFB"/>
          </a:solidFill>
          <a:ln w="1326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Etat C</a:t>
            </a:r>
          </a:p>
        </p:txBody>
      </p:sp>
      <p:sp>
        <p:nvSpPr>
          <p:cNvPr id="15" name="Sortie" descr="D"/>
          <p:cNvSpPr/>
          <p:nvPr/>
        </p:nvSpPr>
        <p:spPr>
          <a:xfrm>
            <a:off x="5726917" y="5654675"/>
            <a:ext cx="1201759" cy="746125"/>
          </a:xfrm>
          <a:prstGeom prst="rect">
            <a:avLst/>
          </a:prstGeom>
          <a:solidFill>
            <a:srgbClr val="C8E6C9"/>
          </a:solidFill>
          <a:ln w="1326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 flipH="1">
            <a:off x="5840328" y="1774825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5840328" y="3316817"/>
            <a:ext cx="487468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--A"/>
          <p:cNvCxnSpPr>
            <a:stCxn id="14" idx="0"/>
            <a:endCxn id="12" idx="2"/>
          </p:cNvCxnSpPr>
          <p:nvPr/>
        </p:nvCxnSpPr>
        <p:spPr>
          <a:xfrm>
            <a:off x="6327796" y="1774825"/>
            <a:ext cx="487468" cy="2337858"/>
          </a:xfrm>
          <a:custGeom>
            <a:avLst/>
            <a:gdLst/>
            <a:ahLst/>
            <a:cxnLst/>
            <a:rect l="0" t="0" r="0" b="0"/>
            <a:pathLst>
              <a:path w="466725" h="2238375">
                <a:moveTo>
                  <a:pt x="0" y="2238375"/>
                </a:moveTo>
                <a:lnTo>
                  <a:pt x="466725" y="1857375"/>
                </a:lnTo>
                <a:lnTo>
                  <a:pt x="466725" y="1119188"/>
                </a:lnTo>
                <a:lnTo>
                  <a:pt x="466725" y="381000"/>
                </a:lnTo>
                <a:lnTo>
                  <a:pt x="0" y="0"/>
                </a:lnTo>
              </a:path>
            </a:pathLst>
          </a:cu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--D"/>
          <p:cNvCxnSpPr>
            <a:stCxn id="14" idx="2"/>
            <a:endCxn id="15" idx="0"/>
          </p:cNvCxnSpPr>
          <p:nvPr/>
        </p:nvCxnSpPr>
        <p:spPr>
          <a:xfrm>
            <a:off x="6327796" y="4858808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cynefin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3379770" y="1028700"/>
            <a:ext cx="5432461" cy="34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79" dirty="0">
                <a:solidFill>
                  <a:srgbClr val="000000"/>
                </a:solidFill>
              </a:rPr>
              <a:t>Strategy Categorization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6096000" y="2577957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5609091" y="2487416"/>
            <a:ext cx="97381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Pattern identified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7303213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6731799" y="3694630"/>
            <a:ext cx="114282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Best practice codified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6096000" y="4992384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5766028" y="4901843"/>
            <a:ext cx="659943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Complacency</a:t>
            </a:r>
          </a:p>
        </p:txBody>
      </p:sp>
      <p:cxnSp>
        <p:nvCxnSpPr>
          <p:cNvPr id="18" name="Connector 8"/>
          <p:cNvCxnSpPr/>
          <p:nvPr/>
        </p:nvCxnSpPr>
        <p:spPr>
          <a:xfrm>
            <a:off x="4888787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4582959" y="3694630"/>
            <a:ext cx="611655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Stabilized</a:t>
            </a:r>
          </a:p>
        </p:txBody>
      </p:sp>
      <p:sp>
        <p:nvSpPr>
          <p:cNvPr id="20" name="Complex"/>
          <p:cNvSpPr/>
          <p:nvPr/>
        </p:nvSpPr>
        <p:spPr>
          <a:xfrm>
            <a:off x="3681573" y="1370744"/>
            <a:ext cx="2414427" cy="2414427"/>
          </a:xfrm>
          <a:prstGeom prst="rect">
            <a:avLst/>
          </a:prstGeom>
          <a:solidFill>
            <a:srgbClr val="FFF2CC"/>
          </a:solidFill>
          <a:ln w="10060">
            <a:solidFill>
              <a:srgbClr val="BFBFBF"/>
            </a:solidFill>
          </a:ln>
        </p:spPr>
      </p:sp>
      <p:sp>
        <p:nvSpPr>
          <p:cNvPr id="21" name="Text 11"/>
          <p:cNvSpPr txBox="1"/>
          <p:nvPr/>
        </p:nvSpPr>
        <p:spPr>
          <a:xfrm>
            <a:off x="3741934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Complex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3741934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Probe → Sense → Respond — emergent practices</a:t>
            </a:r>
          </a:p>
        </p:txBody>
      </p:sp>
      <p:sp>
        <p:nvSpPr>
          <p:cNvPr id="23" name="Item Market research"/>
          <p:cNvSpPr/>
          <p:nvPr/>
        </p:nvSpPr>
        <p:spPr>
          <a:xfrm>
            <a:off x="3741934" y="1833509"/>
            <a:ext cx="828953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3741934" y="1833509"/>
            <a:ext cx="828953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Market research</a:t>
            </a:r>
          </a:p>
        </p:txBody>
      </p:sp>
      <p:sp>
        <p:nvSpPr>
          <p:cNvPr id="25" name="Complicated"/>
          <p:cNvSpPr/>
          <p:nvPr/>
        </p:nvSpPr>
        <p:spPr>
          <a:xfrm>
            <a:off x="6096000" y="1370744"/>
            <a:ext cx="2414427" cy="2414427"/>
          </a:xfrm>
          <a:prstGeom prst="rect">
            <a:avLst/>
          </a:prstGeom>
          <a:solidFill>
            <a:srgbClr val="D9E2F3"/>
          </a:solidFill>
          <a:ln w="10060">
            <a:solidFill>
              <a:srgbClr val="BFBFBF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6156361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Complicated</a:t>
            </a:r>
          </a:p>
        </p:txBody>
      </p:sp>
      <p:sp>
        <p:nvSpPr>
          <p:cNvPr id="27" name="Text 17"/>
          <p:cNvSpPr txBox="1"/>
          <p:nvPr/>
        </p:nvSpPr>
        <p:spPr>
          <a:xfrm>
            <a:off x="6156361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Analyse → Respond — good practices</a:t>
            </a:r>
          </a:p>
        </p:txBody>
      </p:sp>
      <p:sp>
        <p:nvSpPr>
          <p:cNvPr id="28" name="Item Competitive analysis"/>
          <p:cNvSpPr/>
          <p:nvPr/>
        </p:nvSpPr>
        <p:spPr>
          <a:xfrm>
            <a:off x="6156361" y="1833509"/>
            <a:ext cx="1070396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6156361" y="1833509"/>
            <a:ext cx="107039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Competitive analysis</a:t>
            </a:r>
          </a:p>
        </p:txBody>
      </p:sp>
      <p:sp>
        <p:nvSpPr>
          <p:cNvPr id="30" name="Chaotic"/>
          <p:cNvSpPr/>
          <p:nvPr/>
        </p:nvSpPr>
        <p:spPr>
          <a:xfrm>
            <a:off x="3681573" y="3785171"/>
            <a:ext cx="2414427" cy="2414427"/>
          </a:xfrm>
          <a:prstGeom prst="rect">
            <a:avLst/>
          </a:prstGeom>
          <a:solidFill>
            <a:srgbClr val="F8CBAD"/>
          </a:solidFill>
          <a:ln w="10060">
            <a:solidFill>
              <a:srgbClr val="BFBFBF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3741934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Chaotic</a:t>
            </a:r>
          </a:p>
        </p:txBody>
      </p:sp>
      <p:sp>
        <p:nvSpPr>
          <p:cNvPr id="32" name="Text 22"/>
          <p:cNvSpPr txBox="1"/>
          <p:nvPr/>
        </p:nvSpPr>
        <p:spPr>
          <a:xfrm>
            <a:off x="3741934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Act → Sense → Respond — novel practices</a:t>
            </a:r>
          </a:p>
        </p:txBody>
      </p:sp>
      <p:sp>
        <p:nvSpPr>
          <p:cNvPr id="33" name="Item Crisis management"/>
          <p:cNvSpPr/>
          <p:nvPr/>
        </p:nvSpPr>
        <p:spPr>
          <a:xfrm>
            <a:off x="3741934" y="4247936"/>
            <a:ext cx="925530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4" name="Text 24"/>
          <p:cNvSpPr txBox="1"/>
          <p:nvPr/>
        </p:nvSpPr>
        <p:spPr>
          <a:xfrm>
            <a:off x="3741934" y="4247936"/>
            <a:ext cx="925530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Crisis management</a:t>
            </a:r>
          </a:p>
        </p:txBody>
      </p:sp>
      <p:sp>
        <p:nvSpPr>
          <p:cNvPr id="35" name="Clear"/>
          <p:cNvSpPr/>
          <p:nvPr/>
        </p:nvSpPr>
        <p:spPr>
          <a:xfrm>
            <a:off x="6096000" y="3785171"/>
            <a:ext cx="2414427" cy="2414427"/>
          </a:xfrm>
          <a:prstGeom prst="rect">
            <a:avLst/>
          </a:prstGeom>
          <a:solidFill>
            <a:srgbClr val="E2EFDA"/>
          </a:solidFill>
          <a:ln w="10060">
            <a:solidFill>
              <a:srgbClr val="BFBFBF"/>
            </a:solidFill>
          </a:ln>
        </p:spPr>
      </p:sp>
      <p:sp>
        <p:nvSpPr>
          <p:cNvPr id="36" name="Text 26"/>
          <p:cNvSpPr txBox="1"/>
          <p:nvPr/>
        </p:nvSpPr>
        <p:spPr>
          <a:xfrm>
            <a:off x="6156361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Clear</a:t>
            </a:r>
          </a:p>
        </p:txBody>
      </p:sp>
      <p:sp>
        <p:nvSpPr>
          <p:cNvPr id="37" name="Text 27"/>
          <p:cNvSpPr txBox="1"/>
          <p:nvPr/>
        </p:nvSpPr>
        <p:spPr>
          <a:xfrm>
            <a:off x="6156361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Categorise → Respond — best practices</a:t>
            </a:r>
          </a:p>
        </p:txBody>
      </p:sp>
      <p:sp>
        <p:nvSpPr>
          <p:cNvPr id="38" name="Item Standard pricing"/>
          <p:cNvSpPr/>
          <p:nvPr/>
        </p:nvSpPr>
        <p:spPr>
          <a:xfrm>
            <a:off x="6156361" y="4247936"/>
            <a:ext cx="877242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6156361" y="4247936"/>
            <a:ext cx="877242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Standard pricing</a:t>
            </a:r>
          </a:p>
        </p:txBody>
      </p:sp>
      <p:sp>
        <p:nvSpPr>
          <p:cNvPr id="40" name="Shape 30"/>
          <p:cNvSpPr/>
          <p:nvPr/>
        </p:nvSpPr>
        <p:spPr>
          <a:xfrm>
            <a:off x="5411912" y="3101083"/>
            <a:ext cx="1368175" cy="1368175"/>
          </a:xfrm>
          <a:prstGeom prst="ellipse">
            <a:avLst/>
          </a:prstGeom>
          <a:solidFill>
            <a:srgbClr val="D9D9D9"/>
          </a:solidFill>
          <a:ln w="10060">
            <a:solidFill>
              <a:srgbClr val="BFBFBF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5452153" y="3141324"/>
            <a:ext cx="1287694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45" dirty="0">
                <a:solidFill>
                  <a:srgbClr val="404040"/>
                </a:solidFill>
              </a:rPr>
              <a:t>Confusion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decision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5612948" y="1028700"/>
            <a:ext cx="929417" cy="655134"/>
          </a:xfrm>
          <a:prstGeom prst="rect">
            <a:avLst/>
          </a:prstGeom>
          <a:solidFill>
            <a:srgbClr val="FFF9C4"/>
          </a:solidFill>
          <a:ln w="11647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Choix" descr="B"/>
          <p:cNvSpPr/>
          <p:nvPr/>
        </p:nvSpPr>
        <p:spPr>
          <a:xfrm>
            <a:off x="5148240" y="2382644"/>
            <a:ext cx="1858834" cy="1310268"/>
          </a:xfrm>
          <a:prstGeom prst="diamond">
            <a:avLst/>
          </a:prstGeom>
          <a:solidFill>
            <a:srgbClr val="BBDEFB"/>
          </a:solidFill>
          <a:ln w="11647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Choix</a:t>
            </a:r>
          </a:p>
        </p:txBody>
      </p:sp>
      <p:sp>
        <p:nvSpPr>
          <p:cNvPr id="14" name="Action" descr="C"/>
          <p:cNvSpPr/>
          <p:nvPr/>
        </p:nvSpPr>
        <p:spPr>
          <a:xfrm>
            <a:off x="5988559" y="4391722"/>
            <a:ext cx="1055203" cy="655134"/>
          </a:xfrm>
          <a:prstGeom prst="rect">
            <a:avLst/>
          </a:prstGeom>
          <a:solidFill>
            <a:srgbClr val="C8E6C9"/>
          </a:solidFill>
          <a:ln w="11647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5738734" y="5745666"/>
            <a:ext cx="677845" cy="655134"/>
          </a:xfrm>
          <a:prstGeom prst="rect">
            <a:avLst/>
          </a:prstGeom>
          <a:solidFill>
            <a:srgbClr val="FFE0B2"/>
          </a:solidFill>
          <a:ln w="11647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857" tIns="41929" rIns="83857" bIns="4192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A--B"/>
          <p:cNvCxnSpPr>
            <a:stCxn id="12" idx="2"/>
            <a:endCxn id="13" idx="0"/>
          </p:cNvCxnSpPr>
          <p:nvPr/>
        </p:nvCxnSpPr>
        <p:spPr>
          <a:xfrm>
            <a:off x="6077657" y="1683834"/>
            <a:ext cx="0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B--C"/>
          <p:cNvCxnSpPr>
            <a:stCxn id="13" idx="2"/>
            <a:endCxn id="14" idx="0"/>
          </p:cNvCxnSpPr>
          <p:nvPr/>
        </p:nvCxnSpPr>
        <p:spPr>
          <a:xfrm>
            <a:off x="6077657" y="3692912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Label"/>
          <p:cNvSpPr txBox="1"/>
          <p:nvPr/>
        </p:nvSpPr>
        <p:spPr>
          <a:xfrm>
            <a:off x="6076085" y="3937496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19" name="B--D"/>
          <p:cNvCxnSpPr>
            <a:stCxn id="13" idx="2"/>
            <a:endCxn id="15" idx="0"/>
          </p:cNvCxnSpPr>
          <p:nvPr/>
        </p:nvCxnSpPr>
        <p:spPr>
          <a:xfrm>
            <a:off x="5639154" y="3692912"/>
            <a:ext cx="438503" cy="2052754"/>
          </a:xfrm>
          <a:custGeom>
            <a:avLst/>
            <a:gdLst/>
            <a:ahLst/>
            <a:cxnLst/>
            <a:rect l="0" t="0" r="0" b="0"/>
            <a:pathLst>
              <a:path w="438503" h="2052754">
                <a:moveTo>
                  <a:pt x="438503" y="0"/>
                </a:moveTo>
                <a:lnTo>
                  <a:pt x="0" y="349405"/>
                </a:lnTo>
                <a:lnTo>
                  <a:pt x="0" y="1026377"/>
                </a:lnTo>
                <a:lnTo>
                  <a:pt x="0" y="1703349"/>
                </a:lnTo>
                <a:lnTo>
                  <a:pt x="438503" y="2052754"/>
                </a:lnTo>
              </a:path>
            </a:pathLst>
          </a:cu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Label"/>
          <p:cNvSpPr txBox="1"/>
          <p:nvPr/>
        </p:nvSpPr>
        <p:spPr>
          <a:xfrm>
            <a:off x="5418330" y="4614468"/>
            <a:ext cx="441648" cy="2096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34940" tIns="0" rIns="34940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 flipH="1">
            <a:off x="6077657" y="5046856"/>
            <a:ext cx="438503" cy="698810"/>
          </a:xfrm>
          <a:prstGeom prst="line">
            <a:avLst/>
          </a:prstGeom>
          <a:ln w="1164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dense</a:t>
            </a:r>
          </a:p>
        </p:txBody>
      </p:sp>
      <p:sp>
        <p:nvSpPr>
          <p:cNvPr id="12" name="Init" descr="A"/>
          <p:cNvSpPr/>
          <p:nvPr/>
        </p:nvSpPr>
        <p:spPr>
          <a:xfrm>
            <a:off x="457200" y="2724206"/>
            <a:ext cx="959263" cy="782008"/>
          </a:xfrm>
          <a:prstGeom prst="rect">
            <a:avLst/>
          </a:prstGeom>
          <a:solidFill>
            <a:srgbClr val="BBDEFB"/>
          </a:solidFill>
          <a:ln w="1390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Init</a:t>
            </a:r>
          </a:p>
        </p:txBody>
      </p:sp>
      <p:sp>
        <p:nvSpPr>
          <p:cNvPr id="13" name="Parse" descr="B"/>
          <p:cNvSpPr/>
          <p:nvPr/>
        </p:nvSpPr>
        <p:spPr>
          <a:xfrm>
            <a:off x="2250605" y="2724206"/>
            <a:ext cx="1109409" cy="782008"/>
          </a:xfrm>
          <a:prstGeom prst="rect">
            <a:avLst/>
          </a:prstGeom>
          <a:solidFill>
            <a:srgbClr val="C8E6C9"/>
          </a:solidFill>
          <a:ln w="1390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Parse</a:t>
            </a:r>
          </a:p>
        </p:txBody>
      </p:sp>
      <p:sp>
        <p:nvSpPr>
          <p:cNvPr id="14" name="Analyse" descr="C"/>
          <p:cNvSpPr/>
          <p:nvPr/>
        </p:nvSpPr>
        <p:spPr>
          <a:xfrm>
            <a:off x="4194156" y="2724206"/>
            <a:ext cx="1409700" cy="782008"/>
          </a:xfrm>
          <a:prstGeom prst="rect">
            <a:avLst/>
          </a:prstGeom>
          <a:solidFill>
            <a:srgbClr val="FFE0B2"/>
          </a:solidFill>
          <a:ln w="1390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Analyse</a:t>
            </a:r>
          </a:p>
        </p:txBody>
      </p:sp>
      <p:sp>
        <p:nvSpPr>
          <p:cNvPr id="15" name="Optim" descr="D"/>
          <p:cNvSpPr/>
          <p:nvPr/>
        </p:nvSpPr>
        <p:spPr>
          <a:xfrm>
            <a:off x="4344302" y="5330900"/>
            <a:ext cx="1109409" cy="782008"/>
          </a:xfrm>
          <a:prstGeom prst="rect">
            <a:avLst/>
          </a:prstGeom>
          <a:solidFill>
            <a:srgbClr val="E1BEE7"/>
          </a:solidFill>
          <a:ln w="1390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Optim</a:t>
            </a:r>
          </a:p>
        </p:txBody>
      </p:sp>
      <p:sp>
        <p:nvSpPr>
          <p:cNvPr id="16" name="Emet" descr="E"/>
          <p:cNvSpPr/>
          <p:nvPr/>
        </p:nvSpPr>
        <p:spPr>
          <a:xfrm>
            <a:off x="6437998" y="1212324"/>
            <a:ext cx="959263" cy="782008"/>
          </a:xfrm>
          <a:prstGeom prst="rect">
            <a:avLst/>
          </a:prstGeom>
          <a:solidFill>
            <a:srgbClr val="FFCDD2"/>
          </a:solidFill>
          <a:ln w="13902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Emet</a:t>
            </a:r>
          </a:p>
        </p:txBody>
      </p:sp>
      <p:sp>
        <p:nvSpPr>
          <p:cNvPr id="17" name="AST" descr="F"/>
          <p:cNvSpPr/>
          <p:nvPr/>
        </p:nvSpPr>
        <p:spPr>
          <a:xfrm>
            <a:off x="6488047" y="2619939"/>
            <a:ext cx="859166" cy="782008"/>
          </a:xfrm>
          <a:prstGeom prst="rect">
            <a:avLst/>
          </a:prstGeom>
          <a:solidFill>
            <a:srgbClr val="FFF9C4"/>
          </a:solidFill>
          <a:ln w="13902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AST</a:t>
            </a:r>
          </a:p>
        </p:txBody>
      </p:sp>
      <p:sp>
        <p:nvSpPr>
          <p:cNvPr id="18" name="IL" descr="G"/>
          <p:cNvSpPr/>
          <p:nvPr/>
        </p:nvSpPr>
        <p:spPr>
          <a:xfrm>
            <a:off x="6552693" y="4027553"/>
            <a:ext cx="729874" cy="782008"/>
          </a:xfrm>
          <a:prstGeom prst="rect">
            <a:avLst/>
          </a:prstGeom>
          <a:solidFill>
            <a:srgbClr val="BBDEFB"/>
          </a:solidFill>
          <a:ln w="13902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IL</a:t>
            </a:r>
          </a:p>
        </p:txBody>
      </p:sp>
      <p:sp>
        <p:nvSpPr>
          <p:cNvPr id="19" name="Reg" descr="H"/>
          <p:cNvSpPr/>
          <p:nvPr/>
        </p:nvSpPr>
        <p:spPr>
          <a:xfrm>
            <a:off x="6513071" y="5435168"/>
            <a:ext cx="809118" cy="782008"/>
          </a:xfrm>
          <a:prstGeom prst="rect">
            <a:avLst/>
          </a:prstGeom>
          <a:solidFill>
            <a:srgbClr val="C8E6C9"/>
          </a:solidFill>
          <a:ln w="13902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Reg</a:t>
            </a:r>
          </a:p>
        </p:txBody>
      </p:sp>
      <p:sp>
        <p:nvSpPr>
          <p:cNvPr id="20" name="Codegen" descr="I"/>
          <p:cNvSpPr/>
          <p:nvPr/>
        </p:nvSpPr>
        <p:spPr>
          <a:xfrm>
            <a:off x="8231404" y="3323746"/>
            <a:ext cx="1409700" cy="782008"/>
          </a:xfrm>
          <a:prstGeom prst="rect">
            <a:avLst/>
          </a:prstGeom>
          <a:solidFill>
            <a:srgbClr val="FFE0B2"/>
          </a:solidFill>
          <a:ln w="13902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Codegen</a:t>
            </a:r>
          </a:p>
        </p:txBody>
      </p:sp>
      <p:sp>
        <p:nvSpPr>
          <p:cNvPr id="21" name="Sortie" descr="J"/>
          <p:cNvSpPr/>
          <p:nvPr/>
        </p:nvSpPr>
        <p:spPr>
          <a:xfrm>
            <a:off x="10475246" y="3323746"/>
            <a:ext cx="1259554" cy="782008"/>
          </a:xfrm>
          <a:prstGeom prst="rect">
            <a:avLst/>
          </a:prstGeom>
          <a:solidFill>
            <a:srgbClr val="E1BEE7"/>
          </a:solidFill>
          <a:ln w="13902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0097" tIns="50049" rIns="100097" bIns="5004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14" dirty="0">
                <a:solidFill>
                  <a:srgbClr val="000000"/>
                </a:solidFill>
              </a:rPr>
              <a:t>Sortie</a:t>
            </a:r>
          </a:p>
        </p:txBody>
      </p:sp>
      <p:cxnSp>
        <p:nvCxnSpPr>
          <p:cNvPr id="22" name="A--B"/>
          <p:cNvCxnSpPr>
            <a:stCxn id="12" idx="3"/>
            <a:endCxn id="13" idx="1"/>
          </p:cNvCxnSpPr>
          <p:nvPr/>
        </p:nvCxnSpPr>
        <p:spPr>
          <a:xfrm>
            <a:off x="1416463" y="3115211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3"/>
            <a:endCxn id="14" idx="1"/>
          </p:cNvCxnSpPr>
          <p:nvPr/>
        </p:nvCxnSpPr>
        <p:spPr>
          <a:xfrm>
            <a:off x="3360014" y="3115211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B--D"/>
          <p:cNvCxnSpPr>
            <a:stCxn id="13" idx="2"/>
            <a:endCxn id="15" idx="0"/>
          </p:cNvCxnSpPr>
          <p:nvPr/>
        </p:nvCxnSpPr>
        <p:spPr>
          <a:xfrm>
            <a:off x="2805310" y="3506214"/>
            <a:ext cx="2093696" cy="1824686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B--E"/>
          <p:cNvCxnSpPr>
            <a:stCxn id="13" idx="3"/>
            <a:endCxn id="16" idx="1"/>
          </p:cNvCxnSpPr>
          <p:nvPr/>
        </p:nvCxnSpPr>
        <p:spPr>
          <a:xfrm flipV="1">
            <a:off x="3360014" y="1603329"/>
            <a:ext cx="3077984" cy="1511882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--F"/>
          <p:cNvCxnSpPr>
            <a:stCxn id="14" idx="3"/>
            <a:endCxn id="17" idx="1"/>
          </p:cNvCxnSpPr>
          <p:nvPr/>
        </p:nvCxnSpPr>
        <p:spPr>
          <a:xfrm flipV="1">
            <a:off x="5603856" y="3010943"/>
            <a:ext cx="884191" cy="10426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--G"/>
          <p:cNvCxnSpPr>
            <a:stCxn id="14" idx="3"/>
            <a:endCxn id="18" idx="1"/>
          </p:cNvCxnSpPr>
          <p:nvPr/>
        </p:nvCxnSpPr>
        <p:spPr>
          <a:xfrm>
            <a:off x="5603856" y="3115211"/>
            <a:ext cx="948837" cy="130334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D--G"/>
          <p:cNvCxnSpPr>
            <a:stCxn id="15" idx="3"/>
            <a:endCxn id="18" idx="1"/>
          </p:cNvCxnSpPr>
          <p:nvPr/>
        </p:nvCxnSpPr>
        <p:spPr>
          <a:xfrm flipV="1">
            <a:off x="5453711" y="4418558"/>
            <a:ext cx="1098982" cy="130334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--H"/>
          <p:cNvCxnSpPr>
            <a:stCxn id="15" idx="3"/>
            <a:endCxn id="19" idx="1"/>
          </p:cNvCxnSpPr>
          <p:nvPr/>
        </p:nvCxnSpPr>
        <p:spPr>
          <a:xfrm>
            <a:off x="5453711" y="5721905"/>
            <a:ext cx="1059360" cy="10426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--I"/>
          <p:cNvCxnSpPr>
            <a:stCxn id="16" idx="2"/>
            <a:endCxn id="20" idx="0"/>
          </p:cNvCxnSpPr>
          <p:nvPr/>
        </p:nvCxnSpPr>
        <p:spPr>
          <a:xfrm>
            <a:off x="6917630" y="1994332"/>
            <a:ext cx="2018624" cy="1329414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--I"/>
          <p:cNvCxnSpPr>
            <a:stCxn id="17" idx="3"/>
            <a:endCxn id="20" idx="1"/>
          </p:cNvCxnSpPr>
          <p:nvPr/>
        </p:nvCxnSpPr>
        <p:spPr>
          <a:xfrm>
            <a:off x="7347213" y="3010943"/>
            <a:ext cx="884191" cy="703807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--I"/>
          <p:cNvCxnSpPr>
            <a:stCxn id="18" idx="3"/>
            <a:endCxn id="20" idx="1"/>
          </p:cNvCxnSpPr>
          <p:nvPr/>
        </p:nvCxnSpPr>
        <p:spPr>
          <a:xfrm flipV="1">
            <a:off x="7282567" y="3714750"/>
            <a:ext cx="948837" cy="703808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H--I"/>
          <p:cNvCxnSpPr>
            <a:stCxn id="19" idx="0"/>
            <a:endCxn id="20" idx="2"/>
          </p:cNvCxnSpPr>
          <p:nvPr/>
        </p:nvCxnSpPr>
        <p:spPr>
          <a:xfrm flipV="1">
            <a:off x="6917630" y="4105755"/>
            <a:ext cx="2018624" cy="1329413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I--J"/>
          <p:cNvCxnSpPr>
            <a:stCxn id="20" idx="3"/>
            <a:endCxn id="21" idx="1"/>
          </p:cNvCxnSpPr>
          <p:nvPr/>
        </p:nvCxnSpPr>
        <p:spPr>
          <a:xfrm>
            <a:off x="9641104" y="3714750"/>
            <a:ext cx="834142" cy="0"/>
          </a:xfrm>
          <a:prstGeom prst="line">
            <a:avLst/>
          </a:prstGeom>
          <a:ln w="13902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direction-and-asymmetric-shape</a:t>
            </a:r>
          </a:p>
        </p:txBody>
      </p:sp>
      <p:sp>
        <p:nvSpPr>
          <p:cNvPr id="12" name="Debut" descr="Start"/>
          <p:cNvSpPr/>
          <p:nvPr/>
        </p:nvSpPr>
        <p:spPr>
          <a:xfrm>
            <a:off x="10421384" y="3251846"/>
            <a:ext cx="1313416" cy="925810"/>
          </a:xfrm>
          <a:prstGeom prst="rect">
            <a:avLst/>
          </a:prstGeom>
          <a:solidFill>
            <a:srgbClr val="C8E6C9"/>
          </a:solidFill>
          <a:ln w="16459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Etape asymetrique" descr="Flag"/>
          <p:cNvSpPr/>
          <p:nvPr/>
        </p:nvSpPr>
        <p:spPr>
          <a:xfrm>
            <a:off x="7083531" y="3066684"/>
            <a:ext cx="2350323" cy="1296134"/>
          </a:xfrm>
          <a:prstGeom prst="homePlate">
            <a:avLst/>
          </a:prstGeom>
          <a:solidFill>
            <a:srgbClr val="FFE0B2"/>
          </a:solidFill>
          <a:ln w="16459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Etape asymetrique</a:t>
            </a:r>
          </a:p>
        </p:txBody>
      </p:sp>
      <p:sp>
        <p:nvSpPr>
          <p:cNvPr id="14" name="Decision" descr="Check"/>
          <p:cNvSpPr/>
          <p:nvPr/>
        </p:nvSpPr>
        <p:spPr>
          <a:xfrm>
            <a:off x="2402635" y="2788940"/>
            <a:ext cx="3693365" cy="1851620"/>
          </a:xfrm>
          <a:prstGeom prst="diamond">
            <a:avLst/>
          </a:prstGeom>
          <a:solidFill>
            <a:srgbClr val="E1BEE7"/>
          </a:solidFill>
          <a:ln w="16459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Decision</a:t>
            </a:r>
          </a:p>
        </p:txBody>
      </p:sp>
      <p:sp>
        <p:nvSpPr>
          <p:cNvPr id="15" name="Fin" descr="End"/>
          <p:cNvSpPr/>
          <p:nvPr/>
        </p:nvSpPr>
        <p:spPr>
          <a:xfrm>
            <a:off x="457200" y="3251846"/>
            <a:ext cx="957905" cy="925810"/>
          </a:xfrm>
          <a:prstGeom prst="rect">
            <a:avLst/>
          </a:prstGeom>
          <a:solidFill>
            <a:srgbClr val="FFCDD2"/>
          </a:solidFill>
          <a:ln w="16459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504" tIns="59252" rIns="118504" bIns="592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555" dirty="0">
                <a:solidFill>
                  <a:srgbClr val="000000"/>
                </a:solidFill>
              </a:rPr>
              <a:t>Fin</a:t>
            </a:r>
          </a:p>
        </p:txBody>
      </p:sp>
      <p:cxnSp>
        <p:nvCxnSpPr>
          <p:cNvPr id="16" name="Start--Flag"/>
          <p:cNvCxnSpPr>
            <a:stCxn id="12" idx="1"/>
            <a:endCxn id="13" idx="3"/>
          </p:cNvCxnSpPr>
          <p:nvPr/>
        </p:nvCxnSpPr>
        <p:spPr>
          <a:xfrm flipH="1">
            <a:off x="9433854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ag--Check"/>
          <p:cNvCxnSpPr>
            <a:stCxn id="13" idx="1"/>
            <a:endCxn id="14" idx="3"/>
          </p:cNvCxnSpPr>
          <p:nvPr/>
        </p:nvCxnSpPr>
        <p:spPr>
          <a:xfrm flipH="1"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eck--End"/>
          <p:cNvCxnSpPr>
            <a:stCxn id="14" idx="1"/>
            <a:endCxn id="15" idx="3"/>
          </p:cNvCxnSpPr>
          <p:nvPr/>
        </p:nvCxnSpPr>
        <p:spPr>
          <a:xfrm flipH="1">
            <a:off x="1415105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Label"/>
          <p:cNvSpPr txBox="1"/>
          <p:nvPr/>
        </p:nvSpPr>
        <p:spPr>
          <a:xfrm>
            <a:off x="1596810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20" name="Check--Flag"/>
          <p:cNvCxnSpPr>
            <a:stCxn id="14" idx="3"/>
            <a:endCxn id="13" idx="1"/>
          </p:cNvCxnSpPr>
          <p:nvPr/>
        </p:nvCxnSpPr>
        <p:spPr>
          <a:xfrm>
            <a:off x="6096000" y="3714750"/>
            <a:ext cx="987531" cy="0"/>
          </a:xfrm>
          <a:prstGeom prst="line">
            <a:avLst/>
          </a:prstGeom>
          <a:ln w="1645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Label"/>
          <p:cNvSpPr txBox="1"/>
          <p:nvPr/>
        </p:nvSpPr>
        <p:spPr>
          <a:xfrm>
            <a:off x="6277706" y="3566620"/>
            <a:ext cx="624119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49377" tIns="0" rIns="49377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37" dirty="0">
                <a:solidFill>
                  <a:srgbClr val="000000"/>
                </a:solidFill>
              </a:rPr>
              <a:t>non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edge-chaining</a:t>
            </a:r>
          </a:p>
        </p:txBody>
      </p:sp>
      <p:sp>
        <p:nvSpPr>
          <p:cNvPr id="12" name="Depart" descr="A"/>
          <p:cNvSpPr/>
          <p:nvPr/>
        </p:nvSpPr>
        <p:spPr>
          <a:xfrm>
            <a:off x="1530113" y="1028700"/>
            <a:ext cx="1201759" cy="746125"/>
          </a:xfrm>
          <a:prstGeom prst="rect">
            <a:avLst/>
          </a:prstGeom>
          <a:solidFill>
            <a:srgbClr val="FFE0B2"/>
          </a:solidFill>
          <a:ln w="1326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Depart</a:t>
            </a:r>
          </a:p>
        </p:txBody>
      </p:sp>
      <p:sp>
        <p:nvSpPr>
          <p:cNvPr id="13" name="Etape 2" descr="B"/>
          <p:cNvSpPr/>
          <p:nvPr/>
        </p:nvSpPr>
        <p:spPr>
          <a:xfrm>
            <a:off x="1496687" y="2570692"/>
            <a:ext cx="1268611" cy="746125"/>
          </a:xfrm>
          <a:prstGeom prst="rect">
            <a:avLst/>
          </a:prstGeom>
          <a:solidFill>
            <a:srgbClr val="E1BEE7"/>
          </a:solidFill>
          <a:ln w="1326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Etape 2</a:t>
            </a:r>
          </a:p>
        </p:txBody>
      </p:sp>
      <p:sp>
        <p:nvSpPr>
          <p:cNvPr id="14" name="Etape 3" descr="C"/>
          <p:cNvSpPr/>
          <p:nvPr/>
        </p:nvSpPr>
        <p:spPr>
          <a:xfrm>
            <a:off x="1496687" y="4112683"/>
            <a:ext cx="1268611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Etape 3</a:t>
            </a:r>
          </a:p>
        </p:txBody>
      </p:sp>
      <p:sp>
        <p:nvSpPr>
          <p:cNvPr id="15" name="Fin" descr="D"/>
          <p:cNvSpPr/>
          <p:nvPr/>
        </p:nvSpPr>
        <p:spPr>
          <a:xfrm>
            <a:off x="1744997" y="5654675"/>
            <a:ext cx="771991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Fin</a:t>
            </a:r>
          </a:p>
        </p:txBody>
      </p:sp>
      <p:sp>
        <p:nvSpPr>
          <p:cNvPr id="16" name="Source" descr="E"/>
          <p:cNvSpPr/>
          <p:nvPr/>
        </p:nvSpPr>
        <p:spPr>
          <a:xfrm>
            <a:off x="4328380" y="1028700"/>
            <a:ext cx="1201759" cy="746125"/>
          </a:xfrm>
          <a:prstGeom prst="rect">
            <a:avLst/>
          </a:prstGeom>
          <a:solidFill>
            <a:srgbClr val="BBDEFB"/>
          </a:solidFill>
          <a:ln w="1326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Source</a:t>
            </a:r>
          </a:p>
        </p:txBody>
      </p:sp>
      <p:sp>
        <p:nvSpPr>
          <p:cNvPr id="17" name="Cible 1" descr="F"/>
          <p:cNvSpPr/>
          <p:nvPr/>
        </p:nvSpPr>
        <p:spPr>
          <a:xfrm>
            <a:off x="3362198" y="2570692"/>
            <a:ext cx="1268611" cy="746125"/>
          </a:xfrm>
          <a:prstGeom prst="rect">
            <a:avLst/>
          </a:prstGeom>
          <a:solidFill>
            <a:srgbClr val="C8E6C9"/>
          </a:solidFill>
          <a:ln w="1326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Cible 1</a:t>
            </a:r>
          </a:p>
        </p:txBody>
      </p:sp>
      <p:sp>
        <p:nvSpPr>
          <p:cNvPr id="18" name="Cible 2" descr="G"/>
          <p:cNvSpPr/>
          <p:nvPr/>
        </p:nvSpPr>
        <p:spPr>
          <a:xfrm>
            <a:off x="5227709" y="2570692"/>
            <a:ext cx="1268611" cy="746125"/>
          </a:xfrm>
          <a:prstGeom prst="rect">
            <a:avLst/>
          </a:prstGeom>
          <a:solidFill>
            <a:srgbClr val="FFE0B2"/>
          </a:solidFill>
          <a:ln w="1326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Cible 2</a:t>
            </a:r>
          </a:p>
        </p:txBody>
      </p:sp>
      <p:sp>
        <p:nvSpPr>
          <p:cNvPr id="19" name="Origine 1" descr="H"/>
          <p:cNvSpPr/>
          <p:nvPr/>
        </p:nvSpPr>
        <p:spPr>
          <a:xfrm>
            <a:off x="6988167" y="1028700"/>
            <a:ext cx="1555123" cy="746125"/>
          </a:xfrm>
          <a:prstGeom prst="rect">
            <a:avLst/>
          </a:prstGeom>
          <a:solidFill>
            <a:srgbClr val="E1BEE7"/>
          </a:solidFill>
          <a:ln w="1326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Origine 1</a:t>
            </a:r>
          </a:p>
        </p:txBody>
      </p:sp>
      <p:sp>
        <p:nvSpPr>
          <p:cNvPr id="20" name="Fusion" descr="J"/>
          <p:cNvSpPr/>
          <p:nvPr/>
        </p:nvSpPr>
        <p:spPr>
          <a:xfrm>
            <a:off x="8240861" y="2570692"/>
            <a:ext cx="1201759" cy="746125"/>
          </a:xfrm>
          <a:prstGeom prst="rect">
            <a:avLst/>
          </a:prstGeom>
          <a:solidFill>
            <a:srgbClr val="FFCDD2"/>
          </a:solidFill>
          <a:ln w="1326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Fusion</a:t>
            </a:r>
          </a:p>
        </p:txBody>
      </p:sp>
      <p:sp>
        <p:nvSpPr>
          <p:cNvPr id="21" name="Origine 2" descr="I"/>
          <p:cNvSpPr/>
          <p:nvPr/>
        </p:nvSpPr>
        <p:spPr>
          <a:xfrm>
            <a:off x="9140190" y="1028700"/>
            <a:ext cx="1555123" cy="746125"/>
          </a:xfrm>
          <a:prstGeom prst="rect">
            <a:avLst/>
          </a:prstGeom>
          <a:solidFill>
            <a:srgbClr val="FFF9C4"/>
          </a:solidFill>
          <a:ln w="1326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5504" tIns="47752" rIns="95504" bIns="477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53" dirty="0">
                <a:solidFill>
                  <a:srgbClr val="000000"/>
                </a:solidFill>
              </a:rPr>
              <a:t>Origine 2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>
            <a:off x="2130992" y="1774825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B--C"/>
          <p:cNvCxnSpPr>
            <a:stCxn id="13" idx="2"/>
            <a:endCxn id="14" idx="0"/>
          </p:cNvCxnSpPr>
          <p:nvPr/>
        </p:nvCxnSpPr>
        <p:spPr>
          <a:xfrm>
            <a:off x="2130992" y="3316817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--D"/>
          <p:cNvCxnSpPr>
            <a:stCxn id="14" idx="2"/>
            <a:endCxn id="15" idx="0"/>
          </p:cNvCxnSpPr>
          <p:nvPr/>
        </p:nvCxnSpPr>
        <p:spPr>
          <a:xfrm>
            <a:off x="2130992" y="4858808"/>
            <a:ext cx="0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--F"/>
          <p:cNvCxnSpPr>
            <a:stCxn id="16" idx="2"/>
            <a:endCxn id="17" idx="0"/>
          </p:cNvCxnSpPr>
          <p:nvPr/>
        </p:nvCxnSpPr>
        <p:spPr>
          <a:xfrm flipH="1">
            <a:off x="3996504" y="1774825"/>
            <a:ext cx="932756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--G"/>
          <p:cNvCxnSpPr>
            <a:stCxn id="16" idx="2"/>
            <a:endCxn id="18" idx="0"/>
          </p:cNvCxnSpPr>
          <p:nvPr/>
        </p:nvCxnSpPr>
        <p:spPr>
          <a:xfrm>
            <a:off x="4929259" y="1774825"/>
            <a:ext cx="932756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H--J"/>
          <p:cNvCxnSpPr>
            <a:stCxn id="19" idx="2"/>
            <a:endCxn id="20" idx="0"/>
          </p:cNvCxnSpPr>
          <p:nvPr/>
        </p:nvCxnSpPr>
        <p:spPr>
          <a:xfrm>
            <a:off x="7765728" y="1774825"/>
            <a:ext cx="1076012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I--J"/>
          <p:cNvCxnSpPr>
            <a:stCxn id="21" idx="2"/>
            <a:endCxn id="20" idx="0"/>
          </p:cNvCxnSpPr>
          <p:nvPr/>
        </p:nvCxnSpPr>
        <p:spPr>
          <a:xfrm flipH="1">
            <a:off x="8841740" y="1774825"/>
            <a:ext cx="1076012" cy="795867"/>
          </a:xfrm>
          <a:prstGeom prst="line">
            <a:avLst/>
          </a:prstGeom>
          <a:ln w="1326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edge-labels</a:t>
            </a:r>
          </a:p>
        </p:txBody>
      </p:sp>
      <p:sp>
        <p:nvSpPr>
          <p:cNvPr id="12" name="Debut" descr="A"/>
          <p:cNvSpPr/>
          <p:nvPr/>
        </p:nvSpPr>
        <p:spPr>
          <a:xfrm>
            <a:off x="4318270" y="1028700"/>
            <a:ext cx="617937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Debut</a:t>
            </a:r>
          </a:p>
        </p:txBody>
      </p:sp>
      <p:sp>
        <p:nvSpPr>
          <p:cNvPr id="13" name="Action" descr="B"/>
          <p:cNvSpPr/>
          <p:nvPr/>
        </p:nvSpPr>
        <p:spPr>
          <a:xfrm>
            <a:off x="3893149" y="1928890"/>
            <a:ext cx="701567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Action</a:t>
            </a:r>
          </a:p>
        </p:txBody>
      </p:sp>
      <p:sp>
        <p:nvSpPr>
          <p:cNvPr id="14" name="Suite" descr="C"/>
          <p:cNvSpPr/>
          <p:nvPr/>
        </p:nvSpPr>
        <p:spPr>
          <a:xfrm>
            <a:off x="3934964" y="2829079"/>
            <a:ext cx="617937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</a:t>
            </a:r>
          </a:p>
        </p:txBody>
      </p:sp>
      <p:sp>
        <p:nvSpPr>
          <p:cNvPr id="15" name="Test" descr="D"/>
          <p:cNvSpPr/>
          <p:nvPr/>
        </p:nvSpPr>
        <p:spPr>
          <a:xfrm>
            <a:off x="3709626" y="3729269"/>
            <a:ext cx="1068612" cy="871151"/>
          </a:xfrm>
          <a:prstGeom prst="diamond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id="16" name="Rapide" descr="E"/>
          <p:cNvSpPr/>
          <p:nvPr/>
        </p:nvSpPr>
        <p:spPr>
          <a:xfrm>
            <a:off x="3409950" y="5065035"/>
            <a:ext cx="701567" cy="435576"/>
          </a:xfrm>
          <a:prstGeom prst="rect">
            <a:avLst/>
          </a:prstGeom>
          <a:solidFill>
            <a:srgbClr val="C8E6C9"/>
          </a:solidFill>
          <a:ln w="7744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Rapide</a:t>
            </a:r>
          </a:p>
        </p:txBody>
      </p:sp>
      <p:sp>
        <p:nvSpPr>
          <p:cNvPr id="17" name="Lent" descr="F"/>
          <p:cNvSpPr/>
          <p:nvPr/>
        </p:nvSpPr>
        <p:spPr>
          <a:xfrm>
            <a:off x="4459978" y="5065035"/>
            <a:ext cx="534306" cy="435576"/>
          </a:xfrm>
          <a:prstGeom prst="rect">
            <a:avLst/>
          </a:prstGeom>
          <a:solidFill>
            <a:srgbClr val="FFE0B2"/>
          </a:solidFill>
          <a:ln w="7744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Lent</a:t>
            </a:r>
          </a:p>
        </p:txBody>
      </p:sp>
      <p:sp>
        <p:nvSpPr>
          <p:cNvPr id="18" name="Repeter" descr="G"/>
          <p:cNvSpPr/>
          <p:nvPr/>
        </p:nvSpPr>
        <p:spPr>
          <a:xfrm>
            <a:off x="4717839" y="5965224"/>
            <a:ext cx="785198" cy="435576"/>
          </a:xfrm>
          <a:prstGeom prst="rect">
            <a:avLst/>
          </a:prstGeom>
          <a:solidFill>
            <a:srgbClr val="E1BEE7"/>
          </a:solidFill>
          <a:ln w="7744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Repeter</a:t>
            </a:r>
          </a:p>
        </p:txBody>
      </p:sp>
      <p:sp>
        <p:nvSpPr>
          <p:cNvPr id="19" name="Autre depart" descr="H"/>
          <p:cNvSpPr/>
          <p:nvPr/>
        </p:nvSpPr>
        <p:spPr>
          <a:xfrm>
            <a:off x="5825943" y="1028700"/>
            <a:ext cx="1161535" cy="435576"/>
          </a:xfrm>
          <a:prstGeom prst="rect">
            <a:avLst/>
          </a:prstGeom>
          <a:solidFill>
            <a:srgbClr val="FFCDD2"/>
          </a:solidFill>
          <a:ln w="7744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Autre depart</a:t>
            </a:r>
          </a:p>
        </p:txBody>
      </p:sp>
      <p:sp>
        <p:nvSpPr>
          <p:cNvPr id="20" name="Suite mediane" descr="I"/>
          <p:cNvSpPr/>
          <p:nvPr/>
        </p:nvSpPr>
        <p:spPr>
          <a:xfrm>
            <a:off x="5784128" y="1928890"/>
            <a:ext cx="1245166" cy="435576"/>
          </a:xfrm>
          <a:prstGeom prst="rect">
            <a:avLst/>
          </a:prstGeom>
          <a:solidFill>
            <a:srgbClr val="FFF9C4"/>
          </a:solidFill>
          <a:ln w="7744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Suite mediane</a:t>
            </a:r>
          </a:p>
        </p:txBody>
      </p:sp>
      <p:sp>
        <p:nvSpPr>
          <p:cNvPr id="21" name="Fin mediane" descr="J"/>
          <p:cNvSpPr/>
          <p:nvPr/>
        </p:nvSpPr>
        <p:spPr>
          <a:xfrm>
            <a:off x="5867758" y="2829079"/>
            <a:ext cx="1077905" cy="435576"/>
          </a:xfrm>
          <a:prstGeom prst="rect">
            <a:avLst/>
          </a:prstGeom>
          <a:solidFill>
            <a:srgbClr val="BBDEFB"/>
          </a:solidFill>
          <a:ln w="7744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5754" tIns="27877" rIns="55754" bIns="278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50" dirty="0">
                <a:solidFill>
                  <a:srgbClr val="000000"/>
                </a:solidFill>
              </a:rPr>
              <a:t>Fin mediane</a:t>
            </a:r>
          </a:p>
        </p:txBody>
      </p:sp>
      <p:cxnSp>
        <p:nvCxnSpPr>
          <p:cNvPr id="22" name="A--B"/>
          <p:cNvCxnSpPr>
            <a:stCxn id="12" idx="2"/>
            <a:endCxn id="13" idx="0"/>
          </p:cNvCxnSpPr>
          <p:nvPr/>
        </p:nvCxnSpPr>
        <p:spPr>
          <a:xfrm flipH="1">
            <a:off x="4243932" y="1464276"/>
            <a:ext cx="383307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Label"/>
          <p:cNvSpPr txBox="1"/>
          <p:nvPr/>
        </p:nvSpPr>
        <p:spPr>
          <a:xfrm>
            <a:off x="4172800" y="1626891"/>
            <a:ext cx="525571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etape 1</a:t>
            </a:r>
          </a:p>
        </p:txBody>
      </p:sp>
      <p:cxnSp>
        <p:nvCxnSpPr>
          <p:cNvPr id="24" name="B--C"/>
          <p:cNvCxnSpPr>
            <a:stCxn id="13" idx="2"/>
            <a:endCxn id="14" idx="0"/>
          </p:cNvCxnSpPr>
          <p:nvPr/>
        </p:nvCxnSpPr>
        <p:spPr>
          <a:xfrm>
            <a:off x="4243932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Label"/>
          <p:cNvSpPr txBox="1"/>
          <p:nvPr/>
        </p:nvSpPr>
        <p:spPr>
          <a:xfrm>
            <a:off x="3846223" y="2527080"/>
            <a:ext cx="795419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sans fleche</a:t>
            </a:r>
          </a:p>
        </p:txBody>
      </p:sp>
      <p:cxnSp>
        <p:nvCxnSpPr>
          <p:cNvPr id="26" name="C--D"/>
          <p:cNvCxnSpPr>
            <a:stCxn id="14" idx="2"/>
            <a:endCxn id="15" idx="0"/>
          </p:cNvCxnSpPr>
          <p:nvPr/>
        </p:nvCxnSpPr>
        <p:spPr>
          <a:xfrm>
            <a:off x="4243932" y="326465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3896401" y="3427270"/>
            <a:ext cx="695063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optionnel</a:t>
            </a:r>
          </a:p>
        </p:txBody>
      </p:sp>
      <p:cxnSp>
        <p:nvCxnSpPr>
          <p:cNvPr id="28" name="D--E"/>
          <p:cNvCxnSpPr>
            <a:stCxn id="15" idx="2"/>
            <a:endCxn id="16" idx="0"/>
          </p:cNvCxnSpPr>
          <p:nvPr/>
        </p:nvCxnSpPr>
        <p:spPr>
          <a:xfrm flipH="1">
            <a:off x="3760734" y="4600421"/>
            <a:ext cx="483198" cy="464614"/>
          </a:xfrm>
          <a:prstGeom prst="line">
            <a:avLst/>
          </a:prstGeom>
          <a:ln w="15487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3738432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vrai</a:t>
            </a:r>
          </a:p>
        </p:txBody>
      </p:sp>
      <p:cxnSp>
        <p:nvCxnSpPr>
          <p:cNvPr id="30" name="D--F"/>
          <p:cNvCxnSpPr>
            <a:stCxn id="15" idx="2"/>
            <a:endCxn id="17" idx="0"/>
          </p:cNvCxnSpPr>
          <p:nvPr/>
        </p:nvCxnSpPr>
        <p:spPr>
          <a:xfrm>
            <a:off x="4243932" y="4600421"/>
            <a:ext cx="483199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4221631" y="4763036"/>
            <a:ext cx="527802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si faux</a:t>
            </a:r>
          </a:p>
        </p:txBody>
      </p:sp>
      <p:cxnSp>
        <p:nvCxnSpPr>
          <p:cNvPr id="32" name="F--G"/>
          <p:cNvCxnSpPr>
            <a:stCxn id="17" idx="2"/>
            <a:endCxn id="18" idx="0"/>
          </p:cNvCxnSpPr>
          <p:nvPr/>
        </p:nvCxnSpPr>
        <p:spPr>
          <a:xfrm>
            <a:off x="4727131" y="5500610"/>
            <a:ext cx="383306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--A"/>
          <p:cNvCxnSpPr>
            <a:stCxn id="18" idx="0"/>
            <a:endCxn id="12" idx="2"/>
          </p:cNvCxnSpPr>
          <p:nvPr/>
        </p:nvCxnSpPr>
        <p:spPr>
          <a:xfrm flipH="1" flipV="1">
            <a:off x="4627239" y="1464276"/>
            <a:ext cx="483198" cy="4500948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H--I"/>
          <p:cNvCxnSpPr>
            <a:stCxn id="19" idx="2"/>
            <a:endCxn id="20" idx="0"/>
          </p:cNvCxnSpPr>
          <p:nvPr/>
        </p:nvCxnSpPr>
        <p:spPr>
          <a:xfrm>
            <a:off x="6406711" y="1464276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5875192" y="1626891"/>
            <a:ext cx="1063037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syntaxe mediane</a:t>
            </a:r>
          </a:p>
        </p:txBody>
      </p:sp>
      <p:cxnSp>
        <p:nvCxnSpPr>
          <p:cNvPr id="36" name="I--J"/>
          <p:cNvCxnSpPr>
            <a:stCxn id="20" idx="2"/>
            <a:endCxn id="21" idx="0"/>
          </p:cNvCxnSpPr>
          <p:nvPr/>
        </p:nvCxnSpPr>
        <p:spPr>
          <a:xfrm>
            <a:off x="6406711" y="2364465"/>
            <a:ext cx="0" cy="464614"/>
          </a:xfrm>
          <a:prstGeom prst="line">
            <a:avLst/>
          </a:prstGeom>
          <a:ln w="7744" cap="flat" cmpd="sng" algn="ctr">
            <a:solidFill>
              <a:srgbClr val="2F549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dgeLabel"/>
          <p:cNvSpPr txBox="1"/>
          <p:nvPr/>
        </p:nvSpPr>
        <p:spPr>
          <a:xfrm>
            <a:off x="5774836" y="2527080"/>
            <a:ext cx="1263750" cy="139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23231" tIns="0" rIns="23231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mediane pointillee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deck-A.md</dc:title>
  <dc:creator>md2nativedocx</dc:creator>
  <cp:lastModifiedBy>md2nativedocx</cp:lastModifiedBy>
  <dcterms:created xsi:type="dcterms:W3CDTF">2026-10-05T12:02:42Z</dcterms:created>
  <dcterms:modified xsi:type="dcterms:W3CDTF">2026-10-05T12:02:42Z</dcterms:modified>
</cp:coreProperties>
</file>