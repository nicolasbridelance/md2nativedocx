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sequence</a:t>
            </a:r>
          </a:p>
        </p:txBody>
      </p:sp>
      <p:sp>
        <p:nvSpPr>
          <p:cNvPr id="80" name="Participant U"/>
          <p:cNvSpPr/>
          <p:nvPr/>
        </p:nvSpPr>
        <p:spPr>
          <a:xfrm>
            <a:off x="3548228" y="1305256"/>
            <a:ext cx="622251" cy="235073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82" name="Participant U"/>
          <p:cNvSpPr/>
          <p:nvPr/>
        </p:nvSpPr>
        <p:spPr>
          <a:xfrm>
            <a:off x="3548228" y="6027449"/>
            <a:ext cx="622251" cy="235073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85" name="Participant W"/>
          <p:cNvSpPr/>
          <p:nvPr/>
        </p:nvSpPr>
        <p:spPr>
          <a:xfrm>
            <a:off x="4516174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87" name="Participant W"/>
          <p:cNvSpPr/>
          <p:nvPr/>
        </p:nvSpPr>
        <p:spPr>
          <a:xfrm>
            <a:off x="4516174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0" name="Participant API"/>
          <p:cNvSpPr/>
          <p:nvPr/>
        </p:nvSpPr>
        <p:spPr>
          <a:xfrm>
            <a:off x="5622398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2" name="Participant API"/>
          <p:cNvSpPr/>
          <p:nvPr/>
        </p:nvSpPr>
        <p:spPr>
          <a:xfrm>
            <a:off x="5622398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5" name="Participant DB"/>
          <p:cNvSpPr/>
          <p:nvPr/>
        </p:nvSpPr>
        <p:spPr>
          <a:xfrm>
            <a:off x="6590344" y="1305256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97" name="Participant DB"/>
          <p:cNvSpPr/>
          <p:nvPr/>
        </p:nvSpPr>
        <p:spPr>
          <a:xfrm>
            <a:off x="6590344" y="602744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00" name="Participant M"/>
          <p:cNvSpPr/>
          <p:nvPr/>
        </p:nvSpPr>
        <p:spPr>
          <a:xfrm>
            <a:off x="7558290" y="5211609"/>
            <a:ext cx="622251" cy="23507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40" name="Block loop"/>
          <p:cNvSpPr/>
          <p:nvPr/>
        </p:nvSpPr>
        <p:spPr>
          <a:xfrm>
            <a:off x="4578399" y="3137439"/>
            <a:ext cx="1604025" cy="421748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1" name="Box 31"/>
          <p:cNvSpPr/>
          <p:nvPr/>
        </p:nvSpPr>
        <p:spPr>
          <a:xfrm>
            <a:off x="4578399" y="3137439"/>
            <a:ext cx="276556" cy="110622"/>
          </a:xfrm>
          <a:prstGeom prst="rect">
            <a:avLst/>
          </a:prstGeom>
          <a:solidFill>
            <a:srgbClr val="E6E6E6"/>
          </a:solidFill>
          <a:ln w="6914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loop</a:t>
            </a:r>
          </a:p>
        </p:txBody>
      </p:sp>
      <p:sp>
        <p:nvSpPr>
          <p:cNvPr id="42" name="Box 32"/>
          <p:cNvSpPr/>
          <p:nvPr/>
        </p:nvSpPr>
        <p:spPr>
          <a:xfrm>
            <a:off x="4896438" y="3137439"/>
            <a:ext cx="1244502" cy="110622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[Every minute]</a:t>
            </a:r>
          </a:p>
        </p:txBody>
      </p:sp>
      <p:sp>
        <p:nvSpPr>
          <p:cNvPr id="58" name="Block alt"/>
          <p:cNvSpPr/>
          <p:nvPr/>
        </p:nvSpPr>
        <p:spPr>
          <a:xfrm>
            <a:off x="4578399" y="3655982"/>
            <a:ext cx="1604025" cy="1209932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59" name="Box 49"/>
          <p:cNvSpPr/>
          <p:nvPr/>
        </p:nvSpPr>
        <p:spPr>
          <a:xfrm>
            <a:off x="4578399" y="3655982"/>
            <a:ext cx="235073" cy="110622"/>
          </a:xfrm>
          <a:prstGeom prst="rect">
            <a:avLst/>
          </a:prstGeom>
          <a:solidFill>
            <a:srgbClr val="E6E6E6"/>
          </a:solidFill>
          <a:ln w="6914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alt</a:t>
            </a:r>
          </a:p>
        </p:txBody>
      </p:sp>
      <p:sp>
        <p:nvSpPr>
          <p:cNvPr id="60" name="Box 50"/>
          <p:cNvSpPr/>
          <p:nvPr/>
        </p:nvSpPr>
        <p:spPr>
          <a:xfrm>
            <a:off x="4854955" y="3655982"/>
            <a:ext cx="1285985" cy="110622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[paid]</a:t>
            </a:r>
          </a:p>
        </p:txBody>
      </p:sp>
      <p:cxnSp>
        <p:nvCxnSpPr>
          <p:cNvPr id="61" name="Connector 51"/>
          <p:cNvCxnSpPr/>
          <p:nvPr/>
        </p:nvCxnSpPr>
        <p:spPr>
          <a:xfrm>
            <a:off x="4578399" y="4091558"/>
            <a:ext cx="1604025" cy="1"/>
          </a:xfrm>
          <a:prstGeom prst="line">
            <a:avLst/>
          </a:prstGeom>
          <a:ln w="6914">
            <a:solidFill>
              <a:srgbClr val="7F7F7F"/>
            </a:solidFill>
            <a:prstDash val="dash"/>
          </a:ln>
        </p:spPr>
      </p:cxnSp>
      <p:sp>
        <p:nvSpPr>
          <p:cNvPr id="62" name="Box 52"/>
          <p:cNvSpPr/>
          <p:nvPr/>
        </p:nvSpPr>
        <p:spPr>
          <a:xfrm>
            <a:off x="4619882" y="4105385"/>
            <a:ext cx="1521058" cy="96795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[failed]</a:t>
            </a:r>
          </a:p>
        </p:txBody>
      </p:sp>
      <p:cxnSp>
        <p:nvCxnSpPr>
          <p:cNvPr id="84" name="Connector 74"/>
          <p:cNvCxnSpPr/>
          <p:nvPr/>
        </p:nvCxnSpPr>
        <p:spPr>
          <a:xfrm>
            <a:off x="3859353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89" name="Connector 79"/>
          <p:cNvCxnSpPr/>
          <p:nvPr/>
        </p:nvCxnSpPr>
        <p:spPr>
          <a:xfrm>
            <a:off x="4827299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94" name="Connector 84"/>
          <p:cNvCxnSpPr/>
          <p:nvPr/>
        </p:nvCxnSpPr>
        <p:spPr>
          <a:xfrm>
            <a:off x="5933523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99" name="Connector 89"/>
          <p:cNvCxnSpPr/>
          <p:nvPr/>
        </p:nvCxnSpPr>
        <p:spPr>
          <a:xfrm>
            <a:off x="6901469" y="1540329"/>
            <a:ext cx="1" cy="4487120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cxnSp>
        <p:nvCxnSpPr>
          <p:cNvPr id="102" name="Connector 92"/>
          <p:cNvCxnSpPr/>
          <p:nvPr/>
        </p:nvCxnSpPr>
        <p:spPr>
          <a:xfrm>
            <a:off x="7869415" y="5446682"/>
            <a:ext cx="1" cy="200503"/>
          </a:xfrm>
          <a:prstGeom prst="line">
            <a:avLst/>
          </a:prstGeom>
          <a:ln w="6914">
            <a:solidFill>
              <a:srgbClr val="999999"/>
            </a:solidFill>
            <a:prstDash val="dash"/>
          </a:ln>
        </p:spPr>
      </p:cxnSp>
      <p:sp>
        <p:nvSpPr>
          <p:cNvPr id="47" name="Activation"/>
          <p:cNvSpPr/>
          <p:nvPr/>
        </p:nvSpPr>
        <p:spPr>
          <a:xfrm>
            <a:off x="5898954" y="2190235"/>
            <a:ext cx="69139" cy="1790700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79" name="Activation"/>
          <p:cNvSpPr/>
          <p:nvPr/>
        </p:nvSpPr>
        <p:spPr>
          <a:xfrm>
            <a:off x="4792730" y="1851454"/>
            <a:ext cx="69139" cy="4037717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34" name="Note"/>
          <p:cNvSpPr/>
          <p:nvPr/>
        </p:nvSpPr>
        <p:spPr>
          <a:xfrm>
            <a:off x="5864384" y="2916195"/>
            <a:ext cx="1106224" cy="152106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35" name="Box 25"/>
          <p:cNvSpPr/>
          <p:nvPr/>
        </p:nvSpPr>
        <p:spPr>
          <a:xfrm>
            <a:off x="5905868" y="2950764"/>
            <a:ext cx="1023257" cy="82967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Retried 3 times</a:t>
            </a:r>
          </a:p>
        </p:txBody>
      </p:sp>
      <p:sp>
        <p:nvSpPr>
          <p:cNvPr id="63" name="Note"/>
          <p:cNvSpPr/>
          <p:nvPr/>
        </p:nvSpPr>
        <p:spPr>
          <a:xfrm>
            <a:off x="4896438" y="4962709"/>
            <a:ext cx="898807" cy="152106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64" name="Box 54"/>
          <p:cNvSpPr/>
          <p:nvPr/>
        </p:nvSpPr>
        <p:spPr>
          <a:xfrm>
            <a:off x="4937922" y="4997278"/>
            <a:ext cx="815840" cy="82967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333333"/>
                </a:solidFill>
              </a:rPr>
              <a:t>done</a:t>
            </a:r>
          </a:p>
        </p:txBody>
      </p:sp>
      <p:sp>
        <p:nvSpPr>
          <p:cNvPr id="11" name="Box 1"/>
          <p:cNvSpPr/>
          <p:nvPr/>
        </p:nvSpPr>
        <p:spPr>
          <a:xfrm>
            <a:off x="3409950" y="1070183"/>
            <a:ext cx="4908869" cy="124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50" dirty="0">
                <a:solidFill>
                  <a:srgbClr val="333333"/>
                </a:solidFill>
              </a:rPr>
              <a:t>Checkout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3859353" y="1851454"/>
            <a:ext cx="93337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3" name="Box 3"/>
          <p:cNvSpPr/>
          <p:nvPr/>
        </p:nvSpPr>
        <p:spPr>
          <a:xfrm>
            <a:off x="3887009" y="1706262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Place order</a:t>
            </a:r>
          </a:p>
        </p:txBody>
      </p:sp>
      <p:sp>
        <p:nvSpPr>
          <p:cNvPr id="14" name="Shape 4"/>
          <p:cNvSpPr/>
          <p:nvPr/>
        </p:nvSpPr>
        <p:spPr>
          <a:xfrm>
            <a:off x="3880095" y="1803057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15" name="Box 5"/>
          <p:cNvSpPr/>
          <p:nvPr/>
        </p:nvSpPr>
        <p:spPr>
          <a:xfrm>
            <a:off x="3880095" y="1803057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4861869" y="2093441"/>
            <a:ext cx="1071654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7" name="Box 7"/>
          <p:cNvSpPr/>
          <p:nvPr/>
        </p:nvSpPr>
        <p:spPr>
          <a:xfrm>
            <a:off x="4889525" y="1948249"/>
            <a:ext cx="1016343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POST /orders</a:t>
            </a:r>
          </a:p>
        </p:txBody>
      </p:sp>
      <p:sp>
        <p:nvSpPr>
          <p:cNvPr id="18" name="Shape 8"/>
          <p:cNvSpPr/>
          <p:nvPr/>
        </p:nvSpPr>
        <p:spPr>
          <a:xfrm>
            <a:off x="4882611" y="2045043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4882611" y="2045043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5968093" y="2335427"/>
            <a:ext cx="933376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1" name="Box 11"/>
          <p:cNvSpPr/>
          <p:nvPr/>
        </p:nvSpPr>
        <p:spPr>
          <a:xfrm>
            <a:off x="5995748" y="2190235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INSERT order</a:t>
            </a:r>
          </a:p>
        </p:txBody>
      </p:sp>
      <p:sp>
        <p:nvSpPr>
          <p:cNvPr id="22" name="Shape 12"/>
          <p:cNvSpPr/>
          <p:nvPr/>
        </p:nvSpPr>
        <p:spPr>
          <a:xfrm>
            <a:off x="5988835" y="2287030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5988835" y="2287030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24" name="Connector 14"/>
          <p:cNvCxnSpPr/>
          <p:nvPr/>
        </p:nvCxnSpPr>
        <p:spPr>
          <a:xfrm flipH="1">
            <a:off x="5968093" y="2577414"/>
            <a:ext cx="933376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5" name="Box 15"/>
          <p:cNvSpPr/>
          <p:nvPr/>
        </p:nvSpPr>
        <p:spPr>
          <a:xfrm>
            <a:off x="5995748" y="2432222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ok</a:t>
            </a:r>
          </a:p>
        </p:txBody>
      </p:sp>
      <p:sp>
        <p:nvSpPr>
          <p:cNvPr id="26" name="Shape 16"/>
          <p:cNvSpPr/>
          <p:nvPr/>
        </p:nvSpPr>
        <p:spPr>
          <a:xfrm>
            <a:off x="6783933" y="2529016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6783933" y="2529016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8" name="Connector 18"/>
          <p:cNvCxnSpPr/>
          <p:nvPr/>
        </p:nvCxnSpPr>
        <p:spPr>
          <a:xfrm flipH="1">
            <a:off x="4861869" y="2819400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29" name="Connector 19"/>
          <p:cNvCxnSpPr/>
          <p:nvPr/>
        </p:nvCxnSpPr>
        <p:spPr>
          <a:xfrm>
            <a:off x="4868783" y="2791744"/>
            <a:ext cx="55311" cy="55312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30" name="Connector 20"/>
          <p:cNvCxnSpPr/>
          <p:nvPr/>
        </p:nvCxnSpPr>
        <p:spPr>
          <a:xfrm flipV="1">
            <a:off x="4868783" y="2791744"/>
            <a:ext cx="55311" cy="55312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sp>
        <p:nvSpPr>
          <p:cNvPr id="31" name="Box 21"/>
          <p:cNvSpPr/>
          <p:nvPr/>
        </p:nvSpPr>
        <p:spPr>
          <a:xfrm>
            <a:off x="4889525" y="2674208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Payment declined</a:t>
            </a:r>
          </a:p>
        </p:txBody>
      </p:sp>
      <p:sp>
        <p:nvSpPr>
          <p:cNvPr id="32" name="Shape 22"/>
          <p:cNvSpPr/>
          <p:nvPr/>
        </p:nvSpPr>
        <p:spPr>
          <a:xfrm>
            <a:off x="5781418" y="2771003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33" name="Box 23"/>
          <p:cNvSpPr/>
          <p:nvPr/>
        </p:nvSpPr>
        <p:spPr>
          <a:xfrm>
            <a:off x="5781418" y="2771003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36" name="Connector 26"/>
          <p:cNvCxnSpPr/>
          <p:nvPr/>
        </p:nvCxnSpPr>
        <p:spPr>
          <a:xfrm>
            <a:off x="4861869" y="3462393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37" name="Box 27"/>
          <p:cNvSpPr/>
          <p:nvPr/>
        </p:nvSpPr>
        <p:spPr>
          <a:xfrm>
            <a:off x="4889525" y="3317201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poll status</a:t>
            </a:r>
          </a:p>
        </p:txBody>
      </p:sp>
      <p:sp>
        <p:nvSpPr>
          <p:cNvPr id="38" name="Shape 28"/>
          <p:cNvSpPr/>
          <p:nvPr/>
        </p:nvSpPr>
        <p:spPr>
          <a:xfrm>
            <a:off x="4882611" y="3413995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39" name="Box 29"/>
          <p:cNvSpPr/>
          <p:nvPr/>
        </p:nvSpPr>
        <p:spPr>
          <a:xfrm>
            <a:off x="4882611" y="3413995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43" name="Connector 33"/>
          <p:cNvCxnSpPr/>
          <p:nvPr/>
        </p:nvCxnSpPr>
        <p:spPr>
          <a:xfrm flipH="1">
            <a:off x="4861869" y="3980935"/>
            <a:ext cx="1037085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44" name="Box 34"/>
          <p:cNvSpPr/>
          <p:nvPr/>
        </p:nvSpPr>
        <p:spPr>
          <a:xfrm>
            <a:off x="4889525" y="3835743"/>
            <a:ext cx="981774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200 OK</a:t>
            </a:r>
          </a:p>
        </p:txBody>
      </p:sp>
      <p:sp>
        <p:nvSpPr>
          <p:cNvPr id="45" name="Shape 35"/>
          <p:cNvSpPr/>
          <p:nvPr/>
        </p:nvSpPr>
        <p:spPr>
          <a:xfrm>
            <a:off x="5781418" y="393253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46" name="Box 36"/>
          <p:cNvSpPr/>
          <p:nvPr/>
        </p:nvSpPr>
        <p:spPr>
          <a:xfrm>
            <a:off x="5781418" y="393253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7</a:t>
            </a:r>
          </a:p>
        </p:txBody>
      </p:sp>
      <p:cxnSp>
        <p:nvCxnSpPr>
          <p:cNvPr id="48" name="Connector 38"/>
          <p:cNvCxnSpPr/>
          <p:nvPr/>
        </p:nvCxnSpPr>
        <p:spPr>
          <a:xfrm flipH="1">
            <a:off x="4861869" y="4388855"/>
            <a:ext cx="1071654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sm" len="sm"/>
          </a:ln>
        </p:spPr>
      </p:cxnSp>
      <p:sp>
        <p:nvSpPr>
          <p:cNvPr id="49" name="Box 39"/>
          <p:cNvSpPr/>
          <p:nvPr/>
        </p:nvSpPr>
        <p:spPr>
          <a:xfrm>
            <a:off x="4889525" y="4243663"/>
            <a:ext cx="1016343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402</a:t>
            </a:r>
          </a:p>
        </p:txBody>
      </p:sp>
      <p:sp>
        <p:nvSpPr>
          <p:cNvPr id="50" name="Shape 40"/>
          <p:cNvSpPr/>
          <p:nvPr/>
        </p:nvSpPr>
        <p:spPr>
          <a:xfrm>
            <a:off x="5815987" y="434045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51" name="Box 41"/>
          <p:cNvSpPr/>
          <p:nvPr/>
        </p:nvSpPr>
        <p:spPr>
          <a:xfrm>
            <a:off x="5815987" y="434045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8</a:t>
            </a:r>
          </a:p>
        </p:txBody>
      </p:sp>
      <p:cxnSp>
        <p:nvCxnSpPr>
          <p:cNvPr id="52" name="Connector 42"/>
          <p:cNvCxnSpPr/>
          <p:nvPr/>
        </p:nvCxnSpPr>
        <p:spPr>
          <a:xfrm>
            <a:off x="5933523" y="4630842"/>
            <a:ext cx="20741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53" name="Connector 43"/>
          <p:cNvCxnSpPr/>
          <p:nvPr/>
        </p:nvCxnSpPr>
        <p:spPr>
          <a:xfrm>
            <a:off x="6140940" y="4630842"/>
            <a:ext cx="1" cy="138278"/>
          </a:xfrm>
          <a:prstGeom prst="line">
            <a:avLst/>
          </a:prstGeom>
          <a:ln w="6914">
            <a:solidFill>
              <a:srgbClr val="595959"/>
            </a:solidFill>
            <a:prstDash val="solid"/>
          </a:ln>
        </p:spPr>
      </p:cxnSp>
      <p:cxnSp>
        <p:nvCxnSpPr>
          <p:cNvPr id="54" name="Connector 44"/>
          <p:cNvCxnSpPr/>
          <p:nvPr/>
        </p:nvCxnSpPr>
        <p:spPr>
          <a:xfrm flipH="1">
            <a:off x="5933523" y="4769120"/>
            <a:ext cx="207417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55" name="Box 45"/>
          <p:cNvSpPr/>
          <p:nvPr/>
        </p:nvSpPr>
        <p:spPr>
          <a:xfrm>
            <a:off x="6182424" y="4485650"/>
            <a:ext cx="506789" cy="89881"/>
          </a:xfrm>
          <a:prstGeom prst="rect">
            <a:avLst/>
          </a:prstGeom>
          <a:noFill/>
          <a:ln>
            <a:noFill/>
          </a:ln>
        </p:spPr>
        <p:txBody>
          <a:bodyPr wrap="none" lIns="13828" tIns="0" rIns="1382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log failure</a:t>
            </a:r>
          </a:p>
        </p:txBody>
      </p:sp>
      <p:sp>
        <p:nvSpPr>
          <p:cNvPr id="56" name="Shape 46"/>
          <p:cNvSpPr/>
          <p:nvPr/>
        </p:nvSpPr>
        <p:spPr>
          <a:xfrm>
            <a:off x="5940437" y="4582444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57" name="Box 47"/>
          <p:cNvSpPr/>
          <p:nvPr/>
        </p:nvSpPr>
        <p:spPr>
          <a:xfrm>
            <a:off x="5940437" y="4582444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9</a:t>
            </a:r>
          </a:p>
        </p:txBody>
      </p:sp>
      <p:cxnSp>
        <p:nvCxnSpPr>
          <p:cNvPr id="65" name="Connector 55"/>
          <p:cNvCxnSpPr/>
          <p:nvPr/>
        </p:nvCxnSpPr>
        <p:spPr>
          <a:xfrm>
            <a:off x="4861869" y="5329146"/>
            <a:ext cx="2696421" cy="1"/>
          </a:xfrm>
          <a:prstGeom prst="line">
            <a:avLst/>
          </a:prstGeom>
          <a:ln w="6914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66" name="Box 56"/>
          <p:cNvSpPr/>
          <p:nvPr/>
        </p:nvSpPr>
        <p:spPr>
          <a:xfrm>
            <a:off x="4889525" y="5183954"/>
            <a:ext cx="2641110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send receipt</a:t>
            </a:r>
          </a:p>
        </p:txBody>
      </p:sp>
      <p:sp>
        <p:nvSpPr>
          <p:cNvPr id="67" name="Shape 57"/>
          <p:cNvSpPr/>
          <p:nvPr/>
        </p:nvSpPr>
        <p:spPr>
          <a:xfrm>
            <a:off x="4882611" y="528074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68" name="Box 58"/>
          <p:cNvSpPr/>
          <p:nvPr/>
        </p:nvSpPr>
        <p:spPr>
          <a:xfrm>
            <a:off x="4882611" y="528074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10</a:t>
            </a:r>
          </a:p>
        </p:txBody>
      </p:sp>
      <p:cxnSp>
        <p:nvCxnSpPr>
          <p:cNvPr id="69" name="Connector 59"/>
          <p:cNvCxnSpPr/>
          <p:nvPr/>
        </p:nvCxnSpPr>
        <p:spPr>
          <a:xfrm flipH="1">
            <a:off x="4861869" y="5647185"/>
            <a:ext cx="3007546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70" name="Box 60"/>
          <p:cNvSpPr/>
          <p:nvPr/>
        </p:nvSpPr>
        <p:spPr>
          <a:xfrm>
            <a:off x="4889525" y="5501993"/>
            <a:ext cx="295223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sent</a:t>
            </a:r>
          </a:p>
        </p:txBody>
      </p:sp>
      <p:sp>
        <p:nvSpPr>
          <p:cNvPr id="71" name="Shape 61"/>
          <p:cNvSpPr/>
          <p:nvPr/>
        </p:nvSpPr>
        <p:spPr>
          <a:xfrm>
            <a:off x="7751879" y="5598788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72" name="Box 62"/>
          <p:cNvSpPr/>
          <p:nvPr/>
        </p:nvSpPr>
        <p:spPr>
          <a:xfrm>
            <a:off x="7751879" y="5598788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11</a:t>
            </a:r>
          </a:p>
        </p:txBody>
      </p:sp>
      <p:cxnSp>
        <p:nvCxnSpPr>
          <p:cNvPr id="73" name="Connector 63"/>
          <p:cNvCxnSpPr/>
          <p:nvPr/>
        </p:nvCxnSpPr>
        <p:spPr>
          <a:xfrm>
            <a:off x="7821018" y="5598788"/>
            <a:ext cx="96795" cy="96794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74" name="Connector 64"/>
          <p:cNvCxnSpPr/>
          <p:nvPr/>
        </p:nvCxnSpPr>
        <p:spPr>
          <a:xfrm flipV="1">
            <a:off x="7821018" y="5598788"/>
            <a:ext cx="96795" cy="96794"/>
          </a:xfrm>
          <a:prstGeom prst="line">
            <a:avLst/>
          </a:prstGeom>
          <a:ln w="6914">
            <a:solidFill>
              <a:srgbClr val="333333"/>
            </a:solidFill>
            <a:prstDash val="solid"/>
          </a:ln>
        </p:spPr>
      </p:cxnSp>
      <p:cxnSp>
        <p:nvCxnSpPr>
          <p:cNvPr id="75" name="Connector 65"/>
          <p:cNvCxnSpPr/>
          <p:nvPr/>
        </p:nvCxnSpPr>
        <p:spPr>
          <a:xfrm flipH="1">
            <a:off x="3859353" y="5889171"/>
            <a:ext cx="933377" cy="1"/>
          </a:xfrm>
          <a:prstGeom prst="line">
            <a:avLst/>
          </a:prstGeom>
          <a:ln w="6914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76" name="Box 66"/>
          <p:cNvSpPr/>
          <p:nvPr/>
        </p:nvSpPr>
        <p:spPr>
          <a:xfrm>
            <a:off x="3887009" y="5743980"/>
            <a:ext cx="878065" cy="898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Confirmation</a:t>
            </a:r>
          </a:p>
        </p:txBody>
      </p:sp>
      <p:sp>
        <p:nvSpPr>
          <p:cNvPr id="77" name="Shape 67"/>
          <p:cNvSpPr/>
          <p:nvPr/>
        </p:nvSpPr>
        <p:spPr>
          <a:xfrm>
            <a:off x="4675194" y="5840774"/>
            <a:ext cx="96795" cy="9679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78" name="Box 68"/>
          <p:cNvSpPr/>
          <p:nvPr/>
        </p:nvSpPr>
        <p:spPr>
          <a:xfrm>
            <a:off x="4675194" y="5840774"/>
            <a:ext cx="96795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1" name="Box 71"/>
          <p:cNvSpPr/>
          <p:nvPr/>
        </p:nvSpPr>
        <p:spPr>
          <a:xfrm>
            <a:off x="3548228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User</a:t>
            </a:r>
          </a:p>
        </p:txBody>
      </p:sp>
      <p:sp>
        <p:nvSpPr>
          <p:cNvPr id="83" name="Box 73"/>
          <p:cNvSpPr/>
          <p:nvPr/>
        </p:nvSpPr>
        <p:spPr>
          <a:xfrm>
            <a:off x="3548228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User</a:t>
            </a:r>
          </a:p>
        </p:txBody>
      </p:sp>
      <p:sp>
        <p:nvSpPr>
          <p:cNvPr id="86" name="Box 76"/>
          <p:cNvSpPr/>
          <p:nvPr/>
        </p:nvSpPr>
        <p:spPr>
          <a:xfrm>
            <a:off x="4516174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Web App</a:t>
            </a:r>
          </a:p>
        </p:txBody>
      </p:sp>
      <p:sp>
        <p:nvSpPr>
          <p:cNvPr id="88" name="Box 78"/>
          <p:cNvSpPr/>
          <p:nvPr/>
        </p:nvSpPr>
        <p:spPr>
          <a:xfrm>
            <a:off x="4516174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Web App</a:t>
            </a:r>
          </a:p>
        </p:txBody>
      </p:sp>
      <p:sp>
        <p:nvSpPr>
          <p:cNvPr id="91" name="Box 81"/>
          <p:cNvSpPr/>
          <p:nvPr/>
        </p:nvSpPr>
        <p:spPr>
          <a:xfrm>
            <a:off x="5622398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API</a:t>
            </a:r>
          </a:p>
        </p:txBody>
      </p:sp>
      <p:sp>
        <p:nvSpPr>
          <p:cNvPr id="93" name="Box 83"/>
          <p:cNvSpPr/>
          <p:nvPr/>
        </p:nvSpPr>
        <p:spPr>
          <a:xfrm>
            <a:off x="5622398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API</a:t>
            </a:r>
          </a:p>
        </p:txBody>
      </p:sp>
      <p:sp>
        <p:nvSpPr>
          <p:cNvPr id="96" name="Box 86"/>
          <p:cNvSpPr/>
          <p:nvPr/>
        </p:nvSpPr>
        <p:spPr>
          <a:xfrm>
            <a:off x="6590344" y="1374395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Database</a:t>
            </a:r>
          </a:p>
        </p:txBody>
      </p:sp>
      <p:sp>
        <p:nvSpPr>
          <p:cNvPr id="98" name="Box 88"/>
          <p:cNvSpPr/>
          <p:nvPr/>
        </p:nvSpPr>
        <p:spPr>
          <a:xfrm>
            <a:off x="6590344" y="609658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Database</a:t>
            </a:r>
          </a:p>
        </p:txBody>
      </p:sp>
      <p:sp>
        <p:nvSpPr>
          <p:cNvPr id="101" name="Box 91"/>
          <p:cNvSpPr/>
          <p:nvPr/>
        </p:nvSpPr>
        <p:spPr>
          <a:xfrm>
            <a:off x="7558290" y="5280748"/>
            <a:ext cx="622251" cy="96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shapes-generic</a:t>
            </a:r>
          </a:p>
        </p:txBody>
      </p:sp>
      <p:sp>
        <p:nvSpPr>
          <p:cNvPr id="12" name="Document" descr="A1"/>
          <p:cNvSpPr/>
          <p:nvPr/>
        </p:nvSpPr>
        <p:spPr>
          <a:xfrm>
            <a:off x="3505623" y="1028700"/>
            <a:ext cx="283981" cy="142370"/>
          </a:xfrm>
          <a:prstGeom prst="flowChartDocument">
            <a:avLst/>
          </a:prstGeom>
          <a:solidFill>
            <a:srgbClr val="BBDEFB"/>
          </a:solidFill>
          <a:ln w="317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Document</a:t>
            </a:r>
          </a:p>
        </p:txBody>
      </p:sp>
      <p:sp>
        <p:nvSpPr>
          <p:cNvPr id="13" name="Carte" descr="A2"/>
          <p:cNvSpPr/>
          <p:nvPr/>
        </p:nvSpPr>
        <p:spPr>
          <a:xfrm>
            <a:off x="3546625" y="1322932"/>
            <a:ext cx="201976" cy="142370"/>
          </a:xfrm>
          <a:prstGeom prst="flowChartPunchedCard">
            <a:avLst/>
          </a:prstGeom>
          <a:solidFill>
            <a:srgbClr val="C8E6C9"/>
          </a:solidFill>
          <a:ln w="317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Carte</a:t>
            </a:r>
          </a:p>
        </p:txBody>
      </p:sp>
      <p:sp>
        <p:nvSpPr>
          <p:cNvPr id="14" name="Delai" descr="A3"/>
          <p:cNvSpPr/>
          <p:nvPr/>
        </p:nvSpPr>
        <p:spPr>
          <a:xfrm>
            <a:off x="3546625" y="1617163"/>
            <a:ext cx="201976" cy="142370"/>
          </a:xfrm>
          <a:prstGeom prst="flowChartDelay">
            <a:avLst/>
          </a:prstGeom>
          <a:solidFill>
            <a:srgbClr val="FFE0B2"/>
          </a:solidFill>
          <a:ln w="3175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Delai</a:t>
            </a:r>
          </a:p>
        </p:txBody>
      </p:sp>
      <p:sp>
        <p:nvSpPr>
          <p:cNvPr id="15" name="Extraction" descr="A4"/>
          <p:cNvSpPr/>
          <p:nvPr/>
        </p:nvSpPr>
        <p:spPr>
          <a:xfrm>
            <a:off x="3478288" y="1911395"/>
            <a:ext cx="338651" cy="142370"/>
          </a:xfrm>
          <a:prstGeom prst="flowChartExtract">
            <a:avLst/>
          </a:prstGeom>
          <a:solidFill>
            <a:srgbClr val="E1BEE7"/>
          </a:solidFill>
          <a:ln w="3175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Extraction</a:t>
            </a:r>
          </a:p>
        </p:txBody>
      </p:sp>
      <p:sp>
        <p:nvSpPr>
          <p:cNvPr id="16" name="Fichier manuel" descr="A5"/>
          <p:cNvSpPr/>
          <p:nvPr/>
        </p:nvSpPr>
        <p:spPr>
          <a:xfrm flipV="1">
            <a:off x="3519290" y="2205627"/>
            <a:ext cx="256646" cy="199318"/>
          </a:xfrm>
          <a:prstGeom prst="flowChartExtract">
            <a:avLst/>
          </a:prstGeom>
          <a:solidFill>
            <a:srgbClr val="FFCDD2"/>
          </a:solidFill>
          <a:ln w="3175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Fichier manuel</a:t>
            </a:r>
          </a:p>
        </p:txBody>
      </p:sp>
      <p:sp>
        <p:nvSpPr>
          <p:cNvPr id="17" name="Stockage interne" descr="A6"/>
          <p:cNvSpPr/>
          <p:nvPr/>
        </p:nvSpPr>
        <p:spPr>
          <a:xfrm>
            <a:off x="3505623" y="2556806"/>
            <a:ext cx="283981" cy="199318"/>
          </a:xfrm>
          <a:prstGeom prst="flowChartInternalStorage">
            <a:avLst/>
          </a:prstGeom>
          <a:solidFill>
            <a:srgbClr val="FFF9C4"/>
          </a:solidFill>
          <a:ln w="317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Stockage interne</a:t>
            </a:r>
          </a:p>
        </p:txBody>
      </p:sp>
      <p:sp>
        <p:nvSpPr>
          <p:cNvPr id="18" name="Collationnement" descr="A7"/>
          <p:cNvSpPr/>
          <p:nvPr/>
        </p:nvSpPr>
        <p:spPr>
          <a:xfrm>
            <a:off x="3409950" y="2907986"/>
            <a:ext cx="475326" cy="142370"/>
          </a:xfrm>
          <a:prstGeom prst="flowChartCollate">
            <a:avLst/>
          </a:prstGeom>
          <a:solidFill>
            <a:srgbClr val="BBDEFB"/>
          </a:solidFill>
          <a:ln w="317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Collationnement</a:t>
            </a:r>
          </a:p>
        </p:txBody>
      </p:sp>
      <p:sp>
        <p:nvSpPr>
          <p:cNvPr id="19" name="Affichage" descr="A8"/>
          <p:cNvSpPr/>
          <p:nvPr/>
        </p:nvSpPr>
        <p:spPr>
          <a:xfrm>
            <a:off x="3491955" y="3202217"/>
            <a:ext cx="311316" cy="142370"/>
          </a:xfrm>
          <a:prstGeom prst="flowChartDisplay">
            <a:avLst/>
          </a:prstGeom>
          <a:solidFill>
            <a:srgbClr val="C8E6C9"/>
          </a:solidFill>
          <a:ln w="317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Affichage</a:t>
            </a:r>
          </a:p>
        </p:txBody>
      </p:sp>
      <p:sp>
        <p:nvSpPr>
          <p:cNvPr id="20" name="Liaison" descr="A9"/>
          <p:cNvSpPr/>
          <p:nvPr/>
        </p:nvSpPr>
        <p:spPr>
          <a:xfrm>
            <a:off x="3519290" y="3496449"/>
            <a:ext cx="256646" cy="142370"/>
          </a:xfrm>
          <a:prstGeom prst="lightningBolt">
            <a:avLst/>
          </a:prstGeom>
          <a:solidFill>
            <a:srgbClr val="FFE0B2"/>
          </a:solidFill>
          <a:ln w="3175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Liaison</a:t>
            </a:r>
          </a:p>
        </p:txBody>
      </p:sp>
      <p:sp>
        <p:nvSpPr>
          <p:cNvPr id="21" name="Commentaire" descr="A10"/>
          <p:cNvSpPr/>
          <p:nvPr/>
        </p:nvSpPr>
        <p:spPr>
          <a:xfrm>
            <a:off x="3464620" y="3790681"/>
            <a:ext cx="365986" cy="142370"/>
          </a:xfrm>
          <a:prstGeom prst="leftBrace">
            <a:avLst/>
          </a:prstGeom>
          <a:solidFill>
            <a:srgbClr val="E1BEE7"/>
          </a:solidFill>
          <a:ln w="3175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Commentaire</a:t>
            </a:r>
          </a:p>
        </p:txBody>
      </p:sp>
      <p:sp>
        <p:nvSpPr>
          <p:cNvPr id="22" name="Double accolade" descr="A11"/>
          <p:cNvSpPr/>
          <p:nvPr/>
        </p:nvSpPr>
        <p:spPr>
          <a:xfrm>
            <a:off x="3507901" y="4084912"/>
            <a:ext cx="279425" cy="199318"/>
          </a:xfrm>
          <a:prstGeom prst="bracePair">
            <a:avLst/>
          </a:prstGeom>
          <a:solidFill>
            <a:srgbClr val="FFCDD2"/>
          </a:solidFill>
          <a:ln w="3175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Double accolade</a:t>
            </a:r>
          </a:p>
        </p:txBody>
      </p:sp>
      <p:sp>
        <p:nvSpPr>
          <p:cNvPr id="23" name="Resume" descr="A12"/>
          <p:cNvSpPr/>
          <p:nvPr/>
        </p:nvSpPr>
        <p:spPr>
          <a:xfrm>
            <a:off x="3532958" y="4436092"/>
            <a:ext cx="229311" cy="142370"/>
          </a:xfrm>
          <a:prstGeom prst="flowChartOr">
            <a:avLst/>
          </a:prstGeom>
          <a:solidFill>
            <a:srgbClr val="FFF9C4"/>
          </a:solidFill>
          <a:ln w="317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Resume</a:t>
            </a:r>
          </a:p>
        </p:txBody>
      </p:sp>
      <p:sp>
        <p:nvSpPr>
          <p:cNvPr id="24" name="Jonction" descr="A13"/>
          <p:cNvSpPr/>
          <p:nvPr/>
        </p:nvSpPr>
        <p:spPr>
          <a:xfrm>
            <a:off x="3505623" y="4730324"/>
            <a:ext cx="283981" cy="142370"/>
          </a:xfrm>
          <a:prstGeom prst="flowChartSummingJunction">
            <a:avLst/>
          </a:prstGeom>
          <a:solidFill>
            <a:srgbClr val="BBDEFB"/>
          </a:solidFill>
          <a:ln w="317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Jonction</a:t>
            </a:r>
          </a:p>
        </p:txBody>
      </p:sp>
      <p:sp>
        <p:nvSpPr>
          <p:cNvPr id="25" name="Bande papier" descr="A14"/>
          <p:cNvSpPr/>
          <p:nvPr/>
        </p:nvSpPr>
        <p:spPr>
          <a:xfrm>
            <a:off x="3457786" y="5024555"/>
            <a:ext cx="379654" cy="142370"/>
          </a:xfrm>
          <a:prstGeom prst="flowChartPunchedTape">
            <a:avLst/>
          </a:prstGeom>
          <a:solidFill>
            <a:srgbClr val="C8E6C9"/>
          </a:solidFill>
          <a:ln w="317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Bande papier</a:t>
            </a:r>
          </a:p>
        </p:txBody>
      </p:sp>
      <p:sp>
        <p:nvSpPr>
          <p:cNvPr id="26" name="Acces direct" descr="A15"/>
          <p:cNvSpPr/>
          <p:nvPr/>
        </p:nvSpPr>
        <p:spPr>
          <a:xfrm>
            <a:off x="3457786" y="5318787"/>
            <a:ext cx="379654" cy="142370"/>
          </a:xfrm>
          <a:prstGeom prst="flowChartMagneticDisk">
            <a:avLst/>
          </a:prstGeom>
          <a:solidFill>
            <a:srgbClr val="FFE0B2"/>
          </a:solidFill>
          <a:ln w="3175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Acces direct</a:t>
            </a:r>
          </a:p>
        </p:txBody>
      </p:sp>
      <p:sp>
        <p:nvSpPr>
          <p:cNvPr id="27" name="Disque" descr="A16"/>
          <p:cNvSpPr/>
          <p:nvPr/>
        </p:nvSpPr>
        <p:spPr>
          <a:xfrm>
            <a:off x="3532958" y="5613019"/>
            <a:ext cx="229311" cy="142370"/>
          </a:xfrm>
          <a:prstGeom prst="flowChartMagneticDrum">
            <a:avLst/>
          </a:prstGeom>
          <a:solidFill>
            <a:srgbClr val="E1BEE7"/>
          </a:solidFill>
          <a:ln w="3175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Disque</a:t>
            </a:r>
          </a:p>
        </p:txBody>
      </p:sp>
      <p:sp>
        <p:nvSpPr>
          <p:cNvPr id="28" name="Saisie manuelle" descr="A17"/>
          <p:cNvSpPr/>
          <p:nvPr/>
        </p:nvSpPr>
        <p:spPr>
          <a:xfrm>
            <a:off x="3507901" y="5907250"/>
            <a:ext cx="279425" cy="199318"/>
          </a:xfrm>
          <a:prstGeom prst="flowChartManualInput">
            <a:avLst/>
          </a:prstGeom>
          <a:solidFill>
            <a:srgbClr val="FFCDD2"/>
          </a:solidFill>
          <a:ln w="3175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Saisie manuelle</a:t>
            </a:r>
          </a:p>
        </p:txBody>
      </p:sp>
      <p:sp>
        <p:nvSpPr>
          <p:cNvPr id="29" name="Evenement" descr="A18"/>
          <p:cNvSpPr/>
          <p:nvPr/>
        </p:nvSpPr>
        <p:spPr>
          <a:xfrm>
            <a:off x="3491955" y="6258430"/>
            <a:ext cx="311316" cy="142370"/>
          </a:xfrm>
          <a:prstGeom prst="roundRect">
            <a:avLst/>
          </a:prstGeom>
          <a:solidFill>
            <a:srgbClr val="FFF9C4"/>
          </a:solidFill>
          <a:ln w="317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23" tIns="9112" rIns="18223" bIns="91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Evenement</a:t>
            </a:r>
          </a:p>
        </p:txBody>
      </p:sp>
      <p:cxnSp>
        <p:nvCxnSpPr>
          <p:cNvPr id="30" name="A1--A2"/>
          <p:cNvCxnSpPr>
            <a:stCxn id="12" idx="2"/>
            <a:endCxn id="13" idx="0"/>
          </p:cNvCxnSpPr>
          <p:nvPr/>
        </p:nvCxnSpPr>
        <p:spPr>
          <a:xfrm>
            <a:off x="3647613" y="1171070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2--A3"/>
          <p:cNvCxnSpPr>
            <a:stCxn id="13" idx="2"/>
            <a:endCxn id="14" idx="0"/>
          </p:cNvCxnSpPr>
          <p:nvPr/>
        </p:nvCxnSpPr>
        <p:spPr>
          <a:xfrm>
            <a:off x="3647613" y="1465302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3--A4"/>
          <p:cNvCxnSpPr>
            <a:stCxn id="14" idx="2"/>
            <a:endCxn id="15" idx="0"/>
          </p:cNvCxnSpPr>
          <p:nvPr/>
        </p:nvCxnSpPr>
        <p:spPr>
          <a:xfrm>
            <a:off x="3647613" y="1759533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4--A5"/>
          <p:cNvCxnSpPr>
            <a:stCxn id="15" idx="2"/>
            <a:endCxn id="16" idx="0"/>
          </p:cNvCxnSpPr>
          <p:nvPr/>
        </p:nvCxnSpPr>
        <p:spPr>
          <a:xfrm>
            <a:off x="3647613" y="2053765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5--A6"/>
          <p:cNvCxnSpPr>
            <a:stCxn id="16" idx="2"/>
            <a:endCxn id="17" idx="0"/>
          </p:cNvCxnSpPr>
          <p:nvPr/>
        </p:nvCxnSpPr>
        <p:spPr>
          <a:xfrm>
            <a:off x="3647613" y="2404945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6--A7"/>
          <p:cNvCxnSpPr>
            <a:stCxn id="17" idx="2"/>
            <a:endCxn id="18" idx="0"/>
          </p:cNvCxnSpPr>
          <p:nvPr/>
        </p:nvCxnSpPr>
        <p:spPr>
          <a:xfrm>
            <a:off x="3647613" y="2756124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7--A8"/>
          <p:cNvCxnSpPr>
            <a:stCxn id="18" idx="2"/>
            <a:endCxn id="19" idx="0"/>
          </p:cNvCxnSpPr>
          <p:nvPr/>
        </p:nvCxnSpPr>
        <p:spPr>
          <a:xfrm>
            <a:off x="3647613" y="3050356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8--A9"/>
          <p:cNvCxnSpPr>
            <a:stCxn id="19" idx="2"/>
            <a:endCxn id="20" idx="0"/>
          </p:cNvCxnSpPr>
          <p:nvPr/>
        </p:nvCxnSpPr>
        <p:spPr>
          <a:xfrm>
            <a:off x="3647613" y="3344588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9--A10"/>
          <p:cNvCxnSpPr>
            <a:stCxn id="20" idx="2"/>
            <a:endCxn id="21" idx="0"/>
          </p:cNvCxnSpPr>
          <p:nvPr/>
        </p:nvCxnSpPr>
        <p:spPr>
          <a:xfrm>
            <a:off x="3647613" y="3638819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10--A11"/>
          <p:cNvCxnSpPr>
            <a:stCxn id="21" idx="2"/>
            <a:endCxn id="22" idx="0"/>
          </p:cNvCxnSpPr>
          <p:nvPr/>
        </p:nvCxnSpPr>
        <p:spPr>
          <a:xfrm>
            <a:off x="3647613" y="3933051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11--A12"/>
          <p:cNvCxnSpPr>
            <a:stCxn id="22" idx="2"/>
            <a:endCxn id="23" idx="0"/>
          </p:cNvCxnSpPr>
          <p:nvPr/>
        </p:nvCxnSpPr>
        <p:spPr>
          <a:xfrm>
            <a:off x="3647613" y="4284231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A12--A13"/>
          <p:cNvCxnSpPr>
            <a:stCxn id="23" idx="2"/>
            <a:endCxn id="24" idx="0"/>
          </p:cNvCxnSpPr>
          <p:nvPr/>
        </p:nvCxnSpPr>
        <p:spPr>
          <a:xfrm>
            <a:off x="3647613" y="4578462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13--A14"/>
          <p:cNvCxnSpPr>
            <a:stCxn id="24" idx="2"/>
            <a:endCxn id="25" idx="0"/>
          </p:cNvCxnSpPr>
          <p:nvPr/>
        </p:nvCxnSpPr>
        <p:spPr>
          <a:xfrm>
            <a:off x="3647613" y="4872694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A14--A15"/>
          <p:cNvCxnSpPr>
            <a:stCxn id="25" idx="2"/>
            <a:endCxn id="26" idx="0"/>
          </p:cNvCxnSpPr>
          <p:nvPr/>
        </p:nvCxnSpPr>
        <p:spPr>
          <a:xfrm>
            <a:off x="3647613" y="5166925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A15--A16"/>
          <p:cNvCxnSpPr>
            <a:stCxn id="26" idx="2"/>
            <a:endCxn id="27" idx="0"/>
          </p:cNvCxnSpPr>
          <p:nvPr/>
        </p:nvCxnSpPr>
        <p:spPr>
          <a:xfrm>
            <a:off x="3647613" y="5461157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A16--A17"/>
          <p:cNvCxnSpPr>
            <a:stCxn id="27" idx="2"/>
            <a:endCxn id="28" idx="0"/>
          </p:cNvCxnSpPr>
          <p:nvPr/>
        </p:nvCxnSpPr>
        <p:spPr>
          <a:xfrm>
            <a:off x="3647613" y="5755389"/>
            <a:ext cx="0" cy="151861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A17--A18"/>
          <p:cNvCxnSpPr>
            <a:stCxn id="28" idx="2"/>
            <a:endCxn id="29" idx="0"/>
          </p:cNvCxnSpPr>
          <p:nvPr/>
        </p:nvCxnSpPr>
        <p:spPr>
          <a:xfrm>
            <a:off x="3647613" y="6106568"/>
            <a:ext cx="0" cy="151862"/>
          </a:xfrm>
          <a:prstGeom prst="line">
            <a:avLst/>
          </a:prstGeom>
          <a:ln w="3175" cap="flat" cmpd="sng" algn="ctr">
            <a:solidFill>
              <a:srgbClr val="2F5496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shapes</a:t>
            </a:r>
          </a:p>
        </p:txBody>
      </p:sp>
      <p:sp>
        <p:nvSpPr>
          <p:cNvPr id="12" name="Rectangle" descr="R"/>
          <p:cNvSpPr/>
          <p:nvPr/>
        </p:nvSpPr>
        <p:spPr>
          <a:xfrm>
            <a:off x="3620053" y="1028700"/>
            <a:ext cx="395966" cy="181082"/>
          </a:xfrm>
          <a:prstGeom prst="rect">
            <a:avLst/>
          </a:prstGeom>
          <a:solidFill>
            <a:srgbClr val="C8E6C9"/>
          </a:solidFill>
          <a:ln w="321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Rectangle</a:t>
            </a:r>
          </a:p>
        </p:txBody>
      </p:sp>
      <p:sp>
        <p:nvSpPr>
          <p:cNvPr id="13" name="Arrondi" descr="RR"/>
          <p:cNvSpPr/>
          <p:nvPr/>
        </p:nvSpPr>
        <p:spPr>
          <a:xfrm>
            <a:off x="3654821" y="1402936"/>
            <a:ext cx="326431" cy="181082"/>
          </a:xfrm>
          <a:prstGeom prst="roundRect">
            <a:avLst/>
          </a:prstGeom>
          <a:solidFill>
            <a:srgbClr val="FFE0B2"/>
          </a:solidFill>
          <a:ln w="321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Arrondi</a:t>
            </a:r>
          </a:p>
        </p:txBody>
      </p:sp>
      <p:sp>
        <p:nvSpPr>
          <p:cNvPr id="14" name="Stade" descr="ST"/>
          <p:cNvSpPr/>
          <p:nvPr/>
        </p:nvSpPr>
        <p:spPr>
          <a:xfrm>
            <a:off x="3689589" y="1777172"/>
            <a:ext cx="256895" cy="181082"/>
          </a:xfrm>
          <a:prstGeom prst="roundRect">
            <a:avLst/>
          </a:prstGeom>
          <a:solidFill>
            <a:srgbClr val="E1BEE7"/>
          </a:solidFill>
          <a:ln w="3219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Stade</a:t>
            </a:r>
          </a:p>
        </p:txBody>
      </p:sp>
      <p:sp>
        <p:nvSpPr>
          <p:cNvPr id="15" name="Losange" descr="DI"/>
          <p:cNvSpPr/>
          <p:nvPr/>
        </p:nvSpPr>
        <p:spPr>
          <a:xfrm>
            <a:off x="3491606" y="2151409"/>
            <a:ext cx="652861" cy="362164"/>
          </a:xfrm>
          <a:prstGeom prst="diamond">
            <a:avLst/>
          </a:prstGeom>
          <a:solidFill>
            <a:srgbClr val="FFCDD2"/>
          </a:solidFill>
          <a:ln w="3219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Losange</a:t>
            </a:r>
          </a:p>
        </p:txBody>
      </p:sp>
      <p:sp>
        <p:nvSpPr>
          <p:cNvPr id="16" name="Cylindre" descr="CY"/>
          <p:cNvSpPr/>
          <p:nvPr/>
        </p:nvSpPr>
        <p:spPr>
          <a:xfrm>
            <a:off x="3637437" y="2706727"/>
            <a:ext cx="361198" cy="181082"/>
          </a:xfrm>
          <a:prstGeom prst="can">
            <a:avLst/>
          </a:prstGeom>
          <a:solidFill>
            <a:srgbClr val="FFF9C4"/>
          </a:solidFill>
          <a:ln w="3219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Cylindre</a:t>
            </a:r>
          </a:p>
        </p:txBody>
      </p:sp>
      <p:sp>
        <p:nvSpPr>
          <p:cNvPr id="17" name="Ellipse" descr="EL"/>
          <p:cNvSpPr/>
          <p:nvPr/>
        </p:nvSpPr>
        <p:spPr>
          <a:xfrm>
            <a:off x="3654821" y="3080963"/>
            <a:ext cx="326431" cy="181082"/>
          </a:xfrm>
          <a:prstGeom prst="ellipse">
            <a:avLst/>
          </a:prstGeom>
          <a:solidFill>
            <a:srgbClr val="BBDEFB"/>
          </a:solidFill>
          <a:ln w="3219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Ellipse</a:t>
            </a:r>
          </a:p>
        </p:txBody>
      </p:sp>
      <p:sp>
        <p:nvSpPr>
          <p:cNvPr id="18" name="Hexagone" descr="HX"/>
          <p:cNvSpPr/>
          <p:nvPr/>
        </p:nvSpPr>
        <p:spPr>
          <a:xfrm>
            <a:off x="3574228" y="3455199"/>
            <a:ext cx="487618" cy="181082"/>
          </a:xfrm>
          <a:prstGeom prst="hexagon">
            <a:avLst/>
          </a:prstGeom>
          <a:solidFill>
            <a:srgbClr val="C8E6C9"/>
          </a:solidFill>
          <a:ln w="321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Hexagone</a:t>
            </a:r>
          </a:p>
        </p:txBody>
      </p:sp>
      <p:sp>
        <p:nvSpPr>
          <p:cNvPr id="19" name="Parallelogramme" descr="PA"/>
          <p:cNvSpPr/>
          <p:nvPr/>
        </p:nvSpPr>
        <p:spPr>
          <a:xfrm>
            <a:off x="3409950" y="3829435"/>
            <a:ext cx="816173" cy="181082"/>
          </a:xfrm>
          <a:prstGeom prst="parallelogram">
            <a:avLst/>
          </a:prstGeom>
          <a:solidFill>
            <a:srgbClr val="FFE0B2"/>
          </a:solidFill>
          <a:ln w="321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Parallelogramme</a:t>
            </a:r>
          </a:p>
        </p:txBody>
      </p:sp>
      <p:sp>
        <p:nvSpPr>
          <p:cNvPr id="20" name="Parallelogramme miroir" descr="PB"/>
          <p:cNvSpPr/>
          <p:nvPr/>
        </p:nvSpPr>
        <p:spPr>
          <a:xfrm flipH="1">
            <a:off x="3409950" y="4203671"/>
            <a:ext cx="816173" cy="253515"/>
          </a:xfrm>
          <a:prstGeom prst="parallelogram">
            <a:avLst/>
          </a:prstGeom>
          <a:solidFill>
            <a:srgbClr val="E1BEE7"/>
          </a:solidFill>
          <a:ln w="3219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Parallelogramme miroir</a:t>
            </a:r>
          </a:p>
        </p:txBody>
      </p:sp>
      <p:sp>
        <p:nvSpPr>
          <p:cNvPr id="21" name="Trapeze" descr="TA"/>
          <p:cNvSpPr/>
          <p:nvPr/>
        </p:nvSpPr>
        <p:spPr>
          <a:xfrm>
            <a:off x="3597696" y="4650340"/>
            <a:ext cx="440681" cy="181082"/>
          </a:xfrm>
          <a:prstGeom prst="trapezoid">
            <a:avLst/>
          </a:prstGeom>
          <a:solidFill>
            <a:srgbClr val="FFCDD2"/>
          </a:solidFill>
          <a:ln w="3219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Trapeze</a:t>
            </a:r>
          </a:p>
        </p:txBody>
      </p:sp>
      <p:sp>
        <p:nvSpPr>
          <p:cNvPr id="22" name="Trapeze miroir" descr="TB"/>
          <p:cNvSpPr/>
          <p:nvPr/>
        </p:nvSpPr>
        <p:spPr>
          <a:xfrm flipV="1">
            <a:off x="3597696" y="5024577"/>
            <a:ext cx="440681" cy="253515"/>
          </a:xfrm>
          <a:prstGeom prst="trapezoid">
            <a:avLst/>
          </a:prstGeom>
          <a:solidFill>
            <a:srgbClr val="FFF9C4"/>
          </a:solidFill>
          <a:ln w="3219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Trapeze miroir</a:t>
            </a:r>
          </a:p>
        </p:txBody>
      </p:sp>
      <p:sp>
        <p:nvSpPr>
          <p:cNvPr id="23" name="Sous-routine" descr="SR"/>
          <p:cNvSpPr/>
          <p:nvPr/>
        </p:nvSpPr>
        <p:spPr>
          <a:xfrm>
            <a:off x="3567902" y="5471246"/>
            <a:ext cx="500269" cy="181082"/>
          </a:xfrm>
          <a:prstGeom prst="flowChartPredefinedProcess">
            <a:avLst/>
          </a:prstGeom>
          <a:solidFill>
            <a:srgbClr val="BBDEFB"/>
          </a:solidFill>
          <a:ln w="3219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Sous-routine</a:t>
            </a:r>
          </a:p>
        </p:txBody>
      </p:sp>
      <p:sp>
        <p:nvSpPr>
          <p:cNvPr id="24" name="Double cercle" descr="DC"/>
          <p:cNvSpPr/>
          <p:nvPr/>
        </p:nvSpPr>
        <p:spPr>
          <a:xfrm>
            <a:off x="3559210" y="5845482"/>
            <a:ext cx="517653" cy="181082"/>
          </a:xfrm>
          <a:prstGeom prst="ellipse">
            <a:avLst/>
          </a:prstGeom>
          <a:solidFill>
            <a:srgbClr val="C8E6C9"/>
          </a:solidFill>
          <a:ln w="321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Double cercle</a:t>
            </a:r>
          </a:p>
        </p:txBody>
      </p:sp>
      <p:sp>
        <p:nvSpPr>
          <p:cNvPr id="25" name="Asymetrique" descr="AS"/>
          <p:cNvSpPr/>
          <p:nvPr/>
        </p:nvSpPr>
        <p:spPr>
          <a:xfrm>
            <a:off x="3585286" y="6219718"/>
            <a:ext cx="465502" cy="181082"/>
          </a:xfrm>
          <a:prstGeom prst="homePlate">
            <a:avLst/>
          </a:prstGeom>
          <a:solidFill>
            <a:srgbClr val="FFE0B2"/>
          </a:solidFill>
          <a:ln w="321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3178" tIns="11589" rIns="23178" bIns="115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00" dirty="0">
                <a:solidFill>
                  <a:srgbClr val="000000"/>
                </a:solidFill>
              </a:rPr>
              <a:t>Asymetrique</a:t>
            </a:r>
          </a:p>
        </p:txBody>
      </p:sp>
      <p:cxnSp>
        <p:nvCxnSpPr>
          <p:cNvPr id="26" name="R--RR"/>
          <p:cNvCxnSpPr>
            <a:stCxn id="12" idx="2"/>
            <a:endCxn id="13" idx="0"/>
          </p:cNvCxnSpPr>
          <p:nvPr/>
        </p:nvCxnSpPr>
        <p:spPr>
          <a:xfrm>
            <a:off x="3818036" y="1209782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R--ST"/>
          <p:cNvCxnSpPr>
            <a:stCxn id="13" idx="2"/>
            <a:endCxn id="14" idx="0"/>
          </p:cNvCxnSpPr>
          <p:nvPr/>
        </p:nvCxnSpPr>
        <p:spPr>
          <a:xfrm>
            <a:off x="3818036" y="1584018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--DI"/>
          <p:cNvCxnSpPr>
            <a:stCxn id="14" idx="2"/>
            <a:endCxn id="15" idx="0"/>
          </p:cNvCxnSpPr>
          <p:nvPr/>
        </p:nvCxnSpPr>
        <p:spPr>
          <a:xfrm>
            <a:off x="3818036" y="1958254"/>
            <a:ext cx="0" cy="193155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I--CY"/>
          <p:cNvCxnSpPr>
            <a:stCxn id="15" idx="2"/>
            <a:endCxn id="16" idx="0"/>
          </p:cNvCxnSpPr>
          <p:nvPr/>
        </p:nvCxnSpPr>
        <p:spPr>
          <a:xfrm>
            <a:off x="3818036" y="2513573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Y--EL"/>
          <p:cNvCxnSpPr>
            <a:stCxn id="16" idx="2"/>
            <a:endCxn id="17" idx="0"/>
          </p:cNvCxnSpPr>
          <p:nvPr/>
        </p:nvCxnSpPr>
        <p:spPr>
          <a:xfrm>
            <a:off x="3818036" y="2887809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--HX"/>
          <p:cNvCxnSpPr>
            <a:stCxn id="17" idx="2"/>
            <a:endCxn id="18" idx="0"/>
          </p:cNvCxnSpPr>
          <p:nvPr/>
        </p:nvCxnSpPr>
        <p:spPr>
          <a:xfrm>
            <a:off x="3818036" y="3262045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HX--PA"/>
          <p:cNvCxnSpPr>
            <a:stCxn id="18" idx="2"/>
            <a:endCxn id="19" idx="0"/>
          </p:cNvCxnSpPr>
          <p:nvPr/>
        </p:nvCxnSpPr>
        <p:spPr>
          <a:xfrm>
            <a:off x="3818036" y="3636281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PA--PB"/>
          <p:cNvCxnSpPr>
            <a:stCxn id="19" idx="2"/>
            <a:endCxn id="20" idx="0"/>
          </p:cNvCxnSpPr>
          <p:nvPr/>
        </p:nvCxnSpPr>
        <p:spPr>
          <a:xfrm>
            <a:off x="3818036" y="4010517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PB--TA"/>
          <p:cNvCxnSpPr>
            <a:stCxn id="20" idx="2"/>
            <a:endCxn id="21" idx="0"/>
          </p:cNvCxnSpPr>
          <p:nvPr/>
        </p:nvCxnSpPr>
        <p:spPr>
          <a:xfrm>
            <a:off x="3818036" y="4457186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A--TB"/>
          <p:cNvCxnSpPr>
            <a:stCxn id="21" idx="2"/>
            <a:endCxn id="22" idx="0"/>
          </p:cNvCxnSpPr>
          <p:nvPr/>
        </p:nvCxnSpPr>
        <p:spPr>
          <a:xfrm>
            <a:off x="3818036" y="4831422"/>
            <a:ext cx="0" cy="193155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B--SR"/>
          <p:cNvCxnSpPr>
            <a:stCxn id="22" idx="2"/>
            <a:endCxn id="23" idx="0"/>
          </p:cNvCxnSpPr>
          <p:nvPr/>
        </p:nvCxnSpPr>
        <p:spPr>
          <a:xfrm>
            <a:off x="3818036" y="5278091"/>
            <a:ext cx="0" cy="193155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R--DC"/>
          <p:cNvCxnSpPr>
            <a:stCxn id="23" idx="2"/>
            <a:endCxn id="24" idx="0"/>
          </p:cNvCxnSpPr>
          <p:nvPr/>
        </p:nvCxnSpPr>
        <p:spPr>
          <a:xfrm>
            <a:off x="3818036" y="5652328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DC--AS"/>
          <p:cNvCxnSpPr>
            <a:stCxn id="24" idx="2"/>
            <a:endCxn id="25" idx="0"/>
          </p:cNvCxnSpPr>
          <p:nvPr/>
        </p:nvCxnSpPr>
        <p:spPr>
          <a:xfrm>
            <a:off x="3818036" y="6026564"/>
            <a:ext cx="0" cy="193154"/>
          </a:xfrm>
          <a:prstGeom prst="line">
            <a:avLst/>
          </a:prstGeom>
          <a:ln w="321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state-diagram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239746" y="1532334"/>
            <a:ext cx="1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2" name="Connector 2"/>
          <p:cNvCxnSpPr/>
          <p:nvPr/>
        </p:nvCxnSpPr>
        <p:spPr>
          <a:xfrm flipH="1">
            <a:off x="5166562" y="2683499"/>
            <a:ext cx="825526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5363482" y="2923325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fetch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4918904" y="3834663"/>
            <a:ext cx="1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5" name="Connector 5"/>
          <p:cNvCxnSpPr/>
          <p:nvPr/>
        </p:nvCxnSpPr>
        <p:spPr>
          <a:xfrm>
            <a:off x="5060152" y="4961845"/>
            <a:ext cx="498523" cy="719478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6" name="Text 6"/>
          <p:cNvSpPr txBox="1"/>
          <p:nvPr/>
        </p:nvSpPr>
        <p:spPr>
          <a:xfrm>
            <a:off x="5179908" y="5201671"/>
            <a:ext cx="259012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ok</a:t>
            </a:r>
          </a:p>
        </p:txBody>
      </p:sp>
      <p:cxnSp>
        <p:nvCxnSpPr>
          <p:cNvPr id="17" name="Connector 7"/>
          <p:cNvCxnSpPr/>
          <p:nvPr/>
        </p:nvCxnSpPr>
        <p:spPr>
          <a:xfrm>
            <a:off x="5122756" y="4856310"/>
            <a:ext cx="1738438" cy="838439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8" name="Text 8"/>
          <p:cNvSpPr txBox="1"/>
          <p:nvPr/>
        </p:nvSpPr>
        <p:spPr>
          <a:xfrm>
            <a:off x="5804912" y="5155616"/>
            <a:ext cx="374128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fail</a:t>
            </a:r>
          </a:p>
        </p:txBody>
      </p:sp>
      <p:cxnSp>
        <p:nvCxnSpPr>
          <p:cNvPr id="19" name="Connector 9"/>
          <p:cNvCxnSpPr/>
          <p:nvPr/>
        </p:nvCxnSpPr>
        <p:spPr>
          <a:xfrm flipV="1">
            <a:off x="5741683" y="2683499"/>
            <a:ext cx="464610" cy="299782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0" name="Text 10"/>
          <p:cNvSpPr txBox="1"/>
          <p:nvPr/>
        </p:nvSpPr>
        <p:spPr>
          <a:xfrm>
            <a:off x="5758145" y="4062498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reset</a:t>
            </a:r>
          </a:p>
        </p:txBody>
      </p:sp>
      <p:cxnSp>
        <p:nvCxnSpPr>
          <p:cNvPr id="21" name="Connector 11"/>
          <p:cNvCxnSpPr/>
          <p:nvPr/>
        </p:nvCxnSpPr>
        <p:spPr>
          <a:xfrm flipH="1" flipV="1">
            <a:off x="6305272" y="2683499"/>
            <a:ext cx="910092" cy="299782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2" name="Text 12"/>
          <p:cNvSpPr txBox="1"/>
          <p:nvPr/>
        </p:nvSpPr>
        <p:spPr>
          <a:xfrm>
            <a:off x="6544474" y="4062498"/>
            <a:ext cx="431687" cy="2398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7" dirty="0">
                <a:solidFill>
                  <a:srgbClr val="000000"/>
                </a:solidFill>
              </a:rPr>
              <a:t>retry</a:t>
            </a:r>
          </a:p>
        </p:txBody>
      </p:sp>
      <p:cxnSp>
        <p:nvCxnSpPr>
          <p:cNvPr id="23" name="Connector 13"/>
          <p:cNvCxnSpPr/>
          <p:nvPr/>
        </p:nvCxnSpPr>
        <p:spPr>
          <a:xfrm flipH="1">
            <a:off x="6016845" y="2683499"/>
            <a:ext cx="174561" cy="779434"/>
          </a:xfrm>
          <a:prstGeom prst="line">
            <a:avLst/>
          </a:prstGeom>
          <a:ln w="11991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4" name="Shape 14"/>
          <p:cNvSpPr/>
          <p:nvPr/>
        </p:nvSpPr>
        <p:spPr>
          <a:xfrm>
            <a:off x="6131824" y="1316491"/>
            <a:ext cx="215843" cy="21584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5" name="Idle"/>
          <p:cNvSpPr/>
          <p:nvPr/>
        </p:nvSpPr>
        <p:spPr>
          <a:xfrm>
            <a:off x="5820050" y="2251812"/>
            <a:ext cx="839391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5820050" y="2251812"/>
            <a:ext cx="839391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Idle</a:t>
            </a:r>
          </a:p>
        </p:txBody>
      </p:sp>
      <p:sp>
        <p:nvSpPr>
          <p:cNvPr id="27" name="Loading"/>
          <p:cNvSpPr/>
          <p:nvPr/>
        </p:nvSpPr>
        <p:spPr>
          <a:xfrm>
            <a:off x="4491415" y="3402976"/>
            <a:ext cx="854980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28" name="Text 18"/>
          <p:cNvSpPr txBox="1"/>
          <p:nvPr/>
        </p:nvSpPr>
        <p:spPr>
          <a:xfrm>
            <a:off x="4491415" y="3402976"/>
            <a:ext cx="854980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Loading</a:t>
            </a:r>
          </a:p>
        </p:txBody>
      </p:sp>
      <p:sp>
        <p:nvSpPr>
          <p:cNvPr id="29" name="Shape 19"/>
          <p:cNvSpPr/>
          <p:nvPr/>
        </p:nvSpPr>
        <p:spPr>
          <a:xfrm>
            <a:off x="4715052" y="4554141"/>
            <a:ext cx="407704" cy="407704"/>
          </a:xfrm>
          <a:prstGeom prst="diamond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0" name="Success"/>
          <p:cNvSpPr/>
          <p:nvPr/>
        </p:nvSpPr>
        <p:spPr>
          <a:xfrm>
            <a:off x="5280742" y="5681322"/>
            <a:ext cx="854980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5280742" y="5681322"/>
            <a:ext cx="854980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Success</a:t>
            </a:r>
          </a:p>
        </p:txBody>
      </p:sp>
      <p:sp>
        <p:nvSpPr>
          <p:cNvPr id="32" name="Error"/>
          <p:cNvSpPr/>
          <p:nvPr/>
        </p:nvSpPr>
        <p:spPr>
          <a:xfrm>
            <a:off x="6861194" y="5681322"/>
            <a:ext cx="839391" cy="431687"/>
          </a:xfrm>
          <a:prstGeom prst="roundRect">
            <a:avLst/>
          </a:prstGeom>
          <a:solidFill>
            <a:srgbClr val="D9E2F3"/>
          </a:solidFill>
          <a:ln w="11991">
            <a:solidFill>
              <a:srgbClr val="2F5496"/>
            </a:solidFill>
          </a:ln>
        </p:spPr>
      </p:sp>
      <p:sp>
        <p:nvSpPr>
          <p:cNvPr id="33" name="Text 23"/>
          <p:cNvSpPr txBox="1"/>
          <p:nvPr/>
        </p:nvSpPr>
        <p:spPr>
          <a:xfrm>
            <a:off x="6861194" y="5681322"/>
            <a:ext cx="839391" cy="431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33" dirty="0">
                <a:solidFill>
                  <a:srgbClr val="000000"/>
                </a:solidFill>
              </a:rPr>
              <a:t>Error</a:t>
            </a:r>
          </a:p>
        </p:txBody>
      </p:sp>
      <p:sp>
        <p:nvSpPr>
          <p:cNvPr id="34" name="Shape 24"/>
          <p:cNvSpPr/>
          <p:nvPr/>
        </p:nvSpPr>
        <p:spPr>
          <a:xfrm>
            <a:off x="5826047" y="3462933"/>
            <a:ext cx="311774" cy="311774"/>
          </a:xfrm>
          <a:prstGeom prst="ellipse">
            <a:avLst/>
          </a:prstGeom>
          <a:solidFill>
            <a:srgbClr val="FFFFFF"/>
          </a:solidFill>
          <a:ln w="11991">
            <a:solidFill>
              <a:srgbClr val="000000"/>
            </a:solidFill>
          </a:ln>
        </p:spPr>
      </p:sp>
      <p:sp>
        <p:nvSpPr>
          <p:cNvPr id="35" name="Shape 25"/>
          <p:cNvSpPr/>
          <p:nvPr/>
        </p:nvSpPr>
        <p:spPr>
          <a:xfrm>
            <a:off x="5913343" y="3550229"/>
            <a:ext cx="137180" cy="1371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subgraph</a:t>
            </a:r>
          </a:p>
        </p:txBody>
      </p:sp>
      <p:sp>
        <p:nvSpPr>
          <p:cNvPr id="17" name="Groupe externe (container)"/>
          <p:cNvSpPr/>
          <p:nvPr/>
        </p:nvSpPr>
        <p:spPr>
          <a:xfrm>
            <a:off x="3500427" y="1028700"/>
            <a:ext cx="1080703" cy="2098575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18" name="Groupe externe"/>
          <p:cNvSpPr/>
          <p:nvPr/>
        </p:nvSpPr>
        <p:spPr>
          <a:xfrm>
            <a:off x="3500427" y="1028700"/>
            <a:ext cx="1080703" cy="150796"/>
          </a:xfrm>
          <a:prstGeom prst="rect">
            <a:avLst/>
          </a:prstGeom>
          <a:noFill/>
          <a:ln w="0">
            <a:noFill/>
          </a:ln>
        </p:spPr>
        <p:txBody>
          <a:bodyPr lIns="60318" tIns="30159" rIns="60318" bIns="30159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Groupe externe</a:t>
            </a:r>
          </a:p>
        </p:txBody>
      </p:sp>
      <p:sp>
        <p:nvSpPr>
          <p:cNvPr id="19" name="Groupe interne (container)"/>
          <p:cNvSpPr/>
          <p:nvPr/>
        </p:nvSpPr>
        <p:spPr>
          <a:xfrm>
            <a:off x="3409950" y="3629927"/>
            <a:ext cx="1261658" cy="2098575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0" name="Groupe interne"/>
          <p:cNvSpPr/>
          <p:nvPr/>
        </p:nvSpPr>
        <p:spPr>
          <a:xfrm>
            <a:off x="3409950" y="3629927"/>
            <a:ext cx="1261658" cy="150796"/>
          </a:xfrm>
          <a:prstGeom prst="rect">
            <a:avLst/>
          </a:prstGeom>
          <a:noFill/>
          <a:ln w="0">
            <a:noFill/>
          </a:ln>
        </p:spPr>
        <p:txBody>
          <a:bodyPr lIns="60318" tIns="30159" rIns="60318" bIns="30159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Groupe interne</a:t>
            </a:r>
          </a:p>
        </p:txBody>
      </p:sp>
      <p:sp>
        <p:nvSpPr>
          <p:cNvPr id="12" name="Un" descr="A"/>
          <p:cNvSpPr/>
          <p:nvPr/>
        </p:nvSpPr>
        <p:spPr>
          <a:xfrm>
            <a:off x="3820869" y="1430822"/>
            <a:ext cx="439821" cy="471237"/>
          </a:xfrm>
          <a:prstGeom prst="rect">
            <a:avLst/>
          </a:prstGeom>
          <a:solidFill>
            <a:srgbClr val="FFE0B2"/>
          </a:solidFill>
          <a:ln w="837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Un</a:t>
            </a:r>
          </a:p>
        </p:txBody>
      </p:sp>
      <p:sp>
        <p:nvSpPr>
          <p:cNvPr id="13" name="Deux" descr="B"/>
          <p:cNvSpPr/>
          <p:nvPr/>
        </p:nvSpPr>
        <p:spPr>
          <a:xfrm>
            <a:off x="3751754" y="2404712"/>
            <a:ext cx="578051" cy="471237"/>
          </a:xfrm>
          <a:prstGeom prst="rect">
            <a:avLst/>
          </a:prstGeom>
          <a:solidFill>
            <a:srgbClr val="E1BEE7"/>
          </a:solidFill>
          <a:ln w="837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Deux</a:t>
            </a:r>
          </a:p>
        </p:txBody>
      </p:sp>
      <p:sp>
        <p:nvSpPr>
          <p:cNvPr id="14" name="Trois" descr="C"/>
          <p:cNvSpPr/>
          <p:nvPr/>
        </p:nvSpPr>
        <p:spPr>
          <a:xfrm>
            <a:off x="3706515" y="4032049"/>
            <a:ext cx="668528" cy="471237"/>
          </a:xfrm>
          <a:prstGeom prst="rect">
            <a:avLst/>
          </a:prstGeom>
          <a:solidFill>
            <a:srgbClr val="FFCDD2"/>
          </a:solidFill>
          <a:ln w="837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Trois</a:t>
            </a:r>
          </a:p>
        </p:txBody>
      </p:sp>
      <p:sp>
        <p:nvSpPr>
          <p:cNvPr id="15" name="Quatre" descr="D"/>
          <p:cNvSpPr/>
          <p:nvPr/>
        </p:nvSpPr>
        <p:spPr>
          <a:xfrm>
            <a:off x="3661276" y="5005939"/>
            <a:ext cx="759005" cy="471237"/>
          </a:xfrm>
          <a:prstGeom prst="rect">
            <a:avLst/>
          </a:prstGeom>
          <a:solidFill>
            <a:srgbClr val="FFF9C4"/>
          </a:solidFill>
          <a:ln w="837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Quatre</a:t>
            </a:r>
          </a:p>
        </p:txBody>
      </p:sp>
      <p:sp>
        <p:nvSpPr>
          <p:cNvPr id="16" name="Cinq" descr="E"/>
          <p:cNvSpPr/>
          <p:nvPr/>
        </p:nvSpPr>
        <p:spPr>
          <a:xfrm>
            <a:off x="3751754" y="5929563"/>
            <a:ext cx="578051" cy="471237"/>
          </a:xfrm>
          <a:prstGeom prst="rect">
            <a:avLst/>
          </a:prstGeom>
          <a:solidFill>
            <a:srgbClr val="BBDEFB"/>
          </a:solidFill>
          <a:ln w="837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318" tIns="30159" rIns="60318" bIns="301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Cinq</a:t>
            </a:r>
          </a:p>
        </p:txBody>
      </p:sp>
      <p:cxnSp>
        <p:nvCxnSpPr>
          <p:cNvPr id="21" name="A--B"/>
          <p:cNvCxnSpPr>
            <a:stCxn id="12" idx="2"/>
            <a:endCxn id="13" idx="0"/>
          </p:cNvCxnSpPr>
          <p:nvPr/>
        </p:nvCxnSpPr>
        <p:spPr>
          <a:xfrm>
            <a:off x="4040779" y="1902059"/>
            <a:ext cx="0" cy="502653"/>
          </a:xfrm>
          <a:prstGeom prst="line">
            <a:avLst/>
          </a:prstGeom>
          <a:ln w="83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--D"/>
          <p:cNvCxnSpPr>
            <a:stCxn id="14" idx="2"/>
            <a:endCxn id="15" idx="0"/>
          </p:cNvCxnSpPr>
          <p:nvPr/>
        </p:nvCxnSpPr>
        <p:spPr>
          <a:xfrm>
            <a:off x="4040779" y="4503286"/>
            <a:ext cx="0" cy="502653"/>
          </a:xfrm>
          <a:prstGeom prst="line">
            <a:avLst/>
          </a:prstGeom>
          <a:ln w="83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2"/>
            <a:endCxn id="14" idx="0"/>
          </p:cNvCxnSpPr>
          <p:nvPr/>
        </p:nvCxnSpPr>
        <p:spPr>
          <a:xfrm>
            <a:off x="4040779" y="2875948"/>
            <a:ext cx="0" cy="1156101"/>
          </a:xfrm>
          <a:prstGeom prst="line">
            <a:avLst/>
          </a:prstGeom>
          <a:ln w="83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--E"/>
          <p:cNvCxnSpPr>
            <a:stCxn id="15" idx="2"/>
            <a:endCxn id="16" idx="0"/>
          </p:cNvCxnSpPr>
          <p:nvPr/>
        </p:nvCxnSpPr>
        <p:spPr>
          <a:xfrm>
            <a:off x="4040779" y="5477176"/>
            <a:ext cx="0" cy="452387"/>
          </a:xfrm>
          <a:prstGeom prst="line">
            <a:avLst/>
          </a:prstGeom>
          <a:ln w="837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swimlane</a:t>
            </a:r>
          </a:p>
        </p:txBody>
      </p:sp>
      <p:sp>
        <p:nvSpPr>
          <p:cNvPr id="17" name="Customer (container)"/>
          <p:cNvSpPr/>
          <p:nvPr/>
        </p:nvSpPr>
        <p:spPr>
          <a:xfrm>
            <a:off x="457200" y="2217816"/>
            <a:ext cx="11277600" cy="1249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18" name="Customer"/>
          <p:cNvSpPr/>
          <p:nvPr/>
        </p:nvSpPr>
        <p:spPr>
          <a:xfrm>
            <a:off x="457200" y="2217816"/>
            <a:ext cx="11277600" cy="167489"/>
          </a:xfrm>
          <a:prstGeom prst="rect">
            <a:avLst/>
          </a:prstGeom>
          <a:noFill/>
          <a:ln w="0">
            <a:noFill/>
          </a:ln>
        </p:spPr>
        <p:txBody>
          <a:bodyPr lIns="66996" tIns="33498" rIns="66996" bIns="33498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19" name="Store (container)"/>
          <p:cNvSpPr/>
          <p:nvPr/>
        </p:nvSpPr>
        <p:spPr>
          <a:xfrm>
            <a:off x="2589895" y="3439091"/>
            <a:ext cx="4499874" cy="1772593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0" name="Store"/>
          <p:cNvSpPr/>
          <p:nvPr/>
        </p:nvSpPr>
        <p:spPr>
          <a:xfrm>
            <a:off x="2589895" y="3439091"/>
            <a:ext cx="4499874" cy="167489"/>
          </a:xfrm>
          <a:prstGeom prst="rect">
            <a:avLst/>
          </a:prstGeom>
          <a:noFill/>
          <a:ln w="0">
            <a:noFill/>
          </a:ln>
        </p:spPr>
        <p:txBody>
          <a:bodyPr lIns="66996" tIns="33498" rIns="66996" bIns="33498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Store</a:t>
            </a:r>
          </a:p>
        </p:txBody>
      </p:sp>
      <p:sp>
        <p:nvSpPr>
          <p:cNvPr id="21" name="Carrier (container)"/>
          <p:cNvSpPr/>
          <p:nvPr/>
        </p:nvSpPr>
        <p:spPr>
          <a:xfrm>
            <a:off x="7648066" y="3700792"/>
            <a:ext cx="1954040" cy="1249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2" name="Carrier"/>
          <p:cNvSpPr/>
          <p:nvPr/>
        </p:nvSpPr>
        <p:spPr>
          <a:xfrm>
            <a:off x="7648066" y="3700792"/>
            <a:ext cx="1954040" cy="167489"/>
          </a:xfrm>
          <a:prstGeom prst="rect">
            <a:avLst/>
          </a:prstGeom>
          <a:noFill/>
          <a:ln w="0">
            <a:noFill/>
          </a:ln>
        </p:spPr>
        <p:txBody>
          <a:bodyPr lIns="66996" tIns="33498" rIns="66996" bIns="33498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Carrier</a:t>
            </a:r>
          </a:p>
        </p:txBody>
      </p:sp>
      <p:sp>
        <p:nvSpPr>
          <p:cNvPr id="12" name="Place order" descr="Order"/>
          <p:cNvSpPr/>
          <p:nvPr/>
        </p:nvSpPr>
        <p:spPr>
          <a:xfrm>
            <a:off x="736349" y="2664454"/>
            <a:ext cx="1295249" cy="523403"/>
          </a:xfrm>
          <a:prstGeom prst="rect">
            <a:avLst/>
          </a:prstGeom>
          <a:solidFill>
            <a:srgbClr val="E1BEE7"/>
          </a:solidFill>
          <a:ln w="9305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Place order</a:t>
            </a:r>
          </a:p>
        </p:txBody>
      </p:sp>
      <p:sp>
        <p:nvSpPr>
          <p:cNvPr id="13" name="Pay invoice" descr="Pay"/>
          <p:cNvSpPr/>
          <p:nvPr/>
        </p:nvSpPr>
        <p:spPr>
          <a:xfrm>
            <a:off x="10160402" y="2664454"/>
            <a:ext cx="1295249" cy="523403"/>
          </a:xfrm>
          <a:prstGeom prst="roundRect">
            <a:avLst/>
          </a:prstGeom>
          <a:solidFill>
            <a:srgbClr val="FFCDD2"/>
          </a:solidFill>
          <a:ln w="9305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Pay invoice</a:t>
            </a:r>
          </a:p>
        </p:txBody>
      </p:sp>
      <p:sp>
        <p:nvSpPr>
          <p:cNvPr id="14" name="Pack items" descr="Pack"/>
          <p:cNvSpPr/>
          <p:nvPr/>
        </p:nvSpPr>
        <p:spPr>
          <a:xfrm>
            <a:off x="5615865" y="4147430"/>
            <a:ext cx="1194756" cy="523403"/>
          </a:xfrm>
          <a:prstGeom prst="rect">
            <a:avLst/>
          </a:prstGeom>
          <a:solidFill>
            <a:srgbClr val="FFF9C4"/>
          </a:solidFill>
          <a:ln w="9305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Pack items</a:t>
            </a:r>
          </a:p>
        </p:txBody>
      </p:sp>
      <p:sp>
        <p:nvSpPr>
          <p:cNvPr id="15" name="In stock?" descr="Decision"/>
          <p:cNvSpPr/>
          <p:nvPr/>
        </p:nvSpPr>
        <p:spPr>
          <a:xfrm>
            <a:off x="2869043" y="3885728"/>
            <a:ext cx="2188524" cy="1046807"/>
          </a:xfrm>
          <a:prstGeom prst="diamond">
            <a:avLst/>
          </a:prstGeom>
          <a:solidFill>
            <a:srgbClr val="BBDEFB"/>
          </a:solidFill>
          <a:ln w="9305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In stock?</a:t>
            </a:r>
          </a:p>
        </p:txBody>
      </p:sp>
      <p:sp>
        <p:nvSpPr>
          <p:cNvPr id="16" name="Ship package" descr="Ship"/>
          <p:cNvSpPr/>
          <p:nvPr/>
        </p:nvSpPr>
        <p:spPr>
          <a:xfrm>
            <a:off x="7927214" y="4147430"/>
            <a:ext cx="1395743" cy="523403"/>
          </a:xfrm>
          <a:prstGeom prst="roundRect">
            <a:avLst/>
          </a:prstGeom>
          <a:solidFill>
            <a:srgbClr val="C8E6C9"/>
          </a:solidFill>
          <a:ln w="9305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Ship package</a:t>
            </a:r>
          </a:p>
        </p:txBody>
      </p:sp>
      <p:cxnSp>
        <p:nvCxnSpPr>
          <p:cNvPr id="23" name="Order--Decision"/>
          <p:cNvCxnSpPr>
            <a:stCxn id="12" idx="3"/>
            <a:endCxn id="15" idx="1"/>
          </p:cNvCxnSpPr>
          <p:nvPr/>
        </p:nvCxnSpPr>
        <p:spPr>
          <a:xfrm>
            <a:off x="2031598" y="2926155"/>
            <a:ext cx="837445" cy="1482977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ecision--Pack"/>
          <p:cNvCxnSpPr>
            <a:stCxn id="15" idx="3"/>
            <a:endCxn id="14" idx="1"/>
          </p:cNvCxnSpPr>
          <p:nvPr/>
        </p:nvCxnSpPr>
        <p:spPr>
          <a:xfrm>
            <a:off x="5057568" y="4409132"/>
            <a:ext cx="558297" cy="0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Label"/>
          <p:cNvSpPr txBox="1"/>
          <p:nvPr/>
        </p:nvSpPr>
        <p:spPr>
          <a:xfrm>
            <a:off x="5153595" y="4325387"/>
            <a:ext cx="366243" cy="1674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7915" tIns="0" rIns="27915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Yes</a:t>
            </a:r>
          </a:p>
        </p:txBody>
      </p:sp>
      <p:cxnSp>
        <p:nvCxnSpPr>
          <p:cNvPr id="26" name="Decision--Order"/>
          <p:cNvCxnSpPr>
            <a:stCxn id="15" idx="1"/>
            <a:endCxn id="12" idx="3"/>
          </p:cNvCxnSpPr>
          <p:nvPr/>
        </p:nvCxnSpPr>
        <p:spPr>
          <a:xfrm flipH="1" flipV="1">
            <a:off x="2031598" y="2926155"/>
            <a:ext cx="837445" cy="1482977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2296789" y="3583899"/>
            <a:ext cx="307063" cy="1674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7915" tIns="0" rIns="27915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No</a:t>
            </a:r>
          </a:p>
        </p:txBody>
      </p:sp>
      <p:cxnSp>
        <p:nvCxnSpPr>
          <p:cNvPr id="28" name="Pack--Ship"/>
          <p:cNvCxnSpPr>
            <a:stCxn id="14" idx="3"/>
            <a:endCxn id="16" idx="1"/>
          </p:cNvCxnSpPr>
          <p:nvPr/>
        </p:nvCxnSpPr>
        <p:spPr>
          <a:xfrm>
            <a:off x="6810620" y="4409132"/>
            <a:ext cx="1116594" cy="0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hip--Pay"/>
          <p:cNvCxnSpPr>
            <a:stCxn id="16" idx="3"/>
            <a:endCxn id="13" idx="1"/>
          </p:cNvCxnSpPr>
          <p:nvPr/>
        </p:nvCxnSpPr>
        <p:spPr>
          <a:xfrm flipV="1">
            <a:off x="9322957" y="2926155"/>
            <a:ext cx="837445" cy="1482977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timeline</a:t>
            </a:r>
          </a:p>
        </p:txBody>
      </p:sp>
      <p:sp>
        <p:nvSpPr>
          <p:cNvPr id="11" name="Box 1"/>
          <p:cNvSpPr/>
          <p:nvPr/>
        </p:nvSpPr>
        <p:spPr>
          <a:xfrm>
            <a:off x="1925256" y="1198703"/>
            <a:ext cx="8341489" cy="4986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09" dirty="0">
                <a:solidFill>
                  <a:srgbClr val="000000"/>
                </a:solidFill>
              </a:rPr>
              <a:t>England's History Timeline</a:t>
            </a:r>
          </a:p>
        </p:txBody>
      </p:sp>
      <p:sp>
        <p:nvSpPr>
          <p:cNvPr id="12" name="Box 2"/>
          <p:cNvSpPr/>
          <p:nvPr/>
        </p:nvSpPr>
        <p:spPr>
          <a:xfrm>
            <a:off x="2265262" y="1867382"/>
            <a:ext cx="3762737" cy="38534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09" dirty="0">
                <a:solidFill>
                  <a:srgbClr val="FFFFFF"/>
                </a:solidFill>
              </a:rPr>
              <a:t>Stone Age</a:t>
            </a:r>
          </a:p>
        </p:txBody>
      </p:sp>
      <p:sp>
        <p:nvSpPr>
          <p:cNvPr id="13" name="Box 3"/>
          <p:cNvSpPr/>
          <p:nvPr/>
        </p:nvSpPr>
        <p:spPr>
          <a:xfrm>
            <a:off x="6164001" y="1867382"/>
            <a:ext cx="3762737" cy="38534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09" dirty="0">
                <a:solidFill>
                  <a:srgbClr val="FFFFFF"/>
                </a:solidFill>
              </a:rPr>
              <a:t>Bronze Age</a:t>
            </a:r>
          </a:p>
        </p:txBody>
      </p:sp>
      <p:sp>
        <p:nvSpPr>
          <p:cNvPr id="14" name="Box 4"/>
          <p:cNvSpPr/>
          <p:nvPr/>
        </p:nvSpPr>
        <p:spPr>
          <a:xfrm>
            <a:off x="2265262" y="2343391"/>
            <a:ext cx="1813367" cy="419341"/>
          </a:xfrm>
          <a:prstGeom prst="rect">
            <a:avLst/>
          </a:prstGeom>
          <a:solidFill>
            <a:srgbClr val="6087C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09" dirty="0">
                <a:solidFill>
                  <a:srgbClr val="000000"/>
                </a:solidFill>
              </a:rPr>
              <a:t>7600 BC</a:t>
            </a:r>
          </a:p>
        </p:txBody>
      </p:sp>
      <p:sp>
        <p:nvSpPr>
          <p:cNvPr id="15" name="Box 5"/>
          <p:cNvSpPr/>
          <p:nvPr/>
        </p:nvSpPr>
        <p:spPr>
          <a:xfrm>
            <a:off x="4214632" y="2343391"/>
            <a:ext cx="1813367" cy="419341"/>
          </a:xfrm>
          <a:prstGeom prst="rect">
            <a:avLst/>
          </a:prstGeom>
          <a:solidFill>
            <a:srgbClr val="6087C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09" dirty="0">
                <a:solidFill>
                  <a:srgbClr val="000000"/>
                </a:solidFill>
              </a:rPr>
              <a:t>6000 BC</a:t>
            </a:r>
          </a:p>
        </p:txBody>
      </p:sp>
      <p:sp>
        <p:nvSpPr>
          <p:cNvPr id="16" name="Box 6"/>
          <p:cNvSpPr/>
          <p:nvPr/>
        </p:nvSpPr>
        <p:spPr>
          <a:xfrm>
            <a:off x="6164001" y="2343391"/>
            <a:ext cx="1813367" cy="419341"/>
          </a:xfrm>
          <a:prstGeom prst="rect">
            <a:avLst/>
          </a:prstGeom>
          <a:solidFill>
            <a:srgbClr val="F0915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09" dirty="0">
                <a:solidFill>
                  <a:srgbClr val="000000"/>
                </a:solidFill>
              </a:rPr>
              <a:t>2300 BC</a:t>
            </a:r>
          </a:p>
        </p:txBody>
      </p:sp>
      <p:sp>
        <p:nvSpPr>
          <p:cNvPr id="17" name="Box 7"/>
          <p:cNvSpPr/>
          <p:nvPr/>
        </p:nvSpPr>
        <p:spPr>
          <a:xfrm>
            <a:off x="8113371" y="2343391"/>
            <a:ext cx="1813367" cy="419341"/>
          </a:xfrm>
          <a:prstGeom prst="rect">
            <a:avLst/>
          </a:prstGeom>
          <a:solidFill>
            <a:srgbClr val="F0915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09" dirty="0">
                <a:solidFill>
                  <a:srgbClr val="000000"/>
                </a:solidFill>
              </a:rPr>
              <a:t>2200 BC</a:t>
            </a:r>
          </a:p>
        </p:txBody>
      </p:sp>
      <p:sp>
        <p:nvSpPr>
          <p:cNvPr id="18" name="Box 8"/>
          <p:cNvSpPr/>
          <p:nvPr/>
        </p:nvSpPr>
        <p:spPr>
          <a:xfrm>
            <a:off x="2265262" y="2762732"/>
            <a:ext cx="7661476" cy="68001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2265262" y="2921402"/>
            <a:ext cx="1813367" cy="997352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Britain's oldest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known house was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built in Orkney,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Scotland</a:t>
            </a:r>
          </a:p>
        </p:txBody>
      </p:sp>
      <p:sp>
        <p:nvSpPr>
          <p:cNvPr id="20" name="Box 10"/>
          <p:cNvSpPr/>
          <p:nvPr/>
        </p:nvSpPr>
        <p:spPr>
          <a:xfrm>
            <a:off x="4214632" y="2921402"/>
            <a:ext cx="1813367" cy="1382692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Sea levels rise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Britain becomes 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island.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The people who live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here are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hunter-gatherers.</a:t>
            </a:r>
          </a:p>
        </p:txBody>
      </p:sp>
      <p:sp>
        <p:nvSpPr>
          <p:cNvPr id="21" name="Box 11"/>
          <p:cNvSpPr/>
          <p:nvPr/>
        </p:nvSpPr>
        <p:spPr>
          <a:xfrm>
            <a:off x="6164001" y="2921402"/>
            <a:ext cx="1813367" cy="1190022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People arrive from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Europe and settle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in Britain.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They bring farming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and metalworking.</a:t>
            </a:r>
          </a:p>
        </p:txBody>
      </p:sp>
      <p:sp>
        <p:nvSpPr>
          <p:cNvPr id="22" name="Box 12"/>
          <p:cNvSpPr/>
          <p:nvPr/>
        </p:nvSpPr>
        <p:spPr>
          <a:xfrm>
            <a:off x="6164001" y="4202092"/>
            <a:ext cx="1813367" cy="997352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New styles of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pottery and ways of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burying the dead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appear.</a:t>
            </a:r>
          </a:p>
        </p:txBody>
      </p:sp>
      <p:sp>
        <p:nvSpPr>
          <p:cNvPr id="23" name="Box 13"/>
          <p:cNvSpPr/>
          <p:nvPr/>
        </p:nvSpPr>
        <p:spPr>
          <a:xfrm>
            <a:off x="8113371" y="2921402"/>
            <a:ext cx="1813367" cy="1575363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The last major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building works are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completed at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Stonehenge.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People now bury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their dead in stone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circles.</a:t>
            </a:r>
          </a:p>
        </p:txBody>
      </p:sp>
      <p:sp>
        <p:nvSpPr>
          <p:cNvPr id="24" name="Box 14"/>
          <p:cNvSpPr/>
          <p:nvPr/>
        </p:nvSpPr>
        <p:spPr>
          <a:xfrm>
            <a:off x="8113371" y="4587433"/>
            <a:ext cx="1813367" cy="1382692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The first metal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objects are made 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Britain.Some other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nice things happen.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it is a good time to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09" dirty="0">
                <a:solidFill>
                  <a:srgbClr val="000000"/>
                </a:solidFill>
              </a:rPr>
              <a:t>be alive.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tree-view</a:t>
            </a:r>
          </a:p>
        </p:txBody>
      </p:sp>
      <p:sp>
        <p:nvSpPr>
          <p:cNvPr id="11" name="Box 1"/>
          <p:cNvSpPr/>
          <p:nvPr/>
        </p:nvSpPr>
        <p:spPr>
          <a:xfrm>
            <a:off x="4157862" y="1768570"/>
            <a:ext cx="32168" cy="3216826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2" name="Box 2"/>
          <p:cNvSpPr/>
          <p:nvPr/>
        </p:nvSpPr>
        <p:spPr>
          <a:xfrm>
            <a:off x="3997021" y="1446887"/>
            <a:ext cx="154407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packages/</a:t>
            </a:r>
          </a:p>
        </p:txBody>
      </p:sp>
      <p:sp>
        <p:nvSpPr>
          <p:cNvPr id="13" name="Box 3"/>
          <p:cNvSpPr/>
          <p:nvPr/>
        </p:nvSpPr>
        <p:spPr>
          <a:xfrm>
            <a:off x="4157862" y="2025916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4" name="Box 4"/>
          <p:cNvSpPr/>
          <p:nvPr/>
        </p:nvSpPr>
        <p:spPr>
          <a:xfrm>
            <a:off x="4576050" y="2186757"/>
            <a:ext cx="32168" cy="1962264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5" name="Box 5"/>
          <p:cNvSpPr/>
          <p:nvPr/>
        </p:nvSpPr>
        <p:spPr>
          <a:xfrm>
            <a:off x="4415208" y="1865075"/>
            <a:ext cx="99721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core/</a:t>
            </a:r>
          </a:p>
        </p:txBody>
      </p:sp>
      <p:sp>
        <p:nvSpPr>
          <p:cNvPr id="16" name="Box 6"/>
          <p:cNvSpPr/>
          <p:nvPr/>
        </p:nvSpPr>
        <p:spPr>
          <a:xfrm>
            <a:off x="5412424" y="1865075"/>
            <a:ext cx="133498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2026" dirty="0">
                <a:solidFill>
                  <a:srgbClr val="595959"/>
                </a:solidFill>
              </a:rPr>
              <a:t>the moat</a:t>
            </a:r>
          </a:p>
        </p:txBody>
      </p:sp>
      <p:sp>
        <p:nvSpPr>
          <p:cNvPr id="17" name="Box 7"/>
          <p:cNvSpPr/>
          <p:nvPr/>
        </p:nvSpPr>
        <p:spPr>
          <a:xfrm>
            <a:off x="4576050" y="2444104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8" name="Box 8"/>
          <p:cNvSpPr/>
          <p:nvPr/>
        </p:nvSpPr>
        <p:spPr>
          <a:xfrm>
            <a:off x="4994237" y="2604945"/>
            <a:ext cx="32168" cy="1125889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4833396" y="2283262"/>
            <a:ext cx="86854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src/</a:t>
            </a:r>
          </a:p>
        </p:txBody>
      </p:sp>
      <p:sp>
        <p:nvSpPr>
          <p:cNvPr id="20" name="Box 10"/>
          <p:cNvSpPr/>
          <p:nvPr/>
        </p:nvSpPr>
        <p:spPr>
          <a:xfrm>
            <a:off x="4994237" y="2862291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1" name="Box 11"/>
          <p:cNvSpPr/>
          <p:nvPr/>
        </p:nvSpPr>
        <p:spPr>
          <a:xfrm>
            <a:off x="5251583" y="2701450"/>
            <a:ext cx="127064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parser/</a:t>
            </a:r>
          </a:p>
        </p:txBody>
      </p:sp>
      <p:sp>
        <p:nvSpPr>
          <p:cNvPr id="22" name="Box 12"/>
          <p:cNvSpPr/>
          <p:nvPr/>
        </p:nvSpPr>
        <p:spPr>
          <a:xfrm>
            <a:off x="4994237" y="3280478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3" name="Box 13"/>
          <p:cNvSpPr/>
          <p:nvPr/>
        </p:nvSpPr>
        <p:spPr>
          <a:xfrm>
            <a:off x="5251583" y="3119637"/>
            <a:ext cx="181750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translator/</a:t>
            </a:r>
          </a:p>
        </p:txBody>
      </p:sp>
      <p:sp>
        <p:nvSpPr>
          <p:cNvPr id="24" name="Box 14"/>
          <p:cNvSpPr/>
          <p:nvPr/>
        </p:nvSpPr>
        <p:spPr>
          <a:xfrm>
            <a:off x="4994237" y="3698666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5251583" y="3537825"/>
            <a:ext cx="1415404" cy="353851"/>
          </a:xfrm>
          <a:prstGeom prst="rect">
            <a:avLst/>
          </a:prstGeom>
          <a:solidFill>
            <a:srgbClr val="FFF2CC"/>
          </a:solidFill>
          <a:ln w="16084">
            <a:solidFill>
              <a:srgbClr val="BF9000"/>
            </a:solidFill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index.ts</a:t>
            </a:r>
          </a:p>
        </p:txBody>
      </p:sp>
      <p:sp>
        <p:nvSpPr>
          <p:cNvPr id="26" name="Box 16"/>
          <p:cNvSpPr/>
          <p:nvPr/>
        </p:nvSpPr>
        <p:spPr>
          <a:xfrm>
            <a:off x="4576050" y="4116853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4833396" y="3956012"/>
            <a:ext cx="1946180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package.json</a:t>
            </a:r>
          </a:p>
        </p:txBody>
      </p:sp>
      <p:sp>
        <p:nvSpPr>
          <p:cNvPr id="28" name="Box 18"/>
          <p:cNvSpPr/>
          <p:nvPr/>
        </p:nvSpPr>
        <p:spPr>
          <a:xfrm>
            <a:off x="4157862" y="4535041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9" name="Box 19"/>
          <p:cNvSpPr/>
          <p:nvPr/>
        </p:nvSpPr>
        <p:spPr>
          <a:xfrm>
            <a:off x="4415208" y="4374199"/>
            <a:ext cx="86854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cli/</a:t>
            </a:r>
          </a:p>
        </p:txBody>
      </p:sp>
      <p:sp>
        <p:nvSpPr>
          <p:cNvPr id="30" name="Box 20"/>
          <p:cNvSpPr/>
          <p:nvPr/>
        </p:nvSpPr>
        <p:spPr>
          <a:xfrm>
            <a:off x="4157862" y="4953228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1" name="Box 21"/>
          <p:cNvSpPr/>
          <p:nvPr/>
        </p:nvSpPr>
        <p:spPr>
          <a:xfrm>
            <a:off x="4415208" y="4792387"/>
            <a:ext cx="2283947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26" dirty="0">
                <a:solidFill>
                  <a:srgbClr val="000000"/>
                </a:solidFill>
              </a:rPr>
              <a:t>README file.md</a:t>
            </a:r>
          </a:p>
        </p:txBody>
      </p:sp>
      <p:sp>
        <p:nvSpPr>
          <p:cNvPr id="32" name="Box 22"/>
          <p:cNvSpPr/>
          <p:nvPr/>
        </p:nvSpPr>
        <p:spPr>
          <a:xfrm>
            <a:off x="6699155" y="4792387"/>
            <a:ext cx="1753170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2026" dirty="0">
                <a:solidFill>
                  <a:srgbClr val="595959"/>
                </a:solidFill>
              </a:rPr>
              <a:t>quick start</a:t>
            </a:r>
          </a:p>
        </p:txBody>
      </p:sp>
      <p:sp>
        <p:nvSpPr>
          <p:cNvPr id="33" name="Box 23"/>
          <p:cNvSpPr/>
          <p:nvPr/>
        </p:nvSpPr>
        <p:spPr>
          <a:xfrm>
            <a:off x="4157862" y="5532257"/>
            <a:ext cx="32168" cy="289514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3997021" y="5210574"/>
            <a:ext cx="997216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docs/</a:t>
            </a:r>
          </a:p>
        </p:txBody>
      </p:sp>
      <p:sp>
        <p:nvSpPr>
          <p:cNvPr id="35" name="Box 25"/>
          <p:cNvSpPr/>
          <p:nvPr/>
        </p:nvSpPr>
        <p:spPr>
          <a:xfrm>
            <a:off x="4157862" y="5789603"/>
            <a:ext cx="193010" cy="32168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36" name="Box 26"/>
          <p:cNvSpPr/>
          <p:nvPr/>
        </p:nvSpPr>
        <p:spPr>
          <a:xfrm>
            <a:off x="4415208" y="5628762"/>
            <a:ext cx="1141973" cy="353851"/>
          </a:xfrm>
          <a:prstGeom prst="rect">
            <a:avLst/>
          </a:prstGeom>
          <a:noFill/>
          <a:ln>
            <a:noFill/>
          </a:ln>
        </p:spPr>
        <p:txBody>
          <a:bodyPr wrap="none" lIns="32168" tIns="0" rIns="3216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2026" dirty="0">
                <a:solidFill>
                  <a:srgbClr val="000000"/>
                </a:solidFill>
              </a:rPr>
              <a:t>specs/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tree</a:t>
            </a:r>
          </a:p>
        </p:txBody>
      </p:sp>
      <p:sp>
        <p:nvSpPr>
          <p:cNvPr id="12" name="Racine" descr="Racine"/>
          <p:cNvSpPr/>
          <p:nvPr/>
        </p:nvSpPr>
        <p:spPr>
          <a:xfrm>
            <a:off x="4150737" y="1344730"/>
            <a:ext cx="1487264" cy="923384"/>
          </a:xfrm>
          <a:prstGeom prst="rect">
            <a:avLst/>
          </a:prstGeom>
          <a:solidFill>
            <a:srgbClr val="FFCDD2"/>
          </a:solidFill>
          <a:ln w="16416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193" tIns="59097" rIns="118193" bIns="590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1" dirty="0">
                <a:solidFill>
                  <a:srgbClr val="000000"/>
                </a:solidFill>
              </a:rPr>
              <a:t>Racine</a:t>
            </a:r>
          </a:p>
        </p:txBody>
      </p:sp>
      <p:sp>
        <p:nvSpPr>
          <p:cNvPr id="13" name="Noeud L1" descr="N1"/>
          <p:cNvSpPr/>
          <p:nvPr/>
        </p:nvSpPr>
        <p:spPr>
          <a:xfrm>
            <a:off x="1602689" y="3253058"/>
            <a:ext cx="1776838" cy="923384"/>
          </a:xfrm>
          <a:prstGeom prst="rect">
            <a:avLst/>
          </a:prstGeom>
          <a:solidFill>
            <a:srgbClr val="FFF9C4"/>
          </a:solidFill>
          <a:ln w="16416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193" tIns="59097" rIns="118193" bIns="590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1" dirty="0">
                <a:solidFill>
                  <a:srgbClr val="000000"/>
                </a:solidFill>
              </a:rPr>
              <a:t>Noeud L1</a:t>
            </a:r>
          </a:p>
        </p:txBody>
      </p:sp>
      <p:sp>
        <p:nvSpPr>
          <p:cNvPr id="14" name="Feuille" descr="N1a"/>
          <p:cNvSpPr/>
          <p:nvPr/>
        </p:nvSpPr>
        <p:spPr>
          <a:xfrm>
            <a:off x="457200" y="5161385"/>
            <a:ext cx="1664554" cy="923384"/>
          </a:xfrm>
          <a:prstGeom prst="rect">
            <a:avLst/>
          </a:prstGeom>
          <a:solidFill>
            <a:srgbClr val="BBDEFB"/>
          </a:solidFill>
          <a:ln w="16416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193" tIns="59097" rIns="118193" bIns="590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1" dirty="0">
                <a:solidFill>
                  <a:srgbClr val="000000"/>
                </a:solidFill>
              </a:rPr>
              <a:t>Feuille</a:t>
            </a:r>
          </a:p>
        </p:txBody>
      </p:sp>
      <p:sp>
        <p:nvSpPr>
          <p:cNvPr id="15" name="Feuille" descr="N1b"/>
          <p:cNvSpPr/>
          <p:nvPr/>
        </p:nvSpPr>
        <p:spPr>
          <a:xfrm>
            <a:off x="2860461" y="5161385"/>
            <a:ext cx="1664554" cy="923384"/>
          </a:xfrm>
          <a:prstGeom prst="rect">
            <a:avLst/>
          </a:prstGeom>
          <a:solidFill>
            <a:srgbClr val="C8E6C9"/>
          </a:solidFill>
          <a:ln w="16416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193" tIns="59097" rIns="118193" bIns="590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1" dirty="0">
                <a:solidFill>
                  <a:srgbClr val="000000"/>
                </a:solidFill>
              </a:rPr>
              <a:t>Feuille</a:t>
            </a:r>
          </a:p>
        </p:txBody>
      </p:sp>
      <p:sp>
        <p:nvSpPr>
          <p:cNvPr id="16" name="Noeud L1 bis" descr="N2"/>
          <p:cNvSpPr/>
          <p:nvPr/>
        </p:nvSpPr>
        <p:spPr>
          <a:xfrm>
            <a:off x="7300586" y="3253058"/>
            <a:ext cx="2397352" cy="923384"/>
          </a:xfrm>
          <a:prstGeom prst="rect">
            <a:avLst/>
          </a:prstGeom>
          <a:solidFill>
            <a:srgbClr val="FFE0B2"/>
          </a:solidFill>
          <a:ln w="16416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193" tIns="59097" rIns="118193" bIns="590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1" dirty="0">
                <a:solidFill>
                  <a:srgbClr val="000000"/>
                </a:solidFill>
              </a:rPr>
              <a:t>Noeud L1 bis</a:t>
            </a:r>
          </a:p>
        </p:txBody>
      </p:sp>
      <p:sp>
        <p:nvSpPr>
          <p:cNvPr id="17" name="Feuille" descr="N2a"/>
          <p:cNvSpPr/>
          <p:nvPr/>
        </p:nvSpPr>
        <p:spPr>
          <a:xfrm>
            <a:off x="5263723" y="5161385"/>
            <a:ext cx="1664554" cy="923384"/>
          </a:xfrm>
          <a:prstGeom prst="rect">
            <a:avLst/>
          </a:prstGeom>
          <a:solidFill>
            <a:srgbClr val="E1BEE7"/>
          </a:solidFill>
          <a:ln w="16416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193" tIns="59097" rIns="118193" bIns="590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1" dirty="0">
                <a:solidFill>
                  <a:srgbClr val="000000"/>
                </a:solidFill>
              </a:rPr>
              <a:t>Feuille</a:t>
            </a:r>
          </a:p>
        </p:txBody>
      </p:sp>
      <p:sp>
        <p:nvSpPr>
          <p:cNvPr id="18" name="Feuille" descr="N2b"/>
          <p:cNvSpPr/>
          <p:nvPr/>
        </p:nvSpPr>
        <p:spPr>
          <a:xfrm>
            <a:off x="7666984" y="5161385"/>
            <a:ext cx="1664554" cy="923384"/>
          </a:xfrm>
          <a:prstGeom prst="rect">
            <a:avLst/>
          </a:prstGeom>
          <a:solidFill>
            <a:srgbClr val="FFCDD2"/>
          </a:solidFill>
          <a:ln w="16416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193" tIns="59097" rIns="118193" bIns="590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1" dirty="0">
                <a:solidFill>
                  <a:srgbClr val="000000"/>
                </a:solidFill>
              </a:rPr>
              <a:t>Feuille</a:t>
            </a:r>
          </a:p>
        </p:txBody>
      </p:sp>
      <p:sp>
        <p:nvSpPr>
          <p:cNvPr id="19" name="Feuille" descr="N2c"/>
          <p:cNvSpPr/>
          <p:nvPr/>
        </p:nvSpPr>
        <p:spPr>
          <a:xfrm>
            <a:off x="10070246" y="5161385"/>
            <a:ext cx="1664554" cy="923384"/>
          </a:xfrm>
          <a:prstGeom prst="rect">
            <a:avLst/>
          </a:prstGeom>
          <a:solidFill>
            <a:srgbClr val="FFF9C4"/>
          </a:solidFill>
          <a:ln w="16416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193" tIns="59097" rIns="118193" bIns="5909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1" dirty="0">
                <a:solidFill>
                  <a:srgbClr val="000000"/>
                </a:solidFill>
              </a:rPr>
              <a:t>Feuille</a:t>
            </a:r>
          </a:p>
        </p:txBody>
      </p:sp>
      <p:cxnSp>
        <p:nvCxnSpPr>
          <p:cNvPr id="20" name="Racine--N1"/>
          <p:cNvCxnSpPr>
            <a:stCxn id="12" idx="1"/>
            <a:endCxn id="13" idx="3"/>
          </p:cNvCxnSpPr>
          <p:nvPr/>
        </p:nvCxnSpPr>
        <p:spPr>
          <a:xfrm flipH="1">
            <a:off x="3379527" y="1806423"/>
            <a:ext cx="771211" cy="1908328"/>
          </a:xfrm>
          <a:prstGeom prst="line">
            <a:avLst/>
          </a:prstGeom>
          <a:ln w="1641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1--N1a"/>
          <p:cNvCxnSpPr>
            <a:stCxn id="13" idx="2"/>
            <a:endCxn id="14" idx="0"/>
          </p:cNvCxnSpPr>
          <p:nvPr/>
        </p:nvCxnSpPr>
        <p:spPr>
          <a:xfrm flipH="1">
            <a:off x="1289477" y="4176442"/>
            <a:ext cx="1201631" cy="984943"/>
          </a:xfrm>
          <a:prstGeom prst="line">
            <a:avLst/>
          </a:prstGeom>
          <a:ln w="1641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1--N1b"/>
          <p:cNvCxnSpPr>
            <a:stCxn id="13" idx="2"/>
            <a:endCxn id="15" idx="0"/>
          </p:cNvCxnSpPr>
          <p:nvPr/>
        </p:nvCxnSpPr>
        <p:spPr>
          <a:xfrm>
            <a:off x="2491108" y="4176442"/>
            <a:ext cx="1201631" cy="984943"/>
          </a:xfrm>
          <a:prstGeom prst="line">
            <a:avLst/>
          </a:prstGeom>
          <a:ln w="1641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acine--N2"/>
          <p:cNvCxnSpPr>
            <a:stCxn id="12" idx="3"/>
            <a:endCxn id="16" idx="1"/>
          </p:cNvCxnSpPr>
          <p:nvPr/>
        </p:nvCxnSpPr>
        <p:spPr>
          <a:xfrm>
            <a:off x="5638001" y="1806423"/>
            <a:ext cx="1662584" cy="1908328"/>
          </a:xfrm>
          <a:prstGeom prst="line">
            <a:avLst/>
          </a:prstGeom>
          <a:ln w="1641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2--N2a"/>
          <p:cNvCxnSpPr>
            <a:stCxn id="16" idx="1"/>
            <a:endCxn id="17" idx="3"/>
          </p:cNvCxnSpPr>
          <p:nvPr/>
        </p:nvCxnSpPr>
        <p:spPr>
          <a:xfrm flipH="1">
            <a:off x="6928277" y="3714751"/>
            <a:ext cx="372309" cy="1908328"/>
          </a:xfrm>
          <a:prstGeom prst="line">
            <a:avLst/>
          </a:prstGeom>
          <a:ln w="1641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2--N2b"/>
          <p:cNvCxnSpPr>
            <a:stCxn id="16" idx="2"/>
            <a:endCxn id="18" idx="0"/>
          </p:cNvCxnSpPr>
          <p:nvPr/>
        </p:nvCxnSpPr>
        <p:spPr>
          <a:xfrm>
            <a:off x="8499261" y="4176442"/>
            <a:ext cx="0" cy="984943"/>
          </a:xfrm>
          <a:prstGeom prst="line">
            <a:avLst/>
          </a:prstGeom>
          <a:ln w="1641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2--N2c"/>
          <p:cNvCxnSpPr>
            <a:stCxn id="16" idx="3"/>
            <a:endCxn id="19" idx="1"/>
          </p:cNvCxnSpPr>
          <p:nvPr/>
        </p:nvCxnSpPr>
        <p:spPr>
          <a:xfrm>
            <a:off x="9697937" y="3714751"/>
            <a:ext cx="372309" cy="1908328"/>
          </a:xfrm>
          <a:prstGeom prst="line">
            <a:avLst/>
          </a:prstGeom>
          <a:ln w="1641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treemap</a:t>
            </a:r>
          </a:p>
        </p:txBody>
      </p:sp>
      <p:sp>
        <p:nvSpPr>
          <p:cNvPr id="11" name="Box 1"/>
          <p:cNvSpPr/>
          <p:nvPr/>
        </p:nvSpPr>
        <p:spPr>
          <a:xfrm>
            <a:off x="2207623" y="1233351"/>
            <a:ext cx="5956663" cy="4962797"/>
          </a:xfrm>
          <a:prstGeom prst="rect">
            <a:avLst/>
          </a:prstGeom>
          <a:solidFill>
            <a:srgbClr val="ABC0E4"/>
          </a:solidFill>
          <a:ln w="12791">
            <a:solidFill>
              <a:srgbClr val="FFFFFF"/>
            </a:solidFill>
          </a:ln>
        </p:spPr>
      </p:sp>
      <p:sp>
        <p:nvSpPr>
          <p:cNvPr id="12" name="Box 2"/>
          <p:cNvSpPr/>
          <p:nvPr/>
        </p:nvSpPr>
        <p:spPr>
          <a:xfrm>
            <a:off x="2207623" y="1233351"/>
            <a:ext cx="5956663" cy="281396"/>
          </a:xfrm>
          <a:prstGeom prst="rect">
            <a:avLst/>
          </a:prstGeom>
          <a:solidFill>
            <a:srgbClr val="698ED0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13" name="Box 3"/>
          <p:cNvSpPr/>
          <p:nvPr/>
        </p:nvSpPr>
        <p:spPr>
          <a:xfrm>
            <a:off x="2258786" y="1565910"/>
            <a:ext cx="3252409" cy="4579076"/>
          </a:xfrm>
          <a:prstGeom prst="rect">
            <a:avLst/>
          </a:prstGeom>
          <a:solidFill>
            <a:srgbClr val="C1D0EC"/>
          </a:solidFill>
          <a:ln w="12791">
            <a:solidFill>
              <a:srgbClr val="FFFFFF"/>
            </a:solidFill>
          </a:ln>
        </p:spPr>
      </p:sp>
      <p:sp>
        <p:nvSpPr>
          <p:cNvPr id="14" name="Box 4"/>
          <p:cNvSpPr/>
          <p:nvPr/>
        </p:nvSpPr>
        <p:spPr>
          <a:xfrm>
            <a:off x="2258786" y="1565910"/>
            <a:ext cx="3252409" cy="281396"/>
          </a:xfrm>
          <a:prstGeom prst="rect">
            <a:avLst/>
          </a:prstGeom>
          <a:solidFill>
            <a:srgbClr val="85A3D9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000000"/>
                </a:solidFill>
              </a:rPr>
              <a:t>Electronics</a:t>
            </a:r>
          </a:p>
        </p:txBody>
      </p:sp>
      <p:sp>
        <p:nvSpPr>
          <p:cNvPr id="15" name="Box 5"/>
          <p:cNvSpPr/>
          <p:nvPr/>
        </p:nvSpPr>
        <p:spPr>
          <a:xfrm>
            <a:off x="2309949" y="1898469"/>
            <a:ext cx="3150084" cy="2097677"/>
          </a:xfrm>
          <a:prstGeom prst="rect">
            <a:avLst/>
          </a:prstGeom>
          <a:solidFill>
            <a:srgbClr val="BECEE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Phones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50</a:t>
            </a:r>
          </a:p>
        </p:txBody>
      </p:sp>
      <p:sp>
        <p:nvSpPr>
          <p:cNvPr id="16" name="Box 6"/>
          <p:cNvSpPr/>
          <p:nvPr/>
        </p:nvSpPr>
        <p:spPr>
          <a:xfrm>
            <a:off x="2309949" y="3996146"/>
            <a:ext cx="1890050" cy="2097677"/>
          </a:xfrm>
          <a:prstGeom prst="rect">
            <a:avLst/>
          </a:prstGeom>
          <a:solidFill>
            <a:srgbClr val="BECEE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Computers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17" name="Box 7"/>
          <p:cNvSpPr/>
          <p:nvPr/>
        </p:nvSpPr>
        <p:spPr>
          <a:xfrm>
            <a:off x="4199999" y="3996146"/>
            <a:ext cx="1260034" cy="2097677"/>
          </a:xfrm>
          <a:prstGeom prst="rect">
            <a:avLst/>
          </a:prstGeom>
          <a:solidFill>
            <a:srgbClr val="BECEE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Accessories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18" name="Box 8"/>
          <p:cNvSpPr/>
          <p:nvPr/>
        </p:nvSpPr>
        <p:spPr>
          <a:xfrm>
            <a:off x="5511195" y="1565910"/>
            <a:ext cx="2601928" cy="4579076"/>
          </a:xfrm>
          <a:prstGeom prst="rect">
            <a:avLst/>
          </a:prstGeom>
          <a:solidFill>
            <a:srgbClr val="C1D0EC"/>
          </a:solidFill>
          <a:ln w="12791">
            <a:solidFill>
              <a:srgbClr val="FFFFFF"/>
            </a:solidFill>
          </a:ln>
        </p:spPr>
      </p:sp>
      <p:sp>
        <p:nvSpPr>
          <p:cNvPr id="19" name="Box 9"/>
          <p:cNvSpPr/>
          <p:nvPr/>
        </p:nvSpPr>
        <p:spPr>
          <a:xfrm>
            <a:off x="5511195" y="1565910"/>
            <a:ext cx="2601928" cy="281396"/>
          </a:xfrm>
          <a:prstGeom prst="rect">
            <a:avLst/>
          </a:prstGeom>
          <a:solidFill>
            <a:srgbClr val="85A3D9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000000"/>
                </a:solidFill>
              </a:rPr>
              <a:t>Clothing</a:t>
            </a:r>
          </a:p>
        </p:txBody>
      </p:sp>
      <p:sp>
        <p:nvSpPr>
          <p:cNvPr id="20" name="Box 10"/>
          <p:cNvSpPr/>
          <p:nvPr/>
        </p:nvSpPr>
        <p:spPr>
          <a:xfrm>
            <a:off x="5562358" y="1898469"/>
            <a:ext cx="2499602" cy="2097677"/>
          </a:xfrm>
          <a:prstGeom prst="rect">
            <a:avLst/>
          </a:prstGeom>
          <a:solidFill>
            <a:srgbClr val="BECEE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Men's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1" name="Box 11"/>
          <p:cNvSpPr/>
          <p:nvPr/>
        </p:nvSpPr>
        <p:spPr>
          <a:xfrm>
            <a:off x="5562358" y="3996146"/>
            <a:ext cx="2499602" cy="2097677"/>
          </a:xfrm>
          <a:prstGeom prst="rect">
            <a:avLst/>
          </a:prstGeom>
          <a:solidFill>
            <a:srgbClr val="FF9966"/>
          </a:solidFill>
          <a:ln w="12791">
            <a:solidFill>
              <a:srgbClr val="333333"/>
            </a:solidFill>
          </a:ln>
        </p:spPr>
      </p:sp>
      <p:sp>
        <p:nvSpPr>
          <p:cNvPr id="22" name="Box 12"/>
          <p:cNvSpPr/>
          <p:nvPr/>
        </p:nvSpPr>
        <p:spPr>
          <a:xfrm>
            <a:off x="5562358" y="3996146"/>
            <a:ext cx="2499602" cy="281396"/>
          </a:xfrm>
          <a:prstGeom prst="rect">
            <a:avLst/>
          </a:prstGeom>
          <a:solidFill>
            <a:srgbClr val="FF9966"/>
          </a:solidFill>
          <a:ln w="12791">
            <a:solidFill>
              <a:srgbClr val="333333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000000"/>
                </a:solidFill>
              </a:rPr>
              <a:t>Women's</a:t>
            </a:r>
          </a:p>
        </p:txBody>
      </p:sp>
      <p:sp>
        <p:nvSpPr>
          <p:cNvPr id="23" name="Box 13"/>
          <p:cNvSpPr/>
          <p:nvPr/>
        </p:nvSpPr>
        <p:spPr>
          <a:xfrm>
            <a:off x="5613521" y="4328704"/>
            <a:ext cx="1498298" cy="1713956"/>
          </a:xfrm>
          <a:prstGeom prst="rect">
            <a:avLst/>
          </a:prstGeom>
          <a:solidFill>
            <a:srgbClr val="DAE3F3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Dresses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4" name="Box 14"/>
          <p:cNvSpPr/>
          <p:nvPr/>
        </p:nvSpPr>
        <p:spPr>
          <a:xfrm>
            <a:off x="7111819" y="4328704"/>
            <a:ext cx="898978" cy="1713956"/>
          </a:xfrm>
          <a:prstGeom prst="rect">
            <a:avLst/>
          </a:prstGeom>
          <a:solidFill>
            <a:srgbClr val="DAE3F3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Tops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25" name="Box 15"/>
          <p:cNvSpPr/>
          <p:nvPr/>
        </p:nvSpPr>
        <p:spPr>
          <a:xfrm>
            <a:off x="8164286" y="1233351"/>
            <a:ext cx="1820091" cy="4962797"/>
          </a:xfrm>
          <a:prstGeom prst="rect">
            <a:avLst/>
          </a:prstGeom>
          <a:solidFill>
            <a:srgbClr val="F7C5A2"/>
          </a:solidFill>
          <a:ln w="12791">
            <a:solidFill>
              <a:srgbClr val="FFFFFF"/>
            </a:solidFill>
          </a:ln>
        </p:spPr>
      </p:sp>
      <p:sp>
        <p:nvSpPr>
          <p:cNvPr id="26" name="Box 16"/>
          <p:cNvSpPr/>
          <p:nvPr/>
        </p:nvSpPr>
        <p:spPr>
          <a:xfrm>
            <a:off x="8164286" y="1233351"/>
            <a:ext cx="1820091" cy="281396"/>
          </a:xfrm>
          <a:prstGeom prst="rect">
            <a:avLst/>
          </a:prstGeom>
          <a:solidFill>
            <a:srgbClr val="F1975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27" name="Box 17"/>
          <p:cNvSpPr/>
          <p:nvPr/>
        </p:nvSpPr>
        <p:spPr>
          <a:xfrm>
            <a:off x="8215449" y="1565910"/>
            <a:ext cx="1717765" cy="2913957"/>
          </a:xfrm>
          <a:prstGeom prst="rect">
            <a:avLst/>
          </a:prstGeom>
          <a:solidFill>
            <a:srgbClr val="F6BE98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Support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35</a:t>
            </a:r>
          </a:p>
        </p:txBody>
      </p:sp>
      <p:sp>
        <p:nvSpPr>
          <p:cNvPr id="28" name="Box 18"/>
          <p:cNvSpPr/>
          <p:nvPr/>
        </p:nvSpPr>
        <p:spPr>
          <a:xfrm>
            <a:off x="8215449" y="4479867"/>
            <a:ext cx="1030659" cy="1665119"/>
          </a:xfrm>
          <a:prstGeom prst="rect">
            <a:avLst/>
          </a:prstGeom>
          <a:solidFill>
            <a:srgbClr val="F6BE98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Consulting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29" name="Box 19"/>
          <p:cNvSpPr/>
          <p:nvPr/>
        </p:nvSpPr>
        <p:spPr>
          <a:xfrm>
            <a:off x="9246108" y="4479867"/>
            <a:ext cx="687106" cy="1665119"/>
          </a:xfrm>
          <a:prstGeom prst="rect">
            <a:avLst/>
          </a:prstGeom>
          <a:solidFill>
            <a:srgbClr val="F6BE98"/>
          </a:solidFill>
          <a:ln w="12791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74" dirty="0">
                <a:solidFill>
                  <a:srgbClr val="000000"/>
                </a:solidFill>
              </a:rPr>
              <a:t>Training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74" dirty="0">
                <a:solidFill>
                  <a:srgbClr val="00000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venn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3510798" y="1028700"/>
            <a:ext cx="5170404" cy="426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25" dirty="0">
                <a:solidFill>
                  <a:srgbClr val="000000"/>
                </a:solidFill>
              </a:rPr>
              <a:t>Skills coverage</a:t>
            </a:r>
          </a:p>
        </p:txBody>
      </p:sp>
      <p:sp>
        <p:nvSpPr>
          <p:cNvPr id="12" name="Set 2"/>
          <p:cNvSpPr/>
          <p:nvPr/>
        </p:nvSpPr>
        <p:spPr>
          <a:xfrm>
            <a:off x="4835399" y="1940212"/>
            <a:ext cx="2521202" cy="2521202"/>
          </a:xfrm>
          <a:prstGeom prst="ellipse">
            <a:avLst/>
          </a:prstGeom>
          <a:solidFill>
            <a:srgbClr val="BBDEFB">
              <a:alpha val="60000"/>
            </a:srgbClr>
          </a:solidFill>
          <a:ln w="19394">
            <a:solidFill>
              <a:srgbClr val="BBDEFB"/>
            </a:solidFill>
          </a:ln>
        </p:spPr>
      </p:sp>
      <p:sp>
        <p:nvSpPr>
          <p:cNvPr id="13" name="Set 3"/>
          <p:cNvSpPr/>
          <p:nvPr/>
        </p:nvSpPr>
        <p:spPr>
          <a:xfrm>
            <a:off x="3995645" y="3394751"/>
            <a:ext cx="2521202" cy="2521202"/>
          </a:xfrm>
          <a:prstGeom prst="ellipse">
            <a:avLst/>
          </a:prstGeom>
          <a:solidFill>
            <a:srgbClr val="C8E6C9">
              <a:alpha val="60000"/>
            </a:srgbClr>
          </a:solidFill>
          <a:ln w="19394">
            <a:solidFill>
              <a:srgbClr val="C8E6C9"/>
            </a:solidFill>
          </a:ln>
        </p:spPr>
      </p:sp>
      <p:sp>
        <p:nvSpPr>
          <p:cNvPr id="14" name="Set 4"/>
          <p:cNvSpPr/>
          <p:nvPr/>
        </p:nvSpPr>
        <p:spPr>
          <a:xfrm>
            <a:off x="5675153" y="3394751"/>
            <a:ext cx="2521202" cy="2521202"/>
          </a:xfrm>
          <a:prstGeom prst="ellipse">
            <a:avLst/>
          </a:prstGeom>
          <a:solidFill>
            <a:srgbClr val="FFE0B2">
              <a:alpha val="60000"/>
            </a:srgbClr>
          </a:solidFill>
          <a:ln w="19394">
            <a:solidFill>
              <a:srgbClr val="FFE0B2"/>
            </a:solidFill>
          </a:ln>
        </p:spPr>
      </p:sp>
      <p:sp>
        <p:nvSpPr>
          <p:cNvPr id="15" name="Text 5"/>
          <p:cNvSpPr txBox="1"/>
          <p:nvPr/>
        </p:nvSpPr>
        <p:spPr>
          <a:xfrm>
            <a:off x="5824001" y="2420210"/>
            <a:ext cx="543998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Design</a:t>
            </a:r>
          </a:p>
        </p:txBody>
      </p:sp>
      <p:sp>
        <p:nvSpPr>
          <p:cNvPr id="16" name="Text 6"/>
          <p:cNvSpPr txBox="1"/>
          <p:nvPr/>
        </p:nvSpPr>
        <p:spPr>
          <a:xfrm>
            <a:off x="4459445" y="4914753"/>
            <a:ext cx="392726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Code</a:t>
            </a:r>
          </a:p>
        </p:txBody>
      </p:sp>
      <p:sp>
        <p:nvSpPr>
          <p:cNvPr id="17" name="Text 7"/>
          <p:cNvSpPr txBox="1"/>
          <p:nvPr/>
        </p:nvSpPr>
        <p:spPr>
          <a:xfrm>
            <a:off x="7226375" y="4914753"/>
            <a:ext cx="619634" cy="1745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65" dirty="0">
                <a:solidFill>
                  <a:srgbClr val="000000"/>
                </a:solidFill>
              </a:rPr>
              <a:t>Writing</a:t>
            </a:r>
          </a:p>
        </p:txBody>
      </p:sp>
      <p:sp>
        <p:nvSpPr>
          <p:cNvPr id="18" name="Text 8"/>
          <p:cNvSpPr txBox="1"/>
          <p:nvPr/>
        </p:nvSpPr>
        <p:spPr>
          <a:xfrm>
            <a:off x="4968774" y="3692928"/>
            <a:ext cx="868845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Design+Code</a:t>
            </a:r>
          </a:p>
        </p:txBody>
      </p:sp>
      <p:sp>
        <p:nvSpPr>
          <p:cNvPr id="19" name="Text 9"/>
          <p:cNvSpPr txBox="1"/>
          <p:nvPr/>
        </p:nvSpPr>
        <p:spPr>
          <a:xfrm>
            <a:off x="5626669" y="4892928"/>
            <a:ext cx="938663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Code+Writing</a:t>
            </a:r>
          </a:p>
        </p:txBody>
      </p:sp>
      <p:sp>
        <p:nvSpPr>
          <p:cNvPr id="20" name="Text 10"/>
          <p:cNvSpPr txBox="1"/>
          <p:nvPr/>
        </p:nvSpPr>
        <p:spPr>
          <a:xfrm>
            <a:off x="6249654" y="3692928"/>
            <a:ext cx="1078299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Design+Writing</a:t>
            </a:r>
          </a:p>
        </p:txBody>
      </p:sp>
      <p:sp>
        <p:nvSpPr>
          <p:cNvPr id="21" name="Text 11"/>
          <p:cNvSpPr txBox="1"/>
          <p:nvPr/>
        </p:nvSpPr>
        <p:spPr>
          <a:xfrm>
            <a:off x="5754668" y="4092930"/>
            <a:ext cx="682664" cy="1551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64" dirty="0">
                <a:solidFill>
                  <a:srgbClr val="000000"/>
                </a:solidFill>
              </a:rPr>
              <a:t>All three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wardley</a:t>
            </a:r>
          </a:p>
        </p:txBody>
      </p:sp>
      <p:sp>
        <p:nvSpPr>
          <p:cNvPr id="11" name="Box 1"/>
          <p:cNvSpPr/>
          <p:nvPr/>
        </p:nvSpPr>
        <p:spPr>
          <a:xfrm>
            <a:off x="1899047" y="1079063"/>
            <a:ext cx="8393906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950" dirty="0">
                <a:solidFill>
                  <a:srgbClr val="000000"/>
                </a:solidFill>
              </a:rPr>
              <a:t>Tea Shop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2301955" y="5997893"/>
            <a:ext cx="7588091" cy="1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13" name="Connector 3"/>
          <p:cNvCxnSpPr/>
          <p:nvPr/>
        </p:nvCxnSpPr>
        <p:spPr>
          <a:xfrm>
            <a:off x="2301955" y="1532334"/>
            <a:ext cx="1" cy="4465559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sp>
        <p:nvSpPr>
          <p:cNvPr id="14" name="Box 4"/>
          <p:cNvSpPr/>
          <p:nvPr/>
        </p:nvSpPr>
        <p:spPr>
          <a:xfrm>
            <a:off x="2301955" y="1330881"/>
            <a:ext cx="1007269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900" dirty="0">
                <a:solidFill>
                  <a:srgbClr val="000000"/>
                </a:solidFill>
              </a:rPr>
              <a:t>Visibility</a:t>
            </a:r>
          </a:p>
        </p:txBody>
      </p:sp>
      <p:sp>
        <p:nvSpPr>
          <p:cNvPr id="15" name="Box 5"/>
          <p:cNvSpPr/>
          <p:nvPr/>
        </p:nvSpPr>
        <p:spPr>
          <a:xfrm>
            <a:off x="2301955" y="6199346"/>
            <a:ext cx="7588091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900" dirty="0">
                <a:solidFill>
                  <a:srgbClr val="000000"/>
                </a:solidFill>
              </a:rPr>
              <a:t>Evolution</a:t>
            </a:r>
          </a:p>
        </p:txBody>
      </p:sp>
      <p:sp>
        <p:nvSpPr>
          <p:cNvPr id="16" name="Box 6"/>
          <p:cNvSpPr/>
          <p:nvPr/>
        </p:nvSpPr>
        <p:spPr>
          <a:xfrm>
            <a:off x="2301955" y="6031468"/>
            <a:ext cx="189702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Genesis</a:t>
            </a:r>
          </a:p>
        </p:txBody>
      </p:sp>
      <p:cxnSp>
        <p:nvCxnSpPr>
          <p:cNvPr id="17" name="Connector 7"/>
          <p:cNvCxnSpPr/>
          <p:nvPr/>
        </p:nvCxnSpPr>
        <p:spPr>
          <a:xfrm>
            <a:off x="4198977" y="1532334"/>
            <a:ext cx="1" cy="4465559"/>
          </a:xfrm>
          <a:prstGeom prst="line">
            <a:avLst/>
          </a:prstGeom>
          <a:ln w="8394">
            <a:solidFill>
              <a:srgbClr val="808080"/>
            </a:solidFill>
            <a:prstDash val="dash"/>
          </a:ln>
        </p:spPr>
      </p:cxnSp>
      <p:sp>
        <p:nvSpPr>
          <p:cNvPr id="18" name="Box 8"/>
          <p:cNvSpPr/>
          <p:nvPr/>
        </p:nvSpPr>
        <p:spPr>
          <a:xfrm>
            <a:off x="4198977" y="6031468"/>
            <a:ext cx="189702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Custom Built</a:t>
            </a:r>
          </a:p>
        </p:txBody>
      </p:sp>
      <p:cxnSp>
        <p:nvCxnSpPr>
          <p:cNvPr id="19" name="Connector 9"/>
          <p:cNvCxnSpPr/>
          <p:nvPr/>
        </p:nvCxnSpPr>
        <p:spPr>
          <a:xfrm>
            <a:off x="6096000" y="1532334"/>
            <a:ext cx="1" cy="4465559"/>
          </a:xfrm>
          <a:prstGeom prst="line">
            <a:avLst/>
          </a:prstGeom>
          <a:ln w="8394">
            <a:solidFill>
              <a:srgbClr val="808080"/>
            </a:solidFill>
            <a:prstDash val="dash"/>
          </a:ln>
        </p:spPr>
      </p:cxnSp>
      <p:sp>
        <p:nvSpPr>
          <p:cNvPr id="20" name="Box 10"/>
          <p:cNvSpPr/>
          <p:nvPr/>
        </p:nvSpPr>
        <p:spPr>
          <a:xfrm>
            <a:off x="6096000" y="6031468"/>
            <a:ext cx="189702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Product</a:t>
            </a:r>
          </a:p>
        </p:txBody>
      </p:sp>
      <p:cxnSp>
        <p:nvCxnSpPr>
          <p:cNvPr id="21" name="Connector 11"/>
          <p:cNvCxnSpPr/>
          <p:nvPr/>
        </p:nvCxnSpPr>
        <p:spPr>
          <a:xfrm>
            <a:off x="7993023" y="1532334"/>
            <a:ext cx="1" cy="4465559"/>
          </a:xfrm>
          <a:prstGeom prst="line">
            <a:avLst/>
          </a:prstGeom>
          <a:ln w="8394">
            <a:solidFill>
              <a:srgbClr val="808080"/>
            </a:solidFill>
            <a:prstDash val="dash"/>
          </a:ln>
        </p:spPr>
      </p:cxnSp>
      <p:sp>
        <p:nvSpPr>
          <p:cNvPr id="22" name="Box 12"/>
          <p:cNvSpPr/>
          <p:nvPr/>
        </p:nvSpPr>
        <p:spPr>
          <a:xfrm>
            <a:off x="7993023" y="6031468"/>
            <a:ext cx="189702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Commodity</a:t>
            </a:r>
          </a:p>
        </p:txBody>
      </p:sp>
      <p:sp>
        <p:nvSpPr>
          <p:cNvPr id="23" name="Pipeline"/>
          <p:cNvSpPr/>
          <p:nvPr/>
        </p:nvSpPr>
        <p:spPr>
          <a:xfrm>
            <a:off x="5666568" y="3976976"/>
            <a:ext cx="1617674" cy="201454"/>
          </a:xfrm>
          <a:prstGeom prst="round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24" name="Connector 14"/>
          <p:cNvCxnSpPr/>
          <p:nvPr/>
        </p:nvCxnSpPr>
        <p:spPr>
          <a:xfrm>
            <a:off x="5792476" y="4077703"/>
            <a:ext cx="1365857" cy="1"/>
          </a:xfrm>
          <a:prstGeom prst="line">
            <a:avLst/>
          </a:prstGeom>
          <a:ln w="8394">
            <a:solidFill>
              <a:srgbClr val="000000"/>
            </a:solidFill>
            <a:prstDash val="dash"/>
          </a:ln>
        </p:spPr>
      </p:cxnSp>
      <p:cxnSp>
        <p:nvCxnSpPr>
          <p:cNvPr id="25" name="Connector 15"/>
          <p:cNvCxnSpPr/>
          <p:nvPr/>
        </p:nvCxnSpPr>
        <p:spPr>
          <a:xfrm flipH="1">
            <a:off x="6941154" y="1804877"/>
            <a:ext cx="130834" cy="615960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26" name="Connector 16"/>
          <p:cNvCxnSpPr/>
          <p:nvPr/>
        </p:nvCxnSpPr>
        <p:spPr>
          <a:xfrm flipH="1">
            <a:off x="6974747" y="1780014"/>
            <a:ext cx="1201862" cy="665685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27" name="Connector 17"/>
          <p:cNvCxnSpPr/>
          <p:nvPr/>
        </p:nvCxnSpPr>
        <p:spPr>
          <a:xfrm>
            <a:off x="6980001" y="2480344"/>
            <a:ext cx="1191354" cy="247449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28" name="Connector 18"/>
          <p:cNvCxnSpPr/>
          <p:nvPr/>
        </p:nvCxnSpPr>
        <p:spPr>
          <a:xfrm>
            <a:off x="6976256" y="2491554"/>
            <a:ext cx="1426486" cy="671585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29" name="Connector 19"/>
          <p:cNvCxnSpPr/>
          <p:nvPr/>
        </p:nvCxnSpPr>
        <p:spPr>
          <a:xfrm>
            <a:off x="6969324" y="2502411"/>
            <a:ext cx="1364469" cy="1141082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30" name="Connector 20"/>
          <p:cNvCxnSpPr/>
          <p:nvPr/>
        </p:nvCxnSpPr>
        <p:spPr>
          <a:xfrm>
            <a:off x="8384308" y="3724744"/>
            <a:ext cx="128001" cy="527294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31" name="Connector 21"/>
          <p:cNvCxnSpPr/>
          <p:nvPr/>
        </p:nvCxnSpPr>
        <p:spPr>
          <a:xfrm flipH="1">
            <a:off x="6531672" y="3683355"/>
            <a:ext cx="1790962" cy="271656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sp>
        <p:nvSpPr>
          <p:cNvPr id="32" name="Box 22"/>
          <p:cNvSpPr/>
          <p:nvPr/>
        </p:nvSpPr>
        <p:spPr>
          <a:xfrm>
            <a:off x="7277020" y="3843906"/>
            <a:ext cx="318968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boils</a:t>
            </a:r>
          </a:p>
        </p:txBody>
      </p:sp>
      <p:cxnSp>
        <p:nvCxnSpPr>
          <p:cNvPr id="33" name="Connector 23"/>
          <p:cNvCxnSpPr/>
          <p:nvPr/>
        </p:nvCxnSpPr>
        <p:spPr>
          <a:xfrm>
            <a:off x="6508562" y="4009799"/>
            <a:ext cx="1075714" cy="1500605"/>
          </a:xfrm>
          <a:prstGeom prst="line">
            <a:avLst/>
          </a:prstGeom>
          <a:ln w="8394">
            <a:solidFill>
              <a:srgbClr val="000000"/>
            </a:solidFill>
            <a:prstDash val="dash"/>
          </a:ln>
        </p:spPr>
      </p:cxnSp>
      <p:cxnSp>
        <p:nvCxnSpPr>
          <p:cNvPr id="34" name="Connector 24"/>
          <p:cNvCxnSpPr/>
          <p:nvPr/>
        </p:nvCxnSpPr>
        <p:spPr>
          <a:xfrm>
            <a:off x="3868596" y="4669765"/>
            <a:ext cx="3695999" cy="870032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cxnSp>
        <p:nvCxnSpPr>
          <p:cNvPr id="35" name="Connector 25"/>
          <p:cNvCxnSpPr/>
          <p:nvPr/>
        </p:nvCxnSpPr>
        <p:spPr>
          <a:xfrm>
            <a:off x="8451724" y="3234838"/>
            <a:ext cx="69050" cy="1015895"/>
          </a:xfrm>
          <a:prstGeom prst="line">
            <a:avLst/>
          </a:prstGeom>
          <a:ln w="8394">
            <a:solidFill>
              <a:srgbClr val="00000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6" name="Connector 26"/>
          <p:cNvCxnSpPr/>
          <p:nvPr/>
        </p:nvCxnSpPr>
        <p:spPr>
          <a:xfrm>
            <a:off x="6525768" y="3963545"/>
            <a:ext cx="480803" cy="1"/>
          </a:xfrm>
          <a:prstGeom prst="line">
            <a:avLst/>
          </a:prstGeom>
          <a:ln w="8394">
            <a:solidFill>
              <a:srgbClr val="DC3545"/>
            </a:solidFill>
            <a:prstDash val="dash"/>
            <a:tailEnd type="triangle" w="sm" len="sm"/>
          </a:ln>
        </p:spPr>
      </p:cxnSp>
      <p:sp>
        <p:nvSpPr>
          <p:cNvPr id="37" name="Shape 27"/>
          <p:cNvSpPr/>
          <p:nvPr/>
        </p:nvSpPr>
        <p:spPr>
          <a:xfrm>
            <a:off x="7032089" y="1705249"/>
            <a:ext cx="100727" cy="100727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</p:sp>
      <p:sp>
        <p:nvSpPr>
          <p:cNvPr id="38" name="Box 28"/>
          <p:cNvSpPr/>
          <p:nvPr/>
        </p:nvSpPr>
        <p:spPr>
          <a:xfrm>
            <a:off x="7183179" y="1587734"/>
            <a:ext cx="612755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Business</a:t>
            </a:r>
          </a:p>
        </p:txBody>
      </p:sp>
      <p:sp>
        <p:nvSpPr>
          <p:cNvPr id="39" name="Shape 29"/>
          <p:cNvSpPr/>
          <p:nvPr/>
        </p:nvSpPr>
        <p:spPr>
          <a:xfrm>
            <a:off x="8170302" y="1705249"/>
            <a:ext cx="100727" cy="100727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</p:spPr>
      </p:sp>
      <p:sp>
        <p:nvSpPr>
          <p:cNvPr id="40" name="Box 30"/>
          <p:cNvSpPr/>
          <p:nvPr/>
        </p:nvSpPr>
        <p:spPr>
          <a:xfrm>
            <a:off x="8321393" y="1587734"/>
            <a:ext cx="478453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800" dirty="0">
                <a:solidFill>
                  <a:srgbClr val="000000"/>
                </a:solidFill>
              </a:rPr>
              <a:t>Public</a:t>
            </a:r>
          </a:p>
        </p:txBody>
      </p:sp>
      <p:sp>
        <p:nvSpPr>
          <p:cNvPr id="41" name="Shape 31"/>
          <p:cNvSpPr/>
          <p:nvPr/>
        </p:nvSpPr>
        <p:spPr>
          <a:xfrm>
            <a:off x="6880327" y="2419738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2" name="Box 32"/>
          <p:cNvSpPr/>
          <p:nvPr/>
        </p:nvSpPr>
        <p:spPr>
          <a:xfrm>
            <a:off x="6317935" y="2486889"/>
            <a:ext cx="587573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Cup of Tea</a:t>
            </a:r>
          </a:p>
        </p:txBody>
      </p:sp>
      <p:sp>
        <p:nvSpPr>
          <p:cNvPr id="43" name="Shape 33"/>
          <p:cNvSpPr/>
          <p:nvPr/>
        </p:nvSpPr>
        <p:spPr>
          <a:xfrm>
            <a:off x="8170302" y="2687672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4" name="Box 34"/>
          <p:cNvSpPr/>
          <p:nvPr/>
        </p:nvSpPr>
        <p:spPr>
          <a:xfrm>
            <a:off x="8321393" y="2670884"/>
            <a:ext cx="243423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Cup</a:t>
            </a:r>
          </a:p>
        </p:txBody>
      </p:sp>
      <p:sp>
        <p:nvSpPr>
          <p:cNvPr id="45" name="Shape 35"/>
          <p:cNvSpPr/>
          <p:nvPr/>
        </p:nvSpPr>
        <p:spPr>
          <a:xfrm>
            <a:off x="8397945" y="3134227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6" name="Box 36"/>
          <p:cNvSpPr/>
          <p:nvPr/>
        </p:nvSpPr>
        <p:spPr>
          <a:xfrm>
            <a:off x="8549035" y="3117440"/>
            <a:ext cx="243423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Tea</a:t>
            </a:r>
          </a:p>
        </p:txBody>
      </p:sp>
      <p:sp>
        <p:nvSpPr>
          <p:cNvPr id="47" name="Shape 37"/>
          <p:cNvSpPr/>
          <p:nvPr/>
        </p:nvSpPr>
        <p:spPr>
          <a:xfrm>
            <a:off x="8322064" y="3625439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48" name="Box 38"/>
          <p:cNvSpPr/>
          <p:nvPr/>
        </p:nvSpPr>
        <p:spPr>
          <a:xfrm>
            <a:off x="8473154" y="3608651"/>
            <a:ext cx="562392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Hot Water</a:t>
            </a:r>
          </a:p>
        </p:txBody>
      </p:sp>
      <p:sp>
        <p:nvSpPr>
          <p:cNvPr id="49" name="Shape 39"/>
          <p:cNvSpPr/>
          <p:nvPr/>
        </p:nvSpPr>
        <p:spPr>
          <a:xfrm>
            <a:off x="8458717" y="4235508"/>
            <a:ext cx="130945" cy="130945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0" name="Box 40"/>
          <p:cNvSpPr/>
          <p:nvPr/>
        </p:nvSpPr>
        <p:spPr>
          <a:xfrm>
            <a:off x="8624916" y="4233829"/>
            <a:ext cx="360938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Water</a:t>
            </a:r>
          </a:p>
        </p:txBody>
      </p:sp>
      <p:sp>
        <p:nvSpPr>
          <p:cNvPr id="51" name="Pipeline parent"/>
          <p:cNvSpPr/>
          <p:nvPr/>
        </p:nvSpPr>
        <p:spPr>
          <a:xfrm>
            <a:off x="6435114" y="3923255"/>
            <a:ext cx="80582" cy="80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cxnSp>
        <p:nvCxnSpPr>
          <p:cNvPr id="52" name="Connector 42"/>
          <p:cNvCxnSpPr/>
          <p:nvPr/>
        </p:nvCxnSpPr>
        <p:spPr>
          <a:xfrm>
            <a:off x="6559344" y="3913182"/>
            <a:ext cx="1" cy="100727"/>
          </a:xfrm>
          <a:prstGeom prst="line">
            <a:avLst/>
          </a:prstGeom>
          <a:ln w="8394">
            <a:solidFill>
              <a:srgbClr val="000000"/>
            </a:solidFill>
            <a:prstDash val="solid"/>
          </a:ln>
        </p:spPr>
      </p:cxnSp>
      <p:sp>
        <p:nvSpPr>
          <p:cNvPr id="53" name="Box 43"/>
          <p:cNvSpPr/>
          <p:nvPr/>
        </p:nvSpPr>
        <p:spPr>
          <a:xfrm>
            <a:off x="6576132" y="3896394"/>
            <a:ext cx="411301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Kettle</a:t>
            </a:r>
          </a:p>
        </p:txBody>
      </p:sp>
      <p:sp>
        <p:nvSpPr>
          <p:cNvPr id="54" name="Shape 44"/>
          <p:cNvSpPr/>
          <p:nvPr/>
        </p:nvSpPr>
        <p:spPr>
          <a:xfrm>
            <a:off x="3754100" y="4592753"/>
            <a:ext cx="130945" cy="115836"/>
          </a:xfrm>
          <a:custGeom>
            <a:avLst/>
            <a:gdLst/>
            <a:ahLst/>
            <a:cxnLst/>
            <a:rect l="0" t="0" r="0" b="0"/>
            <a:pathLst>
              <a:path w="130945" h="115836">
                <a:moveTo>
                  <a:pt x="65473" y="0"/>
                </a:moveTo>
                <a:lnTo>
                  <a:pt x="130945" y="115836"/>
                </a:lnTo>
                <a:lnTo>
                  <a:pt x="0" y="11583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8394">
            <a:solidFill>
              <a:srgbClr val="000000"/>
            </a:solidFill>
          </a:ln>
        </p:spPr>
      </p:sp>
      <p:sp>
        <p:nvSpPr>
          <p:cNvPr id="55" name="Box 45"/>
          <p:cNvSpPr/>
          <p:nvPr/>
        </p:nvSpPr>
        <p:spPr>
          <a:xfrm>
            <a:off x="3920300" y="4591074"/>
            <a:ext cx="411301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Boiler</a:t>
            </a:r>
          </a:p>
        </p:txBody>
      </p:sp>
      <p:sp>
        <p:nvSpPr>
          <p:cNvPr id="56" name="Outsource"/>
          <p:cNvSpPr/>
          <p:nvPr/>
        </p:nvSpPr>
        <p:spPr>
          <a:xfrm>
            <a:off x="7563255" y="5500973"/>
            <a:ext cx="100727" cy="10072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7" name="Box 47"/>
          <p:cNvSpPr/>
          <p:nvPr/>
        </p:nvSpPr>
        <p:spPr>
          <a:xfrm>
            <a:off x="7714345" y="5484185"/>
            <a:ext cx="360938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Power</a:t>
            </a:r>
          </a:p>
        </p:txBody>
      </p:sp>
      <p:sp>
        <p:nvSpPr>
          <p:cNvPr id="58" name="Shape 48"/>
          <p:cNvSpPr/>
          <p:nvPr/>
        </p:nvSpPr>
        <p:spPr>
          <a:xfrm>
            <a:off x="7107969" y="4027339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9" name="Box 49"/>
          <p:cNvSpPr/>
          <p:nvPr/>
        </p:nvSpPr>
        <p:spPr>
          <a:xfrm>
            <a:off x="7259060" y="4010551"/>
            <a:ext cx="889754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Electric Kettle</a:t>
            </a:r>
          </a:p>
        </p:txBody>
      </p:sp>
      <p:sp>
        <p:nvSpPr>
          <p:cNvPr id="60" name="Shape 50"/>
          <p:cNvSpPr/>
          <p:nvPr/>
        </p:nvSpPr>
        <p:spPr>
          <a:xfrm>
            <a:off x="5742113" y="4027339"/>
            <a:ext cx="100727" cy="10072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1" name="Box 51"/>
          <p:cNvSpPr/>
          <p:nvPr/>
        </p:nvSpPr>
        <p:spPr>
          <a:xfrm>
            <a:off x="5893203" y="4010551"/>
            <a:ext cx="612755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Gas Kettle</a:t>
            </a:r>
          </a:p>
        </p:txBody>
      </p:sp>
      <p:sp>
        <p:nvSpPr>
          <p:cNvPr id="62" name="Box 52"/>
          <p:cNvSpPr/>
          <p:nvPr/>
        </p:nvSpPr>
        <p:spPr>
          <a:xfrm>
            <a:off x="5716596" y="5618152"/>
            <a:ext cx="2753201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800" dirty="0">
                <a:solidFill>
                  <a:srgbClr val="595959"/>
                </a:solidFill>
              </a:rPr>
              <a:t>Standardising power allows Kettles to evolve faster</a:t>
            </a:r>
          </a:p>
        </p:txBody>
      </p:sp>
      <p:cxnSp>
        <p:nvCxnSpPr>
          <p:cNvPr id="63" name="Connector 53"/>
          <p:cNvCxnSpPr/>
          <p:nvPr/>
        </p:nvCxnSpPr>
        <p:spPr>
          <a:xfrm>
            <a:off x="4393716" y="3229246"/>
            <a:ext cx="369332" cy="1"/>
          </a:xfrm>
          <a:prstGeom prst="line">
            <a:avLst/>
          </a:prstGeom>
          <a:ln w="8394">
            <a:solidFill>
              <a:srgbClr val="DC3545"/>
            </a:solidFill>
            <a:prstDash val="solid"/>
            <a:tailEnd type="triangle" w="sm" len="sm"/>
          </a:ln>
        </p:spPr>
      </p:cxnSp>
      <p:sp>
        <p:nvSpPr>
          <p:cNvPr id="64" name="Box 54"/>
          <p:cNvSpPr/>
          <p:nvPr/>
        </p:nvSpPr>
        <p:spPr>
          <a:xfrm>
            <a:off x="4242626" y="3279610"/>
            <a:ext cx="67151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000000"/>
                </a:solidFill>
              </a:rPr>
              <a:t>Open Source</a:t>
            </a:r>
          </a:p>
        </p:txBody>
      </p:sp>
      <p:sp>
        <p:nvSpPr>
          <p:cNvPr id="65" name="Shape 55"/>
          <p:cNvSpPr/>
          <p:nvPr/>
        </p:nvSpPr>
        <p:spPr>
          <a:xfrm>
            <a:off x="4511231" y="5037630"/>
            <a:ext cx="134303" cy="13430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6" name="Box 56"/>
          <p:cNvSpPr/>
          <p:nvPr/>
        </p:nvSpPr>
        <p:spPr>
          <a:xfrm>
            <a:off x="4511231" y="5037630"/>
            <a:ext cx="134303" cy="1259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7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7" name="Annotations"/>
          <p:cNvSpPr/>
          <p:nvPr/>
        </p:nvSpPr>
        <p:spPr>
          <a:xfrm>
            <a:off x="2453716" y="5462026"/>
            <a:ext cx="1309449" cy="1930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68" name="Box 58"/>
          <p:cNvSpPr/>
          <p:nvPr/>
        </p:nvSpPr>
        <p:spPr>
          <a:xfrm>
            <a:off x="2487292" y="5495601"/>
            <a:ext cx="1242298" cy="125909"/>
          </a:xfrm>
          <a:prstGeom prst="rect">
            <a:avLst/>
          </a:prstGeom>
          <a:noFill/>
          <a:ln>
            <a:noFill/>
          </a:ln>
        </p:spPr>
        <p:txBody>
          <a:bodyPr wrap="none" lIns="16788" tIns="0" rIns="16788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</a:rPr>
              <a:t>1. Standardising power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xychart-horizontal</a:t>
            </a:r>
          </a:p>
        </p:txBody>
      </p:sp>
      <p:sp>
        <p:nvSpPr>
          <p:cNvPr id="11" name="Box 1"/>
          <p:cNvSpPr/>
          <p:nvPr/>
        </p:nvSpPr>
        <p:spPr>
          <a:xfrm>
            <a:off x="3556997" y="1146337"/>
            <a:ext cx="5078007" cy="352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38" dirty="0">
                <a:solidFill>
                  <a:srgbClr val="000000"/>
                </a:solidFill>
              </a:rPr>
              <a:t>Team velocity</a:t>
            </a:r>
          </a:p>
        </p:txBody>
      </p:sp>
      <p:sp>
        <p:nvSpPr>
          <p:cNvPr id="12" name="Box 2"/>
          <p:cNvSpPr/>
          <p:nvPr/>
        </p:nvSpPr>
        <p:spPr>
          <a:xfrm>
            <a:off x="4086364" y="1558068"/>
            <a:ext cx="117637" cy="117637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3" name="Box 3"/>
          <p:cNvSpPr/>
          <p:nvPr/>
        </p:nvSpPr>
        <p:spPr>
          <a:xfrm>
            <a:off x="4243214" y="1499249"/>
            <a:ext cx="607792" cy="215668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Planned</a:t>
            </a:r>
          </a:p>
        </p:txBody>
      </p:sp>
      <p:sp>
        <p:nvSpPr>
          <p:cNvPr id="14" name="Box 4"/>
          <p:cNvSpPr/>
          <p:nvPr/>
        </p:nvSpPr>
        <p:spPr>
          <a:xfrm>
            <a:off x="4988249" y="1558068"/>
            <a:ext cx="117637" cy="117637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5" name="Box 5"/>
          <p:cNvSpPr/>
          <p:nvPr/>
        </p:nvSpPr>
        <p:spPr>
          <a:xfrm>
            <a:off x="5145099" y="1499249"/>
            <a:ext cx="392124" cy="215668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6" name="Box 6"/>
          <p:cNvSpPr/>
          <p:nvPr/>
        </p:nvSpPr>
        <p:spPr>
          <a:xfrm>
            <a:off x="4086364" y="1754130"/>
            <a:ext cx="4117303" cy="215668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29" dirty="0">
                <a:solidFill>
                  <a:srgbClr val="000000"/>
                </a:solidFill>
              </a:rPr>
              <a:t>Sprint</a:t>
            </a:r>
          </a:p>
        </p:txBody>
      </p:sp>
      <p:sp>
        <p:nvSpPr>
          <p:cNvPr id="17" name="Shape 7"/>
          <p:cNvSpPr/>
          <p:nvPr/>
        </p:nvSpPr>
        <p:spPr>
          <a:xfrm>
            <a:off x="4086364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18" name="Box 8"/>
          <p:cNvSpPr/>
          <p:nvPr/>
        </p:nvSpPr>
        <p:spPr>
          <a:xfrm>
            <a:off x="3792271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9" name="Shape 9"/>
          <p:cNvSpPr/>
          <p:nvPr/>
        </p:nvSpPr>
        <p:spPr>
          <a:xfrm>
            <a:off x="5115690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20" name="Box 10"/>
          <p:cNvSpPr/>
          <p:nvPr/>
        </p:nvSpPr>
        <p:spPr>
          <a:xfrm>
            <a:off x="4821597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21" name="Shape 11"/>
          <p:cNvSpPr/>
          <p:nvPr/>
        </p:nvSpPr>
        <p:spPr>
          <a:xfrm>
            <a:off x="6145016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22" name="Box 12"/>
          <p:cNvSpPr/>
          <p:nvPr/>
        </p:nvSpPr>
        <p:spPr>
          <a:xfrm>
            <a:off x="5850922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23" name="Shape 13"/>
          <p:cNvSpPr/>
          <p:nvPr/>
        </p:nvSpPr>
        <p:spPr>
          <a:xfrm>
            <a:off x="7174341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24" name="Box 14"/>
          <p:cNvSpPr/>
          <p:nvPr/>
        </p:nvSpPr>
        <p:spPr>
          <a:xfrm>
            <a:off x="6880248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25" name="Shape 15"/>
          <p:cNvSpPr/>
          <p:nvPr/>
        </p:nvSpPr>
        <p:spPr>
          <a:xfrm>
            <a:off x="8203667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803">
            <a:solidFill>
              <a:srgbClr val="D9D9D9"/>
            </a:solidFill>
          </a:ln>
        </p:spPr>
      </p:sp>
      <p:sp>
        <p:nvSpPr>
          <p:cNvPr id="26" name="Box 16"/>
          <p:cNvSpPr/>
          <p:nvPr/>
        </p:nvSpPr>
        <p:spPr>
          <a:xfrm>
            <a:off x="7909574" y="5753795"/>
            <a:ext cx="588186" cy="176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7" name="Box 17"/>
          <p:cNvSpPr/>
          <p:nvPr/>
        </p:nvSpPr>
        <p:spPr>
          <a:xfrm>
            <a:off x="3674634" y="2538378"/>
            <a:ext cx="333305" cy="176456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28" name="Box 18"/>
          <p:cNvSpPr/>
          <p:nvPr/>
        </p:nvSpPr>
        <p:spPr>
          <a:xfrm>
            <a:off x="3674634" y="3420657"/>
            <a:ext cx="333305" cy="176456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S2</a:t>
            </a:r>
          </a:p>
        </p:txBody>
      </p:sp>
      <p:sp>
        <p:nvSpPr>
          <p:cNvPr id="29" name="Box 19"/>
          <p:cNvSpPr/>
          <p:nvPr/>
        </p:nvSpPr>
        <p:spPr>
          <a:xfrm>
            <a:off x="3674634" y="4302936"/>
            <a:ext cx="333305" cy="176456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S3</a:t>
            </a:r>
          </a:p>
        </p:txBody>
      </p:sp>
      <p:sp>
        <p:nvSpPr>
          <p:cNvPr id="30" name="Box 20"/>
          <p:cNvSpPr/>
          <p:nvPr/>
        </p:nvSpPr>
        <p:spPr>
          <a:xfrm>
            <a:off x="3674634" y="5185215"/>
            <a:ext cx="333305" cy="176456"/>
          </a:xfrm>
          <a:prstGeom prst="rect">
            <a:avLst/>
          </a:prstGeom>
          <a:noFill/>
          <a:ln>
            <a:noFill/>
          </a:ln>
        </p:spPr>
        <p:txBody>
          <a:bodyPr wrap="none" lIns="19606" tIns="0" rIns="19606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29" dirty="0">
                <a:solidFill>
                  <a:srgbClr val="000000"/>
                </a:solidFill>
              </a:rPr>
              <a:t>S4</a:t>
            </a:r>
          </a:p>
        </p:txBody>
      </p:sp>
      <p:sp>
        <p:nvSpPr>
          <p:cNvPr id="31" name="Box 21"/>
          <p:cNvSpPr/>
          <p:nvPr/>
        </p:nvSpPr>
        <p:spPr>
          <a:xfrm>
            <a:off x="4086364" y="2317808"/>
            <a:ext cx="3087977" cy="6175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2" name="Box 22"/>
          <p:cNvSpPr/>
          <p:nvPr/>
        </p:nvSpPr>
        <p:spPr>
          <a:xfrm>
            <a:off x="4086364" y="3200088"/>
            <a:ext cx="3293842" cy="6175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3" name="Box 23"/>
          <p:cNvSpPr/>
          <p:nvPr/>
        </p:nvSpPr>
        <p:spPr>
          <a:xfrm>
            <a:off x="4086364" y="4082367"/>
            <a:ext cx="2882112" cy="6175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4086364" y="4964646"/>
            <a:ext cx="3602641" cy="6175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5" name="Shape 25"/>
          <p:cNvSpPr/>
          <p:nvPr/>
        </p:nvSpPr>
        <p:spPr>
          <a:xfrm>
            <a:off x="6659679" y="2626606"/>
            <a:ext cx="1132258" cy="2646838"/>
          </a:xfrm>
          <a:custGeom>
            <a:avLst/>
            <a:gdLst/>
            <a:ahLst/>
            <a:cxnLst/>
            <a:rect l="0" t="0" r="0" b="0"/>
            <a:pathLst>
              <a:path w="1100137" h="2571750" fill="none">
                <a:moveTo>
                  <a:pt x="0" y="0"/>
                </a:moveTo>
                <a:lnTo>
                  <a:pt x="600075" y="857250"/>
                </a:lnTo>
                <a:lnTo>
                  <a:pt x="200025" y="1714500"/>
                </a:lnTo>
                <a:lnTo>
                  <a:pt x="1100137" y="2571750"/>
                </a:lnTo>
              </a:path>
            </a:pathLst>
          </a:custGeom>
          <a:noFill/>
          <a:ln w="29409">
            <a:solidFill>
              <a:srgbClr val="ED7D31"/>
            </a:solidFill>
          </a:ln>
        </p:spPr>
      </p:sp>
      <p:sp>
        <p:nvSpPr>
          <p:cNvPr id="36" name="Box 26"/>
          <p:cNvSpPr/>
          <p:nvPr/>
        </p:nvSpPr>
        <p:spPr>
          <a:xfrm>
            <a:off x="6630270" y="2597196"/>
            <a:ext cx="58819" cy="58819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7" name="Box 27"/>
          <p:cNvSpPr/>
          <p:nvPr/>
        </p:nvSpPr>
        <p:spPr>
          <a:xfrm>
            <a:off x="6468518" y="2410937"/>
            <a:ext cx="382321" cy="15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26" dirty="0">
                <a:solidFill>
                  <a:srgbClr val="404040"/>
                </a:solidFill>
              </a:rPr>
              <a:t>late</a:t>
            </a:r>
          </a:p>
        </p:txBody>
      </p:sp>
      <p:sp>
        <p:nvSpPr>
          <p:cNvPr id="38" name="Box 28"/>
          <p:cNvSpPr/>
          <p:nvPr/>
        </p:nvSpPr>
        <p:spPr>
          <a:xfrm>
            <a:off x="7247865" y="3479476"/>
            <a:ext cx="58819" cy="58819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9" name="Box 29"/>
          <p:cNvSpPr/>
          <p:nvPr/>
        </p:nvSpPr>
        <p:spPr>
          <a:xfrm>
            <a:off x="6836135" y="4361755"/>
            <a:ext cx="58819" cy="58819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0" name="Box 30"/>
          <p:cNvSpPr/>
          <p:nvPr/>
        </p:nvSpPr>
        <p:spPr>
          <a:xfrm>
            <a:off x="7762527" y="5244034"/>
            <a:ext cx="58819" cy="58819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1" name="Shape 31"/>
          <p:cNvSpPr/>
          <p:nvPr/>
        </p:nvSpPr>
        <p:spPr>
          <a:xfrm>
            <a:off x="4086364" y="2185466"/>
            <a:ext cx="1" cy="3529117"/>
          </a:xfrm>
          <a:custGeom>
            <a:avLst/>
            <a:gdLst/>
            <a:ahLst/>
            <a:cxnLst/>
            <a:rect l="0" t="0" r="0" b="0"/>
            <a:pathLst>
              <a:path w="1" h="3429000" fill="none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29409">
            <a:solidFill>
              <a:srgbClr val="595959"/>
            </a:solidFill>
          </a:ln>
        </p:spPr>
      </p:sp>
      <p:sp>
        <p:nvSpPr>
          <p:cNvPr id="42" name="Box 32"/>
          <p:cNvSpPr/>
          <p:nvPr/>
        </p:nvSpPr>
        <p:spPr>
          <a:xfrm>
            <a:off x="4086364" y="5949857"/>
            <a:ext cx="4117303" cy="2156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29" dirty="0">
                <a:solidFill>
                  <a:srgbClr val="000000"/>
                </a:solidFill>
              </a:rPr>
              <a:t>Points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xychart</a:t>
            </a:r>
          </a:p>
        </p:txBody>
      </p:sp>
      <p:sp>
        <p:nvSpPr>
          <p:cNvPr id="11" name="Box 1"/>
          <p:cNvSpPr/>
          <p:nvPr/>
        </p:nvSpPr>
        <p:spPr>
          <a:xfrm>
            <a:off x="1279424" y="1175212"/>
            <a:ext cx="9633152" cy="4395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66" dirty="0">
                <a:solidFill>
                  <a:srgbClr val="000000"/>
                </a:solidFill>
              </a:rPr>
              <a:t>Sales Revenue</a:t>
            </a:r>
          </a:p>
        </p:txBody>
      </p:sp>
      <p:sp>
        <p:nvSpPr>
          <p:cNvPr id="12" name="Box 2"/>
          <p:cNvSpPr/>
          <p:nvPr/>
        </p:nvSpPr>
        <p:spPr>
          <a:xfrm>
            <a:off x="2170704" y="1614747"/>
            <a:ext cx="8204662" cy="268605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282" dirty="0">
                <a:solidFill>
                  <a:srgbClr val="000000"/>
                </a:solidFill>
              </a:rPr>
              <a:t>Revenue (in $)</a:t>
            </a:r>
          </a:p>
        </p:txBody>
      </p:sp>
      <p:sp>
        <p:nvSpPr>
          <p:cNvPr id="13" name="Shape 3"/>
          <p:cNvSpPr/>
          <p:nvPr/>
        </p:nvSpPr>
        <p:spPr>
          <a:xfrm>
            <a:off x="2170704" y="5814753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12209">
            <a:solidFill>
              <a:srgbClr val="D9D9D9"/>
            </a:solidFill>
          </a:ln>
        </p:spPr>
      </p:sp>
      <p:sp>
        <p:nvSpPr>
          <p:cNvPr id="14" name="Box 4"/>
          <p:cNvSpPr/>
          <p:nvPr/>
        </p:nvSpPr>
        <p:spPr>
          <a:xfrm>
            <a:off x="1340471" y="5704869"/>
            <a:ext cx="732559" cy="219768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4000</a:t>
            </a:r>
          </a:p>
        </p:txBody>
      </p:sp>
      <p:sp>
        <p:nvSpPr>
          <p:cNvPr id="15" name="Shape 5"/>
          <p:cNvSpPr/>
          <p:nvPr/>
        </p:nvSpPr>
        <p:spPr>
          <a:xfrm>
            <a:off x="2170704" y="4768239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12209">
            <a:solidFill>
              <a:srgbClr val="D9D9D9"/>
            </a:solidFill>
          </a:ln>
        </p:spPr>
      </p:sp>
      <p:sp>
        <p:nvSpPr>
          <p:cNvPr id="16" name="Box 6"/>
          <p:cNvSpPr/>
          <p:nvPr/>
        </p:nvSpPr>
        <p:spPr>
          <a:xfrm>
            <a:off x="1340471" y="4658355"/>
            <a:ext cx="732559" cy="219768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6000</a:t>
            </a:r>
          </a:p>
        </p:txBody>
      </p:sp>
      <p:sp>
        <p:nvSpPr>
          <p:cNvPr id="17" name="Shape 7"/>
          <p:cNvSpPr/>
          <p:nvPr/>
        </p:nvSpPr>
        <p:spPr>
          <a:xfrm>
            <a:off x="2170704" y="3721727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12209">
            <a:solidFill>
              <a:srgbClr val="D9D9D9"/>
            </a:solidFill>
          </a:ln>
        </p:spPr>
      </p:sp>
      <p:sp>
        <p:nvSpPr>
          <p:cNvPr id="18" name="Box 8"/>
          <p:cNvSpPr/>
          <p:nvPr/>
        </p:nvSpPr>
        <p:spPr>
          <a:xfrm>
            <a:off x="1340471" y="3611843"/>
            <a:ext cx="732559" cy="219768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8000</a:t>
            </a:r>
          </a:p>
        </p:txBody>
      </p:sp>
      <p:sp>
        <p:nvSpPr>
          <p:cNvPr id="19" name="Shape 9"/>
          <p:cNvSpPr/>
          <p:nvPr/>
        </p:nvSpPr>
        <p:spPr>
          <a:xfrm>
            <a:off x="2170704" y="2675213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12209">
            <a:solidFill>
              <a:srgbClr val="D9D9D9"/>
            </a:solidFill>
          </a:ln>
        </p:spPr>
      </p:sp>
      <p:sp>
        <p:nvSpPr>
          <p:cNvPr id="20" name="Box 10"/>
          <p:cNvSpPr/>
          <p:nvPr/>
        </p:nvSpPr>
        <p:spPr>
          <a:xfrm>
            <a:off x="1340471" y="2565330"/>
            <a:ext cx="732559" cy="219768"/>
          </a:xfrm>
          <a:prstGeom prst="rect">
            <a:avLst/>
          </a:prstGeom>
          <a:noFill/>
          <a:ln>
            <a:noFill/>
          </a:ln>
        </p:spPr>
        <p:txBody>
          <a:bodyPr wrap="none" lIns="24419" tIns="0" rIns="24419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10000</a:t>
            </a:r>
          </a:p>
        </p:txBody>
      </p:sp>
      <p:sp>
        <p:nvSpPr>
          <p:cNvPr id="21" name="Box 11"/>
          <p:cNvSpPr/>
          <p:nvPr/>
        </p:nvSpPr>
        <p:spPr>
          <a:xfrm>
            <a:off x="2170704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jan</a:t>
            </a:r>
          </a:p>
        </p:txBody>
      </p:sp>
      <p:sp>
        <p:nvSpPr>
          <p:cNvPr id="22" name="Box 12"/>
          <p:cNvSpPr/>
          <p:nvPr/>
        </p:nvSpPr>
        <p:spPr>
          <a:xfrm>
            <a:off x="2854426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feb</a:t>
            </a:r>
          </a:p>
        </p:txBody>
      </p:sp>
      <p:sp>
        <p:nvSpPr>
          <p:cNvPr id="23" name="Box 13"/>
          <p:cNvSpPr/>
          <p:nvPr/>
        </p:nvSpPr>
        <p:spPr>
          <a:xfrm>
            <a:off x="3538148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mar</a:t>
            </a:r>
          </a:p>
        </p:txBody>
      </p:sp>
      <p:sp>
        <p:nvSpPr>
          <p:cNvPr id="24" name="Box 14"/>
          <p:cNvSpPr/>
          <p:nvPr/>
        </p:nvSpPr>
        <p:spPr>
          <a:xfrm>
            <a:off x="4221870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apr</a:t>
            </a:r>
          </a:p>
        </p:txBody>
      </p:sp>
      <p:sp>
        <p:nvSpPr>
          <p:cNvPr id="25" name="Box 15"/>
          <p:cNvSpPr/>
          <p:nvPr/>
        </p:nvSpPr>
        <p:spPr>
          <a:xfrm>
            <a:off x="4905591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may</a:t>
            </a:r>
          </a:p>
        </p:txBody>
      </p:sp>
      <p:sp>
        <p:nvSpPr>
          <p:cNvPr id="26" name="Box 16"/>
          <p:cNvSpPr/>
          <p:nvPr/>
        </p:nvSpPr>
        <p:spPr>
          <a:xfrm>
            <a:off x="5589313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jun</a:t>
            </a:r>
          </a:p>
        </p:txBody>
      </p:sp>
      <p:sp>
        <p:nvSpPr>
          <p:cNvPr id="27" name="Box 17"/>
          <p:cNvSpPr/>
          <p:nvPr/>
        </p:nvSpPr>
        <p:spPr>
          <a:xfrm>
            <a:off x="6273035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jul</a:t>
            </a:r>
          </a:p>
        </p:txBody>
      </p:sp>
      <p:sp>
        <p:nvSpPr>
          <p:cNvPr id="28" name="Box 18"/>
          <p:cNvSpPr/>
          <p:nvPr/>
        </p:nvSpPr>
        <p:spPr>
          <a:xfrm>
            <a:off x="6956757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aug</a:t>
            </a:r>
          </a:p>
        </p:txBody>
      </p:sp>
      <p:sp>
        <p:nvSpPr>
          <p:cNvPr id="29" name="Box 19"/>
          <p:cNvSpPr/>
          <p:nvPr/>
        </p:nvSpPr>
        <p:spPr>
          <a:xfrm>
            <a:off x="7640479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sep</a:t>
            </a:r>
          </a:p>
        </p:txBody>
      </p:sp>
      <p:sp>
        <p:nvSpPr>
          <p:cNvPr id="30" name="Box 20"/>
          <p:cNvSpPr/>
          <p:nvPr/>
        </p:nvSpPr>
        <p:spPr>
          <a:xfrm>
            <a:off x="8324201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oct</a:t>
            </a:r>
          </a:p>
        </p:txBody>
      </p:sp>
      <p:sp>
        <p:nvSpPr>
          <p:cNvPr id="31" name="Box 21"/>
          <p:cNvSpPr/>
          <p:nvPr/>
        </p:nvSpPr>
        <p:spPr>
          <a:xfrm>
            <a:off x="9007922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nov</a:t>
            </a:r>
          </a:p>
        </p:txBody>
      </p:sp>
      <p:sp>
        <p:nvSpPr>
          <p:cNvPr id="32" name="Box 22"/>
          <p:cNvSpPr/>
          <p:nvPr/>
        </p:nvSpPr>
        <p:spPr>
          <a:xfrm>
            <a:off x="9691644" y="5863590"/>
            <a:ext cx="683722" cy="2197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82" dirty="0">
                <a:solidFill>
                  <a:srgbClr val="000000"/>
                </a:solidFill>
              </a:rPr>
              <a:t>dec</a:t>
            </a:r>
          </a:p>
        </p:txBody>
      </p:sp>
      <p:sp>
        <p:nvSpPr>
          <p:cNvPr id="33" name="Box 23"/>
          <p:cNvSpPr/>
          <p:nvPr/>
        </p:nvSpPr>
        <p:spPr>
          <a:xfrm>
            <a:off x="2273262" y="5291497"/>
            <a:ext cx="478605" cy="523256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2956984" y="4768239"/>
            <a:ext cx="478605" cy="104651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5" name="Box 25"/>
          <p:cNvSpPr/>
          <p:nvPr/>
        </p:nvSpPr>
        <p:spPr>
          <a:xfrm>
            <a:off x="3640706" y="3983355"/>
            <a:ext cx="478605" cy="1831398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6" name="Box 26"/>
          <p:cNvSpPr/>
          <p:nvPr/>
        </p:nvSpPr>
        <p:spPr>
          <a:xfrm>
            <a:off x="4324428" y="3617075"/>
            <a:ext cx="478605" cy="2197677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7" name="Box 27"/>
          <p:cNvSpPr/>
          <p:nvPr/>
        </p:nvSpPr>
        <p:spPr>
          <a:xfrm>
            <a:off x="5008150" y="2936841"/>
            <a:ext cx="478605" cy="287791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8" name="Box 28"/>
          <p:cNvSpPr/>
          <p:nvPr/>
        </p:nvSpPr>
        <p:spPr>
          <a:xfrm>
            <a:off x="5691872" y="2413585"/>
            <a:ext cx="478605" cy="3401167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9" name="Box 29"/>
          <p:cNvSpPr/>
          <p:nvPr/>
        </p:nvSpPr>
        <p:spPr>
          <a:xfrm>
            <a:off x="6375593" y="2151957"/>
            <a:ext cx="478605" cy="366279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0" name="Box 30"/>
          <p:cNvSpPr/>
          <p:nvPr/>
        </p:nvSpPr>
        <p:spPr>
          <a:xfrm>
            <a:off x="7059315" y="2570562"/>
            <a:ext cx="478605" cy="3244191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1" name="Box 31"/>
          <p:cNvSpPr/>
          <p:nvPr/>
        </p:nvSpPr>
        <p:spPr>
          <a:xfrm>
            <a:off x="7743037" y="3093819"/>
            <a:ext cx="478605" cy="2720933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2" name="Box 32"/>
          <p:cNvSpPr/>
          <p:nvPr/>
        </p:nvSpPr>
        <p:spPr>
          <a:xfrm>
            <a:off x="8426759" y="3460099"/>
            <a:ext cx="478605" cy="235465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3" name="Box 33"/>
          <p:cNvSpPr/>
          <p:nvPr/>
        </p:nvSpPr>
        <p:spPr>
          <a:xfrm>
            <a:off x="9110481" y="4244983"/>
            <a:ext cx="478605" cy="156977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4" name="Box 34"/>
          <p:cNvSpPr/>
          <p:nvPr/>
        </p:nvSpPr>
        <p:spPr>
          <a:xfrm>
            <a:off x="9794202" y="4768239"/>
            <a:ext cx="478605" cy="1046514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45" name="Shape 35"/>
          <p:cNvSpPr/>
          <p:nvPr/>
        </p:nvSpPr>
        <p:spPr>
          <a:xfrm>
            <a:off x="2512565" y="2151957"/>
            <a:ext cx="7520940" cy="3139539"/>
          </a:xfrm>
          <a:custGeom>
            <a:avLst/>
            <a:gdLst/>
            <a:ahLst/>
            <a:cxnLst/>
            <a:rect l="0" t="0" r="0" b="0"/>
            <a:pathLst>
              <a:path w="5867400" h="2449286" fill="none">
                <a:moveTo>
                  <a:pt x="0" y="2449286"/>
                </a:moveTo>
                <a:lnTo>
                  <a:pt x="533400" y="2041071"/>
                </a:lnTo>
                <a:lnTo>
                  <a:pt x="1066800" y="1428750"/>
                </a:lnTo>
                <a:lnTo>
                  <a:pt x="1600200" y="1143000"/>
                </a:lnTo>
                <a:lnTo>
                  <a:pt x="2133600" y="612321"/>
                </a:lnTo>
                <a:lnTo>
                  <a:pt x="2667000" y="204107"/>
                </a:lnTo>
                <a:lnTo>
                  <a:pt x="3200400" y="0"/>
                </a:lnTo>
                <a:lnTo>
                  <a:pt x="3733800" y="326571"/>
                </a:lnTo>
                <a:lnTo>
                  <a:pt x="4267200" y="734786"/>
                </a:lnTo>
                <a:lnTo>
                  <a:pt x="4800600" y="1020536"/>
                </a:lnTo>
                <a:lnTo>
                  <a:pt x="5334000" y="1632857"/>
                </a:lnTo>
                <a:lnTo>
                  <a:pt x="5867400" y="2041071"/>
                </a:lnTo>
              </a:path>
            </a:pathLst>
          </a:custGeom>
          <a:noFill/>
          <a:ln w="36628">
            <a:solidFill>
              <a:srgbClr val="ED7D31"/>
            </a:solidFill>
          </a:ln>
        </p:spPr>
      </p:sp>
      <p:sp>
        <p:nvSpPr>
          <p:cNvPr id="46" name="Box 36"/>
          <p:cNvSpPr/>
          <p:nvPr/>
        </p:nvSpPr>
        <p:spPr>
          <a:xfrm>
            <a:off x="2475937" y="5254869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7" name="Box 37"/>
          <p:cNvSpPr/>
          <p:nvPr/>
        </p:nvSpPr>
        <p:spPr>
          <a:xfrm>
            <a:off x="3159659" y="4731611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8" name="Box 38"/>
          <p:cNvSpPr/>
          <p:nvPr/>
        </p:nvSpPr>
        <p:spPr>
          <a:xfrm>
            <a:off x="3843381" y="3946727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49" name="Box 39"/>
          <p:cNvSpPr/>
          <p:nvPr/>
        </p:nvSpPr>
        <p:spPr>
          <a:xfrm>
            <a:off x="4527103" y="3580448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0" name="Box 40"/>
          <p:cNvSpPr/>
          <p:nvPr/>
        </p:nvSpPr>
        <p:spPr>
          <a:xfrm>
            <a:off x="5210824" y="2900214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1" name="Box 41"/>
          <p:cNvSpPr/>
          <p:nvPr/>
        </p:nvSpPr>
        <p:spPr>
          <a:xfrm>
            <a:off x="5894546" y="2376957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2" name="Box 42"/>
          <p:cNvSpPr/>
          <p:nvPr/>
        </p:nvSpPr>
        <p:spPr>
          <a:xfrm>
            <a:off x="6578268" y="2115329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3" name="Box 43"/>
          <p:cNvSpPr/>
          <p:nvPr/>
        </p:nvSpPr>
        <p:spPr>
          <a:xfrm>
            <a:off x="7261990" y="2533934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4" name="Box 44"/>
          <p:cNvSpPr/>
          <p:nvPr/>
        </p:nvSpPr>
        <p:spPr>
          <a:xfrm>
            <a:off x="7945712" y="3057191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5" name="Box 45"/>
          <p:cNvSpPr/>
          <p:nvPr/>
        </p:nvSpPr>
        <p:spPr>
          <a:xfrm>
            <a:off x="8629434" y="3423471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6" name="Box 46"/>
          <p:cNvSpPr/>
          <p:nvPr/>
        </p:nvSpPr>
        <p:spPr>
          <a:xfrm>
            <a:off x="9313155" y="4208355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7" name="Box 47"/>
          <p:cNvSpPr/>
          <p:nvPr/>
        </p:nvSpPr>
        <p:spPr>
          <a:xfrm>
            <a:off x="9996877" y="4731611"/>
            <a:ext cx="73256" cy="732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58" name="Shape 48"/>
          <p:cNvSpPr/>
          <p:nvPr/>
        </p:nvSpPr>
        <p:spPr>
          <a:xfrm>
            <a:off x="2170704" y="5814753"/>
            <a:ext cx="8204662" cy="1"/>
          </a:xfrm>
          <a:custGeom>
            <a:avLst/>
            <a:gdLst/>
            <a:ahLst/>
            <a:cxnLst/>
            <a:rect l="0" t="0" r="0" b="0"/>
            <a:pathLst>
              <a:path w="6400800" h="1" fill="none">
                <a:moveTo>
                  <a:pt x="0" y="0"/>
                </a:moveTo>
                <a:lnTo>
                  <a:pt x="6400800" y="0"/>
                </a:lnTo>
              </a:path>
            </a:pathLst>
          </a:custGeom>
          <a:noFill/>
          <a:ln w="36628">
            <a:solidFill>
              <a:srgbClr val="595959"/>
            </a:solidFill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zenuml</a:t>
            </a:r>
          </a:p>
        </p:txBody>
      </p:sp>
      <p:sp>
        <p:nvSpPr>
          <p:cNvPr id="53" name="Participant _starter"/>
          <p:cNvSpPr/>
          <p:nvPr/>
        </p:nvSpPr>
        <p:spPr>
          <a:xfrm>
            <a:off x="3544758" y="1298316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55" name="Participant _starter"/>
          <p:cNvSpPr/>
          <p:nvPr/>
        </p:nvSpPr>
        <p:spPr>
          <a:xfrm>
            <a:off x="3544758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58" name="Participant Client"/>
          <p:cNvSpPr/>
          <p:nvPr/>
        </p:nvSpPr>
        <p:spPr>
          <a:xfrm>
            <a:off x="4488414" y="1298316"/>
            <a:ext cx="606636" cy="229174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60" name="Participant Client"/>
          <p:cNvSpPr/>
          <p:nvPr/>
        </p:nvSpPr>
        <p:spPr>
          <a:xfrm>
            <a:off x="4488414" y="6036818"/>
            <a:ext cx="606636" cy="229174"/>
          </a:xfrm>
          <a:prstGeom prst="rect">
            <a:avLst/>
          </a:prstGeom>
          <a:solidFill>
            <a:srgbClr val="DDEBF7"/>
          </a:solidFill>
          <a:ln w="9525">
            <a:solidFill>
              <a:srgbClr val="5B9BD5"/>
            </a:solidFill>
          </a:ln>
        </p:spPr>
      </p:sp>
      <p:sp>
        <p:nvSpPr>
          <p:cNvPr id="63" name="Participant DB"/>
          <p:cNvSpPr/>
          <p:nvPr/>
        </p:nvSpPr>
        <p:spPr>
          <a:xfrm>
            <a:off x="5432070" y="1298316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65" name="Participant DB"/>
          <p:cNvSpPr/>
          <p:nvPr/>
        </p:nvSpPr>
        <p:spPr>
          <a:xfrm>
            <a:off x="5432070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68" name="Participant Booking"/>
          <p:cNvSpPr/>
          <p:nvPr/>
        </p:nvSpPr>
        <p:spPr>
          <a:xfrm>
            <a:off x="6268217" y="1298316"/>
            <a:ext cx="821655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0" name="Participant Booking"/>
          <p:cNvSpPr/>
          <p:nvPr/>
        </p:nvSpPr>
        <p:spPr>
          <a:xfrm>
            <a:off x="6268217" y="6036818"/>
            <a:ext cx="821655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3" name="Participant Mailer"/>
          <p:cNvSpPr/>
          <p:nvPr/>
        </p:nvSpPr>
        <p:spPr>
          <a:xfrm>
            <a:off x="7319383" y="3071042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75" name="Participant Mailer"/>
          <p:cNvSpPr/>
          <p:nvPr/>
        </p:nvSpPr>
        <p:spPr>
          <a:xfrm>
            <a:off x="7319383" y="6036818"/>
            <a:ext cx="606636" cy="229174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7" name="Block alt"/>
          <p:cNvSpPr/>
          <p:nvPr/>
        </p:nvSpPr>
        <p:spPr>
          <a:xfrm>
            <a:off x="4549078" y="2397002"/>
            <a:ext cx="3316278" cy="1354821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28" name="Box 18"/>
          <p:cNvSpPr/>
          <p:nvPr/>
        </p:nvSpPr>
        <p:spPr>
          <a:xfrm>
            <a:off x="4549078" y="2397002"/>
            <a:ext cx="229174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alt</a:t>
            </a:r>
          </a:p>
        </p:txBody>
      </p:sp>
      <p:sp>
        <p:nvSpPr>
          <p:cNvPr id="29" name="Box 19"/>
          <p:cNvSpPr/>
          <p:nvPr/>
        </p:nvSpPr>
        <p:spPr>
          <a:xfrm>
            <a:off x="4818694" y="2397002"/>
            <a:ext cx="3006219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[available]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4549078" y="3367619"/>
            <a:ext cx="3316277" cy="1"/>
          </a:xfrm>
          <a:prstGeom prst="line">
            <a:avLst/>
          </a:prstGeom>
          <a:ln w="6740">
            <a:solidFill>
              <a:srgbClr val="7F7F7F"/>
            </a:solidFill>
            <a:prstDash val="dash"/>
          </a:ln>
        </p:spPr>
      </p:cxnSp>
      <p:sp>
        <p:nvSpPr>
          <p:cNvPr id="31" name="Box 21"/>
          <p:cNvSpPr/>
          <p:nvPr/>
        </p:nvSpPr>
        <p:spPr>
          <a:xfrm>
            <a:off x="4589520" y="3381100"/>
            <a:ext cx="3235393" cy="9436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[else]</a:t>
            </a:r>
          </a:p>
        </p:txBody>
      </p:sp>
      <p:sp>
        <p:nvSpPr>
          <p:cNvPr id="34" name="Block loop"/>
          <p:cNvSpPr/>
          <p:nvPr/>
        </p:nvSpPr>
        <p:spPr>
          <a:xfrm>
            <a:off x="5492734" y="3846188"/>
            <a:ext cx="1428965" cy="4111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35" name="Box 25"/>
          <p:cNvSpPr/>
          <p:nvPr/>
        </p:nvSpPr>
        <p:spPr>
          <a:xfrm>
            <a:off x="5492734" y="3846188"/>
            <a:ext cx="269616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loop</a:t>
            </a:r>
          </a:p>
        </p:txBody>
      </p:sp>
      <p:sp>
        <p:nvSpPr>
          <p:cNvPr id="36" name="Box 26"/>
          <p:cNvSpPr/>
          <p:nvPr/>
        </p:nvSpPr>
        <p:spPr>
          <a:xfrm>
            <a:off x="5802793" y="3846188"/>
            <a:ext cx="1078464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[retry]</a:t>
            </a:r>
          </a:p>
        </p:txBody>
      </p:sp>
      <p:sp>
        <p:nvSpPr>
          <p:cNvPr id="44" name="Block break"/>
          <p:cNvSpPr/>
          <p:nvPr/>
        </p:nvSpPr>
        <p:spPr>
          <a:xfrm>
            <a:off x="4549078" y="4587632"/>
            <a:ext cx="2372621" cy="808848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45" name="Box 35"/>
          <p:cNvSpPr/>
          <p:nvPr/>
        </p:nvSpPr>
        <p:spPr>
          <a:xfrm>
            <a:off x="4549078" y="4587632"/>
            <a:ext cx="310058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break</a:t>
            </a:r>
          </a:p>
        </p:txBody>
      </p:sp>
      <p:sp>
        <p:nvSpPr>
          <p:cNvPr id="46" name="Box 36"/>
          <p:cNvSpPr/>
          <p:nvPr/>
        </p:nvSpPr>
        <p:spPr>
          <a:xfrm>
            <a:off x="4899579" y="4587632"/>
            <a:ext cx="1981678" cy="10784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[try]</a:t>
            </a:r>
          </a:p>
        </p:txBody>
      </p:sp>
      <p:cxnSp>
        <p:nvCxnSpPr>
          <p:cNvPr id="47" name="Connector 37"/>
          <p:cNvCxnSpPr/>
          <p:nvPr/>
        </p:nvCxnSpPr>
        <p:spPr>
          <a:xfrm>
            <a:off x="4549078" y="5012277"/>
            <a:ext cx="2372621" cy="1"/>
          </a:xfrm>
          <a:prstGeom prst="line">
            <a:avLst/>
          </a:prstGeom>
          <a:ln w="6740">
            <a:solidFill>
              <a:srgbClr val="7F7F7F"/>
            </a:solidFill>
            <a:prstDash val="dash"/>
          </a:ln>
        </p:spPr>
      </p:cxnSp>
      <p:sp>
        <p:nvSpPr>
          <p:cNvPr id="48" name="Box 38"/>
          <p:cNvSpPr/>
          <p:nvPr/>
        </p:nvSpPr>
        <p:spPr>
          <a:xfrm>
            <a:off x="4589520" y="5025758"/>
            <a:ext cx="2291737" cy="94366"/>
          </a:xfrm>
          <a:prstGeom prst="rect">
            <a:avLst/>
          </a:prstGeom>
          <a:noFill/>
          <a:ln>
            <a:noFill/>
          </a:ln>
        </p:spPr>
        <p:txBody>
          <a:bodyPr wrap="none" lIns="13481" tIns="0" rIns="13481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333333"/>
                </a:solidFill>
              </a:rPr>
              <a:t>[catch]</a:t>
            </a:r>
          </a:p>
        </p:txBody>
      </p:sp>
      <p:sp>
        <p:nvSpPr>
          <p:cNvPr id="51" name="Block opt"/>
          <p:cNvSpPr/>
          <p:nvPr/>
        </p:nvSpPr>
        <p:spPr>
          <a:xfrm>
            <a:off x="3605422" y="5490846"/>
            <a:ext cx="3316278" cy="411164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</p:sp>
      <p:sp>
        <p:nvSpPr>
          <p:cNvPr id="52" name="Box 42"/>
          <p:cNvSpPr/>
          <p:nvPr/>
        </p:nvSpPr>
        <p:spPr>
          <a:xfrm>
            <a:off x="3605422" y="5490846"/>
            <a:ext cx="229174" cy="107846"/>
          </a:xfrm>
          <a:prstGeom prst="rect">
            <a:avLst/>
          </a:prstGeom>
          <a:solidFill>
            <a:srgbClr val="E6E6E6"/>
          </a:solidFill>
          <a:ln w="6740">
            <a:solidFill>
              <a:srgbClr val="7F7F7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opt</a:t>
            </a:r>
          </a:p>
        </p:txBody>
      </p:sp>
      <p:cxnSp>
        <p:nvCxnSpPr>
          <p:cNvPr id="57" name="Connector 47"/>
          <p:cNvCxnSpPr/>
          <p:nvPr/>
        </p:nvCxnSpPr>
        <p:spPr>
          <a:xfrm>
            <a:off x="3848076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62" name="Connector 52"/>
          <p:cNvCxnSpPr/>
          <p:nvPr/>
        </p:nvCxnSpPr>
        <p:spPr>
          <a:xfrm>
            <a:off x="4791732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67" name="Connector 57"/>
          <p:cNvCxnSpPr/>
          <p:nvPr/>
        </p:nvCxnSpPr>
        <p:spPr>
          <a:xfrm>
            <a:off x="5735389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72" name="Connector 62"/>
          <p:cNvCxnSpPr/>
          <p:nvPr/>
        </p:nvCxnSpPr>
        <p:spPr>
          <a:xfrm>
            <a:off x="6679045" y="1527490"/>
            <a:ext cx="1" cy="4509328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cxnSp>
        <p:nvCxnSpPr>
          <p:cNvPr id="77" name="Connector 67"/>
          <p:cNvCxnSpPr/>
          <p:nvPr/>
        </p:nvCxnSpPr>
        <p:spPr>
          <a:xfrm>
            <a:off x="7622701" y="3300215"/>
            <a:ext cx="1" cy="2736603"/>
          </a:xfrm>
          <a:prstGeom prst="line">
            <a:avLst/>
          </a:prstGeom>
          <a:ln w="6740">
            <a:solidFill>
              <a:srgbClr val="999999"/>
            </a:solidFill>
            <a:prstDash val="dash"/>
          </a:ln>
        </p:spPr>
      </p:cxnSp>
      <p:sp>
        <p:nvSpPr>
          <p:cNvPr id="18" name="Activation"/>
          <p:cNvSpPr/>
          <p:nvPr/>
        </p:nvSpPr>
        <p:spPr>
          <a:xfrm>
            <a:off x="5701687" y="2066722"/>
            <a:ext cx="67404" cy="276356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39" name="Activation"/>
          <p:cNvSpPr/>
          <p:nvPr/>
        </p:nvSpPr>
        <p:spPr>
          <a:xfrm>
            <a:off x="6645343" y="1830808"/>
            <a:ext cx="67404" cy="2702901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</a:ln>
        </p:spPr>
      </p:sp>
      <p:sp>
        <p:nvSpPr>
          <p:cNvPr id="11" name="Box 1"/>
          <p:cNvSpPr/>
          <p:nvPr/>
        </p:nvSpPr>
        <p:spPr>
          <a:xfrm>
            <a:off x="3409950" y="1069142"/>
            <a:ext cx="4650877" cy="1213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50" dirty="0">
                <a:solidFill>
                  <a:srgbClr val="333333"/>
                </a:solidFill>
              </a:rPr>
              <a:t>Booking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4791732" y="1830808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3" name="Box 3"/>
          <p:cNvSpPr/>
          <p:nvPr/>
        </p:nvSpPr>
        <p:spPr>
          <a:xfrm>
            <a:off x="4818694" y="1689259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book(id)</a:t>
            </a:r>
          </a:p>
        </p:txBody>
      </p:sp>
      <p:cxnSp>
        <p:nvCxnSpPr>
          <p:cNvPr id="14" name="Connector 4"/>
          <p:cNvCxnSpPr/>
          <p:nvPr/>
        </p:nvCxnSpPr>
        <p:spPr>
          <a:xfrm flipH="1">
            <a:off x="5769091" y="2066722"/>
            <a:ext cx="876252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5" name="Box 5"/>
          <p:cNvSpPr/>
          <p:nvPr/>
        </p:nvSpPr>
        <p:spPr>
          <a:xfrm>
            <a:off x="5796052" y="1925173"/>
            <a:ext cx="82232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find(id)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5769091" y="2302636"/>
            <a:ext cx="876252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17" name="Box 7"/>
          <p:cNvSpPr/>
          <p:nvPr/>
        </p:nvSpPr>
        <p:spPr>
          <a:xfrm>
            <a:off x="5796052" y="2161087"/>
            <a:ext cx="82232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row</a:t>
            </a:r>
          </a:p>
        </p:txBody>
      </p:sp>
      <p:cxnSp>
        <p:nvCxnSpPr>
          <p:cNvPr id="19" name="Connector 9"/>
          <p:cNvCxnSpPr/>
          <p:nvPr/>
        </p:nvCxnSpPr>
        <p:spPr>
          <a:xfrm flipH="1">
            <a:off x="5735389" y="2713800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0" name="Box 10"/>
          <p:cNvSpPr/>
          <p:nvPr/>
        </p:nvSpPr>
        <p:spPr>
          <a:xfrm>
            <a:off x="5762350" y="2572252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save(id)</a:t>
            </a:r>
          </a:p>
        </p:txBody>
      </p:sp>
      <p:cxnSp>
        <p:nvCxnSpPr>
          <p:cNvPr id="21" name="Connector 11"/>
          <p:cNvCxnSpPr/>
          <p:nvPr/>
        </p:nvCxnSpPr>
        <p:spPr>
          <a:xfrm>
            <a:off x="5735389" y="2949714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2" name="Box 12"/>
          <p:cNvSpPr/>
          <p:nvPr/>
        </p:nvSpPr>
        <p:spPr>
          <a:xfrm>
            <a:off x="5762350" y="2808166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order</a:t>
            </a:r>
          </a:p>
        </p:txBody>
      </p:sp>
      <p:cxnSp>
        <p:nvCxnSpPr>
          <p:cNvPr id="23" name="Connector 13"/>
          <p:cNvCxnSpPr/>
          <p:nvPr/>
        </p:nvCxnSpPr>
        <p:spPr>
          <a:xfrm>
            <a:off x="6712747" y="3185628"/>
            <a:ext cx="606636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24" name="Box 14"/>
          <p:cNvSpPr/>
          <p:nvPr/>
        </p:nvSpPr>
        <p:spPr>
          <a:xfrm>
            <a:off x="6685111" y="3044080"/>
            <a:ext cx="66190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new Mailer(id)</a:t>
            </a:r>
          </a:p>
        </p:txBody>
      </p:sp>
      <p:cxnSp>
        <p:nvCxnSpPr>
          <p:cNvPr id="25" name="Connector 15"/>
          <p:cNvCxnSpPr/>
          <p:nvPr/>
        </p:nvCxnSpPr>
        <p:spPr>
          <a:xfrm flipH="1">
            <a:off x="4791732" y="3657457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26" name="Box 16"/>
          <p:cNvSpPr/>
          <p:nvPr/>
        </p:nvSpPr>
        <p:spPr>
          <a:xfrm>
            <a:off x="4818694" y="3515908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sold_out</a:t>
            </a:r>
          </a:p>
        </p:txBody>
      </p:sp>
      <p:cxnSp>
        <p:nvCxnSpPr>
          <p:cNvPr id="32" name="Connector 22"/>
          <p:cNvCxnSpPr/>
          <p:nvPr/>
        </p:nvCxnSpPr>
        <p:spPr>
          <a:xfrm flipH="1">
            <a:off x="5735389" y="4162987"/>
            <a:ext cx="909954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33" name="Box 23"/>
          <p:cNvSpPr/>
          <p:nvPr/>
        </p:nvSpPr>
        <p:spPr>
          <a:xfrm>
            <a:off x="5762350" y="4021438"/>
            <a:ext cx="856031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poll</a:t>
            </a:r>
          </a:p>
        </p:txBody>
      </p:sp>
      <p:cxnSp>
        <p:nvCxnSpPr>
          <p:cNvPr id="37" name="Connector 27"/>
          <p:cNvCxnSpPr/>
          <p:nvPr/>
        </p:nvCxnSpPr>
        <p:spPr>
          <a:xfrm flipH="1">
            <a:off x="4791732" y="4493266"/>
            <a:ext cx="1853611" cy="1"/>
          </a:xfrm>
          <a:prstGeom prst="line">
            <a:avLst/>
          </a:prstGeom>
          <a:ln w="6740">
            <a:solidFill>
              <a:srgbClr val="595959"/>
            </a:solidFill>
            <a:prstDash val="dash"/>
            <a:tailEnd type="triangle" w="lg" len="lg"/>
          </a:ln>
        </p:spPr>
      </p:cxnSp>
      <p:sp>
        <p:nvSpPr>
          <p:cNvPr id="38" name="Box 28"/>
          <p:cNvSpPr/>
          <p:nvPr/>
        </p:nvSpPr>
        <p:spPr>
          <a:xfrm>
            <a:off x="4818694" y="4351718"/>
            <a:ext cx="1799687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ok</a:t>
            </a:r>
          </a:p>
        </p:txBody>
      </p:sp>
      <p:cxnSp>
        <p:nvCxnSpPr>
          <p:cNvPr id="40" name="Connector 30"/>
          <p:cNvCxnSpPr/>
          <p:nvPr/>
        </p:nvCxnSpPr>
        <p:spPr>
          <a:xfrm>
            <a:off x="4791732" y="4904431"/>
            <a:ext cx="1887313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41" name="Box 31"/>
          <p:cNvSpPr/>
          <p:nvPr/>
        </p:nvSpPr>
        <p:spPr>
          <a:xfrm>
            <a:off x="4818694" y="4762882"/>
            <a:ext cx="183338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confirm</a:t>
            </a:r>
          </a:p>
        </p:txBody>
      </p:sp>
      <p:cxnSp>
        <p:nvCxnSpPr>
          <p:cNvPr id="42" name="Connector 32"/>
          <p:cNvCxnSpPr/>
          <p:nvPr/>
        </p:nvCxnSpPr>
        <p:spPr>
          <a:xfrm>
            <a:off x="4791732" y="5302115"/>
            <a:ext cx="1887313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43" name="Box 33"/>
          <p:cNvSpPr/>
          <p:nvPr/>
        </p:nvSpPr>
        <p:spPr>
          <a:xfrm>
            <a:off x="4818694" y="5160566"/>
            <a:ext cx="1833389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cancel</a:t>
            </a:r>
          </a:p>
        </p:txBody>
      </p:sp>
      <p:cxnSp>
        <p:nvCxnSpPr>
          <p:cNvPr id="49" name="Connector 39"/>
          <p:cNvCxnSpPr/>
          <p:nvPr/>
        </p:nvCxnSpPr>
        <p:spPr>
          <a:xfrm>
            <a:off x="3848076" y="5807645"/>
            <a:ext cx="2830969" cy="1"/>
          </a:xfrm>
          <a:prstGeom prst="line">
            <a:avLst/>
          </a:prstGeom>
          <a:ln w="674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50" name="Box 40"/>
          <p:cNvSpPr/>
          <p:nvPr/>
        </p:nvSpPr>
        <p:spPr>
          <a:xfrm>
            <a:off x="3875038" y="5666096"/>
            <a:ext cx="2777045" cy="87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audit()</a:t>
            </a:r>
          </a:p>
        </p:txBody>
      </p:sp>
      <p:sp>
        <p:nvSpPr>
          <p:cNvPr id="54" name="Box 44"/>
          <p:cNvSpPr/>
          <p:nvPr/>
        </p:nvSpPr>
        <p:spPr>
          <a:xfrm>
            <a:off x="3544758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Starter</a:t>
            </a:r>
          </a:p>
        </p:txBody>
      </p:sp>
      <p:sp>
        <p:nvSpPr>
          <p:cNvPr id="56" name="Box 46"/>
          <p:cNvSpPr/>
          <p:nvPr/>
        </p:nvSpPr>
        <p:spPr>
          <a:xfrm>
            <a:off x="3544758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Starter</a:t>
            </a:r>
          </a:p>
        </p:txBody>
      </p:sp>
      <p:sp>
        <p:nvSpPr>
          <p:cNvPr id="59" name="Box 49"/>
          <p:cNvSpPr/>
          <p:nvPr/>
        </p:nvSpPr>
        <p:spPr>
          <a:xfrm>
            <a:off x="4488414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Client</a:t>
            </a:r>
          </a:p>
        </p:txBody>
      </p:sp>
      <p:sp>
        <p:nvSpPr>
          <p:cNvPr id="61" name="Box 51"/>
          <p:cNvSpPr/>
          <p:nvPr/>
        </p:nvSpPr>
        <p:spPr>
          <a:xfrm>
            <a:off x="4488414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Client</a:t>
            </a:r>
          </a:p>
        </p:txBody>
      </p:sp>
      <p:sp>
        <p:nvSpPr>
          <p:cNvPr id="64" name="Box 54"/>
          <p:cNvSpPr/>
          <p:nvPr/>
        </p:nvSpPr>
        <p:spPr>
          <a:xfrm>
            <a:off x="5432070" y="1365720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DB</a:t>
            </a:r>
          </a:p>
        </p:txBody>
      </p:sp>
      <p:sp>
        <p:nvSpPr>
          <p:cNvPr id="66" name="Box 56"/>
          <p:cNvSpPr/>
          <p:nvPr/>
        </p:nvSpPr>
        <p:spPr>
          <a:xfrm>
            <a:off x="5432070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DB</a:t>
            </a:r>
          </a:p>
        </p:txBody>
      </p:sp>
      <p:sp>
        <p:nvSpPr>
          <p:cNvPr id="69" name="Box 59"/>
          <p:cNvSpPr/>
          <p:nvPr/>
        </p:nvSpPr>
        <p:spPr>
          <a:xfrm>
            <a:off x="6268217" y="1365720"/>
            <a:ext cx="821655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Booking Service</a:t>
            </a:r>
          </a:p>
        </p:txBody>
      </p:sp>
      <p:sp>
        <p:nvSpPr>
          <p:cNvPr id="71" name="Box 61"/>
          <p:cNvSpPr/>
          <p:nvPr/>
        </p:nvSpPr>
        <p:spPr>
          <a:xfrm>
            <a:off x="6268217" y="6104222"/>
            <a:ext cx="821655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Booking Service</a:t>
            </a:r>
          </a:p>
        </p:txBody>
      </p:sp>
      <p:sp>
        <p:nvSpPr>
          <p:cNvPr id="74" name="Box 64"/>
          <p:cNvSpPr/>
          <p:nvPr/>
        </p:nvSpPr>
        <p:spPr>
          <a:xfrm>
            <a:off x="7319383" y="3138446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  <p:sp>
        <p:nvSpPr>
          <p:cNvPr id="76" name="Box 66"/>
          <p:cNvSpPr/>
          <p:nvPr/>
        </p:nvSpPr>
        <p:spPr>
          <a:xfrm>
            <a:off x="7319383" y="6104222"/>
            <a:ext cx="606636" cy="94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333333"/>
                </a:solidFill>
              </a:rPr>
              <a:t>Mailer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deck-D.md</dc:title>
  <dc:creator>md2nativedocx</dc:creator>
  <cp:lastModifiedBy>md2nativedocx</cp:lastModifiedBy>
  <dcterms:created xsi:type="dcterms:W3CDTF">2026-10-05T12:02:50Z</dcterms:created>
  <dcterms:modified xsi:type="dcterms:W3CDTF">2026-10-05T12:02:50Z</dcterms:modified>
</cp:coreProperties>
</file>