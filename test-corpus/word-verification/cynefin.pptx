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cynefin</a:t>
            </a:r>
          </a:p>
        </p:txBody>
      </p:sp>
      <p:sp>
        <p:nvSpPr>
          <p:cNvPr id="11" name="Text 1"/>
          <p:cNvSpPr txBox="1"/>
          <p:nvPr/>
        </p:nvSpPr>
        <p:spPr>
          <a:xfrm>
            <a:off x="1258362" y="1028700"/>
            <a:ext cx="5432461" cy="34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479" dirty="0">
                <a:solidFill>
                  <a:srgbClr val="000000"/>
                </a:solidFill>
              </a:rPr>
              <a:t>Strategy Categorization</a:t>
            </a:r>
          </a:p>
        </p:txBody>
      </p:sp>
      <p:cxnSp>
        <p:nvCxnSpPr>
          <p:cNvPr id="12" name="Connector 2"/>
          <p:cNvCxnSpPr/>
          <p:nvPr/>
        </p:nvCxnSpPr>
        <p:spPr>
          <a:xfrm>
            <a:off x="3974592" y="2577957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3" name="Text 3"/>
          <p:cNvSpPr txBox="1"/>
          <p:nvPr/>
        </p:nvSpPr>
        <p:spPr>
          <a:xfrm>
            <a:off x="3487683" y="2487416"/>
            <a:ext cx="97381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Pattern identified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181805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5" name="Text 5"/>
          <p:cNvSpPr txBox="1"/>
          <p:nvPr/>
        </p:nvSpPr>
        <p:spPr>
          <a:xfrm>
            <a:off x="4610391" y="3694630"/>
            <a:ext cx="1142829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Best practice codified</a:t>
            </a:r>
          </a:p>
        </p:txBody>
      </p:sp>
      <p:cxnSp>
        <p:nvCxnSpPr>
          <p:cNvPr id="16" name="Connector 6"/>
          <p:cNvCxnSpPr/>
          <p:nvPr/>
        </p:nvCxnSpPr>
        <p:spPr>
          <a:xfrm>
            <a:off x="3974592" y="4992384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7" name="Text 7"/>
          <p:cNvSpPr txBox="1"/>
          <p:nvPr/>
        </p:nvSpPr>
        <p:spPr>
          <a:xfrm>
            <a:off x="3644620" y="4901843"/>
            <a:ext cx="659943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Complacency</a:t>
            </a:r>
          </a:p>
        </p:txBody>
      </p:sp>
      <p:cxnSp>
        <p:nvCxnSpPr>
          <p:cNvPr id="18" name="Connector 8"/>
          <p:cNvCxnSpPr/>
          <p:nvPr/>
        </p:nvCxnSpPr>
        <p:spPr>
          <a:xfrm>
            <a:off x="2767379" y="3785171"/>
            <a:ext cx="1" cy="1"/>
          </a:xfrm>
          <a:prstGeom prst="line">
            <a:avLst/>
          </a:prstGeom>
          <a:ln w="13413">
            <a:solidFill>
              <a:srgbClr val="595959"/>
            </a:solidFill>
            <a:prstDash val="solid"/>
            <a:tailEnd type="triangle" w="sm" len="sm"/>
          </a:ln>
        </p:spPr>
      </p:cxnSp>
      <p:sp>
        <p:nvSpPr>
          <p:cNvPr id="19" name="Text 9"/>
          <p:cNvSpPr txBox="1"/>
          <p:nvPr/>
        </p:nvSpPr>
        <p:spPr>
          <a:xfrm>
            <a:off x="2461551" y="3694630"/>
            <a:ext cx="611655" cy="181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39" dirty="0">
                <a:solidFill>
                  <a:srgbClr val="595959"/>
                </a:solidFill>
              </a:rPr>
              <a:t>Stabilized</a:t>
            </a:r>
          </a:p>
        </p:txBody>
      </p:sp>
      <p:sp>
        <p:nvSpPr>
          <p:cNvPr id="20" name="Complex"/>
          <p:cNvSpPr/>
          <p:nvPr/>
        </p:nvSpPr>
        <p:spPr>
          <a:xfrm>
            <a:off x="1560165" y="1370744"/>
            <a:ext cx="2414427" cy="2414427"/>
          </a:xfrm>
          <a:prstGeom prst="rect">
            <a:avLst/>
          </a:prstGeom>
          <a:solidFill>
            <a:srgbClr val="FFF2CC"/>
          </a:solidFill>
          <a:ln w="10060">
            <a:solidFill>
              <a:srgbClr val="BFBFBF"/>
            </a:solidFill>
          </a:ln>
        </p:spPr>
      </p:sp>
      <p:sp>
        <p:nvSpPr>
          <p:cNvPr id="21" name="Text 11"/>
          <p:cNvSpPr txBox="1"/>
          <p:nvPr/>
        </p:nvSpPr>
        <p:spPr>
          <a:xfrm>
            <a:off x="1620526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Complex</a:t>
            </a:r>
          </a:p>
        </p:txBody>
      </p:sp>
      <p:sp>
        <p:nvSpPr>
          <p:cNvPr id="22" name="Text 12"/>
          <p:cNvSpPr txBox="1"/>
          <p:nvPr/>
        </p:nvSpPr>
        <p:spPr>
          <a:xfrm>
            <a:off x="1620526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Probe → Sense → Respond — emergent practices</a:t>
            </a:r>
          </a:p>
        </p:txBody>
      </p:sp>
      <p:sp>
        <p:nvSpPr>
          <p:cNvPr id="23" name="Item Market research"/>
          <p:cNvSpPr/>
          <p:nvPr/>
        </p:nvSpPr>
        <p:spPr>
          <a:xfrm>
            <a:off x="1620526" y="1833509"/>
            <a:ext cx="828953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4" name="Text 14"/>
          <p:cNvSpPr txBox="1"/>
          <p:nvPr/>
        </p:nvSpPr>
        <p:spPr>
          <a:xfrm>
            <a:off x="1620526" y="1833509"/>
            <a:ext cx="828953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Market research</a:t>
            </a:r>
          </a:p>
        </p:txBody>
      </p:sp>
      <p:sp>
        <p:nvSpPr>
          <p:cNvPr id="25" name="Complicated"/>
          <p:cNvSpPr/>
          <p:nvPr/>
        </p:nvSpPr>
        <p:spPr>
          <a:xfrm>
            <a:off x="3974592" y="1370744"/>
            <a:ext cx="2414427" cy="2414427"/>
          </a:xfrm>
          <a:prstGeom prst="rect">
            <a:avLst/>
          </a:prstGeom>
          <a:solidFill>
            <a:srgbClr val="D9E2F3"/>
          </a:solidFill>
          <a:ln w="10060">
            <a:solidFill>
              <a:srgbClr val="BFBFBF"/>
            </a:solidFill>
          </a:ln>
        </p:spPr>
      </p:sp>
      <p:sp>
        <p:nvSpPr>
          <p:cNvPr id="26" name="Text 16"/>
          <p:cNvSpPr txBox="1"/>
          <p:nvPr/>
        </p:nvSpPr>
        <p:spPr>
          <a:xfrm>
            <a:off x="4034953" y="1410984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Complicated</a:t>
            </a:r>
          </a:p>
        </p:txBody>
      </p:sp>
      <p:sp>
        <p:nvSpPr>
          <p:cNvPr id="27" name="Text 17"/>
          <p:cNvSpPr txBox="1"/>
          <p:nvPr/>
        </p:nvSpPr>
        <p:spPr>
          <a:xfrm>
            <a:off x="4034953" y="1612187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Analyse → Respond — good practices</a:t>
            </a:r>
          </a:p>
        </p:txBody>
      </p:sp>
      <p:sp>
        <p:nvSpPr>
          <p:cNvPr id="28" name="Item Competitive analysis"/>
          <p:cNvSpPr/>
          <p:nvPr/>
        </p:nvSpPr>
        <p:spPr>
          <a:xfrm>
            <a:off x="4034953" y="1833509"/>
            <a:ext cx="1070396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29" name="Text 19"/>
          <p:cNvSpPr txBox="1"/>
          <p:nvPr/>
        </p:nvSpPr>
        <p:spPr>
          <a:xfrm>
            <a:off x="4034953" y="1833509"/>
            <a:ext cx="107039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Competitive analysis</a:t>
            </a:r>
          </a:p>
        </p:txBody>
      </p:sp>
      <p:sp>
        <p:nvSpPr>
          <p:cNvPr id="30" name="Chaotic"/>
          <p:cNvSpPr/>
          <p:nvPr/>
        </p:nvSpPr>
        <p:spPr>
          <a:xfrm>
            <a:off x="1560165" y="3785171"/>
            <a:ext cx="2414427" cy="2414427"/>
          </a:xfrm>
          <a:prstGeom prst="rect">
            <a:avLst/>
          </a:prstGeom>
          <a:solidFill>
            <a:srgbClr val="F8CBAD"/>
          </a:solidFill>
          <a:ln w="10060">
            <a:solidFill>
              <a:srgbClr val="BFBFBF"/>
            </a:solidFill>
          </a:ln>
        </p:spPr>
      </p:sp>
      <p:sp>
        <p:nvSpPr>
          <p:cNvPr id="31" name="Text 21"/>
          <p:cNvSpPr txBox="1"/>
          <p:nvPr/>
        </p:nvSpPr>
        <p:spPr>
          <a:xfrm>
            <a:off x="1620526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Chaotic</a:t>
            </a:r>
          </a:p>
        </p:txBody>
      </p:sp>
      <p:sp>
        <p:nvSpPr>
          <p:cNvPr id="32" name="Text 22"/>
          <p:cNvSpPr txBox="1"/>
          <p:nvPr/>
        </p:nvSpPr>
        <p:spPr>
          <a:xfrm>
            <a:off x="1620526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Act → Sense → Respond — novel practices</a:t>
            </a:r>
          </a:p>
        </p:txBody>
      </p:sp>
      <p:sp>
        <p:nvSpPr>
          <p:cNvPr id="33" name="Item Crisis management"/>
          <p:cNvSpPr/>
          <p:nvPr/>
        </p:nvSpPr>
        <p:spPr>
          <a:xfrm>
            <a:off x="1620526" y="4247936"/>
            <a:ext cx="925530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4" name="Text 24"/>
          <p:cNvSpPr txBox="1"/>
          <p:nvPr/>
        </p:nvSpPr>
        <p:spPr>
          <a:xfrm>
            <a:off x="1620526" y="4247936"/>
            <a:ext cx="925530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Crisis management</a:t>
            </a:r>
          </a:p>
        </p:txBody>
      </p:sp>
      <p:sp>
        <p:nvSpPr>
          <p:cNvPr id="35" name="Clear"/>
          <p:cNvSpPr/>
          <p:nvPr/>
        </p:nvSpPr>
        <p:spPr>
          <a:xfrm>
            <a:off x="3974592" y="3785171"/>
            <a:ext cx="2414427" cy="2414427"/>
          </a:xfrm>
          <a:prstGeom prst="rect">
            <a:avLst/>
          </a:prstGeom>
          <a:solidFill>
            <a:srgbClr val="E2EFDA"/>
          </a:solidFill>
          <a:ln w="10060">
            <a:solidFill>
              <a:srgbClr val="BFBFBF"/>
            </a:solidFill>
          </a:ln>
        </p:spPr>
      </p:sp>
      <p:sp>
        <p:nvSpPr>
          <p:cNvPr id="36" name="Text 26"/>
          <p:cNvSpPr txBox="1"/>
          <p:nvPr/>
        </p:nvSpPr>
        <p:spPr>
          <a:xfrm>
            <a:off x="4034953" y="3825411"/>
            <a:ext cx="2293706" cy="2012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b="1" sz="1056" dirty="0">
                <a:solidFill>
                  <a:srgbClr val="404040"/>
                </a:solidFill>
              </a:rPr>
              <a:t>Clear</a:t>
            </a:r>
          </a:p>
        </p:txBody>
      </p:sp>
      <p:sp>
        <p:nvSpPr>
          <p:cNvPr id="37" name="Text 27"/>
          <p:cNvSpPr txBox="1"/>
          <p:nvPr/>
        </p:nvSpPr>
        <p:spPr>
          <a:xfrm>
            <a:off x="4034953" y="4026613"/>
            <a:ext cx="2293706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634" dirty="0">
                <a:solidFill>
                  <a:srgbClr val="808080"/>
                </a:solidFill>
              </a:rPr>
              <a:t>Sense → Categorise → Respond — best practices</a:t>
            </a:r>
          </a:p>
        </p:txBody>
      </p:sp>
      <p:sp>
        <p:nvSpPr>
          <p:cNvPr id="38" name="Item Standard pricing"/>
          <p:cNvSpPr/>
          <p:nvPr/>
        </p:nvSpPr>
        <p:spPr>
          <a:xfrm>
            <a:off x="4034953" y="4247936"/>
            <a:ext cx="877242" cy="160962"/>
          </a:xfrm>
          <a:prstGeom prst="roundRect">
            <a:avLst/>
          </a:prstGeom>
          <a:solidFill>
            <a:srgbClr val="FFFFFF"/>
          </a:solidFill>
          <a:ln w="10060">
            <a:solidFill>
              <a:srgbClr val="BFBFBF"/>
            </a:solidFill>
          </a:ln>
        </p:spPr>
      </p:sp>
      <p:sp>
        <p:nvSpPr>
          <p:cNvPr id="39" name="Text 29"/>
          <p:cNvSpPr txBox="1"/>
          <p:nvPr/>
        </p:nvSpPr>
        <p:spPr>
          <a:xfrm>
            <a:off x="4034953" y="4247936"/>
            <a:ext cx="877242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687" dirty="0">
                <a:solidFill>
                  <a:srgbClr val="404040"/>
                </a:solidFill>
              </a:rPr>
              <a:t>Standard pricing</a:t>
            </a:r>
          </a:p>
        </p:txBody>
      </p:sp>
      <p:sp>
        <p:nvSpPr>
          <p:cNvPr id="40" name="Shape 30"/>
          <p:cNvSpPr/>
          <p:nvPr/>
        </p:nvSpPr>
        <p:spPr>
          <a:xfrm>
            <a:off x="3290504" y="3101083"/>
            <a:ext cx="1368175" cy="1368175"/>
          </a:xfrm>
          <a:prstGeom prst="ellipse">
            <a:avLst/>
          </a:prstGeom>
          <a:solidFill>
            <a:srgbClr val="D9D9D9"/>
          </a:solidFill>
          <a:ln w="10060">
            <a:solidFill>
              <a:srgbClr val="BFBFBF"/>
            </a:solidFill>
          </a:ln>
        </p:spPr>
      </p:sp>
      <p:sp>
        <p:nvSpPr>
          <p:cNvPr id="41" name="Text 31"/>
          <p:cNvSpPr txBox="1"/>
          <p:nvPr/>
        </p:nvSpPr>
        <p:spPr>
          <a:xfrm>
            <a:off x="3330745" y="3141324"/>
            <a:ext cx="1287694" cy="1609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845" dirty="0">
                <a:solidFill>
                  <a:srgbClr val="404040"/>
                </a:solidFill>
              </a:rPr>
              <a:t>Confusion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cynefin-beta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title Strategy Categorization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complex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"Market research"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complicated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"Competitive analysis"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clear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"Standard pricing"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chaotic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  "Crisis management"</a:t>
            </a:r>
          </a:p>
          <a:p>
            <a:endParaRPr lang="en-US" sz="1400" dirty="0"/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complex --&gt; complicated : "Pattern identified"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complicated --&gt; clear : "Best practice codified"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clear --&gt; chaotic : "Complacency"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chaotic --&gt; complex : "Stabilized"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cynefin.md</dc:title>
  <dc:creator>md2nativedocx</dc:creator>
  <cp:lastModifiedBy>md2nativedocx</cp:lastModifiedBy>
  <dcterms:created xsi:type="dcterms:W3CDTF">2026-10-05T12:12:47Z</dcterms:created>
  <dcterms:modified xsi:type="dcterms:W3CDTF">2026-10-05T12:12:47Z</dcterms:modified>
</cp:coreProperties>
</file>