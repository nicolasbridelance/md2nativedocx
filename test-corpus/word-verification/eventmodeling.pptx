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4400"/>
      </a:lvl1pPr>
    </p:titleStyle>
    <p:bodyStyle>
      <a:lvl1pPr algn="l">
        <a:defRPr sz="1800"/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eventmodeling</a:t>
            </a:r>
          </a:p>
        </p:txBody>
      </p:sp>
      <p:sp>
        <p:nvSpPr>
          <p:cNvPr id="11" name="Lane UI / Automation"/>
          <p:cNvSpPr/>
          <p:nvPr/>
        </p:nvSpPr>
        <p:spPr>
          <a:xfrm>
            <a:off x="457200" y="2688653"/>
            <a:ext cx="11277600" cy="366238"/>
          </a:xfrm>
          <a:prstGeom prst="rect">
            <a:avLst/>
          </a:prstGeom>
          <a:solidFill>
            <a:srgbClr val="F7F7F7"/>
          </a:solidFill>
          <a:ln w="9525">
            <a:solidFill>
              <a:srgbClr val="D0D0D0"/>
            </a:solidFill>
          </a:ln>
        </p:spPr>
      </p:sp>
      <p:sp>
        <p:nvSpPr>
          <p:cNvPr id="12" name="Box 2"/>
          <p:cNvSpPr/>
          <p:nvPr/>
        </p:nvSpPr>
        <p:spPr>
          <a:xfrm>
            <a:off x="495087" y="2783370"/>
            <a:ext cx="681960" cy="88402"/>
          </a:xfrm>
          <a:prstGeom prst="rect">
            <a:avLst/>
          </a:prstGeom>
          <a:noFill/>
          <a:ln>
            <a:noFill/>
          </a:ln>
        </p:spPr>
        <p:txBody>
          <a:bodyPr wrap="none" lIns="12629" tIns="0" rIns="12629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b="1" sz="550" dirty="0">
                <a:solidFill>
                  <a:srgbClr val="333333"/>
                </a:solidFill>
              </a:rPr>
              <a:t>UI / Automation</a:t>
            </a:r>
          </a:p>
        </p:txBody>
      </p:sp>
      <p:sp>
        <p:nvSpPr>
          <p:cNvPr id="13" name="Lane Command / Read Model"/>
          <p:cNvSpPr/>
          <p:nvPr/>
        </p:nvSpPr>
        <p:spPr>
          <a:xfrm>
            <a:off x="457200" y="3054891"/>
            <a:ext cx="11277600" cy="543042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</p:sp>
      <p:sp>
        <p:nvSpPr>
          <p:cNvPr id="14" name="Box 4"/>
          <p:cNvSpPr/>
          <p:nvPr/>
        </p:nvSpPr>
        <p:spPr>
          <a:xfrm>
            <a:off x="495087" y="3238010"/>
            <a:ext cx="681960" cy="176804"/>
          </a:xfrm>
          <a:prstGeom prst="rect">
            <a:avLst/>
          </a:prstGeom>
          <a:noFill/>
          <a:ln>
            <a:noFill/>
          </a:ln>
        </p:spPr>
        <p:txBody>
          <a:bodyPr wrap="none" lIns="12629" tIns="0" rIns="12629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b="1" sz="550" dirty="0">
                <a:solidFill>
                  <a:srgbClr val="333333"/>
                </a:solidFill>
              </a:rPr>
              <a:t>Command / Read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b="1" sz="550" dirty="0">
                <a:solidFill>
                  <a:srgbClr val="333333"/>
                </a:solidFill>
              </a:rPr>
              <a:t>Model</a:t>
            </a:r>
          </a:p>
        </p:txBody>
      </p:sp>
      <p:sp>
        <p:nvSpPr>
          <p:cNvPr id="15" name="Lane Events"/>
          <p:cNvSpPr/>
          <p:nvPr/>
        </p:nvSpPr>
        <p:spPr>
          <a:xfrm>
            <a:off x="457200" y="3597933"/>
            <a:ext cx="11277600" cy="745105"/>
          </a:xfrm>
          <a:prstGeom prst="rect">
            <a:avLst/>
          </a:prstGeom>
          <a:solidFill>
            <a:srgbClr val="F7F7F7"/>
          </a:solidFill>
          <a:ln w="9525">
            <a:solidFill>
              <a:srgbClr val="D0D0D0"/>
            </a:solidFill>
          </a:ln>
        </p:spPr>
      </p:sp>
      <p:sp>
        <p:nvSpPr>
          <p:cNvPr id="16" name="Box 6"/>
          <p:cNvSpPr/>
          <p:nvPr/>
        </p:nvSpPr>
        <p:spPr>
          <a:xfrm>
            <a:off x="495087" y="3882083"/>
            <a:ext cx="681960" cy="88402"/>
          </a:xfrm>
          <a:prstGeom prst="rect">
            <a:avLst/>
          </a:prstGeom>
          <a:noFill/>
          <a:ln>
            <a:noFill/>
          </a:ln>
        </p:spPr>
        <p:txBody>
          <a:bodyPr wrap="none" lIns="12629" tIns="0" rIns="12629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b="1" sz="550" dirty="0">
                <a:solidFill>
                  <a:srgbClr val="333333"/>
                </a:solidFill>
              </a:rPr>
              <a:t>Events</a:t>
            </a:r>
          </a:p>
        </p:txBody>
      </p:sp>
      <p:sp>
        <p:nvSpPr>
          <p:cNvPr id="17" name="Lane Billing / Events"/>
          <p:cNvSpPr/>
          <p:nvPr/>
        </p:nvSpPr>
        <p:spPr>
          <a:xfrm>
            <a:off x="457200" y="4343038"/>
            <a:ext cx="11277600" cy="366238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</p:sp>
      <p:sp>
        <p:nvSpPr>
          <p:cNvPr id="18" name="Box 8"/>
          <p:cNvSpPr/>
          <p:nvPr/>
        </p:nvSpPr>
        <p:spPr>
          <a:xfrm>
            <a:off x="495087" y="4437755"/>
            <a:ext cx="681960" cy="88402"/>
          </a:xfrm>
          <a:prstGeom prst="rect">
            <a:avLst/>
          </a:prstGeom>
          <a:noFill/>
          <a:ln>
            <a:noFill/>
          </a:ln>
        </p:spPr>
        <p:txBody>
          <a:bodyPr wrap="none" lIns="12629" tIns="0" rIns="12629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b="1" sz="550" dirty="0">
                <a:solidFill>
                  <a:srgbClr val="333333"/>
                </a:solidFill>
              </a:rPr>
              <a:t>Billing / Events</a:t>
            </a:r>
          </a:p>
        </p:txBody>
      </p:sp>
      <p:sp>
        <p:nvSpPr>
          <p:cNvPr id="19" name="Box 9"/>
          <p:cNvSpPr/>
          <p:nvPr/>
        </p:nvSpPr>
        <p:spPr>
          <a:xfrm>
            <a:off x="1214933" y="2511849"/>
            <a:ext cx="947167" cy="884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550" dirty="0">
                <a:solidFill>
                  <a:srgbClr val="7F7F7F"/>
                </a:solidFill>
              </a:rPr>
              <a:t>01</a:t>
            </a:r>
          </a:p>
        </p:txBody>
      </p:sp>
      <p:sp>
        <p:nvSpPr>
          <p:cNvPr id="20" name="Box 10"/>
          <p:cNvSpPr/>
          <p:nvPr/>
        </p:nvSpPr>
        <p:spPr>
          <a:xfrm>
            <a:off x="2162100" y="2511849"/>
            <a:ext cx="947167" cy="884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550" dirty="0">
                <a:solidFill>
                  <a:srgbClr val="7F7F7F"/>
                </a:solidFill>
              </a:rPr>
              <a:t>02</a:t>
            </a:r>
          </a:p>
        </p:txBody>
      </p:sp>
      <p:sp>
        <p:nvSpPr>
          <p:cNvPr id="21" name="Box 11"/>
          <p:cNvSpPr/>
          <p:nvPr/>
        </p:nvSpPr>
        <p:spPr>
          <a:xfrm>
            <a:off x="3109267" y="2511849"/>
            <a:ext cx="947167" cy="884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550" dirty="0">
                <a:solidFill>
                  <a:srgbClr val="7F7F7F"/>
                </a:solidFill>
              </a:rPr>
              <a:t>03</a:t>
            </a:r>
          </a:p>
        </p:txBody>
      </p:sp>
      <p:sp>
        <p:nvSpPr>
          <p:cNvPr id="22" name="Box 12"/>
          <p:cNvSpPr/>
          <p:nvPr/>
        </p:nvSpPr>
        <p:spPr>
          <a:xfrm>
            <a:off x="4056434" y="2511849"/>
            <a:ext cx="947167" cy="884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550" dirty="0">
                <a:solidFill>
                  <a:srgbClr val="7F7F7F"/>
                </a:solidFill>
              </a:rPr>
              <a:t>04</a:t>
            </a:r>
          </a:p>
        </p:txBody>
      </p:sp>
      <p:sp>
        <p:nvSpPr>
          <p:cNvPr id="23" name="Box 13"/>
          <p:cNvSpPr/>
          <p:nvPr/>
        </p:nvSpPr>
        <p:spPr>
          <a:xfrm>
            <a:off x="5003601" y="2511849"/>
            <a:ext cx="947167" cy="884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550" dirty="0">
                <a:solidFill>
                  <a:srgbClr val="7F7F7F"/>
                </a:solidFill>
              </a:rPr>
              <a:t>05</a:t>
            </a:r>
          </a:p>
        </p:txBody>
      </p:sp>
      <p:sp>
        <p:nvSpPr>
          <p:cNvPr id="24" name="Box 14"/>
          <p:cNvSpPr/>
          <p:nvPr/>
        </p:nvSpPr>
        <p:spPr>
          <a:xfrm>
            <a:off x="5950768" y="2511849"/>
            <a:ext cx="947167" cy="884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550" dirty="0">
                <a:solidFill>
                  <a:srgbClr val="7F7F7F"/>
                </a:solidFill>
              </a:rPr>
              <a:t>06</a:t>
            </a:r>
          </a:p>
        </p:txBody>
      </p:sp>
      <p:sp>
        <p:nvSpPr>
          <p:cNvPr id="25" name="Box 15"/>
          <p:cNvSpPr/>
          <p:nvPr/>
        </p:nvSpPr>
        <p:spPr>
          <a:xfrm>
            <a:off x="6897935" y="2511849"/>
            <a:ext cx="947167" cy="884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550" dirty="0">
                <a:solidFill>
                  <a:srgbClr val="7F7F7F"/>
                </a:solidFill>
              </a:rPr>
              <a:t>07</a:t>
            </a:r>
          </a:p>
        </p:txBody>
      </p:sp>
      <p:sp>
        <p:nvSpPr>
          <p:cNvPr id="26" name="Box 16"/>
          <p:cNvSpPr/>
          <p:nvPr/>
        </p:nvSpPr>
        <p:spPr>
          <a:xfrm>
            <a:off x="7845101" y="2511849"/>
            <a:ext cx="947167" cy="884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550" dirty="0">
                <a:solidFill>
                  <a:srgbClr val="7F7F7F"/>
                </a:solidFill>
              </a:rPr>
              <a:t>08</a:t>
            </a:r>
          </a:p>
        </p:txBody>
      </p:sp>
      <p:sp>
        <p:nvSpPr>
          <p:cNvPr id="27" name="Box 17"/>
          <p:cNvSpPr/>
          <p:nvPr/>
        </p:nvSpPr>
        <p:spPr>
          <a:xfrm>
            <a:off x="8792268" y="2511849"/>
            <a:ext cx="947167" cy="884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550" dirty="0">
                <a:solidFill>
                  <a:srgbClr val="7F7F7F"/>
                </a:solidFill>
              </a:rPr>
              <a:t>09 (reset)</a:t>
            </a:r>
          </a:p>
        </p:txBody>
      </p:sp>
      <p:sp>
        <p:nvSpPr>
          <p:cNvPr id="28" name="Box 18"/>
          <p:cNvSpPr/>
          <p:nvPr/>
        </p:nvSpPr>
        <p:spPr>
          <a:xfrm>
            <a:off x="9739435" y="2511849"/>
            <a:ext cx="947167" cy="884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550" dirty="0">
                <a:solidFill>
                  <a:srgbClr val="7F7F7F"/>
                </a:solidFill>
              </a:rPr>
              <a:t>10</a:t>
            </a:r>
          </a:p>
        </p:txBody>
      </p:sp>
      <p:sp>
        <p:nvSpPr>
          <p:cNvPr id="29" name="Box 19"/>
          <p:cNvSpPr/>
          <p:nvPr/>
        </p:nvSpPr>
        <p:spPr>
          <a:xfrm>
            <a:off x="10686602" y="2511849"/>
            <a:ext cx="947167" cy="884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550" dirty="0">
                <a:solidFill>
                  <a:srgbClr val="7F7F7F"/>
                </a:solidFill>
              </a:rPr>
              <a:t>11</a:t>
            </a:r>
          </a:p>
        </p:txBody>
      </p:sp>
      <p:cxnSp>
        <p:nvCxnSpPr>
          <p:cNvPr id="30" name="Connector 20"/>
          <p:cNvCxnSpPr/>
          <p:nvPr/>
        </p:nvCxnSpPr>
        <p:spPr>
          <a:xfrm>
            <a:off x="1859533" y="2953860"/>
            <a:ext cx="420963" cy="202062"/>
          </a:xfrm>
          <a:prstGeom prst="line">
            <a:avLst/>
          </a:prstGeom>
          <a:ln w="6314">
            <a:solidFill>
              <a:srgbClr val="595959"/>
            </a:solidFill>
            <a:prstDash val="solid"/>
            <a:tailEnd type="triangle" w="sm" len="sm"/>
          </a:ln>
        </p:spPr>
      </p:cxnSp>
      <p:cxnSp>
        <p:nvCxnSpPr>
          <p:cNvPr id="31" name="Connector 21"/>
          <p:cNvCxnSpPr/>
          <p:nvPr/>
        </p:nvCxnSpPr>
        <p:spPr>
          <a:xfrm>
            <a:off x="2933050" y="3496902"/>
            <a:ext cx="352434" cy="202063"/>
          </a:xfrm>
          <a:prstGeom prst="line">
            <a:avLst/>
          </a:prstGeom>
          <a:ln w="6314">
            <a:solidFill>
              <a:srgbClr val="595959"/>
            </a:solidFill>
            <a:prstDash val="solid"/>
            <a:tailEnd type="triangle" w="sm" len="sm"/>
          </a:ln>
        </p:spPr>
      </p:cxnSp>
      <p:cxnSp>
        <p:nvCxnSpPr>
          <p:cNvPr id="32" name="Connector 22"/>
          <p:cNvCxnSpPr/>
          <p:nvPr/>
        </p:nvCxnSpPr>
        <p:spPr>
          <a:xfrm flipV="1">
            <a:off x="3838586" y="3320098"/>
            <a:ext cx="568300" cy="378867"/>
          </a:xfrm>
          <a:prstGeom prst="line">
            <a:avLst/>
          </a:prstGeom>
          <a:ln w="6314">
            <a:solidFill>
              <a:srgbClr val="595959"/>
            </a:solidFill>
            <a:prstDash val="solid"/>
            <a:tailEnd type="triangle" w="sm" len="sm"/>
          </a:ln>
        </p:spPr>
      </p:cxnSp>
      <p:cxnSp>
        <p:nvCxnSpPr>
          <p:cNvPr id="33" name="Connector 23"/>
          <p:cNvCxnSpPr/>
          <p:nvPr/>
        </p:nvCxnSpPr>
        <p:spPr>
          <a:xfrm flipV="1">
            <a:off x="4742313" y="2953860"/>
            <a:ext cx="522575" cy="202062"/>
          </a:xfrm>
          <a:prstGeom prst="line">
            <a:avLst/>
          </a:prstGeom>
          <a:ln w="6314">
            <a:solidFill>
              <a:srgbClr val="595959"/>
            </a:solidFill>
            <a:prstDash val="solid"/>
            <a:tailEnd type="triangle" w="sm" len="sm"/>
          </a:ln>
        </p:spPr>
      </p:cxnSp>
      <p:cxnSp>
        <p:nvCxnSpPr>
          <p:cNvPr id="34" name="Connector 24"/>
          <p:cNvCxnSpPr/>
          <p:nvPr/>
        </p:nvCxnSpPr>
        <p:spPr>
          <a:xfrm flipV="1">
            <a:off x="4934142" y="2949903"/>
            <a:ext cx="1086085" cy="209976"/>
          </a:xfrm>
          <a:prstGeom prst="line">
            <a:avLst/>
          </a:prstGeom>
          <a:ln w="6314">
            <a:solidFill>
              <a:srgbClr val="595959"/>
            </a:solidFill>
            <a:prstDash val="solid"/>
            <a:tailEnd type="triangle" w="sm" len="sm"/>
          </a:ln>
        </p:spPr>
      </p:cxnSp>
      <p:cxnSp>
        <p:nvCxnSpPr>
          <p:cNvPr id="35" name="Connector 25"/>
          <p:cNvCxnSpPr/>
          <p:nvPr/>
        </p:nvCxnSpPr>
        <p:spPr>
          <a:xfrm>
            <a:off x="6636647" y="2953860"/>
            <a:ext cx="522575" cy="202062"/>
          </a:xfrm>
          <a:prstGeom prst="line">
            <a:avLst/>
          </a:prstGeom>
          <a:ln w="6314">
            <a:solidFill>
              <a:srgbClr val="595959"/>
            </a:solidFill>
            <a:prstDash val="solid"/>
            <a:tailEnd type="triangle" w="sm" len="sm"/>
          </a:ln>
        </p:spPr>
      </p:cxnSp>
      <p:cxnSp>
        <p:nvCxnSpPr>
          <p:cNvPr id="36" name="Connector 26"/>
          <p:cNvCxnSpPr/>
          <p:nvPr/>
        </p:nvCxnSpPr>
        <p:spPr>
          <a:xfrm>
            <a:off x="7431877" y="3320098"/>
            <a:ext cx="826449" cy="1123971"/>
          </a:xfrm>
          <a:prstGeom prst="line">
            <a:avLst/>
          </a:prstGeom>
          <a:ln w="6314">
            <a:solidFill>
              <a:srgbClr val="595959"/>
            </a:solidFill>
            <a:prstDash val="solid"/>
            <a:tailEnd type="triangle" w="sm" len="sm"/>
          </a:ln>
        </p:spPr>
      </p:cxnSp>
      <p:cxnSp>
        <p:nvCxnSpPr>
          <p:cNvPr id="37" name="Connector 27"/>
          <p:cNvCxnSpPr/>
          <p:nvPr/>
        </p:nvCxnSpPr>
        <p:spPr>
          <a:xfrm flipV="1">
            <a:off x="4934142" y="2903024"/>
            <a:ext cx="3927585" cy="303734"/>
          </a:xfrm>
          <a:prstGeom prst="line">
            <a:avLst/>
          </a:prstGeom>
          <a:ln w="6314">
            <a:solidFill>
              <a:srgbClr val="595959"/>
            </a:solidFill>
            <a:prstDash val="solid"/>
            <a:tailEnd type="triangle" w="sm" len="sm"/>
          </a:ln>
        </p:spPr>
      </p:cxnSp>
      <p:cxnSp>
        <p:nvCxnSpPr>
          <p:cNvPr id="38" name="Connector 28"/>
          <p:cNvCxnSpPr/>
          <p:nvPr/>
        </p:nvCxnSpPr>
        <p:spPr>
          <a:xfrm>
            <a:off x="9478148" y="2953860"/>
            <a:ext cx="522575" cy="202062"/>
          </a:xfrm>
          <a:prstGeom prst="line">
            <a:avLst/>
          </a:prstGeom>
          <a:ln w="6314">
            <a:solidFill>
              <a:srgbClr val="595959"/>
            </a:solidFill>
            <a:prstDash val="solid"/>
            <a:tailEnd type="triangle" w="sm" len="sm"/>
          </a:ln>
        </p:spPr>
      </p:cxnSp>
      <p:cxnSp>
        <p:nvCxnSpPr>
          <p:cNvPr id="39" name="Connector 29"/>
          <p:cNvCxnSpPr/>
          <p:nvPr/>
        </p:nvCxnSpPr>
        <p:spPr>
          <a:xfrm>
            <a:off x="10273377" y="3320098"/>
            <a:ext cx="826450" cy="1123971"/>
          </a:xfrm>
          <a:prstGeom prst="line">
            <a:avLst/>
          </a:prstGeom>
          <a:ln w="6314">
            <a:solidFill>
              <a:srgbClr val="595959"/>
            </a:solidFill>
            <a:prstDash val="solid"/>
            <a:tailEnd type="triangle" w="sm" len="sm"/>
          </a:ln>
        </p:spPr>
      </p:cxnSp>
      <p:sp>
        <p:nvSpPr>
          <p:cNvPr id="40" name="Frame 01"/>
          <p:cNvSpPr/>
          <p:nvPr/>
        </p:nvSpPr>
        <p:spPr>
          <a:xfrm>
            <a:off x="1284392" y="2789684"/>
            <a:ext cx="808249" cy="16417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333333"/>
            </a:solidFill>
          </a:ln>
        </p:spPr>
      </p:sp>
      <p:sp>
        <p:nvSpPr>
          <p:cNvPr id="41" name="Box 31"/>
          <p:cNvSpPr/>
          <p:nvPr/>
        </p:nvSpPr>
        <p:spPr>
          <a:xfrm>
            <a:off x="1309650" y="2827571"/>
            <a:ext cx="757733" cy="884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600" dirty="0">
                <a:solidFill>
                  <a:srgbClr val="333333"/>
                </a:solidFill>
              </a:rPr>
              <a:t>CartScreen</a:t>
            </a:r>
          </a:p>
        </p:txBody>
      </p:sp>
      <p:sp>
        <p:nvSpPr>
          <p:cNvPr id="42" name="Frame 02"/>
          <p:cNvSpPr/>
          <p:nvPr/>
        </p:nvSpPr>
        <p:spPr>
          <a:xfrm>
            <a:off x="2231559" y="3155922"/>
            <a:ext cx="808249" cy="340980"/>
          </a:xfrm>
          <a:prstGeom prst="roundRect">
            <a:avLst/>
          </a:prstGeom>
          <a:solidFill>
            <a:srgbClr val="A9C9F5"/>
          </a:solidFill>
          <a:ln w="9525">
            <a:solidFill>
              <a:srgbClr val="333333"/>
            </a:solidFill>
          </a:ln>
        </p:spPr>
      </p:sp>
      <p:sp>
        <p:nvSpPr>
          <p:cNvPr id="43" name="Box 33"/>
          <p:cNvSpPr/>
          <p:nvPr/>
        </p:nvSpPr>
        <p:spPr>
          <a:xfrm>
            <a:off x="2256817" y="3193809"/>
            <a:ext cx="757733" cy="884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600" dirty="0">
                <a:solidFill>
                  <a:srgbClr val="333333"/>
                </a:solidFill>
              </a:rPr>
              <a:t>AddItem</a:t>
            </a:r>
          </a:p>
        </p:txBody>
      </p:sp>
      <p:sp>
        <p:nvSpPr>
          <p:cNvPr id="44" name="Box 34"/>
          <p:cNvSpPr/>
          <p:nvPr/>
        </p:nvSpPr>
        <p:spPr>
          <a:xfrm>
            <a:off x="2256817" y="3294840"/>
            <a:ext cx="757733" cy="15154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50" dirty="0">
                <a:solidFill>
                  <a:srgbClr val="404040"/>
                </a:solidFill>
              </a:rPr>
              <a:t>description: 'john'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50" dirty="0">
                <a:solidFill>
                  <a:srgbClr val="404040"/>
                </a:solidFill>
              </a:rPr>
              <a:t>price: 20.4</a:t>
            </a:r>
          </a:p>
        </p:txBody>
      </p:sp>
      <p:sp>
        <p:nvSpPr>
          <p:cNvPr id="45" name="Frame 03"/>
          <p:cNvSpPr/>
          <p:nvPr/>
        </p:nvSpPr>
        <p:spPr>
          <a:xfrm>
            <a:off x="3178726" y="3698965"/>
            <a:ext cx="808249" cy="340980"/>
          </a:xfrm>
          <a:prstGeom prst="roundRect">
            <a:avLst/>
          </a:prstGeom>
          <a:solidFill>
            <a:srgbClr val="FFC078"/>
          </a:solidFill>
          <a:ln w="9525">
            <a:solidFill>
              <a:srgbClr val="333333"/>
            </a:solidFill>
          </a:ln>
        </p:spPr>
      </p:sp>
      <p:sp>
        <p:nvSpPr>
          <p:cNvPr id="46" name="Box 36"/>
          <p:cNvSpPr/>
          <p:nvPr/>
        </p:nvSpPr>
        <p:spPr>
          <a:xfrm>
            <a:off x="3203984" y="3736851"/>
            <a:ext cx="757733" cy="884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600" dirty="0">
                <a:solidFill>
                  <a:srgbClr val="333333"/>
                </a:solidFill>
              </a:rPr>
              <a:t>ItemAdded</a:t>
            </a:r>
          </a:p>
        </p:txBody>
      </p:sp>
      <p:sp>
        <p:nvSpPr>
          <p:cNvPr id="47" name="Box 37"/>
          <p:cNvSpPr/>
          <p:nvPr/>
        </p:nvSpPr>
        <p:spPr>
          <a:xfrm>
            <a:off x="3203984" y="3837882"/>
            <a:ext cx="757733" cy="15154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50" dirty="0">
                <a:solidFill>
                  <a:srgbClr val="404040"/>
                </a:solidFill>
              </a:rPr>
              <a:t>{"itemId": "42",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50" dirty="0">
                <a:solidFill>
                  <a:srgbClr val="404040"/>
                </a:solidFill>
              </a:rPr>
              <a:t>"qty": 1}</a:t>
            </a:r>
          </a:p>
        </p:txBody>
      </p:sp>
      <p:sp>
        <p:nvSpPr>
          <p:cNvPr id="48" name="Note"/>
          <p:cNvSpPr/>
          <p:nvPr/>
        </p:nvSpPr>
        <p:spPr>
          <a:xfrm>
            <a:off x="3178726" y="4077831"/>
            <a:ext cx="808249" cy="176804"/>
          </a:xfrm>
          <a:prstGeom prst="rect">
            <a:avLst/>
          </a:prstGeom>
          <a:solidFill>
            <a:srgbClr val="FFF2A8"/>
          </a:solidFill>
          <a:ln w="9525">
            <a:solidFill>
              <a:srgbClr val="BFA900"/>
            </a:solidFill>
          </a:ln>
        </p:spPr>
      </p:sp>
      <p:sp>
        <p:nvSpPr>
          <p:cNvPr id="49" name="Box 39"/>
          <p:cNvSpPr/>
          <p:nvPr/>
        </p:nvSpPr>
        <p:spPr>
          <a:xfrm>
            <a:off x="3203984" y="4090460"/>
            <a:ext cx="757733" cy="151547"/>
          </a:xfrm>
          <a:prstGeom prst="rect">
            <a:avLst/>
          </a:prstGeom>
          <a:noFill/>
          <a:ln>
            <a:noFill/>
          </a:ln>
        </p:spPr>
        <p:txBody>
          <a:bodyPr wrap="none" lIns="12629" tIns="0" rIns="12629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450" dirty="0">
                <a:solidFill>
                  <a:srgbClr val="333333"/>
                </a:solidFill>
              </a:rPr>
              <a:t>stock reserved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450" dirty="0">
                <a:solidFill>
                  <a:srgbClr val="333333"/>
                </a:solidFill>
              </a:rPr>
              <a:t>elsewhere</a:t>
            </a:r>
          </a:p>
        </p:txBody>
      </p:sp>
      <p:sp>
        <p:nvSpPr>
          <p:cNvPr id="50" name="Frame 04"/>
          <p:cNvSpPr/>
          <p:nvPr/>
        </p:nvSpPr>
        <p:spPr>
          <a:xfrm>
            <a:off x="4125893" y="3155922"/>
            <a:ext cx="808249" cy="164176"/>
          </a:xfrm>
          <a:prstGeom prst="roundRect">
            <a:avLst/>
          </a:prstGeom>
          <a:solidFill>
            <a:srgbClr val="B5E0A0"/>
          </a:solidFill>
          <a:ln w="9525">
            <a:solidFill>
              <a:srgbClr val="333333"/>
            </a:solidFill>
          </a:ln>
        </p:spPr>
      </p:sp>
      <p:sp>
        <p:nvSpPr>
          <p:cNvPr id="51" name="Box 41"/>
          <p:cNvSpPr/>
          <p:nvPr/>
        </p:nvSpPr>
        <p:spPr>
          <a:xfrm>
            <a:off x="4151151" y="3193809"/>
            <a:ext cx="757733" cy="884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600" dirty="0">
                <a:solidFill>
                  <a:srgbClr val="333333"/>
                </a:solidFill>
              </a:rPr>
              <a:t>CartItems</a:t>
            </a:r>
          </a:p>
        </p:txBody>
      </p:sp>
      <p:sp>
        <p:nvSpPr>
          <p:cNvPr id="52" name="Frame 05"/>
          <p:cNvSpPr/>
          <p:nvPr/>
        </p:nvSpPr>
        <p:spPr>
          <a:xfrm>
            <a:off x="5073060" y="2789684"/>
            <a:ext cx="808249" cy="16417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333333"/>
            </a:solidFill>
          </a:ln>
        </p:spPr>
      </p:sp>
      <p:sp>
        <p:nvSpPr>
          <p:cNvPr id="53" name="Box 43"/>
          <p:cNvSpPr/>
          <p:nvPr/>
        </p:nvSpPr>
        <p:spPr>
          <a:xfrm>
            <a:off x="5098318" y="2827571"/>
            <a:ext cx="757733" cy="884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450" dirty="0">
                <a:solidFill>
                  <a:srgbClr val="333333"/>
                </a:solidFill>
              </a:rPr>
              <a:t>CartScreenUpdated</a:t>
            </a:r>
          </a:p>
        </p:txBody>
      </p:sp>
      <p:sp>
        <p:nvSpPr>
          <p:cNvPr id="54" name="Frame 06"/>
          <p:cNvSpPr/>
          <p:nvPr/>
        </p:nvSpPr>
        <p:spPr>
          <a:xfrm>
            <a:off x="6020227" y="2789684"/>
            <a:ext cx="808249" cy="164176"/>
          </a:xfrm>
          <a:prstGeom prst="roundRect">
            <a:avLst/>
          </a:prstGeom>
          <a:solidFill>
            <a:srgbClr val="D9D9D9"/>
          </a:solidFill>
          <a:ln w="9525">
            <a:solidFill>
              <a:srgbClr val="333333"/>
            </a:solidFill>
          </a:ln>
        </p:spPr>
      </p:sp>
      <p:sp>
        <p:nvSpPr>
          <p:cNvPr id="55" name="Box 45"/>
          <p:cNvSpPr/>
          <p:nvPr/>
        </p:nvSpPr>
        <p:spPr>
          <a:xfrm>
            <a:off x="6045484" y="2827571"/>
            <a:ext cx="757733" cy="884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550" dirty="0">
                <a:solidFill>
                  <a:srgbClr val="333333"/>
                </a:solidFill>
              </a:rPr>
              <a:t>PriceCalculator</a:t>
            </a:r>
          </a:p>
        </p:txBody>
      </p:sp>
      <p:sp>
        <p:nvSpPr>
          <p:cNvPr id="56" name="Frame 07"/>
          <p:cNvSpPr/>
          <p:nvPr/>
        </p:nvSpPr>
        <p:spPr>
          <a:xfrm>
            <a:off x="6967394" y="3155922"/>
            <a:ext cx="808249" cy="164176"/>
          </a:xfrm>
          <a:prstGeom prst="roundRect">
            <a:avLst/>
          </a:prstGeom>
          <a:solidFill>
            <a:srgbClr val="A9C9F5"/>
          </a:solidFill>
          <a:ln w="9525">
            <a:solidFill>
              <a:srgbClr val="333333"/>
            </a:solidFill>
          </a:ln>
        </p:spPr>
      </p:sp>
      <p:sp>
        <p:nvSpPr>
          <p:cNvPr id="57" name="Box 47"/>
          <p:cNvSpPr/>
          <p:nvPr/>
        </p:nvSpPr>
        <p:spPr>
          <a:xfrm>
            <a:off x="6992651" y="3193809"/>
            <a:ext cx="757733" cy="884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600" dirty="0">
                <a:solidFill>
                  <a:srgbClr val="333333"/>
                </a:solidFill>
              </a:rPr>
              <a:t>ApplyDiscount</a:t>
            </a:r>
          </a:p>
        </p:txBody>
      </p:sp>
      <p:sp>
        <p:nvSpPr>
          <p:cNvPr id="58" name="Frame 08"/>
          <p:cNvSpPr/>
          <p:nvPr/>
        </p:nvSpPr>
        <p:spPr>
          <a:xfrm>
            <a:off x="7914560" y="4444069"/>
            <a:ext cx="808249" cy="164176"/>
          </a:xfrm>
          <a:prstGeom prst="roundRect">
            <a:avLst/>
          </a:prstGeom>
          <a:solidFill>
            <a:srgbClr val="FFC078"/>
          </a:solidFill>
          <a:ln w="9525">
            <a:solidFill>
              <a:srgbClr val="333333"/>
            </a:solidFill>
          </a:ln>
        </p:spPr>
      </p:sp>
      <p:sp>
        <p:nvSpPr>
          <p:cNvPr id="59" name="Box 49"/>
          <p:cNvSpPr/>
          <p:nvPr/>
        </p:nvSpPr>
        <p:spPr>
          <a:xfrm>
            <a:off x="7939818" y="4481956"/>
            <a:ext cx="757733" cy="884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550" dirty="0">
                <a:solidFill>
                  <a:srgbClr val="333333"/>
                </a:solidFill>
              </a:rPr>
              <a:t>DiscountApplied</a:t>
            </a:r>
          </a:p>
        </p:txBody>
      </p:sp>
      <p:sp>
        <p:nvSpPr>
          <p:cNvPr id="60" name="Frame 09"/>
          <p:cNvSpPr/>
          <p:nvPr/>
        </p:nvSpPr>
        <p:spPr>
          <a:xfrm>
            <a:off x="8861727" y="2789684"/>
            <a:ext cx="808249" cy="16417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7F7F7F"/>
            </a:solidFill>
          </a:ln>
        </p:spPr>
      </p:sp>
      <p:sp>
        <p:nvSpPr>
          <p:cNvPr id="61" name="Box 51"/>
          <p:cNvSpPr/>
          <p:nvPr/>
        </p:nvSpPr>
        <p:spPr>
          <a:xfrm>
            <a:off x="8886985" y="2827571"/>
            <a:ext cx="757733" cy="884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600" dirty="0">
                <a:solidFill>
                  <a:srgbClr val="333333"/>
                </a:solidFill>
              </a:rPr>
              <a:t>Checkout</a:t>
            </a:r>
          </a:p>
        </p:txBody>
      </p:sp>
      <p:sp>
        <p:nvSpPr>
          <p:cNvPr id="62" name="Frame 10"/>
          <p:cNvSpPr/>
          <p:nvPr/>
        </p:nvSpPr>
        <p:spPr>
          <a:xfrm>
            <a:off x="9808894" y="3155922"/>
            <a:ext cx="808249" cy="164176"/>
          </a:xfrm>
          <a:prstGeom prst="roundRect">
            <a:avLst/>
          </a:prstGeom>
          <a:solidFill>
            <a:srgbClr val="A9C9F5"/>
          </a:solidFill>
          <a:ln w="9525">
            <a:solidFill>
              <a:srgbClr val="333333"/>
            </a:solidFill>
          </a:ln>
        </p:spPr>
      </p:sp>
      <p:sp>
        <p:nvSpPr>
          <p:cNvPr id="63" name="Box 53"/>
          <p:cNvSpPr/>
          <p:nvPr/>
        </p:nvSpPr>
        <p:spPr>
          <a:xfrm>
            <a:off x="9834152" y="3193809"/>
            <a:ext cx="757733" cy="884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600" dirty="0">
                <a:solidFill>
                  <a:srgbClr val="333333"/>
                </a:solidFill>
              </a:rPr>
              <a:t>Pay</a:t>
            </a:r>
          </a:p>
        </p:txBody>
      </p:sp>
      <p:sp>
        <p:nvSpPr>
          <p:cNvPr id="64" name="Frame 11"/>
          <p:cNvSpPr/>
          <p:nvPr/>
        </p:nvSpPr>
        <p:spPr>
          <a:xfrm>
            <a:off x="10756061" y="4444069"/>
            <a:ext cx="808249" cy="164176"/>
          </a:xfrm>
          <a:prstGeom prst="roundRect">
            <a:avLst/>
          </a:prstGeom>
          <a:solidFill>
            <a:srgbClr val="FFC078"/>
          </a:solidFill>
          <a:ln w="9525">
            <a:solidFill>
              <a:srgbClr val="333333"/>
            </a:solidFill>
          </a:ln>
        </p:spPr>
      </p:sp>
      <p:sp>
        <p:nvSpPr>
          <p:cNvPr id="65" name="Box 55"/>
          <p:cNvSpPr/>
          <p:nvPr/>
        </p:nvSpPr>
        <p:spPr>
          <a:xfrm>
            <a:off x="10781319" y="4481956"/>
            <a:ext cx="757733" cy="884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600" dirty="0">
                <a:solidFill>
                  <a:srgbClr val="333333"/>
                </a:solidFill>
              </a:rPr>
              <a:t>Paid</a:t>
            </a:r>
          </a:p>
        </p:txBody>
      </p:sp>
      <p:sp>
        <p:nvSpPr>
          <p:cNvPr id="66" name="Box 56"/>
          <p:cNvSpPr/>
          <p:nvPr/>
        </p:nvSpPr>
        <p:spPr>
          <a:xfrm>
            <a:off x="558231" y="4734534"/>
            <a:ext cx="11075538" cy="82088"/>
          </a:xfrm>
          <a:prstGeom prst="rect">
            <a:avLst/>
          </a:prstGeom>
          <a:noFill/>
          <a:ln>
            <a:noFill/>
          </a:ln>
        </p:spPr>
        <p:txBody>
          <a:bodyPr wrap="none" lIns="12629" tIns="0" rIns="12629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i="1" sz="550" dirty="0">
                <a:solidFill>
                  <a:srgbClr val="404040"/>
                </a:solidFill>
              </a:rPr>
              <a:t>Scenario @03: Given Event ItemAdded; When Command AddItem; Then Event ItemAdded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d2nativedocx">
  <a:themeElements>
    <a:clrScheme name="md2nativedocx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d2nativedocx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md2nativedoc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md2nativedocx</Application>
  <PresentationFormat>Widescreen</PresentationFormat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eventmodeling.md</dc:title>
  <dc:creator>md2nativedocx</dc:creator>
  <cp:lastModifiedBy>md2nativedocx</cp:lastModifiedBy>
  <dcterms:created xsi:type="dcterms:W3CDTF">2026-10-05T12:06:25Z</dcterms:created>
  <dcterms:modified xsi:type="dcterms:W3CDTF">2026-10-05T12:06:25Z</dcterms:modified>
</cp:coreProperties>
</file>